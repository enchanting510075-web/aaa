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7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8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9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10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11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2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5821" r:id="rId2"/>
    <p:sldMasterId id="2147485839" r:id="rId3"/>
    <p:sldMasterId id="2147485847" r:id="rId4"/>
    <p:sldMasterId id="2147485851" r:id="rId5"/>
    <p:sldMasterId id="2147485872" r:id="rId6"/>
    <p:sldMasterId id="2147485880" r:id="rId7"/>
    <p:sldMasterId id="2147485898" r:id="rId8"/>
    <p:sldMasterId id="2147485913" r:id="rId9"/>
    <p:sldMasterId id="2147485917" r:id="rId10"/>
    <p:sldMasterId id="2147485922" r:id="rId11"/>
    <p:sldMasterId id="2147485928" r:id="rId12"/>
    <p:sldMasterId id="2147485944" r:id="rId13"/>
  </p:sldMasterIdLst>
  <p:notesMasterIdLst>
    <p:notesMasterId r:id="rId53"/>
  </p:notesMasterIdLst>
  <p:handoutMasterIdLst>
    <p:handoutMasterId r:id="rId54"/>
  </p:handoutMasterIdLst>
  <p:sldIdLst>
    <p:sldId id="2766" r:id="rId14"/>
    <p:sldId id="1738" r:id="rId15"/>
    <p:sldId id="2147483645" r:id="rId16"/>
    <p:sldId id="262" r:id="rId17"/>
    <p:sldId id="264" r:id="rId18"/>
    <p:sldId id="265" r:id="rId19"/>
    <p:sldId id="267" r:id="rId20"/>
    <p:sldId id="266" r:id="rId21"/>
    <p:sldId id="263" r:id="rId22"/>
    <p:sldId id="259" r:id="rId23"/>
    <p:sldId id="2147483637" r:id="rId24"/>
    <p:sldId id="257" r:id="rId25"/>
    <p:sldId id="2147483640" r:id="rId26"/>
    <p:sldId id="2147483647" r:id="rId27"/>
    <p:sldId id="256" r:id="rId28"/>
    <p:sldId id="2147483612" r:id="rId29"/>
    <p:sldId id="2147483614" r:id="rId30"/>
    <p:sldId id="2147483613" r:id="rId31"/>
    <p:sldId id="2147483615" r:id="rId32"/>
    <p:sldId id="2147483644" r:id="rId33"/>
    <p:sldId id="2147483616" r:id="rId34"/>
    <p:sldId id="2147483617" r:id="rId35"/>
    <p:sldId id="258" r:id="rId36"/>
    <p:sldId id="260" r:id="rId37"/>
    <p:sldId id="261" r:id="rId38"/>
    <p:sldId id="2147483626" r:id="rId39"/>
    <p:sldId id="2147483627" r:id="rId40"/>
    <p:sldId id="2147483628" r:id="rId41"/>
    <p:sldId id="2147483643" r:id="rId42"/>
    <p:sldId id="2147483633" r:id="rId43"/>
    <p:sldId id="2797" r:id="rId44"/>
    <p:sldId id="2147483547" r:id="rId45"/>
    <p:sldId id="2613" r:id="rId46"/>
    <p:sldId id="2785" r:id="rId47"/>
    <p:sldId id="738" r:id="rId48"/>
    <p:sldId id="2147483619" r:id="rId49"/>
    <p:sldId id="2147483620" r:id="rId50"/>
    <p:sldId id="2147483621" r:id="rId51"/>
    <p:sldId id="2147483622" r:id="rId52"/>
  </p:sldIdLst>
  <p:sldSz cx="9144000" cy="6858000" type="screen4x3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D3C56AE-0084-4410-B930-96063C548167}">
          <p14:sldIdLst>
            <p14:sldId id="2766"/>
            <p14:sldId id="1738"/>
            <p14:sldId id="2147483645"/>
            <p14:sldId id="262"/>
            <p14:sldId id="264"/>
            <p14:sldId id="265"/>
            <p14:sldId id="267"/>
            <p14:sldId id="266"/>
            <p14:sldId id="263"/>
            <p14:sldId id="259"/>
            <p14:sldId id="2147483637"/>
            <p14:sldId id="257"/>
            <p14:sldId id="2147483640"/>
            <p14:sldId id="2147483647"/>
            <p14:sldId id="256"/>
            <p14:sldId id="2147483612"/>
            <p14:sldId id="2147483614"/>
            <p14:sldId id="2147483613"/>
            <p14:sldId id="2147483615"/>
            <p14:sldId id="2147483644"/>
            <p14:sldId id="2147483616"/>
            <p14:sldId id="2147483617"/>
            <p14:sldId id="258"/>
            <p14:sldId id="260"/>
            <p14:sldId id="261"/>
            <p14:sldId id="2147483626"/>
            <p14:sldId id="2147483627"/>
            <p14:sldId id="2147483628"/>
            <p14:sldId id="2147483643"/>
            <p14:sldId id="2147483633"/>
            <p14:sldId id="2797"/>
            <p14:sldId id="2147483547"/>
            <p14:sldId id="2613"/>
            <p14:sldId id="2785"/>
            <p14:sldId id="738"/>
          </p14:sldIdLst>
        </p14:section>
        <p14:section name="附件" id="{34690987-2254-4E69-9FA1-A02029A5B419}">
          <p14:sldIdLst>
            <p14:sldId id="2147483619"/>
            <p14:sldId id="2147483620"/>
            <p14:sldId id="2147483621"/>
            <p14:sldId id="21474836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2336" userDrawn="1">
          <p15:clr>
            <a:srgbClr val="A4A3A4"/>
          </p15:clr>
        </p15:guide>
        <p15:guide id="4" pos="5465" userDrawn="1">
          <p15:clr>
            <a:srgbClr val="A4A3A4"/>
          </p15:clr>
        </p15:guide>
        <p15:guide id="6" orient="horz" pos="3702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  <p15:guide id="9" orient="horz" pos="1570" userDrawn="1">
          <p15:clr>
            <a:srgbClr val="A4A3A4"/>
          </p15:clr>
        </p15:guide>
        <p15:guide id="10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  <p15:guide id="3" orient="horz" pos="3127" userDrawn="1">
          <p15:clr>
            <a:srgbClr val="A4A3A4"/>
          </p15:clr>
        </p15:guide>
        <p15:guide id="4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沈家維" initials="沈家維" lastIdx="9" clrIdx="0">
    <p:extLst>
      <p:ext uri="{19B8F6BF-5375-455C-9EA6-DF929625EA0E}">
        <p15:presenceInfo xmlns:p15="http://schemas.microsoft.com/office/powerpoint/2012/main" userId="S-1-5-21-2744940397-1624504133-3266513053-9110" providerId="AD"/>
      </p:ext>
    </p:extLst>
  </p:cmAuthor>
  <p:cmAuthor id="2" name="蘇逸廷" initials="蘇逸廷" lastIdx="1" clrIdx="1">
    <p:extLst>
      <p:ext uri="{19B8F6BF-5375-455C-9EA6-DF929625EA0E}">
        <p15:presenceInfo xmlns:p15="http://schemas.microsoft.com/office/powerpoint/2012/main" userId="S-1-5-21-2744940397-1624504133-3266513053-9806" providerId="AD"/>
      </p:ext>
    </p:extLst>
  </p:cmAuthor>
  <p:cmAuthor id="3" name="鄭淨慈" initials="鄭淨慈" lastIdx="5" clrIdx="2">
    <p:extLst>
      <p:ext uri="{19B8F6BF-5375-455C-9EA6-DF929625EA0E}">
        <p15:presenceInfo xmlns:p15="http://schemas.microsoft.com/office/powerpoint/2012/main" userId="S-1-5-21-2744940397-1624504133-3266513053-13820" providerId="AD"/>
      </p:ext>
    </p:extLst>
  </p:cmAuthor>
  <p:cmAuthor id="4" name="黃脩雅" initials="黃脩雅" lastIdx="1" clrIdx="3">
    <p:extLst>
      <p:ext uri="{19B8F6BF-5375-455C-9EA6-DF929625EA0E}">
        <p15:presenceInfo xmlns:p15="http://schemas.microsoft.com/office/powerpoint/2012/main" userId="S-1-5-21-2744940397-1624504133-3266513053-1559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CCB2"/>
    <a:srgbClr val="920000"/>
    <a:srgbClr val="A67F4B"/>
    <a:srgbClr val="BFBFBF"/>
    <a:srgbClr val="D0A4A4"/>
    <a:srgbClr val="AD3A3A"/>
    <a:srgbClr val="7F7F7F"/>
    <a:srgbClr val="C00000"/>
    <a:srgbClr val="E6E6E6"/>
    <a:srgbClr val="F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31" autoAdjust="0"/>
    <p:restoredTop sz="96318" autoAdjust="0"/>
  </p:normalViewPr>
  <p:slideViewPr>
    <p:cSldViewPr>
      <p:cViewPr varScale="1">
        <p:scale>
          <a:sx n="113" d="100"/>
          <a:sy n="113" d="100"/>
        </p:scale>
        <p:origin x="636" y="96"/>
      </p:cViewPr>
      <p:guideLst>
        <p:guide orient="horz" pos="2341"/>
        <p:guide pos="2880"/>
        <p:guide pos="2336"/>
        <p:guide pos="5465"/>
        <p:guide orient="horz" pos="3702"/>
        <p:guide orient="horz" pos="3929"/>
        <p:guide orient="horz" pos="1570"/>
        <p:guide orient="horz" pos="2160"/>
      </p:guideLst>
    </p:cSldViewPr>
  </p:slideViewPr>
  <p:outlineViewPr>
    <p:cViewPr>
      <p:scale>
        <a:sx n="33" d="100"/>
        <a:sy n="33" d="100"/>
      </p:scale>
      <p:origin x="0" y="12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9" d="100"/>
          <a:sy n="119" d="100"/>
        </p:scale>
        <p:origin x="1996" y="60"/>
      </p:cViewPr>
      <p:guideLst>
        <p:guide orient="horz" pos="3131"/>
        <p:guide pos="2144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openxmlformats.org/officeDocument/2006/relationships/tableStyles" Target="tableStyle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slide" Target="slides/slide3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271494016349241E-2"/>
          <c:y val="0.15888773903262093"/>
          <c:w val="0.93145701196730146"/>
          <c:h val="0.66355995500562426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工作表7!$I$3</c:f>
              <c:strCache>
                <c:ptCount val="1"/>
                <c:pt idx="0">
                  <c:v>TSE</c:v>
                </c:pt>
              </c:strCache>
            </c:strRef>
          </c:tx>
          <c:spPr>
            <a:solidFill>
              <a:srgbClr val="92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工作表7!$G$4:$G$6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工作表7!$I$4:$I$6</c:f>
              <c:numCache>
                <c:formatCode>General</c:formatCode>
                <c:ptCount val="3"/>
                <c:pt idx="0">
                  <c:v>26</c:v>
                </c:pt>
                <c:pt idx="1">
                  <c:v>30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03-4006-8CEB-09C5950BACC2}"/>
            </c:ext>
          </c:extLst>
        </c:ser>
        <c:ser>
          <c:idx val="0"/>
          <c:order val="1"/>
          <c:tx>
            <c:strRef>
              <c:f>工作表7!$H$3</c:f>
              <c:strCache>
                <c:ptCount val="1"/>
                <c:pt idx="0">
                  <c:v>OTC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工作表7!$G$4:$G$6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工作表7!$H$4:$H$6</c:f>
              <c:numCache>
                <c:formatCode>General</c:formatCode>
                <c:ptCount val="3"/>
                <c:pt idx="0">
                  <c:v>30</c:v>
                </c:pt>
                <c:pt idx="1">
                  <c:v>42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03-4006-8CEB-09C5950BAC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9856879"/>
        <c:axId val="449855631"/>
      </c:barChart>
      <c:catAx>
        <c:axId val="449856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449855631"/>
        <c:crosses val="autoZero"/>
        <c:auto val="1"/>
        <c:lblAlgn val="ctr"/>
        <c:lblOffset val="100"/>
        <c:noMultiLvlLbl val="0"/>
      </c:catAx>
      <c:valAx>
        <c:axId val="4498556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9856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684115874404591E-2"/>
          <c:y val="0.22495489245930586"/>
          <c:w val="0.88536526684164485"/>
          <c:h val="0.641076875608152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圖表!$G$15</c:f>
              <c:strCache>
                <c:ptCount val="1"/>
                <c:pt idx="0">
                  <c:v>3~6億</c:v>
                </c:pt>
              </c:strCache>
            </c:strRef>
          </c:tx>
          <c:spPr>
            <a:solidFill>
              <a:srgbClr val="92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圖表!$H$15:$J$15</c:f>
              <c:numCache>
                <c:formatCode>General</c:formatCode>
                <c:ptCount val="3"/>
                <c:pt idx="0">
                  <c:v>20</c:v>
                </c:pt>
                <c:pt idx="1">
                  <c:v>19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3D-48EB-8AE6-7B21E1CDFB30}"/>
            </c:ext>
          </c:extLst>
        </c:ser>
        <c:ser>
          <c:idx val="1"/>
          <c:order val="1"/>
          <c:tx>
            <c:strRef>
              <c:f>圖表!$G$16</c:f>
              <c:strCache>
                <c:ptCount val="1"/>
                <c:pt idx="0">
                  <c:v>6~10億</c:v>
                </c:pt>
              </c:strCache>
            </c:strRef>
          </c:tx>
          <c:spPr>
            <a:solidFill>
              <a:srgbClr val="D7CCB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圖表!$H$16:$J$16</c:f>
              <c:numCache>
                <c:formatCode>General</c:formatCode>
                <c:ptCount val="3"/>
                <c:pt idx="0">
                  <c:v>10</c:v>
                </c:pt>
                <c:pt idx="1">
                  <c:v>21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3D-48EB-8AE6-7B21E1CDFB30}"/>
            </c:ext>
          </c:extLst>
        </c:ser>
        <c:ser>
          <c:idx val="2"/>
          <c:order val="2"/>
          <c:tx>
            <c:strRef>
              <c:f>圖表!$G$17</c:f>
              <c:strCache>
                <c:ptCount val="1"/>
                <c:pt idx="0">
                  <c:v>3億以下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圖表!$H$17:$J$17</c:f>
              <c:numCache>
                <c:formatCode>General</c:formatCode>
                <c:ptCount val="3"/>
                <c:pt idx="0">
                  <c:v>14</c:v>
                </c:pt>
                <c:pt idx="1">
                  <c:v>25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3D-48EB-8AE6-7B21E1CDFB30}"/>
            </c:ext>
          </c:extLst>
        </c:ser>
        <c:ser>
          <c:idx val="3"/>
          <c:order val="3"/>
          <c:tx>
            <c:strRef>
              <c:f>圖表!$G$18</c:f>
              <c:strCache>
                <c:ptCount val="1"/>
                <c:pt idx="0">
                  <c:v>10億以上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圖表!$H$18:$J$18</c:f>
              <c:numCache>
                <c:formatCode>General</c:formatCode>
                <c:ptCount val="3"/>
                <c:pt idx="0">
                  <c:v>12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C3D-48EB-8AE6-7B21E1CDFB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882026719"/>
        <c:axId val="882040031"/>
      </c:barChart>
      <c:catAx>
        <c:axId val="88202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882040031"/>
        <c:crosses val="autoZero"/>
        <c:auto val="1"/>
        <c:lblAlgn val="ctr"/>
        <c:lblOffset val="100"/>
        <c:noMultiLvlLbl val="0"/>
      </c:catAx>
      <c:valAx>
        <c:axId val="8820400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82026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6885146301156788E-2"/>
          <c:y val="4.8149559525677531E-2"/>
          <c:w val="0.92005686789151353"/>
          <c:h val="0.100988047292770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圖表!$R$64</c:f>
              <c:strCache>
                <c:ptCount val="1"/>
                <c:pt idx="0">
                  <c:v>市佔率</c:v>
                </c:pt>
              </c:strCache>
            </c:strRef>
          </c:tx>
          <c:dPt>
            <c:idx val="0"/>
            <c:bubble3D val="0"/>
            <c:spPr>
              <a:solidFill>
                <a:srgbClr val="92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26-4E91-8275-33E992387FCF}"/>
              </c:ext>
            </c:extLst>
          </c:dPt>
          <c:dPt>
            <c:idx val="1"/>
            <c:bubble3D val="0"/>
            <c:spPr>
              <a:solidFill>
                <a:srgbClr val="A682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26-4E91-8275-33E992387FCF}"/>
              </c:ext>
            </c:extLst>
          </c:dPt>
          <c:dPt>
            <c:idx val="2"/>
            <c:bubble3D val="0"/>
            <c:spPr>
              <a:solidFill>
                <a:srgbClr val="59595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B26-4E91-8275-33E992387FCF}"/>
              </c:ext>
            </c:extLst>
          </c:dPt>
          <c:dPt>
            <c:idx val="3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B26-4E91-8275-33E992387FCF}"/>
              </c:ext>
            </c:extLst>
          </c:dPt>
          <c:dPt>
            <c:idx val="4"/>
            <c:bubble3D val="0"/>
            <c:spPr>
              <a:solidFill>
                <a:srgbClr val="B7472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B26-4E91-8275-33E992387FCF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B26-4E91-8275-33E992387FCF}"/>
              </c:ext>
            </c:extLst>
          </c:dPt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0B26-4E91-8275-33E992387F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圖表!$Q$65:$Q$70</c:f>
              <c:strCache>
                <c:ptCount val="6"/>
                <c:pt idx="0">
                  <c:v>台新</c:v>
                </c:pt>
                <c:pt idx="1">
                  <c:v>元大</c:v>
                </c:pt>
                <c:pt idx="2">
                  <c:v>凱基</c:v>
                </c:pt>
                <c:pt idx="3">
                  <c:v>富邦</c:v>
                </c:pt>
                <c:pt idx="4">
                  <c:v>元富</c:v>
                </c:pt>
                <c:pt idx="5">
                  <c:v>其他</c:v>
                </c:pt>
              </c:strCache>
            </c:strRef>
          </c:cat>
          <c:val>
            <c:numRef>
              <c:f>圖表!$R$65:$R$70</c:f>
              <c:numCache>
                <c:formatCode>0.0%</c:formatCode>
                <c:ptCount val="6"/>
                <c:pt idx="0">
                  <c:v>0.15625</c:v>
                </c:pt>
                <c:pt idx="1">
                  <c:v>0.16250000000000001</c:v>
                </c:pt>
                <c:pt idx="2">
                  <c:v>0.1125</c:v>
                </c:pt>
                <c:pt idx="3">
                  <c:v>9.375E-2</c:v>
                </c:pt>
                <c:pt idx="4">
                  <c:v>4.3749999999999997E-2</c:v>
                </c:pt>
                <c:pt idx="5">
                  <c:v>0.43124999999999997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26-4E91-8275-33E992387F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6448412575992317E-2"/>
          <c:y val="4.776684037566551E-2"/>
          <c:w val="0.85416943368936327"/>
          <c:h val="0.7842518505803995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工作表1!$C$1</c:f>
              <c:strCache>
                <c:ptCount val="1"/>
                <c:pt idx="0">
                  <c:v>成交量(千股)</c:v>
                </c:pt>
              </c:strCache>
            </c:strRef>
          </c:tx>
          <c:spPr>
            <a:solidFill>
              <a:srgbClr val="C4AB88"/>
            </a:solidFill>
            <a:ln>
              <a:noFill/>
            </a:ln>
            <a:effectLst/>
          </c:spPr>
          <c:invertIfNegative val="0"/>
          <c:cat>
            <c:strRef>
              <c:f>工作表1!$A$2:$A$307</c:f>
              <c:strCache>
                <c:ptCount val="306"/>
                <c:pt idx="0">
                  <c:v>2024/06/18</c:v>
                </c:pt>
                <c:pt idx="1">
                  <c:v>2024/06/19</c:v>
                </c:pt>
                <c:pt idx="2">
                  <c:v>2024/06/20</c:v>
                </c:pt>
                <c:pt idx="3">
                  <c:v>2024/06/21</c:v>
                </c:pt>
                <c:pt idx="4">
                  <c:v>2024/06/24</c:v>
                </c:pt>
                <c:pt idx="5">
                  <c:v>2024/06/25</c:v>
                </c:pt>
                <c:pt idx="6">
                  <c:v>2024/06/26</c:v>
                </c:pt>
                <c:pt idx="7">
                  <c:v>2024/06/27</c:v>
                </c:pt>
                <c:pt idx="8">
                  <c:v>2024/06/28</c:v>
                </c:pt>
                <c:pt idx="9">
                  <c:v>2024/07/01</c:v>
                </c:pt>
                <c:pt idx="10">
                  <c:v>2024/07/02</c:v>
                </c:pt>
                <c:pt idx="11">
                  <c:v>2024/07/03</c:v>
                </c:pt>
                <c:pt idx="12">
                  <c:v>2024/07/04</c:v>
                </c:pt>
                <c:pt idx="13">
                  <c:v>2024/07/05</c:v>
                </c:pt>
                <c:pt idx="14">
                  <c:v>2024/07/08</c:v>
                </c:pt>
                <c:pt idx="15">
                  <c:v>2024/07/09</c:v>
                </c:pt>
                <c:pt idx="16">
                  <c:v>2024/07/10</c:v>
                </c:pt>
                <c:pt idx="17">
                  <c:v>2024/07/11</c:v>
                </c:pt>
                <c:pt idx="18">
                  <c:v>2024/07/12</c:v>
                </c:pt>
                <c:pt idx="19">
                  <c:v>2024/07/15</c:v>
                </c:pt>
                <c:pt idx="20">
                  <c:v>2024/07/16</c:v>
                </c:pt>
                <c:pt idx="21">
                  <c:v>2024/07/17</c:v>
                </c:pt>
                <c:pt idx="22">
                  <c:v>2024/07/18</c:v>
                </c:pt>
                <c:pt idx="23">
                  <c:v>2024/07/19</c:v>
                </c:pt>
                <c:pt idx="24">
                  <c:v>2024/07/22</c:v>
                </c:pt>
                <c:pt idx="25">
                  <c:v>2024/07/23</c:v>
                </c:pt>
                <c:pt idx="26">
                  <c:v>2024/07/26</c:v>
                </c:pt>
                <c:pt idx="27">
                  <c:v>2024/07/29</c:v>
                </c:pt>
                <c:pt idx="28">
                  <c:v>2024/07/30</c:v>
                </c:pt>
                <c:pt idx="29">
                  <c:v>2024/07/31</c:v>
                </c:pt>
                <c:pt idx="30">
                  <c:v>2024/08/01</c:v>
                </c:pt>
                <c:pt idx="31">
                  <c:v>2024/08/02</c:v>
                </c:pt>
                <c:pt idx="32">
                  <c:v>2024/08/05</c:v>
                </c:pt>
                <c:pt idx="33">
                  <c:v>2024/08/06</c:v>
                </c:pt>
                <c:pt idx="34">
                  <c:v>2024/08/07</c:v>
                </c:pt>
                <c:pt idx="35">
                  <c:v>2024/08/08</c:v>
                </c:pt>
                <c:pt idx="36">
                  <c:v>2024/08/09</c:v>
                </c:pt>
                <c:pt idx="37">
                  <c:v>2024/08/12</c:v>
                </c:pt>
                <c:pt idx="38">
                  <c:v>2024/08/13</c:v>
                </c:pt>
                <c:pt idx="39">
                  <c:v>2024/08/14</c:v>
                </c:pt>
                <c:pt idx="40">
                  <c:v>2024/08/15</c:v>
                </c:pt>
                <c:pt idx="41">
                  <c:v>2024/08/16</c:v>
                </c:pt>
                <c:pt idx="42">
                  <c:v>2024/08/19</c:v>
                </c:pt>
                <c:pt idx="43">
                  <c:v>2024/08/20</c:v>
                </c:pt>
                <c:pt idx="44">
                  <c:v>2024/08/21</c:v>
                </c:pt>
                <c:pt idx="45">
                  <c:v>2024/08/22</c:v>
                </c:pt>
                <c:pt idx="46">
                  <c:v>2024/08/23</c:v>
                </c:pt>
                <c:pt idx="47">
                  <c:v>2024/08/26</c:v>
                </c:pt>
                <c:pt idx="48">
                  <c:v>2024/08/27</c:v>
                </c:pt>
                <c:pt idx="49">
                  <c:v>2024/08/28</c:v>
                </c:pt>
                <c:pt idx="50">
                  <c:v>2024/08/29</c:v>
                </c:pt>
                <c:pt idx="51">
                  <c:v>2024/08/30</c:v>
                </c:pt>
                <c:pt idx="52">
                  <c:v>2024/09/02</c:v>
                </c:pt>
                <c:pt idx="53">
                  <c:v>2024/09/03</c:v>
                </c:pt>
                <c:pt idx="54">
                  <c:v>2024/09/04</c:v>
                </c:pt>
                <c:pt idx="55">
                  <c:v>2024/09/05</c:v>
                </c:pt>
                <c:pt idx="56">
                  <c:v>2024/09/06</c:v>
                </c:pt>
                <c:pt idx="57">
                  <c:v>2024/09/09</c:v>
                </c:pt>
                <c:pt idx="58">
                  <c:v>2024/09/10</c:v>
                </c:pt>
                <c:pt idx="59">
                  <c:v>2024/09/11</c:v>
                </c:pt>
                <c:pt idx="60">
                  <c:v>2024/09/12</c:v>
                </c:pt>
                <c:pt idx="61">
                  <c:v>2024/09/13</c:v>
                </c:pt>
                <c:pt idx="62">
                  <c:v>2024/09/16</c:v>
                </c:pt>
                <c:pt idx="63">
                  <c:v>2024/09/18</c:v>
                </c:pt>
                <c:pt idx="64">
                  <c:v>2024/09/19</c:v>
                </c:pt>
                <c:pt idx="65">
                  <c:v>2024/09/20</c:v>
                </c:pt>
                <c:pt idx="66">
                  <c:v>2024/09/23</c:v>
                </c:pt>
                <c:pt idx="67">
                  <c:v>2024/09/24</c:v>
                </c:pt>
                <c:pt idx="68">
                  <c:v>2024/09/25</c:v>
                </c:pt>
                <c:pt idx="69">
                  <c:v>2024/09/26</c:v>
                </c:pt>
                <c:pt idx="70">
                  <c:v>2024/09/27</c:v>
                </c:pt>
                <c:pt idx="71">
                  <c:v>2024/09/30</c:v>
                </c:pt>
                <c:pt idx="72">
                  <c:v>2024/10/01</c:v>
                </c:pt>
                <c:pt idx="73">
                  <c:v>2024/10/04</c:v>
                </c:pt>
                <c:pt idx="74">
                  <c:v>2024/10/07</c:v>
                </c:pt>
                <c:pt idx="75">
                  <c:v>2024/10/08</c:v>
                </c:pt>
                <c:pt idx="76">
                  <c:v>2024/10/09</c:v>
                </c:pt>
                <c:pt idx="77">
                  <c:v>2024/10/11</c:v>
                </c:pt>
                <c:pt idx="78">
                  <c:v>2024/10/14</c:v>
                </c:pt>
                <c:pt idx="79">
                  <c:v>2024/10/15</c:v>
                </c:pt>
                <c:pt idx="80">
                  <c:v>2024/10/16</c:v>
                </c:pt>
                <c:pt idx="81">
                  <c:v>2024/10/17</c:v>
                </c:pt>
                <c:pt idx="82">
                  <c:v>2024/10/18</c:v>
                </c:pt>
                <c:pt idx="83">
                  <c:v>2024/10/21</c:v>
                </c:pt>
                <c:pt idx="84">
                  <c:v>2024/10/22</c:v>
                </c:pt>
                <c:pt idx="85">
                  <c:v>2024/10/23</c:v>
                </c:pt>
                <c:pt idx="86">
                  <c:v>2024/10/24</c:v>
                </c:pt>
                <c:pt idx="87">
                  <c:v>2024/10/25</c:v>
                </c:pt>
                <c:pt idx="88">
                  <c:v>2024/10/28</c:v>
                </c:pt>
                <c:pt idx="89">
                  <c:v>2024/10/29</c:v>
                </c:pt>
                <c:pt idx="90">
                  <c:v>2024/10/30</c:v>
                </c:pt>
                <c:pt idx="91">
                  <c:v>2024/11/01</c:v>
                </c:pt>
                <c:pt idx="92">
                  <c:v>2024/11/04</c:v>
                </c:pt>
                <c:pt idx="93">
                  <c:v>2024/11/05</c:v>
                </c:pt>
                <c:pt idx="94">
                  <c:v>2024/11/06</c:v>
                </c:pt>
                <c:pt idx="95">
                  <c:v>2024/11/07</c:v>
                </c:pt>
                <c:pt idx="96">
                  <c:v>2024/11/08</c:v>
                </c:pt>
                <c:pt idx="97">
                  <c:v>2024/11/11</c:v>
                </c:pt>
                <c:pt idx="98">
                  <c:v>2024/11/12</c:v>
                </c:pt>
                <c:pt idx="99">
                  <c:v>2024/11/13</c:v>
                </c:pt>
                <c:pt idx="100">
                  <c:v>2024/11/14</c:v>
                </c:pt>
                <c:pt idx="101">
                  <c:v>2024/11/15</c:v>
                </c:pt>
                <c:pt idx="102">
                  <c:v>2024/11/18</c:v>
                </c:pt>
                <c:pt idx="103">
                  <c:v>2024/11/19</c:v>
                </c:pt>
                <c:pt idx="104">
                  <c:v>2024/11/20</c:v>
                </c:pt>
                <c:pt idx="105">
                  <c:v>2024/11/21</c:v>
                </c:pt>
                <c:pt idx="106">
                  <c:v>2024/11/22</c:v>
                </c:pt>
                <c:pt idx="107">
                  <c:v>2024/11/25</c:v>
                </c:pt>
                <c:pt idx="108">
                  <c:v>2024/11/26</c:v>
                </c:pt>
                <c:pt idx="109">
                  <c:v>2024/11/27</c:v>
                </c:pt>
                <c:pt idx="110">
                  <c:v>2024/11/28</c:v>
                </c:pt>
                <c:pt idx="111">
                  <c:v>2024/11/29</c:v>
                </c:pt>
                <c:pt idx="112">
                  <c:v>2024/12/02</c:v>
                </c:pt>
                <c:pt idx="113">
                  <c:v>2024/12/03</c:v>
                </c:pt>
                <c:pt idx="114">
                  <c:v>2024/12/04</c:v>
                </c:pt>
                <c:pt idx="115">
                  <c:v>2024/12/05</c:v>
                </c:pt>
                <c:pt idx="116">
                  <c:v>2024/12/06</c:v>
                </c:pt>
                <c:pt idx="117">
                  <c:v>2024/12/09</c:v>
                </c:pt>
                <c:pt idx="118">
                  <c:v>2024/12/10</c:v>
                </c:pt>
                <c:pt idx="119">
                  <c:v>2024/12/11</c:v>
                </c:pt>
                <c:pt idx="120">
                  <c:v>2024/12/12</c:v>
                </c:pt>
                <c:pt idx="121">
                  <c:v>2024/12/13</c:v>
                </c:pt>
                <c:pt idx="122">
                  <c:v>2024/12/16</c:v>
                </c:pt>
                <c:pt idx="123">
                  <c:v>2024/12/17</c:v>
                </c:pt>
                <c:pt idx="124">
                  <c:v>2024/12/18</c:v>
                </c:pt>
                <c:pt idx="125">
                  <c:v>2024/12/19</c:v>
                </c:pt>
                <c:pt idx="126">
                  <c:v>2024/12/20</c:v>
                </c:pt>
                <c:pt idx="127">
                  <c:v>2024/12/23</c:v>
                </c:pt>
                <c:pt idx="128">
                  <c:v>2024/12/24</c:v>
                </c:pt>
                <c:pt idx="129">
                  <c:v>2024/12/25</c:v>
                </c:pt>
                <c:pt idx="130">
                  <c:v>2024/12/26</c:v>
                </c:pt>
                <c:pt idx="131">
                  <c:v>2024/12/27</c:v>
                </c:pt>
                <c:pt idx="132">
                  <c:v>2024/12/30</c:v>
                </c:pt>
                <c:pt idx="133">
                  <c:v>2024/12/31</c:v>
                </c:pt>
                <c:pt idx="134">
                  <c:v>2025/01/02</c:v>
                </c:pt>
                <c:pt idx="135">
                  <c:v>2025/01/03</c:v>
                </c:pt>
                <c:pt idx="136">
                  <c:v>2025/01/06</c:v>
                </c:pt>
                <c:pt idx="137">
                  <c:v>2025/01/07</c:v>
                </c:pt>
                <c:pt idx="138">
                  <c:v>2025/01/08</c:v>
                </c:pt>
                <c:pt idx="139">
                  <c:v>2025/01/09</c:v>
                </c:pt>
                <c:pt idx="140">
                  <c:v>2025/01/10</c:v>
                </c:pt>
                <c:pt idx="141">
                  <c:v>2025/01/13</c:v>
                </c:pt>
                <c:pt idx="142">
                  <c:v>2025/01/14</c:v>
                </c:pt>
                <c:pt idx="143">
                  <c:v>2025/01/15</c:v>
                </c:pt>
                <c:pt idx="144">
                  <c:v>2025/01/16</c:v>
                </c:pt>
                <c:pt idx="145">
                  <c:v>2025/01/17</c:v>
                </c:pt>
                <c:pt idx="146">
                  <c:v>2025/01/20</c:v>
                </c:pt>
                <c:pt idx="147">
                  <c:v>2025/01/21</c:v>
                </c:pt>
                <c:pt idx="148">
                  <c:v>2025/01/22</c:v>
                </c:pt>
                <c:pt idx="149">
                  <c:v>2025/02/03</c:v>
                </c:pt>
                <c:pt idx="150">
                  <c:v>2025/02/04</c:v>
                </c:pt>
                <c:pt idx="151">
                  <c:v>2025/02/05</c:v>
                </c:pt>
                <c:pt idx="152">
                  <c:v>2025/02/06</c:v>
                </c:pt>
                <c:pt idx="153">
                  <c:v>2025/02/07</c:v>
                </c:pt>
                <c:pt idx="154">
                  <c:v>2025/02/10</c:v>
                </c:pt>
                <c:pt idx="155">
                  <c:v>2025/02/11</c:v>
                </c:pt>
                <c:pt idx="156">
                  <c:v>2025/02/12</c:v>
                </c:pt>
                <c:pt idx="157">
                  <c:v>2025/02/13</c:v>
                </c:pt>
                <c:pt idx="158">
                  <c:v>2025/02/14</c:v>
                </c:pt>
                <c:pt idx="159">
                  <c:v>2025/02/17</c:v>
                </c:pt>
                <c:pt idx="160">
                  <c:v>2025/02/18</c:v>
                </c:pt>
                <c:pt idx="161">
                  <c:v>2025/02/19</c:v>
                </c:pt>
                <c:pt idx="162">
                  <c:v>2025/02/20</c:v>
                </c:pt>
                <c:pt idx="163">
                  <c:v>2025/02/21</c:v>
                </c:pt>
                <c:pt idx="164">
                  <c:v>2025/02/24</c:v>
                </c:pt>
                <c:pt idx="165">
                  <c:v>2025/02/25</c:v>
                </c:pt>
                <c:pt idx="166">
                  <c:v>2025/02/26</c:v>
                </c:pt>
                <c:pt idx="167">
                  <c:v>2025/02/27</c:v>
                </c:pt>
                <c:pt idx="168">
                  <c:v>2025/03/03</c:v>
                </c:pt>
                <c:pt idx="169">
                  <c:v>2025/03/04</c:v>
                </c:pt>
                <c:pt idx="170">
                  <c:v>2025/03/05</c:v>
                </c:pt>
                <c:pt idx="171">
                  <c:v>2025/03/06</c:v>
                </c:pt>
                <c:pt idx="172">
                  <c:v>2025/03/07</c:v>
                </c:pt>
                <c:pt idx="173">
                  <c:v>2025/03/10</c:v>
                </c:pt>
                <c:pt idx="174">
                  <c:v>2025/03/11</c:v>
                </c:pt>
                <c:pt idx="175">
                  <c:v>2025/03/12</c:v>
                </c:pt>
                <c:pt idx="176">
                  <c:v>2025/03/13</c:v>
                </c:pt>
                <c:pt idx="177">
                  <c:v>2025/03/14</c:v>
                </c:pt>
                <c:pt idx="178">
                  <c:v>2025/03/17</c:v>
                </c:pt>
                <c:pt idx="179">
                  <c:v>2025/03/18</c:v>
                </c:pt>
                <c:pt idx="180">
                  <c:v>2025/03/19</c:v>
                </c:pt>
                <c:pt idx="181">
                  <c:v>2025/03/20</c:v>
                </c:pt>
                <c:pt idx="182">
                  <c:v>2025/03/21</c:v>
                </c:pt>
                <c:pt idx="183">
                  <c:v>2025/03/24</c:v>
                </c:pt>
                <c:pt idx="184">
                  <c:v>2025/03/25</c:v>
                </c:pt>
                <c:pt idx="185">
                  <c:v>2025/03/26</c:v>
                </c:pt>
                <c:pt idx="186">
                  <c:v>2025/03/27</c:v>
                </c:pt>
                <c:pt idx="187">
                  <c:v>2025/03/28</c:v>
                </c:pt>
                <c:pt idx="188">
                  <c:v>2025/03/31</c:v>
                </c:pt>
                <c:pt idx="189">
                  <c:v>2025/04/01</c:v>
                </c:pt>
                <c:pt idx="190">
                  <c:v>2025/04/02</c:v>
                </c:pt>
                <c:pt idx="191">
                  <c:v>2025/04/07</c:v>
                </c:pt>
                <c:pt idx="192">
                  <c:v>2025/04/08</c:v>
                </c:pt>
                <c:pt idx="193">
                  <c:v>2025/04/09</c:v>
                </c:pt>
                <c:pt idx="194">
                  <c:v>2025/04/10</c:v>
                </c:pt>
                <c:pt idx="195">
                  <c:v>2025/04/11</c:v>
                </c:pt>
                <c:pt idx="196">
                  <c:v>2025/04/14</c:v>
                </c:pt>
                <c:pt idx="197">
                  <c:v>2025/04/15</c:v>
                </c:pt>
                <c:pt idx="198">
                  <c:v>2025/04/16</c:v>
                </c:pt>
                <c:pt idx="199">
                  <c:v>2025/04/17</c:v>
                </c:pt>
                <c:pt idx="200">
                  <c:v>2025/04/18</c:v>
                </c:pt>
                <c:pt idx="201">
                  <c:v>2025/04/21</c:v>
                </c:pt>
                <c:pt idx="202">
                  <c:v>2025/04/22</c:v>
                </c:pt>
                <c:pt idx="203">
                  <c:v>2025/04/23</c:v>
                </c:pt>
                <c:pt idx="204">
                  <c:v>2025/04/24</c:v>
                </c:pt>
                <c:pt idx="205">
                  <c:v>2025/04/25</c:v>
                </c:pt>
                <c:pt idx="206">
                  <c:v>2025/04/28</c:v>
                </c:pt>
                <c:pt idx="207">
                  <c:v>2025/04/29</c:v>
                </c:pt>
                <c:pt idx="208">
                  <c:v>2025/04/30</c:v>
                </c:pt>
                <c:pt idx="209">
                  <c:v>2025/05/02</c:v>
                </c:pt>
                <c:pt idx="210">
                  <c:v>2025/05/05</c:v>
                </c:pt>
                <c:pt idx="211">
                  <c:v>2025/05/06</c:v>
                </c:pt>
                <c:pt idx="212">
                  <c:v>2025/05/07</c:v>
                </c:pt>
                <c:pt idx="213">
                  <c:v>2025/05/08</c:v>
                </c:pt>
                <c:pt idx="214">
                  <c:v>2025/05/09</c:v>
                </c:pt>
                <c:pt idx="215">
                  <c:v>2025/05/12</c:v>
                </c:pt>
                <c:pt idx="216">
                  <c:v>2025/05/13</c:v>
                </c:pt>
                <c:pt idx="217">
                  <c:v>2025/05/14</c:v>
                </c:pt>
                <c:pt idx="218">
                  <c:v>2025/05/15</c:v>
                </c:pt>
                <c:pt idx="219">
                  <c:v>2025/05/16</c:v>
                </c:pt>
                <c:pt idx="220">
                  <c:v>2025/05/19</c:v>
                </c:pt>
                <c:pt idx="221">
                  <c:v>2025/05/20</c:v>
                </c:pt>
                <c:pt idx="222">
                  <c:v>2025/05/21</c:v>
                </c:pt>
                <c:pt idx="223">
                  <c:v>2025/05/22</c:v>
                </c:pt>
                <c:pt idx="224">
                  <c:v>2025/05/23</c:v>
                </c:pt>
                <c:pt idx="225">
                  <c:v>2025/05/26</c:v>
                </c:pt>
                <c:pt idx="226">
                  <c:v>2025/05/27</c:v>
                </c:pt>
                <c:pt idx="227">
                  <c:v>2025/05/28</c:v>
                </c:pt>
                <c:pt idx="228">
                  <c:v>2025/05/29</c:v>
                </c:pt>
                <c:pt idx="229">
                  <c:v>2025/06/02</c:v>
                </c:pt>
                <c:pt idx="230">
                  <c:v>2025/06/03</c:v>
                </c:pt>
                <c:pt idx="231">
                  <c:v>2025/06/04</c:v>
                </c:pt>
                <c:pt idx="232">
                  <c:v>2025/06/05</c:v>
                </c:pt>
                <c:pt idx="233">
                  <c:v>2025/06/06</c:v>
                </c:pt>
                <c:pt idx="234">
                  <c:v>2025/06/09</c:v>
                </c:pt>
                <c:pt idx="235">
                  <c:v>2025/06/10</c:v>
                </c:pt>
                <c:pt idx="236">
                  <c:v>2025/06/11</c:v>
                </c:pt>
                <c:pt idx="237">
                  <c:v>2025/06/12</c:v>
                </c:pt>
                <c:pt idx="238">
                  <c:v>2025/06/13</c:v>
                </c:pt>
                <c:pt idx="239">
                  <c:v>2025/06/16</c:v>
                </c:pt>
                <c:pt idx="240">
                  <c:v>2025/06/17</c:v>
                </c:pt>
                <c:pt idx="241">
                  <c:v>2025/06/18</c:v>
                </c:pt>
                <c:pt idx="242">
                  <c:v>2025/06/19</c:v>
                </c:pt>
                <c:pt idx="243">
                  <c:v>2025/06/20</c:v>
                </c:pt>
                <c:pt idx="244">
                  <c:v>2025/06/23</c:v>
                </c:pt>
                <c:pt idx="245">
                  <c:v>2025/06/24</c:v>
                </c:pt>
                <c:pt idx="246">
                  <c:v>2025/06/25</c:v>
                </c:pt>
                <c:pt idx="247">
                  <c:v>2025/06/26</c:v>
                </c:pt>
                <c:pt idx="248">
                  <c:v>2025/06/27</c:v>
                </c:pt>
                <c:pt idx="249">
                  <c:v>2025/06/30</c:v>
                </c:pt>
                <c:pt idx="250">
                  <c:v>2025/07/01</c:v>
                </c:pt>
                <c:pt idx="251">
                  <c:v>2025/07/02</c:v>
                </c:pt>
                <c:pt idx="252">
                  <c:v>2025/07/03</c:v>
                </c:pt>
                <c:pt idx="253">
                  <c:v>2025/07/04</c:v>
                </c:pt>
                <c:pt idx="254">
                  <c:v>2025/07/07</c:v>
                </c:pt>
                <c:pt idx="255">
                  <c:v>2025/07/08</c:v>
                </c:pt>
                <c:pt idx="256">
                  <c:v>2025/07/09</c:v>
                </c:pt>
                <c:pt idx="257">
                  <c:v>2025/07/10</c:v>
                </c:pt>
                <c:pt idx="258">
                  <c:v>2025/07/11</c:v>
                </c:pt>
                <c:pt idx="259">
                  <c:v>2025/07/14</c:v>
                </c:pt>
                <c:pt idx="260">
                  <c:v>2025/07/15</c:v>
                </c:pt>
                <c:pt idx="261">
                  <c:v>2025/07/16</c:v>
                </c:pt>
                <c:pt idx="262">
                  <c:v>2025/07/17</c:v>
                </c:pt>
                <c:pt idx="263">
                  <c:v>2025/07/18</c:v>
                </c:pt>
                <c:pt idx="264">
                  <c:v>2025/07/21</c:v>
                </c:pt>
                <c:pt idx="265">
                  <c:v>2025/07/22</c:v>
                </c:pt>
                <c:pt idx="266">
                  <c:v>2025/07/23</c:v>
                </c:pt>
                <c:pt idx="267">
                  <c:v>2025/07/24</c:v>
                </c:pt>
                <c:pt idx="268">
                  <c:v>2025/07/25</c:v>
                </c:pt>
                <c:pt idx="269">
                  <c:v>2025/07/28</c:v>
                </c:pt>
                <c:pt idx="270">
                  <c:v>2025/07/29</c:v>
                </c:pt>
                <c:pt idx="271">
                  <c:v>2025/07/30</c:v>
                </c:pt>
                <c:pt idx="272">
                  <c:v>2025/07/31</c:v>
                </c:pt>
                <c:pt idx="273">
                  <c:v>2025/08/01</c:v>
                </c:pt>
                <c:pt idx="274">
                  <c:v>2025/08/04</c:v>
                </c:pt>
                <c:pt idx="275">
                  <c:v>2025/08/05</c:v>
                </c:pt>
                <c:pt idx="276">
                  <c:v>2025/08/06</c:v>
                </c:pt>
                <c:pt idx="277">
                  <c:v>2025/08/07</c:v>
                </c:pt>
                <c:pt idx="278">
                  <c:v>2025/08/08</c:v>
                </c:pt>
                <c:pt idx="279">
                  <c:v>2025/08/11</c:v>
                </c:pt>
                <c:pt idx="280">
                  <c:v>2025/08/12</c:v>
                </c:pt>
                <c:pt idx="281">
                  <c:v>2025/08/13</c:v>
                </c:pt>
                <c:pt idx="282">
                  <c:v>2025/08/14</c:v>
                </c:pt>
                <c:pt idx="283">
                  <c:v>2025/08/15</c:v>
                </c:pt>
                <c:pt idx="284">
                  <c:v>2025/08/18</c:v>
                </c:pt>
                <c:pt idx="285">
                  <c:v>2025/08/19</c:v>
                </c:pt>
                <c:pt idx="286">
                  <c:v>2025/08/20</c:v>
                </c:pt>
                <c:pt idx="287">
                  <c:v>2025/08/21</c:v>
                </c:pt>
                <c:pt idx="288">
                  <c:v>2025/08/22</c:v>
                </c:pt>
                <c:pt idx="289">
                  <c:v>2025/08/25</c:v>
                </c:pt>
                <c:pt idx="290">
                  <c:v>2025/08/26</c:v>
                </c:pt>
                <c:pt idx="291">
                  <c:v>2025/08/27</c:v>
                </c:pt>
                <c:pt idx="292">
                  <c:v>2025/08/28</c:v>
                </c:pt>
                <c:pt idx="293">
                  <c:v>2025/08/29</c:v>
                </c:pt>
                <c:pt idx="294">
                  <c:v>2025/09/01</c:v>
                </c:pt>
                <c:pt idx="295">
                  <c:v>2025/09/02</c:v>
                </c:pt>
                <c:pt idx="296">
                  <c:v>2025/09/03</c:v>
                </c:pt>
                <c:pt idx="297">
                  <c:v>2025/09/04</c:v>
                </c:pt>
                <c:pt idx="298">
                  <c:v>2025/09/05</c:v>
                </c:pt>
                <c:pt idx="299">
                  <c:v>2025/09/08</c:v>
                </c:pt>
                <c:pt idx="300">
                  <c:v>2025/09/09</c:v>
                </c:pt>
                <c:pt idx="301">
                  <c:v>2025/09/10</c:v>
                </c:pt>
                <c:pt idx="302">
                  <c:v>2025/09/11</c:v>
                </c:pt>
                <c:pt idx="303">
                  <c:v>2025/09/12</c:v>
                </c:pt>
                <c:pt idx="304">
                  <c:v>2025/09/15</c:v>
                </c:pt>
                <c:pt idx="305">
                  <c:v>2025/09/16</c:v>
                </c:pt>
              </c:strCache>
            </c:strRef>
          </c:cat>
          <c:val>
            <c:numRef>
              <c:f>工作表1!$C$2:$C$307</c:f>
              <c:numCache>
                <c:formatCode>#,##0;\-#,###</c:formatCode>
                <c:ptCount val="306"/>
                <c:pt idx="0">
                  <c:v>169</c:v>
                </c:pt>
                <c:pt idx="1">
                  <c:v>317</c:v>
                </c:pt>
                <c:pt idx="2">
                  <c:v>146</c:v>
                </c:pt>
                <c:pt idx="3">
                  <c:v>47</c:v>
                </c:pt>
                <c:pt idx="4">
                  <c:v>60</c:v>
                </c:pt>
                <c:pt idx="5">
                  <c:v>65</c:v>
                </c:pt>
                <c:pt idx="6">
                  <c:v>113</c:v>
                </c:pt>
                <c:pt idx="7">
                  <c:v>34</c:v>
                </c:pt>
                <c:pt idx="8">
                  <c:v>39</c:v>
                </c:pt>
                <c:pt idx="9">
                  <c:v>114</c:v>
                </c:pt>
                <c:pt idx="10">
                  <c:v>121</c:v>
                </c:pt>
                <c:pt idx="11">
                  <c:v>48</c:v>
                </c:pt>
                <c:pt idx="12">
                  <c:v>78</c:v>
                </c:pt>
                <c:pt idx="13">
                  <c:v>72</c:v>
                </c:pt>
                <c:pt idx="14">
                  <c:v>89</c:v>
                </c:pt>
                <c:pt idx="15">
                  <c:v>13</c:v>
                </c:pt>
                <c:pt idx="16">
                  <c:v>41</c:v>
                </c:pt>
                <c:pt idx="17">
                  <c:v>22</c:v>
                </c:pt>
                <c:pt idx="18">
                  <c:v>24</c:v>
                </c:pt>
                <c:pt idx="19">
                  <c:v>6</c:v>
                </c:pt>
                <c:pt idx="20">
                  <c:v>7</c:v>
                </c:pt>
                <c:pt idx="21">
                  <c:v>4</c:v>
                </c:pt>
                <c:pt idx="22">
                  <c:v>8</c:v>
                </c:pt>
                <c:pt idx="23">
                  <c:v>5</c:v>
                </c:pt>
                <c:pt idx="24">
                  <c:v>21</c:v>
                </c:pt>
                <c:pt idx="25">
                  <c:v>31</c:v>
                </c:pt>
                <c:pt idx="26">
                  <c:v>13</c:v>
                </c:pt>
                <c:pt idx="27">
                  <c:v>6</c:v>
                </c:pt>
                <c:pt idx="28">
                  <c:v>9</c:v>
                </c:pt>
                <c:pt idx="29">
                  <c:v>28</c:v>
                </c:pt>
                <c:pt idx="30">
                  <c:v>21</c:v>
                </c:pt>
                <c:pt idx="31">
                  <c:v>23</c:v>
                </c:pt>
                <c:pt idx="32">
                  <c:v>70</c:v>
                </c:pt>
                <c:pt idx="33">
                  <c:v>26</c:v>
                </c:pt>
                <c:pt idx="34">
                  <c:v>5</c:v>
                </c:pt>
                <c:pt idx="35">
                  <c:v>1</c:v>
                </c:pt>
                <c:pt idx="36">
                  <c:v>115</c:v>
                </c:pt>
                <c:pt idx="37">
                  <c:v>62</c:v>
                </c:pt>
                <c:pt idx="38">
                  <c:v>5</c:v>
                </c:pt>
                <c:pt idx="39">
                  <c:v>35</c:v>
                </c:pt>
                <c:pt idx="40">
                  <c:v>12</c:v>
                </c:pt>
                <c:pt idx="41">
                  <c:v>11</c:v>
                </c:pt>
                <c:pt idx="42">
                  <c:v>33</c:v>
                </c:pt>
                <c:pt idx="43">
                  <c:v>37</c:v>
                </c:pt>
                <c:pt idx="44">
                  <c:v>23</c:v>
                </c:pt>
                <c:pt idx="45">
                  <c:v>26</c:v>
                </c:pt>
                <c:pt idx="46">
                  <c:v>20</c:v>
                </c:pt>
                <c:pt idx="47">
                  <c:v>22</c:v>
                </c:pt>
                <c:pt idx="48">
                  <c:v>49</c:v>
                </c:pt>
                <c:pt idx="49">
                  <c:v>17</c:v>
                </c:pt>
                <c:pt idx="50">
                  <c:v>29</c:v>
                </c:pt>
                <c:pt idx="51">
                  <c:v>39</c:v>
                </c:pt>
                <c:pt idx="52">
                  <c:v>76</c:v>
                </c:pt>
                <c:pt idx="53">
                  <c:v>192</c:v>
                </c:pt>
                <c:pt idx="54">
                  <c:v>153</c:v>
                </c:pt>
                <c:pt idx="55">
                  <c:v>105</c:v>
                </c:pt>
                <c:pt idx="56">
                  <c:v>132</c:v>
                </c:pt>
                <c:pt idx="57">
                  <c:v>117</c:v>
                </c:pt>
                <c:pt idx="58">
                  <c:v>79</c:v>
                </c:pt>
                <c:pt idx="59">
                  <c:v>78</c:v>
                </c:pt>
                <c:pt idx="60">
                  <c:v>44</c:v>
                </c:pt>
                <c:pt idx="61">
                  <c:v>27</c:v>
                </c:pt>
                <c:pt idx="62">
                  <c:v>61</c:v>
                </c:pt>
                <c:pt idx="63">
                  <c:v>18</c:v>
                </c:pt>
                <c:pt idx="64">
                  <c:v>30</c:v>
                </c:pt>
                <c:pt idx="65">
                  <c:v>12</c:v>
                </c:pt>
                <c:pt idx="66">
                  <c:v>31</c:v>
                </c:pt>
                <c:pt idx="67">
                  <c:v>26</c:v>
                </c:pt>
                <c:pt idx="68">
                  <c:v>21</c:v>
                </c:pt>
                <c:pt idx="69">
                  <c:v>55</c:v>
                </c:pt>
                <c:pt idx="70">
                  <c:v>91</c:v>
                </c:pt>
                <c:pt idx="71">
                  <c:v>176</c:v>
                </c:pt>
                <c:pt idx="72">
                  <c:v>70</c:v>
                </c:pt>
                <c:pt idx="73">
                  <c:v>46</c:v>
                </c:pt>
                <c:pt idx="74">
                  <c:v>35</c:v>
                </c:pt>
                <c:pt idx="75">
                  <c:v>31</c:v>
                </c:pt>
                <c:pt idx="76">
                  <c:v>83</c:v>
                </c:pt>
                <c:pt idx="77">
                  <c:v>25</c:v>
                </c:pt>
                <c:pt idx="78">
                  <c:v>9</c:v>
                </c:pt>
                <c:pt idx="79">
                  <c:v>47</c:v>
                </c:pt>
                <c:pt idx="80">
                  <c:v>19</c:v>
                </c:pt>
                <c:pt idx="81">
                  <c:v>20</c:v>
                </c:pt>
                <c:pt idx="82">
                  <c:v>38</c:v>
                </c:pt>
                <c:pt idx="83">
                  <c:v>46</c:v>
                </c:pt>
                <c:pt idx="84">
                  <c:v>14</c:v>
                </c:pt>
                <c:pt idx="85">
                  <c:v>143</c:v>
                </c:pt>
                <c:pt idx="86">
                  <c:v>35</c:v>
                </c:pt>
                <c:pt idx="87">
                  <c:v>38</c:v>
                </c:pt>
                <c:pt idx="88">
                  <c:v>17</c:v>
                </c:pt>
                <c:pt idx="89">
                  <c:v>6</c:v>
                </c:pt>
                <c:pt idx="90">
                  <c:v>34</c:v>
                </c:pt>
                <c:pt idx="91">
                  <c:v>36</c:v>
                </c:pt>
                <c:pt idx="92">
                  <c:v>25</c:v>
                </c:pt>
                <c:pt idx="93">
                  <c:v>39</c:v>
                </c:pt>
                <c:pt idx="94">
                  <c:v>53</c:v>
                </c:pt>
                <c:pt idx="95">
                  <c:v>77</c:v>
                </c:pt>
                <c:pt idx="96">
                  <c:v>68</c:v>
                </c:pt>
                <c:pt idx="97">
                  <c:v>34</c:v>
                </c:pt>
                <c:pt idx="98">
                  <c:v>20</c:v>
                </c:pt>
                <c:pt idx="99">
                  <c:v>32</c:v>
                </c:pt>
                <c:pt idx="100">
                  <c:v>30</c:v>
                </c:pt>
                <c:pt idx="101">
                  <c:v>15</c:v>
                </c:pt>
                <c:pt idx="102">
                  <c:v>22</c:v>
                </c:pt>
                <c:pt idx="103">
                  <c:v>12</c:v>
                </c:pt>
                <c:pt idx="104">
                  <c:v>14</c:v>
                </c:pt>
                <c:pt idx="105">
                  <c:v>8</c:v>
                </c:pt>
                <c:pt idx="106">
                  <c:v>24</c:v>
                </c:pt>
                <c:pt idx="107">
                  <c:v>33</c:v>
                </c:pt>
                <c:pt idx="108">
                  <c:v>17</c:v>
                </c:pt>
                <c:pt idx="109">
                  <c:v>30</c:v>
                </c:pt>
                <c:pt idx="110">
                  <c:v>21</c:v>
                </c:pt>
                <c:pt idx="111">
                  <c:v>12</c:v>
                </c:pt>
                <c:pt idx="112">
                  <c:v>16</c:v>
                </c:pt>
                <c:pt idx="113">
                  <c:v>13</c:v>
                </c:pt>
                <c:pt idx="114">
                  <c:v>22</c:v>
                </c:pt>
                <c:pt idx="115">
                  <c:v>24</c:v>
                </c:pt>
                <c:pt idx="116">
                  <c:v>15</c:v>
                </c:pt>
                <c:pt idx="117">
                  <c:v>20</c:v>
                </c:pt>
                <c:pt idx="118">
                  <c:v>56</c:v>
                </c:pt>
                <c:pt idx="119">
                  <c:v>30</c:v>
                </c:pt>
                <c:pt idx="120">
                  <c:v>89</c:v>
                </c:pt>
                <c:pt idx="121">
                  <c:v>23</c:v>
                </c:pt>
                <c:pt idx="122">
                  <c:v>50</c:v>
                </c:pt>
                <c:pt idx="123">
                  <c:v>27</c:v>
                </c:pt>
                <c:pt idx="124">
                  <c:v>32</c:v>
                </c:pt>
                <c:pt idx="125">
                  <c:v>59</c:v>
                </c:pt>
                <c:pt idx="126">
                  <c:v>75</c:v>
                </c:pt>
                <c:pt idx="127">
                  <c:v>107</c:v>
                </c:pt>
                <c:pt idx="128">
                  <c:v>70</c:v>
                </c:pt>
                <c:pt idx="129">
                  <c:v>229</c:v>
                </c:pt>
                <c:pt idx="130">
                  <c:v>403</c:v>
                </c:pt>
                <c:pt idx="131">
                  <c:v>176</c:v>
                </c:pt>
                <c:pt idx="132">
                  <c:v>129</c:v>
                </c:pt>
                <c:pt idx="133">
                  <c:v>77</c:v>
                </c:pt>
                <c:pt idx="134">
                  <c:v>56</c:v>
                </c:pt>
                <c:pt idx="135">
                  <c:v>19</c:v>
                </c:pt>
                <c:pt idx="136">
                  <c:v>32</c:v>
                </c:pt>
                <c:pt idx="137">
                  <c:v>21</c:v>
                </c:pt>
                <c:pt idx="138">
                  <c:v>16</c:v>
                </c:pt>
                <c:pt idx="139">
                  <c:v>54</c:v>
                </c:pt>
                <c:pt idx="140">
                  <c:v>158</c:v>
                </c:pt>
                <c:pt idx="141">
                  <c:v>44</c:v>
                </c:pt>
                <c:pt idx="142">
                  <c:v>28</c:v>
                </c:pt>
                <c:pt idx="143">
                  <c:v>38</c:v>
                </c:pt>
                <c:pt idx="144">
                  <c:v>40</c:v>
                </c:pt>
                <c:pt idx="145">
                  <c:v>97</c:v>
                </c:pt>
                <c:pt idx="146">
                  <c:v>60</c:v>
                </c:pt>
                <c:pt idx="147">
                  <c:v>21</c:v>
                </c:pt>
                <c:pt idx="148">
                  <c:v>28</c:v>
                </c:pt>
                <c:pt idx="149">
                  <c:v>88</c:v>
                </c:pt>
                <c:pt idx="150">
                  <c:v>17</c:v>
                </c:pt>
                <c:pt idx="151">
                  <c:v>96</c:v>
                </c:pt>
                <c:pt idx="152">
                  <c:v>283</c:v>
                </c:pt>
                <c:pt idx="153">
                  <c:v>99</c:v>
                </c:pt>
                <c:pt idx="154">
                  <c:v>89</c:v>
                </c:pt>
                <c:pt idx="155">
                  <c:v>66</c:v>
                </c:pt>
                <c:pt idx="156">
                  <c:v>74</c:v>
                </c:pt>
                <c:pt idx="157">
                  <c:v>167</c:v>
                </c:pt>
                <c:pt idx="158">
                  <c:v>61</c:v>
                </c:pt>
                <c:pt idx="159">
                  <c:v>30</c:v>
                </c:pt>
                <c:pt idx="160">
                  <c:v>27</c:v>
                </c:pt>
                <c:pt idx="161">
                  <c:v>159</c:v>
                </c:pt>
                <c:pt idx="162">
                  <c:v>84</c:v>
                </c:pt>
                <c:pt idx="163">
                  <c:v>40</c:v>
                </c:pt>
                <c:pt idx="164">
                  <c:v>56</c:v>
                </c:pt>
                <c:pt idx="165">
                  <c:v>47</c:v>
                </c:pt>
                <c:pt idx="166">
                  <c:v>378</c:v>
                </c:pt>
                <c:pt idx="167">
                  <c:v>211</c:v>
                </c:pt>
                <c:pt idx="168">
                  <c:v>165</c:v>
                </c:pt>
                <c:pt idx="169">
                  <c:v>109</c:v>
                </c:pt>
                <c:pt idx="170">
                  <c:v>111</c:v>
                </c:pt>
                <c:pt idx="171">
                  <c:v>91</c:v>
                </c:pt>
                <c:pt idx="172">
                  <c:v>46</c:v>
                </c:pt>
                <c:pt idx="173">
                  <c:v>71</c:v>
                </c:pt>
                <c:pt idx="174">
                  <c:v>46</c:v>
                </c:pt>
                <c:pt idx="175">
                  <c:v>580</c:v>
                </c:pt>
                <c:pt idx="176">
                  <c:v>581</c:v>
                </c:pt>
                <c:pt idx="177">
                  <c:v>320</c:v>
                </c:pt>
                <c:pt idx="178">
                  <c:v>163</c:v>
                </c:pt>
                <c:pt idx="179">
                  <c:v>65</c:v>
                </c:pt>
                <c:pt idx="180">
                  <c:v>123</c:v>
                </c:pt>
                <c:pt idx="181">
                  <c:v>44</c:v>
                </c:pt>
                <c:pt idx="182">
                  <c:v>35</c:v>
                </c:pt>
                <c:pt idx="183">
                  <c:v>65</c:v>
                </c:pt>
                <c:pt idx="184">
                  <c:v>103</c:v>
                </c:pt>
                <c:pt idx="185">
                  <c:v>115</c:v>
                </c:pt>
                <c:pt idx="186">
                  <c:v>82</c:v>
                </c:pt>
                <c:pt idx="187">
                  <c:v>167</c:v>
                </c:pt>
                <c:pt idx="188">
                  <c:v>70</c:v>
                </c:pt>
                <c:pt idx="189">
                  <c:v>31</c:v>
                </c:pt>
                <c:pt idx="190">
                  <c:v>19</c:v>
                </c:pt>
                <c:pt idx="191">
                  <c:v>324</c:v>
                </c:pt>
                <c:pt idx="192">
                  <c:v>114</c:v>
                </c:pt>
                <c:pt idx="193">
                  <c:v>178</c:v>
                </c:pt>
                <c:pt idx="194">
                  <c:v>163</c:v>
                </c:pt>
                <c:pt idx="195">
                  <c:v>106</c:v>
                </c:pt>
                <c:pt idx="196">
                  <c:v>68</c:v>
                </c:pt>
                <c:pt idx="197">
                  <c:v>43</c:v>
                </c:pt>
                <c:pt idx="198">
                  <c:v>43</c:v>
                </c:pt>
                <c:pt idx="199">
                  <c:v>42</c:v>
                </c:pt>
                <c:pt idx="200">
                  <c:v>31</c:v>
                </c:pt>
                <c:pt idx="201">
                  <c:v>37</c:v>
                </c:pt>
                <c:pt idx="202">
                  <c:v>35</c:v>
                </c:pt>
                <c:pt idx="203">
                  <c:v>87</c:v>
                </c:pt>
                <c:pt idx="204">
                  <c:v>20</c:v>
                </c:pt>
                <c:pt idx="205">
                  <c:v>90</c:v>
                </c:pt>
                <c:pt idx="206">
                  <c:v>185</c:v>
                </c:pt>
                <c:pt idx="207">
                  <c:v>222</c:v>
                </c:pt>
                <c:pt idx="208">
                  <c:v>212</c:v>
                </c:pt>
                <c:pt idx="209">
                  <c:v>182</c:v>
                </c:pt>
                <c:pt idx="210">
                  <c:v>128</c:v>
                </c:pt>
                <c:pt idx="211">
                  <c:v>40</c:v>
                </c:pt>
                <c:pt idx="212">
                  <c:v>34</c:v>
                </c:pt>
                <c:pt idx="213">
                  <c:v>152</c:v>
                </c:pt>
                <c:pt idx="214">
                  <c:v>148</c:v>
                </c:pt>
                <c:pt idx="215">
                  <c:v>138</c:v>
                </c:pt>
                <c:pt idx="216">
                  <c:v>133</c:v>
                </c:pt>
                <c:pt idx="217">
                  <c:v>249</c:v>
                </c:pt>
                <c:pt idx="218">
                  <c:v>87</c:v>
                </c:pt>
                <c:pt idx="219">
                  <c:v>273</c:v>
                </c:pt>
                <c:pt idx="220">
                  <c:v>236</c:v>
                </c:pt>
                <c:pt idx="221">
                  <c:v>108</c:v>
                </c:pt>
                <c:pt idx="222">
                  <c:v>164</c:v>
                </c:pt>
                <c:pt idx="223">
                  <c:v>714</c:v>
                </c:pt>
                <c:pt idx="224">
                  <c:v>297</c:v>
                </c:pt>
                <c:pt idx="225">
                  <c:v>232</c:v>
                </c:pt>
                <c:pt idx="226">
                  <c:v>131</c:v>
                </c:pt>
                <c:pt idx="227">
                  <c:v>195</c:v>
                </c:pt>
                <c:pt idx="228">
                  <c:v>823</c:v>
                </c:pt>
                <c:pt idx="229">
                  <c:v>364</c:v>
                </c:pt>
                <c:pt idx="230">
                  <c:v>207</c:v>
                </c:pt>
                <c:pt idx="231">
                  <c:v>494</c:v>
                </c:pt>
                <c:pt idx="232">
                  <c:v>435</c:v>
                </c:pt>
                <c:pt idx="233">
                  <c:v>225</c:v>
                </c:pt>
                <c:pt idx="234">
                  <c:v>347</c:v>
                </c:pt>
                <c:pt idx="235">
                  <c:v>285</c:v>
                </c:pt>
                <c:pt idx="236">
                  <c:v>211</c:v>
                </c:pt>
                <c:pt idx="237">
                  <c:v>197</c:v>
                </c:pt>
                <c:pt idx="238">
                  <c:v>97</c:v>
                </c:pt>
                <c:pt idx="239">
                  <c:v>149</c:v>
                </c:pt>
                <c:pt idx="240">
                  <c:v>367</c:v>
                </c:pt>
                <c:pt idx="241">
                  <c:v>316</c:v>
                </c:pt>
                <c:pt idx="242">
                  <c:v>577</c:v>
                </c:pt>
                <c:pt idx="243">
                  <c:v>205</c:v>
                </c:pt>
                <c:pt idx="244">
                  <c:v>239</c:v>
                </c:pt>
                <c:pt idx="245">
                  <c:v>320</c:v>
                </c:pt>
                <c:pt idx="246">
                  <c:v>134</c:v>
                </c:pt>
                <c:pt idx="247">
                  <c:v>228</c:v>
                </c:pt>
                <c:pt idx="248">
                  <c:v>128</c:v>
                </c:pt>
                <c:pt idx="249">
                  <c:v>175</c:v>
                </c:pt>
                <c:pt idx="250">
                  <c:v>300</c:v>
                </c:pt>
                <c:pt idx="251">
                  <c:v>175</c:v>
                </c:pt>
                <c:pt idx="252">
                  <c:v>67</c:v>
                </c:pt>
                <c:pt idx="253">
                  <c:v>157</c:v>
                </c:pt>
                <c:pt idx="254">
                  <c:v>147</c:v>
                </c:pt>
                <c:pt idx="255">
                  <c:v>91</c:v>
                </c:pt>
                <c:pt idx="256">
                  <c:v>37</c:v>
                </c:pt>
                <c:pt idx="257">
                  <c:v>133</c:v>
                </c:pt>
                <c:pt idx="258">
                  <c:v>420</c:v>
                </c:pt>
                <c:pt idx="259">
                  <c:v>309</c:v>
                </c:pt>
                <c:pt idx="260">
                  <c:v>71</c:v>
                </c:pt>
                <c:pt idx="261">
                  <c:v>58</c:v>
                </c:pt>
                <c:pt idx="262">
                  <c:v>103</c:v>
                </c:pt>
                <c:pt idx="263">
                  <c:v>67</c:v>
                </c:pt>
                <c:pt idx="264">
                  <c:v>60</c:v>
                </c:pt>
                <c:pt idx="265">
                  <c:v>217</c:v>
                </c:pt>
                <c:pt idx="266">
                  <c:v>258</c:v>
                </c:pt>
                <c:pt idx="267">
                  <c:v>129</c:v>
                </c:pt>
                <c:pt idx="268">
                  <c:v>131</c:v>
                </c:pt>
                <c:pt idx="269">
                  <c:v>125</c:v>
                </c:pt>
                <c:pt idx="270">
                  <c:v>152</c:v>
                </c:pt>
                <c:pt idx="271">
                  <c:v>67</c:v>
                </c:pt>
                <c:pt idx="272">
                  <c:v>40</c:v>
                </c:pt>
                <c:pt idx="273">
                  <c:v>38</c:v>
                </c:pt>
                <c:pt idx="274">
                  <c:v>62</c:v>
                </c:pt>
                <c:pt idx="275">
                  <c:v>62</c:v>
                </c:pt>
                <c:pt idx="276">
                  <c:v>66</c:v>
                </c:pt>
                <c:pt idx="277">
                  <c:v>117</c:v>
                </c:pt>
                <c:pt idx="278">
                  <c:v>220</c:v>
                </c:pt>
                <c:pt idx="279">
                  <c:v>280</c:v>
                </c:pt>
                <c:pt idx="280">
                  <c:v>171</c:v>
                </c:pt>
                <c:pt idx="281">
                  <c:v>897</c:v>
                </c:pt>
                <c:pt idx="282">
                  <c:v>322</c:v>
                </c:pt>
                <c:pt idx="283">
                  <c:v>114</c:v>
                </c:pt>
                <c:pt idx="284">
                  <c:v>304</c:v>
                </c:pt>
                <c:pt idx="285">
                  <c:v>150</c:v>
                </c:pt>
                <c:pt idx="286">
                  <c:v>471</c:v>
                </c:pt>
                <c:pt idx="287">
                  <c:v>160</c:v>
                </c:pt>
                <c:pt idx="288">
                  <c:v>241</c:v>
                </c:pt>
                <c:pt idx="289">
                  <c:v>430</c:v>
                </c:pt>
                <c:pt idx="290">
                  <c:v>189</c:v>
                </c:pt>
                <c:pt idx="291">
                  <c:v>863</c:v>
                </c:pt>
                <c:pt idx="292">
                  <c:v>422</c:v>
                </c:pt>
                <c:pt idx="293">
                  <c:v>692</c:v>
                </c:pt>
                <c:pt idx="294">
                  <c:v>282</c:v>
                </c:pt>
                <c:pt idx="295">
                  <c:v>163</c:v>
                </c:pt>
                <c:pt idx="296">
                  <c:v>88</c:v>
                </c:pt>
                <c:pt idx="297">
                  <c:v>170</c:v>
                </c:pt>
                <c:pt idx="298">
                  <c:v>166</c:v>
                </c:pt>
                <c:pt idx="299">
                  <c:v>171</c:v>
                </c:pt>
                <c:pt idx="300">
                  <c:v>139</c:v>
                </c:pt>
                <c:pt idx="301">
                  <c:v>203</c:v>
                </c:pt>
                <c:pt idx="302">
                  <c:v>96</c:v>
                </c:pt>
                <c:pt idx="303">
                  <c:v>116</c:v>
                </c:pt>
                <c:pt idx="304">
                  <c:v>149</c:v>
                </c:pt>
                <c:pt idx="305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B-40B0-A586-FD03DFC7F2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466463"/>
        <c:axId val="103456895"/>
      </c:barChar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平均成交價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工作表1!$A$2:$A$307</c:f>
              <c:strCache>
                <c:ptCount val="306"/>
                <c:pt idx="0">
                  <c:v>2024/06/18</c:v>
                </c:pt>
                <c:pt idx="1">
                  <c:v>2024/06/19</c:v>
                </c:pt>
                <c:pt idx="2">
                  <c:v>2024/06/20</c:v>
                </c:pt>
                <c:pt idx="3">
                  <c:v>2024/06/21</c:v>
                </c:pt>
                <c:pt idx="4">
                  <c:v>2024/06/24</c:v>
                </c:pt>
                <c:pt idx="5">
                  <c:v>2024/06/25</c:v>
                </c:pt>
                <c:pt idx="6">
                  <c:v>2024/06/26</c:v>
                </c:pt>
                <c:pt idx="7">
                  <c:v>2024/06/27</c:v>
                </c:pt>
                <c:pt idx="8">
                  <c:v>2024/06/28</c:v>
                </c:pt>
                <c:pt idx="9">
                  <c:v>2024/07/01</c:v>
                </c:pt>
                <c:pt idx="10">
                  <c:v>2024/07/02</c:v>
                </c:pt>
                <c:pt idx="11">
                  <c:v>2024/07/03</c:v>
                </c:pt>
                <c:pt idx="12">
                  <c:v>2024/07/04</c:v>
                </c:pt>
                <c:pt idx="13">
                  <c:v>2024/07/05</c:v>
                </c:pt>
                <c:pt idx="14">
                  <c:v>2024/07/08</c:v>
                </c:pt>
                <c:pt idx="15">
                  <c:v>2024/07/09</c:v>
                </c:pt>
                <c:pt idx="16">
                  <c:v>2024/07/10</c:v>
                </c:pt>
                <c:pt idx="17">
                  <c:v>2024/07/11</c:v>
                </c:pt>
                <c:pt idx="18">
                  <c:v>2024/07/12</c:v>
                </c:pt>
                <c:pt idx="19">
                  <c:v>2024/07/15</c:v>
                </c:pt>
                <c:pt idx="20">
                  <c:v>2024/07/16</c:v>
                </c:pt>
                <c:pt idx="21">
                  <c:v>2024/07/17</c:v>
                </c:pt>
                <c:pt idx="22">
                  <c:v>2024/07/18</c:v>
                </c:pt>
                <c:pt idx="23">
                  <c:v>2024/07/19</c:v>
                </c:pt>
                <c:pt idx="24">
                  <c:v>2024/07/22</c:v>
                </c:pt>
                <c:pt idx="25">
                  <c:v>2024/07/23</c:v>
                </c:pt>
                <c:pt idx="26">
                  <c:v>2024/07/26</c:v>
                </c:pt>
                <c:pt idx="27">
                  <c:v>2024/07/29</c:v>
                </c:pt>
                <c:pt idx="28">
                  <c:v>2024/07/30</c:v>
                </c:pt>
                <c:pt idx="29">
                  <c:v>2024/07/31</c:v>
                </c:pt>
                <c:pt idx="30">
                  <c:v>2024/08/01</c:v>
                </c:pt>
                <c:pt idx="31">
                  <c:v>2024/08/02</c:v>
                </c:pt>
                <c:pt idx="32">
                  <c:v>2024/08/05</c:v>
                </c:pt>
                <c:pt idx="33">
                  <c:v>2024/08/06</c:v>
                </c:pt>
                <c:pt idx="34">
                  <c:v>2024/08/07</c:v>
                </c:pt>
                <c:pt idx="35">
                  <c:v>2024/08/08</c:v>
                </c:pt>
                <c:pt idx="36">
                  <c:v>2024/08/09</c:v>
                </c:pt>
                <c:pt idx="37">
                  <c:v>2024/08/12</c:v>
                </c:pt>
                <c:pt idx="38">
                  <c:v>2024/08/13</c:v>
                </c:pt>
                <c:pt idx="39">
                  <c:v>2024/08/14</c:v>
                </c:pt>
                <c:pt idx="40">
                  <c:v>2024/08/15</c:v>
                </c:pt>
                <c:pt idx="41">
                  <c:v>2024/08/16</c:v>
                </c:pt>
                <c:pt idx="42">
                  <c:v>2024/08/19</c:v>
                </c:pt>
                <c:pt idx="43">
                  <c:v>2024/08/20</c:v>
                </c:pt>
                <c:pt idx="44">
                  <c:v>2024/08/21</c:v>
                </c:pt>
                <c:pt idx="45">
                  <c:v>2024/08/22</c:v>
                </c:pt>
                <c:pt idx="46">
                  <c:v>2024/08/23</c:v>
                </c:pt>
                <c:pt idx="47">
                  <c:v>2024/08/26</c:v>
                </c:pt>
                <c:pt idx="48">
                  <c:v>2024/08/27</c:v>
                </c:pt>
                <c:pt idx="49">
                  <c:v>2024/08/28</c:v>
                </c:pt>
                <c:pt idx="50">
                  <c:v>2024/08/29</c:v>
                </c:pt>
                <c:pt idx="51">
                  <c:v>2024/08/30</c:v>
                </c:pt>
                <c:pt idx="52">
                  <c:v>2024/09/02</c:v>
                </c:pt>
                <c:pt idx="53">
                  <c:v>2024/09/03</c:v>
                </c:pt>
                <c:pt idx="54">
                  <c:v>2024/09/04</c:v>
                </c:pt>
                <c:pt idx="55">
                  <c:v>2024/09/05</c:v>
                </c:pt>
                <c:pt idx="56">
                  <c:v>2024/09/06</c:v>
                </c:pt>
                <c:pt idx="57">
                  <c:v>2024/09/09</c:v>
                </c:pt>
                <c:pt idx="58">
                  <c:v>2024/09/10</c:v>
                </c:pt>
                <c:pt idx="59">
                  <c:v>2024/09/11</c:v>
                </c:pt>
                <c:pt idx="60">
                  <c:v>2024/09/12</c:v>
                </c:pt>
                <c:pt idx="61">
                  <c:v>2024/09/13</c:v>
                </c:pt>
                <c:pt idx="62">
                  <c:v>2024/09/16</c:v>
                </c:pt>
                <c:pt idx="63">
                  <c:v>2024/09/18</c:v>
                </c:pt>
                <c:pt idx="64">
                  <c:v>2024/09/19</c:v>
                </c:pt>
                <c:pt idx="65">
                  <c:v>2024/09/20</c:v>
                </c:pt>
                <c:pt idx="66">
                  <c:v>2024/09/23</c:v>
                </c:pt>
                <c:pt idx="67">
                  <c:v>2024/09/24</c:v>
                </c:pt>
                <c:pt idx="68">
                  <c:v>2024/09/25</c:v>
                </c:pt>
                <c:pt idx="69">
                  <c:v>2024/09/26</c:v>
                </c:pt>
                <c:pt idx="70">
                  <c:v>2024/09/27</c:v>
                </c:pt>
                <c:pt idx="71">
                  <c:v>2024/09/30</c:v>
                </c:pt>
                <c:pt idx="72">
                  <c:v>2024/10/01</c:v>
                </c:pt>
                <c:pt idx="73">
                  <c:v>2024/10/04</c:v>
                </c:pt>
                <c:pt idx="74">
                  <c:v>2024/10/07</c:v>
                </c:pt>
                <c:pt idx="75">
                  <c:v>2024/10/08</c:v>
                </c:pt>
                <c:pt idx="76">
                  <c:v>2024/10/09</c:v>
                </c:pt>
                <c:pt idx="77">
                  <c:v>2024/10/11</c:v>
                </c:pt>
                <c:pt idx="78">
                  <c:v>2024/10/14</c:v>
                </c:pt>
                <c:pt idx="79">
                  <c:v>2024/10/15</c:v>
                </c:pt>
                <c:pt idx="80">
                  <c:v>2024/10/16</c:v>
                </c:pt>
                <c:pt idx="81">
                  <c:v>2024/10/17</c:v>
                </c:pt>
                <c:pt idx="82">
                  <c:v>2024/10/18</c:v>
                </c:pt>
                <c:pt idx="83">
                  <c:v>2024/10/21</c:v>
                </c:pt>
                <c:pt idx="84">
                  <c:v>2024/10/22</c:v>
                </c:pt>
                <c:pt idx="85">
                  <c:v>2024/10/23</c:v>
                </c:pt>
                <c:pt idx="86">
                  <c:v>2024/10/24</c:v>
                </c:pt>
                <c:pt idx="87">
                  <c:v>2024/10/25</c:v>
                </c:pt>
                <c:pt idx="88">
                  <c:v>2024/10/28</c:v>
                </c:pt>
                <c:pt idx="89">
                  <c:v>2024/10/29</c:v>
                </c:pt>
                <c:pt idx="90">
                  <c:v>2024/10/30</c:v>
                </c:pt>
                <c:pt idx="91">
                  <c:v>2024/11/01</c:v>
                </c:pt>
                <c:pt idx="92">
                  <c:v>2024/11/04</c:v>
                </c:pt>
                <c:pt idx="93">
                  <c:v>2024/11/05</c:v>
                </c:pt>
                <c:pt idx="94">
                  <c:v>2024/11/06</c:v>
                </c:pt>
                <c:pt idx="95">
                  <c:v>2024/11/07</c:v>
                </c:pt>
                <c:pt idx="96">
                  <c:v>2024/11/08</c:v>
                </c:pt>
                <c:pt idx="97">
                  <c:v>2024/11/11</c:v>
                </c:pt>
                <c:pt idx="98">
                  <c:v>2024/11/12</c:v>
                </c:pt>
                <c:pt idx="99">
                  <c:v>2024/11/13</c:v>
                </c:pt>
                <c:pt idx="100">
                  <c:v>2024/11/14</c:v>
                </c:pt>
                <c:pt idx="101">
                  <c:v>2024/11/15</c:v>
                </c:pt>
                <c:pt idx="102">
                  <c:v>2024/11/18</c:v>
                </c:pt>
                <c:pt idx="103">
                  <c:v>2024/11/19</c:v>
                </c:pt>
                <c:pt idx="104">
                  <c:v>2024/11/20</c:v>
                </c:pt>
                <c:pt idx="105">
                  <c:v>2024/11/21</c:v>
                </c:pt>
                <c:pt idx="106">
                  <c:v>2024/11/22</c:v>
                </c:pt>
                <c:pt idx="107">
                  <c:v>2024/11/25</c:v>
                </c:pt>
                <c:pt idx="108">
                  <c:v>2024/11/26</c:v>
                </c:pt>
                <c:pt idx="109">
                  <c:v>2024/11/27</c:v>
                </c:pt>
                <c:pt idx="110">
                  <c:v>2024/11/28</c:v>
                </c:pt>
                <c:pt idx="111">
                  <c:v>2024/11/29</c:v>
                </c:pt>
                <c:pt idx="112">
                  <c:v>2024/12/02</c:v>
                </c:pt>
                <c:pt idx="113">
                  <c:v>2024/12/03</c:v>
                </c:pt>
                <c:pt idx="114">
                  <c:v>2024/12/04</c:v>
                </c:pt>
                <c:pt idx="115">
                  <c:v>2024/12/05</c:v>
                </c:pt>
                <c:pt idx="116">
                  <c:v>2024/12/06</c:v>
                </c:pt>
                <c:pt idx="117">
                  <c:v>2024/12/09</c:v>
                </c:pt>
                <c:pt idx="118">
                  <c:v>2024/12/10</c:v>
                </c:pt>
                <c:pt idx="119">
                  <c:v>2024/12/11</c:v>
                </c:pt>
                <c:pt idx="120">
                  <c:v>2024/12/12</c:v>
                </c:pt>
                <c:pt idx="121">
                  <c:v>2024/12/13</c:v>
                </c:pt>
                <c:pt idx="122">
                  <c:v>2024/12/16</c:v>
                </c:pt>
                <c:pt idx="123">
                  <c:v>2024/12/17</c:v>
                </c:pt>
                <c:pt idx="124">
                  <c:v>2024/12/18</c:v>
                </c:pt>
                <c:pt idx="125">
                  <c:v>2024/12/19</c:v>
                </c:pt>
                <c:pt idx="126">
                  <c:v>2024/12/20</c:v>
                </c:pt>
                <c:pt idx="127">
                  <c:v>2024/12/23</c:v>
                </c:pt>
                <c:pt idx="128">
                  <c:v>2024/12/24</c:v>
                </c:pt>
                <c:pt idx="129">
                  <c:v>2024/12/25</c:v>
                </c:pt>
                <c:pt idx="130">
                  <c:v>2024/12/26</c:v>
                </c:pt>
                <c:pt idx="131">
                  <c:v>2024/12/27</c:v>
                </c:pt>
                <c:pt idx="132">
                  <c:v>2024/12/30</c:v>
                </c:pt>
                <c:pt idx="133">
                  <c:v>2024/12/31</c:v>
                </c:pt>
                <c:pt idx="134">
                  <c:v>2025/01/02</c:v>
                </c:pt>
                <c:pt idx="135">
                  <c:v>2025/01/03</c:v>
                </c:pt>
                <c:pt idx="136">
                  <c:v>2025/01/06</c:v>
                </c:pt>
                <c:pt idx="137">
                  <c:v>2025/01/07</c:v>
                </c:pt>
                <c:pt idx="138">
                  <c:v>2025/01/08</c:v>
                </c:pt>
                <c:pt idx="139">
                  <c:v>2025/01/09</c:v>
                </c:pt>
                <c:pt idx="140">
                  <c:v>2025/01/10</c:v>
                </c:pt>
                <c:pt idx="141">
                  <c:v>2025/01/13</c:v>
                </c:pt>
                <c:pt idx="142">
                  <c:v>2025/01/14</c:v>
                </c:pt>
                <c:pt idx="143">
                  <c:v>2025/01/15</c:v>
                </c:pt>
                <c:pt idx="144">
                  <c:v>2025/01/16</c:v>
                </c:pt>
                <c:pt idx="145">
                  <c:v>2025/01/17</c:v>
                </c:pt>
                <c:pt idx="146">
                  <c:v>2025/01/20</c:v>
                </c:pt>
                <c:pt idx="147">
                  <c:v>2025/01/21</c:v>
                </c:pt>
                <c:pt idx="148">
                  <c:v>2025/01/22</c:v>
                </c:pt>
                <c:pt idx="149">
                  <c:v>2025/02/03</c:v>
                </c:pt>
                <c:pt idx="150">
                  <c:v>2025/02/04</c:v>
                </c:pt>
                <c:pt idx="151">
                  <c:v>2025/02/05</c:v>
                </c:pt>
                <c:pt idx="152">
                  <c:v>2025/02/06</c:v>
                </c:pt>
                <c:pt idx="153">
                  <c:v>2025/02/07</c:v>
                </c:pt>
                <c:pt idx="154">
                  <c:v>2025/02/10</c:v>
                </c:pt>
                <c:pt idx="155">
                  <c:v>2025/02/11</c:v>
                </c:pt>
                <c:pt idx="156">
                  <c:v>2025/02/12</c:v>
                </c:pt>
                <c:pt idx="157">
                  <c:v>2025/02/13</c:v>
                </c:pt>
                <c:pt idx="158">
                  <c:v>2025/02/14</c:v>
                </c:pt>
                <c:pt idx="159">
                  <c:v>2025/02/17</c:v>
                </c:pt>
                <c:pt idx="160">
                  <c:v>2025/02/18</c:v>
                </c:pt>
                <c:pt idx="161">
                  <c:v>2025/02/19</c:v>
                </c:pt>
                <c:pt idx="162">
                  <c:v>2025/02/20</c:v>
                </c:pt>
                <c:pt idx="163">
                  <c:v>2025/02/21</c:v>
                </c:pt>
                <c:pt idx="164">
                  <c:v>2025/02/24</c:v>
                </c:pt>
                <c:pt idx="165">
                  <c:v>2025/02/25</c:v>
                </c:pt>
                <c:pt idx="166">
                  <c:v>2025/02/26</c:v>
                </c:pt>
                <c:pt idx="167">
                  <c:v>2025/02/27</c:v>
                </c:pt>
                <c:pt idx="168">
                  <c:v>2025/03/03</c:v>
                </c:pt>
                <c:pt idx="169">
                  <c:v>2025/03/04</c:v>
                </c:pt>
                <c:pt idx="170">
                  <c:v>2025/03/05</c:v>
                </c:pt>
                <c:pt idx="171">
                  <c:v>2025/03/06</c:v>
                </c:pt>
                <c:pt idx="172">
                  <c:v>2025/03/07</c:v>
                </c:pt>
                <c:pt idx="173">
                  <c:v>2025/03/10</c:v>
                </c:pt>
                <c:pt idx="174">
                  <c:v>2025/03/11</c:v>
                </c:pt>
                <c:pt idx="175">
                  <c:v>2025/03/12</c:v>
                </c:pt>
                <c:pt idx="176">
                  <c:v>2025/03/13</c:v>
                </c:pt>
                <c:pt idx="177">
                  <c:v>2025/03/14</c:v>
                </c:pt>
                <c:pt idx="178">
                  <c:v>2025/03/17</c:v>
                </c:pt>
                <c:pt idx="179">
                  <c:v>2025/03/18</c:v>
                </c:pt>
                <c:pt idx="180">
                  <c:v>2025/03/19</c:v>
                </c:pt>
                <c:pt idx="181">
                  <c:v>2025/03/20</c:v>
                </c:pt>
                <c:pt idx="182">
                  <c:v>2025/03/21</c:v>
                </c:pt>
                <c:pt idx="183">
                  <c:v>2025/03/24</c:v>
                </c:pt>
                <c:pt idx="184">
                  <c:v>2025/03/25</c:v>
                </c:pt>
                <c:pt idx="185">
                  <c:v>2025/03/26</c:v>
                </c:pt>
                <c:pt idx="186">
                  <c:v>2025/03/27</c:v>
                </c:pt>
                <c:pt idx="187">
                  <c:v>2025/03/28</c:v>
                </c:pt>
                <c:pt idx="188">
                  <c:v>2025/03/31</c:v>
                </c:pt>
                <c:pt idx="189">
                  <c:v>2025/04/01</c:v>
                </c:pt>
                <c:pt idx="190">
                  <c:v>2025/04/02</c:v>
                </c:pt>
                <c:pt idx="191">
                  <c:v>2025/04/07</c:v>
                </c:pt>
                <c:pt idx="192">
                  <c:v>2025/04/08</c:v>
                </c:pt>
                <c:pt idx="193">
                  <c:v>2025/04/09</c:v>
                </c:pt>
                <c:pt idx="194">
                  <c:v>2025/04/10</c:v>
                </c:pt>
                <c:pt idx="195">
                  <c:v>2025/04/11</c:v>
                </c:pt>
                <c:pt idx="196">
                  <c:v>2025/04/14</c:v>
                </c:pt>
                <c:pt idx="197">
                  <c:v>2025/04/15</c:v>
                </c:pt>
                <c:pt idx="198">
                  <c:v>2025/04/16</c:v>
                </c:pt>
                <c:pt idx="199">
                  <c:v>2025/04/17</c:v>
                </c:pt>
                <c:pt idx="200">
                  <c:v>2025/04/18</c:v>
                </c:pt>
                <c:pt idx="201">
                  <c:v>2025/04/21</c:v>
                </c:pt>
                <c:pt idx="202">
                  <c:v>2025/04/22</c:v>
                </c:pt>
                <c:pt idx="203">
                  <c:v>2025/04/23</c:v>
                </c:pt>
                <c:pt idx="204">
                  <c:v>2025/04/24</c:v>
                </c:pt>
                <c:pt idx="205">
                  <c:v>2025/04/25</c:v>
                </c:pt>
                <c:pt idx="206">
                  <c:v>2025/04/28</c:v>
                </c:pt>
                <c:pt idx="207">
                  <c:v>2025/04/29</c:v>
                </c:pt>
                <c:pt idx="208">
                  <c:v>2025/04/30</c:v>
                </c:pt>
                <c:pt idx="209">
                  <c:v>2025/05/02</c:v>
                </c:pt>
                <c:pt idx="210">
                  <c:v>2025/05/05</c:v>
                </c:pt>
                <c:pt idx="211">
                  <c:v>2025/05/06</c:v>
                </c:pt>
                <c:pt idx="212">
                  <c:v>2025/05/07</c:v>
                </c:pt>
                <c:pt idx="213">
                  <c:v>2025/05/08</c:v>
                </c:pt>
                <c:pt idx="214">
                  <c:v>2025/05/09</c:v>
                </c:pt>
                <c:pt idx="215">
                  <c:v>2025/05/12</c:v>
                </c:pt>
                <c:pt idx="216">
                  <c:v>2025/05/13</c:v>
                </c:pt>
                <c:pt idx="217">
                  <c:v>2025/05/14</c:v>
                </c:pt>
                <c:pt idx="218">
                  <c:v>2025/05/15</c:v>
                </c:pt>
                <c:pt idx="219">
                  <c:v>2025/05/16</c:v>
                </c:pt>
                <c:pt idx="220">
                  <c:v>2025/05/19</c:v>
                </c:pt>
                <c:pt idx="221">
                  <c:v>2025/05/20</c:v>
                </c:pt>
                <c:pt idx="222">
                  <c:v>2025/05/21</c:v>
                </c:pt>
                <c:pt idx="223">
                  <c:v>2025/05/22</c:v>
                </c:pt>
                <c:pt idx="224">
                  <c:v>2025/05/23</c:v>
                </c:pt>
                <c:pt idx="225">
                  <c:v>2025/05/26</c:v>
                </c:pt>
                <c:pt idx="226">
                  <c:v>2025/05/27</c:v>
                </c:pt>
                <c:pt idx="227">
                  <c:v>2025/05/28</c:v>
                </c:pt>
                <c:pt idx="228">
                  <c:v>2025/05/29</c:v>
                </c:pt>
                <c:pt idx="229">
                  <c:v>2025/06/02</c:v>
                </c:pt>
                <c:pt idx="230">
                  <c:v>2025/06/03</c:v>
                </c:pt>
                <c:pt idx="231">
                  <c:v>2025/06/04</c:v>
                </c:pt>
                <c:pt idx="232">
                  <c:v>2025/06/05</c:v>
                </c:pt>
                <c:pt idx="233">
                  <c:v>2025/06/06</c:v>
                </c:pt>
                <c:pt idx="234">
                  <c:v>2025/06/09</c:v>
                </c:pt>
                <c:pt idx="235">
                  <c:v>2025/06/10</c:v>
                </c:pt>
                <c:pt idx="236">
                  <c:v>2025/06/11</c:v>
                </c:pt>
                <c:pt idx="237">
                  <c:v>2025/06/12</c:v>
                </c:pt>
                <c:pt idx="238">
                  <c:v>2025/06/13</c:v>
                </c:pt>
                <c:pt idx="239">
                  <c:v>2025/06/16</c:v>
                </c:pt>
                <c:pt idx="240">
                  <c:v>2025/06/17</c:v>
                </c:pt>
                <c:pt idx="241">
                  <c:v>2025/06/18</c:v>
                </c:pt>
                <c:pt idx="242">
                  <c:v>2025/06/19</c:v>
                </c:pt>
                <c:pt idx="243">
                  <c:v>2025/06/20</c:v>
                </c:pt>
                <c:pt idx="244">
                  <c:v>2025/06/23</c:v>
                </c:pt>
                <c:pt idx="245">
                  <c:v>2025/06/24</c:v>
                </c:pt>
                <c:pt idx="246">
                  <c:v>2025/06/25</c:v>
                </c:pt>
                <c:pt idx="247">
                  <c:v>2025/06/26</c:v>
                </c:pt>
                <c:pt idx="248">
                  <c:v>2025/06/27</c:v>
                </c:pt>
                <c:pt idx="249">
                  <c:v>2025/06/30</c:v>
                </c:pt>
                <c:pt idx="250">
                  <c:v>2025/07/01</c:v>
                </c:pt>
                <c:pt idx="251">
                  <c:v>2025/07/02</c:v>
                </c:pt>
                <c:pt idx="252">
                  <c:v>2025/07/03</c:v>
                </c:pt>
                <c:pt idx="253">
                  <c:v>2025/07/04</c:v>
                </c:pt>
                <c:pt idx="254">
                  <c:v>2025/07/07</c:v>
                </c:pt>
                <c:pt idx="255">
                  <c:v>2025/07/08</c:v>
                </c:pt>
                <c:pt idx="256">
                  <c:v>2025/07/09</c:v>
                </c:pt>
                <c:pt idx="257">
                  <c:v>2025/07/10</c:v>
                </c:pt>
                <c:pt idx="258">
                  <c:v>2025/07/11</c:v>
                </c:pt>
                <c:pt idx="259">
                  <c:v>2025/07/14</c:v>
                </c:pt>
                <c:pt idx="260">
                  <c:v>2025/07/15</c:v>
                </c:pt>
                <c:pt idx="261">
                  <c:v>2025/07/16</c:v>
                </c:pt>
                <c:pt idx="262">
                  <c:v>2025/07/17</c:v>
                </c:pt>
                <c:pt idx="263">
                  <c:v>2025/07/18</c:v>
                </c:pt>
                <c:pt idx="264">
                  <c:v>2025/07/21</c:v>
                </c:pt>
                <c:pt idx="265">
                  <c:v>2025/07/22</c:v>
                </c:pt>
                <c:pt idx="266">
                  <c:v>2025/07/23</c:v>
                </c:pt>
                <c:pt idx="267">
                  <c:v>2025/07/24</c:v>
                </c:pt>
                <c:pt idx="268">
                  <c:v>2025/07/25</c:v>
                </c:pt>
                <c:pt idx="269">
                  <c:v>2025/07/28</c:v>
                </c:pt>
                <c:pt idx="270">
                  <c:v>2025/07/29</c:v>
                </c:pt>
                <c:pt idx="271">
                  <c:v>2025/07/30</c:v>
                </c:pt>
                <c:pt idx="272">
                  <c:v>2025/07/31</c:v>
                </c:pt>
                <c:pt idx="273">
                  <c:v>2025/08/01</c:v>
                </c:pt>
                <c:pt idx="274">
                  <c:v>2025/08/04</c:v>
                </c:pt>
                <c:pt idx="275">
                  <c:v>2025/08/05</c:v>
                </c:pt>
                <c:pt idx="276">
                  <c:v>2025/08/06</c:v>
                </c:pt>
                <c:pt idx="277">
                  <c:v>2025/08/07</c:v>
                </c:pt>
                <c:pt idx="278">
                  <c:v>2025/08/08</c:v>
                </c:pt>
                <c:pt idx="279">
                  <c:v>2025/08/11</c:v>
                </c:pt>
                <c:pt idx="280">
                  <c:v>2025/08/12</c:v>
                </c:pt>
                <c:pt idx="281">
                  <c:v>2025/08/13</c:v>
                </c:pt>
                <c:pt idx="282">
                  <c:v>2025/08/14</c:v>
                </c:pt>
                <c:pt idx="283">
                  <c:v>2025/08/15</c:v>
                </c:pt>
                <c:pt idx="284">
                  <c:v>2025/08/18</c:v>
                </c:pt>
                <c:pt idx="285">
                  <c:v>2025/08/19</c:v>
                </c:pt>
                <c:pt idx="286">
                  <c:v>2025/08/20</c:v>
                </c:pt>
                <c:pt idx="287">
                  <c:v>2025/08/21</c:v>
                </c:pt>
                <c:pt idx="288">
                  <c:v>2025/08/22</c:v>
                </c:pt>
                <c:pt idx="289">
                  <c:v>2025/08/25</c:v>
                </c:pt>
                <c:pt idx="290">
                  <c:v>2025/08/26</c:v>
                </c:pt>
                <c:pt idx="291">
                  <c:v>2025/08/27</c:v>
                </c:pt>
                <c:pt idx="292">
                  <c:v>2025/08/28</c:v>
                </c:pt>
                <c:pt idx="293">
                  <c:v>2025/08/29</c:v>
                </c:pt>
                <c:pt idx="294">
                  <c:v>2025/09/01</c:v>
                </c:pt>
                <c:pt idx="295">
                  <c:v>2025/09/02</c:v>
                </c:pt>
                <c:pt idx="296">
                  <c:v>2025/09/03</c:v>
                </c:pt>
                <c:pt idx="297">
                  <c:v>2025/09/04</c:v>
                </c:pt>
                <c:pt idx="298">
                  <c:v>2025/09/05</c:v>
                </c:pt>
                <c:pt idx="299">
                  <c:v>2025/09/08</c:v>
                </c:pt>
                <c:pt idx="300">
                  <c:v>2025/09/09</c:v>
                </c:pt>
                <c:pt idx="301">
                  <c:v>2025/09/10</c:v>
                </c:pt>
                <c:pt idx="302">
                  <c:v>2025/09/11</c:v>
                </c:pt>
                <c:pt idx="303">
                  <c:v>2025/09/12</c:v>
                </c:pt>
                <c:pt idx="304">
                  <c:v>2025/09/15</c:v>
                </c:pt>
                <c:pt idx="305">
                  <c:v>2025/09/16</c:v>
                </c:pt>
              </c:strCache>
            </c:strRef>
          </c:cat>
          <c:val>
            <c:numRef>
              <c:f>工作表1!$B$2:$B$307</c:f>
              <c:numCache>
                <c:formatCode>#,##0.######;\-#,##0.######</c:formatCode>
                <c:ptCount val="306"/>
                <c:pt idx="0">
                  <c:v>384.73</c:v>
                </c:pt>
                <c:pt idx="1">
                  <c:v>405.94</c:v>
                </c:pt>
                <c:pt idx="2">
                  <c:v>370.24</c:v>
                </c:pt>
                <c:pt idx="3">
                  <c:v>367.17</c:v>
                </c:pt>
                <c:pt idx="4">
                  <c:v>356.96</c:v>
                </c:pt>
                <c:pt idx="5">
                  <c:v>343.04</c:v>
                </c:pt>
                <c:pt idx="6">
                  <c:v>353.79</c:v>
                </c:pt>
                <c:pt idx="7">
                  <c:v>353.39</c:v>
                </c:pt>
                <c:pt idx="8">
                  <c:v>364.59</c:v>
                </c:pt>
                <c:pt idx="9">
                  <c:v>382.82</c:v>
                </c:pt>
                <c:pt idx="10">
                  <c:v>397.19</c:v>
                </c:pt>
                <c:pt idx="11">
                  <c:v>389.8</c:v>
                </c:pt>
                <c:pt idx="12">
                  <c:v>403.24</c:v>
                </c:pt>
                <c:pt idx="13">
                  <c:v>402.98</c:v>
                </c:pt>
                <c:pt idx="14">
                  <c:v>403.46</c:v>
                </c:pt>
                <c:pt idx="15">
                  <c:v>392.42</c:v>
                </c:pt>
                <c:pt idx="16">
                  <c:v>390.11</c:v>
                </c:pt>
                <c:pt idx="17">
                  <c:v>392.65</c:v>
                </c:pt>
                <c:pt idx="18">
                  <c:v>392.4</c:v>
                </c:pt>
                <c:pt idx="19">
                  <c:v>393.6</c:v>
                </c:pt>
                <c:pt idx="20">
                  <c:v>395.24</c:v>
                </c:pt>
                <c:pt idx="21">
                  <c:v>397.6</c:v>
                </c:pt>
                <c:pt idx="22">
                  <c:v>395.19</c:v>
                </c:pt>
                <c:pt idx="23">
                  <c:v>390.26</c:v>
                </c:pt>
                <c:pt idx="24">
                  <c:v>389.68</c:v>
                </c:pt>
                <c:pt idx="25">
                  <c:v>395.57</c:v>
                </c:pt>
                <c:pt idx="26">
                  <c:v>389.93</c:v>
                </c:pt>
                <c:pt idx="27">
                  <c:v>393.04</c:v>
                </c:pt>
                <c:pt idx="28">
                  <c:v>389.93</c:v>
                </c:pt>
                <c:pt idx="29">
                  <c:v>396.17</c:v>
                </c:pt>
                <c:pt idx="30">
                  <c:v>398.19</c:v>
                </c:pt>
                <c:pt idx="31">
                  <c:v>395.12</c:v>
                </c:pt>
                <c:pt idx="32">
                  <c:v>378.32</c:v>
                </c:pt>
                <c:pt idx="33">
                  <c:v>370.17</c:v>
                </c:pt>
                <c:pt idx="34">
                  <c:v>383.16</c:v>
                </c:pt>
                <c:pt idx="35">
                  <c:v>386.79</c:v>
                </c:pt>
                <c:pt idx="36">
                  <c:v>412.15</c:v>
                </c:pt>
                <c:pt idx="37">
                  <c:v>417.26</c:v>
                </c:pt>
                <c:pt idx="38">
                  <c:v>403.58</c:v>
                </c:pt>
                <c:pt idx="39">
                  <c:v>397.25</c:v>
                </c:pt>
                <c:pt idx="40">
                  <c:v>394.53</c:v>
                </c:pt>
                <c:pt idx="41">
                  <c:v>396.34</c:v>
                </c:pt>
                <c:pt idx="42">
                  <c:v>400.17</c:v>
                </c:pt>
                <c:pt idx="43">
                  <c:v>402.33</c:v>
                </c:pt>
                <c:pt idx="44">
                  <c:v>407.46</c:v>
                </c:pt>
                <c:pt idx="45">
                  <c:v>409.71</c:v>
                </c:pt>
                <c:pt idx="46">
                  <c:v>402.73</c:v>
                </c:pt>
                <c:pt idx="47">
                  <c:v>405.13</c:v>
                </c:pt>
                <c:pt idx="48">
                  <c:v>410.26</c:v>
                </c:pt>
                <c:pt idx="49">
                  <c:v>410.05</c:v>
                </c:pt>
                <c:pt idx="50">
                  <c:v>411.6</c:v>
                </c:pt>
                <c:pt idx="51">
                  <c:v>415.71</c:v>
                </c:pt>
                <c:pt idx="52">
                  <c:v>427.72</c:v>
                </c:pt>
                <c:pt idx="53">
                  <c:v>451.63</c:v>
                </c:pt>
                <c:pt idx="54">
                  <c:v>469.17</c:v>
                </c:pt>
                <c:pt idx="55">
                  <c:v>491.17</c:v>
                </c:pt>
                <c:pt idx="56">
                  <c:v>498.12</c:v>
                </c:pt>
                <c:pt idx="57">
                  <c:v>511.14</c:v>
                </c:pt>
                <c:pt idx="58">
                  <c:v>515.99</c:v>
                </c:pt>
                <c:pt idx="59">
                  <c:v>510.36</c:v>
                </c:pt>
                <c:pt idx="60">
                  <c:v>511.13</c:v>
                </c:pt>
                <c:pt idx="61">
                  <c:v>505.62</c:v>
                </c:pt>
                <c:pt idx="62">
                  <c:v>489.4</c:v>
                </c:pt>
                <c:pt idx="63">
                  <c:v>499.88</c:v>
                </c:pt>
                <c:pt idx="64">
                  <c:v>486.78</c:v>
                </c:pt>
                <c:pt idx="65">
                  <c:v>494.15</c:v>
                </c:pt>
                <c:pt idx="66">
                  <c:v>490.69</c:v>
                </c:pt>
                <c:pt idx="67">
                  <c:v>484.76</c:v>
                </c:pt>
                <c:pt idx="68">
                  <c:v>492.45</c:v>
                </c:pt>
                <c:pt idx="69">
                  <c:v>501.75</c:v>
                </c:pt>
                <c:pt idx="70">
                  <c:v>509.94</c:v>
                </c:pt>
                <c:pt idx="71">
                  <c:v>545.05999999999995</c:v>
                </c:pt>
                <c:pt idx="72">
                  <c:v>557.25</c:v>
                </c:pt>
                <c:pt idx="73">
                  <c:v>544.79</c:v>
                </c:pt>
                <c:pt idx="74">
                  <c:v>525.41999999999996</c:v>
                </c:pt>
                <c:pt idx="75">
                  <c:v>513.39</c:v>
                </c:pt>
                <c:pt idx="76">
                  <c:v>485.94</c:v>
                </c:pt>
                <c:pt idx="77">
                  <c:v>490.2</c:v>
                </c:pt>
                <c:pt idx="78">
                  <c:v>493.32</c:v>
                </c:pt>
                <c:pt idx="79">
                  <c:v>493.61</c:v>
                </c:pt>
                <c:pt idx="80">
                  <c:v>493.44</c:v>
                </c:pt>
                <c:pt idx="81">
                  <c:v>492.93</c:v>
                </c:pt>
                <c:pt idx="82">
                  <c:v>488.93</c:v>
                </c:pt>
                <c:pt idx="83">
                  <c:v>492.39</c:v>
                </c:pt>
                <c:pt idx="84">
                  <c:v>492.58</c:v>
                </c:pt>
                <c:pt idx="85">
                  <c:v>516.72</c:v>
                </c:pt>
                <c:pt idx="86">
                  <c:v>506.47</c:v>
                </c:pt>
                <c:pt idx="87">
                  <c:v>507.78</c:v>
                </c:pt>
                <c:pt idx="88">
                  <c:v>504.6</c:v>
                </c:pt>
                <c:pt idx="89">
                  <c:v>506.02</c:v>
                </c:pt>
                <c:pt idx="90">
                  <c:v>493.47</c:v>
                </c:pt>
                <c:pt idx="91">
                  <c:v>494.09</c:v>
                </c:pt>
                <c:pt idx="92">
                  <c:v>495.6</c:v>
                </c:pt>
                <c:pt idx="93">
                  <c:v>492.34</c:v>
                </c:pt>
                <c:pt idx="94">
                  <c:v>493.69</c:v>
                </c:pt>
                <c:pt idx="95">
                  <c:v>503.98</c:v>
                </c:pt>
                <c:pt idx="96">
                  <c:v>507.53</c:v>
                </c:pt>
                <c:pt idx="97">
                  <c:v>507.6</c:v>
                </c:pt>
                <c:pt idx="98">
                  <c:v>511.48</c:v>
                </c:pt>
                <c:pt idx="99">
                  <c:v>509.04</c:v>
                </c:pt>
                <c:pt idx="100">
                  <c:v>503.94</c:v>
                </c:pt>
                <c:pt idx="101">
                  <c:v>497.77</c:v>
                </c:pt>
                <c:pt idx="102">
                  <c:v>491.89</c:v>
                </c:pt>
                <c:pt idx="103">
                  <c:v>500.55</c:v>
                </c:pt>
                <c:pt idx="104">
                  <c:v>502.07</c:v>
                </c:pt>
                <c:pt idx="105">
                  <c:v>498.28</c:v>
                </c:pt>
                <c:pt idx="106">
                  <c:v>503.6</c:v>
                </c:pt>
                <c:pt idx="107">
                  <c:v>507.05</c:v>
                </c:pt>
                <c:pt idx="108">
                  <c:v>505.91</c:v>
                </c:pt>
                <c:pt idx="109">
                  <c:v>503.05</c:v>
                </c:pt>
                <c:pt idx="110">
                  <c:v>502.01</c:v>
                </c:pt>
                <c:pt idx="111">
                  <c:v>503.06</c:v>
                </c:pt>
                <c:pt idx="112">
                  <c:v>503.41</c:v>
                </c:pt>
                <c:pt idx="113">
                  <c:v>503.82</c:v>
                </c:pt>
                <c:pt idx="114">
                  <c:v>501.98</c:v>
                </c:pt>
                <c:pt idx="115">
                  <c:v>505.6</c:v>
                </c:pt>
                <c:pt idx="116">
                  <c:v>505.51</c:v>
                </c:pt>
                <c:pt idx="117">
                  <c:v>507.32</c:v>
                </c:pt>
                <c:pt idx="118">
                  <c:v>506.15</c:v>
                </c:pt>
                <c:pt idx="119">
                  <c:v>505.75</c:v>
                </c:pt>
                <c:pt idx="120">
                  <c:v>507.67</c:v>
                </c:pt>
                <c:pt idx="121">
                  <c:v>502.82</c:v>
                </c:pt>
                <c:pt idx="122">
                  <c:v>493.45</c:v>
                </c:pt>
                <c:pt idx="123">
                  <c:v>498.38</c:v>
                </c:pt>
                <c:pt idx="124">
                  <c:v>491.24</c:v>
                </c:pt>
                <c:pt idx="125">
                  <c:v>488.91</c:v>
                </c:pt>
                <c:pt idx="126">
                  <c:v>482.15</c:v>
                </c:pt>
                <c:pt idx="127">
                  <c:v>467.29</c:v>
                </c:pt>
                <c:pt idx="128">
                  <c:v>478.93</c:v>
                </c:pt>
                <c:pt idx="129">
                  <c:v>507.42</c:v>
                </c:pt>
                <c:pt idx="130">
                  <c:v>548.64</c:v>
                </c:pt>
                <c:pt idx="131">
                  <c:v>535.92999999999995</c:v>
                </c:pt>
                <c:pt idx="132">
                  <c:v>525.82000000000005</c:v>
                </c:pt>
                <c:pt idx="133">
                  <c:v>511.44</c:v>
                </c:pt>
                <c:pt idx="134">
                  <c:v>513.23</c:v>
                </c:pt>
                <c:pt idx="135">
                  <c:v>512.32000000000005</c:v>
                </c:pt>
                <c:pt idx="136">
                  <c:v>506.87</c:v>
                </c:pt>
                <c:pt idx="137">
                  <c:v>505.05</c:v>
                </c:pt>
                <c:pt idx="138">
                  <c:v>501.52</c:v>
                </c:pt>
                <c:pt idx="139">
                  <c:v>494.99</c:v>
                </c:pt>
                <c:pt idx="140">
                  <c:v>496.92</c:v>
                </c:pt>
                <c:pt idx="141">
                  <c:v>501.24</c:v>
                </c:pt>
                <c:pt idx="142">
                  <c:v>505.04</c:v>
                </c:pt>
                <c:pt idx="143">
                  <c:v>502.1</c:v>
                </c:pt>
                <c:pt idx="144">
                  <c:v>500.14</c:v>
                </c:pt>
                <c:pt idx="145">
                  <c:v>508.57</c:v>
                </c:pt>
                <c:pt idx="146">
                  <c:v>507.06</c:v>
                </c:pt>
                <c:pt idx="147">
                  <c:v>501.5</c:v>
                </c:pt>
                <c:pt idx="148">
                  <c:v>500.25</c:v>
                </c:pt>
                <c:pt idx="149">
                  <c:v>497.99</c:v>
                </c:pt>
                <c:pt idx="150">
                  <c:v>497.64</c:v>
                </c:pt>
                <c:pt idx="151">
                  <c:v>502.64</c:v>
                </c:pt>
                <c:pt idx="152">
                  <c:v>518.53</c:v>
                </c:pt>
                <c:pt idx="153">
                  <c:v>518.63</c:v>
                </c:pt>
                <c:pt idx="154">
                  <c:v>510.52</c:v>
                </c:pt>
                <c:pt idx="155">
                  <c:v>503.53</c:v>
                </c:pt>
                <c:pt idx="156">
                  <c:v>496.56</c:v>
                </c:pt>
                <c:pt idx="157">
                  <c:v>487.94</c:v>
                </c:pt>
                <c:pt idx="158">
                  <c:v>486.78</c:v>
                </c:pt>
                <c:pt idx="159">
                  <c:v>490.38</c:v>
                </c:pt>
                <c:pt idx="160">
                  <c:v>498.58</c:v>
                </c:pt>
                <c:pt idx="161">
                  <c:v>506.68</c:v>
                </c:pt>
                <c:pt idx="162">
                  <c:v>496.94</c:v>
                </c:pt>
                <c:pt idx="163">
                  <c:v>501.11</c:v>
                </c:pt>
                <c:pt idx="164">
                  <c:v>492.98</c:v>
                </c:pt>
                <c:pt idx="165">
                  <c:v>497.49</c:v>
                </c:pt>
                <c:pt idx="166">
                  <c:v>516.88</c:v>
                </c:pt>
                <c:pt idx="167">
                  <c:v>518.49</c:v>
                </c:pt>
                <c:pt idx="168">
                  <c:v>519.79</c:v>
                </c:pt>
                <c:pt idx="169">
                  <c:v>513.62</c:v>
                </c:pt>
                <c:pt idx="170">
                  <c:v>521.57000000000005</c:v>
                </c:pt>
                <c:pt idx="171">
                  <c:v>517.47</c:v>
                </c:pt>
                <c:pt idx="172">
                  <c:v>508.43</c:v>
                </c:pt>
                <c:pt idx="173">
                  <c:v>515.26</c:v>
                </c:pt>
                <c:pt idx="174">
                  <c:v>508.6</c:v>
                </c:pt>
                <c:pt idx="175">
                  <c:v>540.36</c:v>
                </c:pt>
                <c:pt idx="176">
                  <c:v>587.80999999999995</c:v>
                </c:pt>
                <c:pt idx="177">
                  <c:v>585.89</c:v>
                </c:pt>
                <c:pt idx="178">
                  <c:v>605.4</c:v>
                </c:pt>
                <c:pt idx="179">
                  <c:v>587.16</c:v>
                </c:pt>
                <c:pt idx="180">
                  <c:v>574.26</c:v>
                </c:pt>
                <c:pt idx="181">
                  <c:v>575.36</c:v>
                </c:pt>
                <c:pt idx="182">
                  <c:v>576.16</c:v>
                </c:pt>
                <c:pt idx="183">
                  <c:v>590.30999999999995</c:v>
                </c:pt>
                <c:pt idx="184">
                  <c:v>601.71</c:v>
                </c:pt>
                <c:pt idx="185">
                  <c:v>583.6</c:v>
                </c:pt>
                <c:pt idx="186">
                  <c:v>569.67999999999995</c:v>
                </c:pt>
                <c:pt idx="187">
                  <c:v>553.79</c:v>
                </c:pt>
                <c:pt idx="188">
                  <c:v>548.79</c:v>
                </c:pt>
                <c:pt idx="189">
                  <c:v>552.71</c:v>
                </c:pt>
                <c:pt idx="190">
                  <c:v>555.42999999999995</c:v>
                </c:pt>
                <c:pt idx="191">
                  <c:v>419.02</c:v>
                </c:pt>
                <c:pt idx="192">
                  <c:v>420.88</c:v>
                </c:pt>
                <c:pt idx="193">
                  <c:v>382.36</c:v>
                </c:pt>
                <c:pt idx="194">
                  <c:v>432.18</c:v>
                </c:pt>
                <c:pt idx="195">
                  <c:v>429.13</c:v>
                </c:pt>
                <c:pt idx="196">
                  <c:v>441.68</c:v>
                </c:pt>
                <c:pt idx="197">
                  <c:v>444.13</c:v>
                </c:pt>
                <c:pt idx="198">
                  <c:v>432.41</c:v>
                </c:pt>
                <c:pt idx="199">
                  <c:v>428.59</c:v>
                </c:pt>
                <c:pt idx="200">
                  <c:v>430.35</c:v>
                </c:pt>
                <c:pt idx="201">
                  <c:v>424.21</c:v>
                </c:pt>
                <c:pt idx="202">
                  <c:v>415.13</c:v>
                </c:pt>
                <c:pt idx="203">
                  <c:v>428.46</c:v>
                </c:pt>
                <c:pt idx="204">
                  <c:v>427.21</c:v>
                </c:pt>
                <c:pt idx="205">
                  <c:v>436.74</c:v>
                </c:pt>
                <c:pt idx="206">
                  <c:v>464.36</c:v>
                </c:pt>
                <c:pt idx="207">
                  <c:v>501.29</c:v>
                </c:pt>
                <c:pt idx="208">
                  <c:v>524.07000000000005</c:v>
                </c:pt>
                <c:pt idx="209">
                  <c:v>533.89</c:v>
                </c:pt>
                <c:pt idx="210">
                  <c:v>509.53</c:v>
                </c:pt>
                <c:pt idx="211">
                  <c:v>501.96</c:v>
                </c:pt>
                <c:pt idx="212">
                  <c:v>510.61</c:v>
                </c:pt>
                <c:pt idx="213">
                  <c:v>516.16</c:v>
                </c:pt>
                <c:pt idx="214">
                  <c:v>519.19000000000005</c:v>
                </c:pt>
                <c:pt idx="215">
                  <c:v>529.45000000000005</c:v>
                </c:pt>
                <c:pt idx="216">
                  <c:v>533.33000000000004</c:v>
                </c:pt>
                <c:pt idx="217">
                  <c:v>543.16999999999996</c:v>
                </c:pt>
                <c:pt idx="218">
                  <c:v>536.77</c:v>
                </c:pt>
                <c:pt idx="219">
                  <c:v>552.03</c:v>
                </c:pt>
                <c:pt idx="220">
                  <c:v>564.14</c:v>
                </c:pt>
                <c:pt idx="221">
                  <c:v>564.98</c:v>
                </c:pt>
                <c:pt idx="222">
                  <c:v>571.21</c:v>
                </c:pt>
                <c:pt idx="223">
                  <c:v>607.61</c:v>
                </c:pt>
                <c:pt idx="224">
                  <c:v>630.65</c:v>
                </c:pt>
                <c:pt idx="225">
                  <c:v>630.29</c:v>
                </c:pt>
                <c:pt idx="226">
                  <c:v>626.09</c:v>
                </c:pt>
                <c:pt idx="227">
                  <c:v>626.48</c:v>
                </c:pt>
                <c:pt idx="228">
                  <c:v>670.42</c:v>
                </c:pt>
                <c:pt idx="229">
                  <c:v>694.93</c:v>
                </c:pt>
                <c:pt idx="230">
                  <c:v>715.44</c:v>
                </c:pt>
                <c:pt idx="231">
                  <c:v>757.18</c:v>
                </c:pt>
                <c:pt idx="232">
                  <c:v>734.99</c:v>
                </c:pt>
                <c:pt idx="233" formatCode="#,##0;\-#,###">
                  <c:v>715</c:v>
                </c:pt>
                <c:pt idx="234">
                  <c:v>738.22</c:v>
                </c:pt>
                <c:pt idx="235">
                  <c:v>747.13</c:v>
                </c:pt>
                <c:pt idx="236">
                  <c:v>759.15</c:v>
                </c:pt>
                <c:pt idx="237">
                  <c:v>743.64</c:v>
                </c:pt>
                <c:pt idx="238">
                  <c:v>741.9</c:v>
                </c:pt>
                <c:pt idx="239">
                  <c:v>747.23</c:v>
                </c:pt>
                <c:pt idx="240">
                  <c:v>773.39</c:v>
                </c:pt>
                <c:pt idx="241">
                  <c:v>742.56</c:v>
                </c:pt>
                <c:pt idx="242">
                  <c:v>788.89</c:v>
                </c:pt>
                <c:pt idx="243">
                  <c:v>755.45</c:v>
                </c:pt>
                <c:pt idx="244">
                  <c:v>732.3</c:v>
                </c:pt>
                <c:pt idx="245">
                  <c:v>747.3</c:v>
                </c:pt>
                <c:pt idx="246">
                  <c:v>756.21</c:v>
                </c:pt>
                <c:pt idx="247">
                  <c:v>745.2</c:v>
                </c:pt>
                <c:pt idx="248">
                  <c:v>732.97</c:v>
                </c:pt>
                <c:pt idx="249">
                  <c:v>719.78</c:v>
                </c:pt>
                <c:pt idx="250">
                  <c:v>701.57</c:v>
                </c:pt>
                <c:pt idx="251">
                  <c:v>706.78</c:v>
                </c:pt>
                <c:pt idx="252">
                  <c:v>719.85</c:v>
                </c:pt>
                <c:pt idx="253">
                  <c:v>700.4</c:v>
                </c:pt>
                <c:pt idx="254">
                  <c:v>677.03</c:v>
                </c:pt>
                <c:pt idx="255">
                  <c:v>683.96</c:v>
                </c:pt>
                <c:pt idx="256">
                  <c:v>698.94</c:v>
                </c:pt>
                <c:pt idx="257">
                  <c:v>716.34</c:v>
                </c:pt>
                <c:pt idx="258">
                  <c:v>678.7</c:v>
                </c:pt>
                <c:pt idx="259">
                  <c:v>643.54999999999995</c:v>
                </c:pt>
                <c:pt idx="260">
                  <c:v>657.08</c:v>
                </c:pt>
                <c:pt idx="261">
                  <c:v>663.45</c:v>
                </c:pt>
                <c:pt idx="262">
                  <c:v>656.96</c:v>
                </c:pt>
                <c:pt idx="263">
                  <c:v>661.81</c:v>
                </c:pt>
                <c:pt idx="264">
                  <c:v>659.66</c:v>
                </c:pt>
                <c:pt idx="265">
                  <c:v>676.95</c:v>
                </c:pt>
                <c:pt idx="266">
                  <c:v>703.92</c:v>
                </c:pt>
                <c:pt idx="267">
                  <c:v>709.11</c:v>
                </c:pt>
                <c:pt idx="268">
                  <c:v>715.92</c:v>
                </c:pt>
                <c:pt idx="269">
                  <c:v>705.01</c:v>
                </c:pt>
                <c:pt idx="270">
                  <c:v>696.17</c:v>
                </c:pt>
                <c:pt idx="271">
                  <c:v>702.97</c:v>
                </c:pt>
                <c:pt idx="272">
                  <c:v>699.42</c:v>
                </c:pt>
                <c:pt idx="273">
                  <c:v>703.74</c:v>
                </c:pt>
                <c:pt idx="274">
                  <c:v>701.75</c:v>
                </c:pt>
                <c:pt idx="275">
                  <c:v>700.72</c:v>
                </c:pt>
                <c:pt idx="276">
                  <c:v>693.23</c:v>
                </c:pt>
                <c:pt idx="277">
                  <c:v>707.23</c:v>
                </c:pt>
                <c:pt idx="278">
                  <c:v>727.89</c:v>
                </c:pt>
                <c:pt idx="279">
                  <c:v>743.31</c:v>
                </c:pt>
                <c:pt idx="280">
                  <c:v>768.77</c:v>
                </c:pt>
                <c:pt idx="281">
                  <c:v>865.98</c:v>
                </c:pt>
                <c:pt idx="282">
                  <c:v>887.44</c:v>
                </c:pt>
                <c:pt idx="283">
                  <c:v>873.72</c:v>
                </c:pt>
                <c:pt idx="284">
                  <c:v>881.82</c:v>
                </c:pt>
                <c:pt idx="285">
                  <c:v>874.16</c:v>
                </c:pt>
                <c:pt idx="286">
                  <c:v>858.31</c:v>
                </c:pt>
                <c:pt idx="287">
                  <c:v>853.3</c:v>
                </c:pt>
                <c:pt idx="288">
                  <c:v>874.5</c:v>
                </c:pt>
                <c:pt idx="289">
                  <c:v>895.05</c:v>
                </c:pt>
                <c:pt idx="290">
                  <c:v>889.53</c:v>
                </c:pt>
                <c:pt idx="291">
                  <c:v>928.15</c:v>
                </c:pt>
                <c:pt idx="292">
                  <c:v>938.26</c:v>
                </c:pt>
                <c:pt idx="293">
                  <c:v>975.4</c:v>
                </c:pt>
                <c:pt idx="294">
                  <c:v>950.42</c:v>
                </c:pt>
                <c:pt idx="295">
                  <c:v>939.22</c:v>
                </c:pt>
                <c:pt idx="296">
                  <c:v>932.6</c:v>
                </c:pt>
                <c:pt idx="297">
                  <c:v>923.58</c:v>
                </c:pt>
                <c:pt idx="298">
                  <c:v>910.04</c:v>
                </c:pt>
                <c:pt idx="299">
                  <c:v>916.49</c:v>
                </c:pt>
                <c:pt idx="300">
                  <c:v>911.16</c:v>
                </c:pt>
                <c:pt idx="301">
                  <c:v>895.01</c:v>
                </c:pt>
                <c:pt idx="302">
                  <c:v>901.27</c:v>
                </c:pt>
                <c:pt idx="303">
                  <c:v>904.15</c:v>
                </c:pt>
                <c:pt idx="304">
                  <c:v>888.06</c:v>
                </c:pt>
                <c:pt idx="305">
                  <c:v>889.16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1B-40B0-A586-FD03DFC7F2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0278799"/>
        <c:axId val="170272143"/>
      </c:lineChart>
      <c:catAx>
        <c:axId val="170278799"/>
        <c:scaling>
          <c:orientation val="minMax"/>
        </c:scaling>
        <c:delete val="0"/>
        <c:axPos val="b"/>
        <c:numFmt formatCode="m/d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70272143"/>
        <c:crosses val="autoZero"/>
        <c:auto val="1"/>
        <c:lblAlgn val="ctr"/>
        <c:lblOffset val="100"/>
        <c:tickLblSkip val="30"/>
        <c:tickMarkSkip val="60"/>
        <c:noMultiLvlLbl val="0"/>
      </c:catAx>
      <c:valAx>
        <c:axId val="170272143"/>
        <c:scaling>
          <c:orientation val="minMax"/>
          <c:max val="1000"/>
          <c:min val="300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70278799"/>
        <c:crosses val="autoZero"/>
        <c:crossBetween val="between"/>
      </c:valAx>
      <c:valAx>
        <c:axId val="103456895"/>
        <c:scaling>
          <c:orientation val="minMax"/>
          <c:max val="4000"/>
        </c:scaling>
        <c:delete val="0"/>
        <c:axPos val="r"/>
        <c:numFmt formatCode="#,##0;\-#,###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03466463"/>
        <c:crosses val="max"/>
        <c:crossBetween val="between"/>
        <c:majorUnit val="500"/>
        <c:minorUnit val="500"/>
      </c:valAx>
      <c:catAx>
        <c:axId val="1034664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34568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44465" cy="493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124" y="4"/>
            <a:ext cx="2944465" cy="493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28922"/>
            <a:ext cx="2944465" cy="495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124" y="9428922"/>
            <a:ext cx="2944465" cy="495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065E98F-E7D5-4E0C-9E89-0BE65911436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20952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44465" cy="493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124" y="4"/>
            <a:ext cx="2944465" cy="493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659" y="4715621"/>
            <a:ext cx="5438357" cy="446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28922"/>
            <a:ext cx="2944465" cy="495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124" y="9428922"/>
            <a:ext cx="2944465" cy="495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43FB88EE-223F-48CB-A0E2-A5DCCD370B4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70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46125"/>
            <a:ext cx="4959350" cy="3721100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27053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320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687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128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888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06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6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763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676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338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一共分為</a:t>
            </a:r>
            <a:r>
              <a:rPr lang="en-US" altLang="zh-TW" dirty="0"/>
              <a:t>4-5</a:t>
            </a:r>
            <a:r>
              <a:rPr lang="zh-TW" altLang="en-US" dirty="0"/>
              <a:t>個階段</a:t>
            </a:r>
            <a:endParaRPr lang="en-US" altLang="zh-TW" dirty="0"/>
          </a:p>
          <a:p>
            <a:r>
              <a:rPr lang="zh-TW" altLang="en-US" dirty="0"/>
              <a:t>股權規劃、資本形成</a:t>
            </a:r>
            <a:endParaRPr lang="en-US" altLang="zh-TW" dirty="0"/>
          </a:p>
          <a:p>
            <a:r>
              <a:rPr lang="zh-TW" altLang="en-US" dirty="0"/>
              <a:t>公開發行前內部人股權移轉、活動較不受規定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登錄興櫃</a:t>
            </a:r>
            <a:r>
              <a:rPr lang="en-US" altLang="zh-TW" dirty="0"/>
              <a:t>-</a:t>
            </a:r>
            <a:r>
              <a:rPr lang="zh-TW" altLang="en-US" dirty="0"/>
              <a:t>協助價格發現</a:t>
            </a:r>
            <a:endParaRPr lang="en-US" altLang="zh-TW" dirty="0"/>
          </a:p>
          <a:p>
            <a:r>
              <a:rPr lang="zh-TW" altLang="en-US" dirty="0"/>
              <a:t>公司提撥股票給券商</a:t>
            </a:r>
            <a:endParaRPr lang="en-US" altLang="zh-TW" dirty="0"/>
          </a:p>
          <a:p>
            <a:r>
              <a:rPr lang="zh-TW" altLang="en-US" dirty="0"/>
              <a:t>多少呢</a:t>
            </a:r>
            <a:r>
              <a:rPr lang="en-US" altLang="zh-TW" dirty="0"/>
              <a:t>?</a:t>
            </a:r>
          </a:p>
          <a:p>
            <a:endParaRPr lang="en-US" altLang="zh-TW" dirty="0"/>
          </a:p>
          <a:p>
            <a:r>
              <a:rPr lang="zh-TW" altLang="en-US" dirty="0"/>
              <a:t>不宜</a:t>
            </a:r>
            <a:r>
              <a:rPr lang="en-US" altLang="zh-TW" dirty="0"/>
              <a:t>(</a:t>
            </a:r>
            <a:r>
              <a:rPr lang="zh-TW" altLang="en-US" dirty="0"/>
              <a:t>興櫃時不得私轉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申請上市櫃 </a:t>
            </a:r>
            <a:endParaRPr lang="en-US" altLang="zh-TW" dirty="0"/>
          </a:p>
          <a:p>
            <a:r>
              <a:rPr lang="zh-TW" altLang="en-US" dirty="0"/>
              <a:t>有審議會與問答</a:t>
            </a:r>
            <a:r>
              <a:rPr lang="en-US" altLang="zh-TW" dirty="0"/>
              <a:t>(</a:t>
            </a:r>
            <a:r>
              <a:rPr lang="zh-TW" altLang="en-US" dirty="0"/>
              <a:t>承銷商會協助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defTabSz="915402">
              <a:defRPr/>
            </a:pPr>
            <a:r>
              <a:rPr lang="zh-TW" altLang="en-US" dirty="0"/>
              <a:t>掛牌後，是另一門考驗，我們將透過資本計畫以永續經營，位公司達成更佳的表現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包含各產品、各目的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8307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715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46125"/>
            <a:ext cx="4959350" cy="3721100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35795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200" b="1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每一步的產出，不是「包裝話術</a:t>
            </a:r>
            <a:r>
              <a:rPr lang="en-US" altLang="zh-TW" sz="1200" b="1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」，</a:t>
            </a:r>
            <a:r>
              <a:rPr lang="en-US" altLang="zh-TW" sz="1200" b="1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而是讓市場</a:t>
            </a:r>
            <a:endParaRPr lang="en-US" altLang="zh-TW" sz="1200" b="1" dirty="0">
              <a:solidFill>
                <a:srgbClr val="20212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 pitchFamily="34" charset="-120"/>
            </a:endParaRPr>
          </a:p>
          <a:p>
            <a:pPr marL="0" indent="0">
              <a:buNone/>
            </a:pPr>
            <a:r>
              <a:rPr lang="en-US" altLang="zh-TW" sz="1200" b="1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逐步判斷</a:t>
            </a:r>
            <a:r>
              <a:rPr lang="zh-TW" altLang="en-US" sz="1200" b="1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及驗證</a:t>
            </a:r>
            <a:r>
              <a:rPr lang="en-US" altLang="zh-TW" sz="1200" b="1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：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7379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4840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46125"/>
            <a:ext cx="4959350" cy="3721100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866764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6224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46125"/>
            <a:ext cx="4959350" cy="3721100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683901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保瑞是目前台灣最大的</a:t>
            </a:r>
            <a:r>
              <a:rPr lang="en-US" altLang="zh-TW" dirty="0"/>
              <a:t>CDOM</a:t>
            </a:r>
            <a:r>
              <a:rPr lang="zh-TW" altLang="en-US" dirty="0"/>
              <a:t>藥廠，這個案例非常經典的是</a:t>
            </a:r>
            <a:endParaRPr lang="en-US" altLang="zh-TW" dirty="0"/>
          </a:p>
          <a:p>
            <a:r>
              <a:rPr lang="zh-TW" altLang="en-US" dirty="0"/>
              <a:t>台新證券是從保瑞</a:t>
            </a:r>
            <a:r>
              <a:rPr lang="en-US" altLang="zh-TW" dirty="0"/>
              <a:t>IPO</a:t>
            </a:r>
            <a:r>
              <a:rPr lang="zh-TW" altLang="en-US" dirty="0"/>
              <a:t>市值</a:t>
            </a:r>
            <a:r>
              <a:rPr lang="en-US" altLang="zh-TW" dirty="0"/>
              <a:t>8.6</a:t>
            </a:r>
            <a:r>
              <a:rPr lang="zh-TW" altLang="en-US" dirty="0"/>
              <a:t>億元一路陪伴協助保瑞，至今市值已達</a:t>
            </a:r>
            <a:r>
              <a:rPr lang="en-US" altLang="zh-TW" dirty="0"/>
              <a:t>650</a:t>
            </a:r>
            <a:r>
              <a:rPr lang="zh-TW" altLang="en-US" dirty="0"/>
              <a:t>億元，最高市值到</a:t>
            </a:r>
            <a:r>
              <a:rPr lang="en-US" altLang="zh-TW" dirty="0"/>
              <a:t>783</a:t>
            </a:r>
            <a:r>
              <a:rPr lang="zh-TW" altLang="en-US" dirty="0"/>
              <a:t>億元，整體市值成長了近</a:t>
            </a:r>
            <a:r>
              <a:rPr lang="en-US" altLang="zh-TW" dirty="0"/>
              <a:t>100</a:t>
            </a:r>
            <a:r>
              <a:rPr lang="zh-TW" altLang="en-US" dirty="0"/>
              <a:t>倍</a:t>
            </a:r>
            <a:endParaRPr lang="en-US" altLang="zh-TW" dirty="0"/>
          </a:p>
          <a:p>
            <a:r>
              <a:rPr lang="zh-TW" altLang="en-US" dirty="0"/>
              <a:t>這幾年台新也與保瑞共同規畫完成</a:t>
            </a:r>
            <a:r>
              <a:rPr lang="en-US" altLang="zh-TW" dirty="0"/>
              <a:t>7</a:t>
            </a:r>
            <a:r>
              <a:rPr lang="zh-TW" altLang="en-US" dirty="0"/>
              <a:t>起國內外併購案，使保瑞成為國際級的</a:t>
            </a:r>
            <a:r>
              <a:rPr lang="en-US" altLang="zh-TW" dirty="0"/>
              <a:t>CDMO</a:t>
            </a:r>
            <a:r>
              <a:rPr lang="zh-TW" altLang="en-US" dirty="0"/>
              <a:t>藥廠，更協助保瑞在資本市場募集資金超過</a:t>
            </a:r>
            <a:r>
              <a:rPr lang="en-US" altLang="zh-TW" dirty="0"/>
              <a:t>35</a:t>
            </a:r>
            <a:r>
              <a:rPr lang="zh-TW" altLang="en-US" dirty="0"/>
              <a:t>億元，提供強力資金來源</a:t>
            </a:r>
            <a:endParaRPr lang="en-US" altLang="zh-TW" dirty="0"/>
          </a:p>
          <a:p>
            <a:r>
              <a:rPr lang="zh-TW" altLang="en-US" dirty="0"/>
              <a:t>除了併購、募資，保瑞無論在組織架構、私募基金及法人溝通、櫃轉市等全面規劃，都與台新攜手合作，創造極大的公司價值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A0A4C3-B8FA-41E9-8D9C-3D02F3EFA857}" type="slidenum">
              <a:rPr lang="en-US" altLang="zh-TW" smtClean="0">
                <a:solidFill>
                  <a:prstClr val="black"/>
                </a:solidFill>
              </a:rPr>
              <a:pPr>
                <a:defRPr/>
              </a:pPr>
              <a:t>31</a:t>
            </a:fld>
            <a:endParaRPr lang="en-US" altLang="zh-TW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9018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71B571-1069-4CBE-9BFF-4437867319A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488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668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8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.png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9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.png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0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1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.png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物件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5934245"/>
      </p:ext>
    </p:extLst>
  </p:cSld>
  <p:clrMapOvr>
    <a:masterClrMapping/>
  </p:clrMapOvr>
  <p:transition>
    <p:split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940308"/>
      </p:ext>
    </p:extLst>
  </p:cSld>
  <p:clrMapOvr>
    <a:masterClrMapping/>
  </p:clrMapOvr>
  <p:transition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0170"/>
      </p:ext>
    </p:extLst>
  </p:cSld>
  <p:clrMapOvr>
    <a:masterClrMapping/>
  </p:clrMapOvr>
  <p:transition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3432083"/>
      </p:ext>
    </p:extLst>
  </p:cSld>
  <p:clrMapOvr>
    <a:masterClrMapping/>
  </p:clrMapOvr>
  <p:transition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ISH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759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85D2756B-D4C7-4403-A977-FB65D6ADDCB5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67232078"/>
      </p:ext>
    </p:extLst>
  </p:cSld>
  <p:clrMapOvr>
    <a:masterClrMapping/>
  </p:clrMapOvr>
  <p:transition>
    <p:split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76279900"/>
      </p:ext>
    </p:extLst>
  </p:cSld>
  <p:clrMapOvr>
    <a:masterClrMapping/>
  </p:clrMapOvr>
  <p:transition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12595061"/>
      </p:ext>
    </p:extLst>
  </p:cSld>
  <p:clrMapOvr>
    <a:masterClrMapping/>
  </p:clrMapOvr>
  <p:transition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54647860"/>
      </p:ext>
    </p:extLst>
  </p:cSld>
  <p:clrMapOvr>
    <a:masterClrMapping/>
  </p:clrMapOvr>
  <p:transition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9680753"/>
      </p:ext>
    </p:extLst>
  </p:cSld>
  <p:clrMapOvr>
    <a:masterClrMapping/>
  </p:clrMapOvr>
  <p:transition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528083275"/>
      </p:ext>
    </p:extLst>
  </p:cSld>
  <p:clrMapOvr>
    <a:masterClrMapping/>
  </p:clrMapOvr>
  <p:transition>
    <p:spli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132677"/>
      </p:ext>
    </p:extLst>
  </p:cSld>
  <p:clrMapOvr>
    <a:masterClrMapping/>
  </p:clrMapOvr>
  <p:transition>
    <p:spli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59870670"/>
      </p:ext>
    </p:extLst>
  </p:cSld>
  <p:clrMapOvr>
    <a:masterClrMapping/>
  </p:clrMapOvr>
  <p:transition>
    <p:split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26791788"/>
      </p:ext>
    </p:extLst>
  </p:cSld>
  <p:clrMapOvr>
    <a:masterClrMapping/>
  </p:clrMapOvr>
  <p:transition>
    <p:split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64165642"/>
      </p:ext>
    </p:extLst>
  </p:cSld>
  <p:clrMapOvr>
    <a:masterClrMapping/>
  </p:clrMapOvr>
  <p:transition>
    <p:split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48050696"/>
      </p:ext>
    </p:extLst>
  </p:cSld>
  <p:clrMapOvr>
    <a:masterClrMapping/>
  </p:clrMapOvr>
  <p:transition>
    <p:split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33415240"/>
      </p:ext>
    </p:extLst>
  </p:cSld>
  <p:clrMapOvr>
    <a:masterClrMapping/>
  </p:clrMapOvr>
  <p:transition>
    <p:split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639332045"/>
      </p:ext>
    </p:extLst>
  </p:cSld>
  <p:clrMapOvr>
    <a:masterClrMapping/>
  </p:clrMapOvr>
  <p:transition>
    <p:split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84883519"/>
      </p:ext>
    </p:extLst>
  </p:cSld>
  <p:clrMapOvr>
    <a:masterClrMapping/>
  </p:clrMapOvr>
  <p:transition>
    <p:split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43284996"/>
      </p:ext>
    </p:extLst>
  </p:cSld>
  <p:clrMapOvr>
    <a:masterClrMapping/>
  </p:clrMapOvr>
  <p:transition>
    <p:split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7735902"/>
      </p:ext>
    </p:extLst>
  </p:cSld>
  <p:clrMapOvr>
    <a:masterClrMapping/>
  </p:clrMapOvr>
  <p:transition>
    <p:split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014308859"/>
      </p:ext>
    </p:extLst>
  </p:cSld>
  <p:clrMapOvr>
    <a:masterClrMapping/>
  </p:clrMapOvr>
  <p:transition>
    <p:split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0A2A26FF-4EEE-4CDE-A4DE-379B88829009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7" name="物件 13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1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19189693"/>
      </p:ext>
    </p:extLst>
  </p:cSld>
  <p:clrMapOvr>
    <a:masterClrMapping/>
  </p:clrMapOvr>
  <p:transition>
    <p:split/>
  </p:transition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67711783"/>
      </p:ext>
    </p:extLst>
  </p:cSld>
  <p:clrMapOvr>
    <a:masterClrMapping/>
  </p:clrMapOvr>
  <p:transition>
    <p:split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44707299"/>
      </p:ext>
    </p:extLst>
  </p:cSld>
  <p:clrMapOvr>
    <a:masterClrMapping/>
  </p:clrMapOvr>
  <p:transition>
    <p:split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202084343"/>
      </p:ext>
    </p:extLst>
  </p:cSld>
  <p:clrMapOvr>
    <a:masterClrMapping/>
  </p:clrMapOvr>
  <p:transition>
    <p:split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537288"/>
      </p:ext>
    </p:extLst>
  </p:cSld>
  <p:clrMapOvr>
    <a:masterClrMapping/>
  </p:clrMapOvr>
  <p:transition>
    <p:split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58037704"/>
      </p:ext>
    </p:extLst>
  </p:cSld>
  <p:clrMapOvr>
    <a:masterClrMapping/>
  </p:clrMapOvr>
  <p:transition>
    <p:split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9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7371013"/>
      </p:ext>
    </p:extLst>
  </p:cSld>
  <p:clrMapOvr>
    <a:masterClrMapping/>
  </p:clrMapOvr>
  <p:transition>
    <p:split/>
  </p:transition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9143026"/>
      </p:ext>
    </p:extLst>
  </p:cSld>
  <p:clrMapOvr>
    <a:masterClrMapping/>
  </p:clrMapOvr>
  <p:transition>
    <p:split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407932"/>
      </p:ext>
    </p:extLst>
  </p:cSld>
  <p:clrMapOvr>
    <a:masterClrMapping/>
  </p:clrMapOvr>
  <p:transition>
    <p:split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67C150D6-889D-4B47-9F52-79F89B41574A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40995098"/>
      </p:ext>
    </p:extLst>
  </p:cSld>
  <p:clrMapOvr>
    <a:masterClrMapping/>
  </p:clrMapOvr>
  <p:transition>
    <p:split/>
  </p:transition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85160916"/>
      </p:ext>
    </p:extLst>
  </p:cSld>
  <p:clrMapOvr>
    <a:masterClrMapping/>
  </p:clrMapOvr>
  <p:transition>
    <p:split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1627"/>
      </p:ext>
    </p:extLst>
  </p:cSld>
  <p:clrMapOvr>
    <a:masterClrMapping/>
  </p:clrMapOvr>
  <p:transition>
    <p:split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62052864"/>
      </p:ext>
    </p:extLst>
  </p:cSld>
  <p:clrMapOvr>
    <a:masterClrMapping/>
  </p:clrMapOvr>
  <p:transition>
    <p:split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54578273"/>
      </p:ext>
    </p:extLst>
  </p:cSld>
  <p:clrMapOvr>
    <a:masterClrMapping/>
  </p:clrMapOvr>
  <p:transition>
    <p:split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53593725"/>
      </p:ext>
    </p:extLst>
  </p:cSld>
  <p:clrMapOvr>
    <a:masterClrMapping/>
  </p:clrMapOvr>
  <p:transition>
    <p:split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779866"/>
      </p:ext>
    </p:extLst>
  </p:cSld>
  <p:clrMapOvr>
    <a:masterClrMapping/>
  </p:clrMapOvr>
  <p:transition>
    <p:split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17163090"/>
      </p:ext>
    </p:extLst>
  </p:cSld>
  <p:clrMapOvr>
    <a:masterClrMapping/>
  </p:clrMapOvr>
  <p:transition>
    <p:split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36622287"/>
      </p:ext>
    </p:extLst>
  </p:cSld>
  <p:clrMapOvr>
    <a:masterClrMapping/>
  </p:clrMapOvr>
  <p:transition>
    <p:split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89430330"/>
      </p:ext>
    </p:extLst>
  </p:cSld>
  <p:clrMapOvr>
    <a:masterClrMapping/>
  </p:clrMapOvr>
  <p:transition>
    <p:split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86386614"/>
      </p:ext>
    </p:extLst>
  </p:cSld>
  <p:clrMapOvr>
    <a:masterClrMapping/>
  </p:clrMapOvr>
  <p:transition>
    <p:split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439549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1427285" y="395289"/>
            <a:ext cx="7365023" cy="4016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427285" y="1619250"/>
            <a:ext cx="3577004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5144966" y="1619250"/>
            <a:ext cx="3577003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1427285" y="1843089"/>
            <a:ext cx="3577004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144966" y="1843089"/>
            <a:ext cx="3577003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504873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49549441"/>
      </p:ext>
    </p:extLst>
  </p:cSld>
  <p:clrMapOvr>
    <a:masterClrMapping/>
  </p:clrMapOvr>
  <p:transition>
    <p:split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6050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6325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48315888"/>
      </p:ext>
    </p:extLst>
  </p:cSld>
  <p:clrMapOvr>
    <a:masterClrMapping/>
  </p:clrMapOvr>
  <p:transition>
    <p:split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0689885"/>
      </p:ext>
    </p:extLst>
  </p:cSld>
  <p:clrMapOvr>
    <a:masterClrMapping/>
  </p:clrMapOvr>
  <p:transition>
    <p:split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41521206"/>
      </p:ext>
    </p:extLst>
  </p:cSld>
  <p:clrMapOvr>
    <a:masterClrMapping/>
  </p:clrMapOvr>
  <p:transition>
    <p:split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5"/>
            <a:ext cx="1723549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1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8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xfrm>
            <a:off x="8734813" y="6538221"/>
            <a:ext cx="276408" cy="280330"/>
          </a:xfrm>
          <a:prstGeom prst="rect">
            <a:avLst/>
          </a:prstGeom>
        </p:spPr>
        <p:txBody>
          <a:bodyPr lIns="45446" tIns="22723" rIns="45446" bIns="22723"/>
          <a:lstStyle/>
          <a:p>
            <a:pPr eaLnBrk="0" hangingPunct="0"/>
            <a:fld id="{86CB4B4D-7CA3-9044-876B-883B54F8677D}" type="slidenum">
              <a:rPr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eaLnBrk="0" hangingPunct="0"/>
              <a:t>‹#›</a:t>
            </a:fld>
            <a:endParaRPr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4040099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61D354A4-EBEF-4690-AD3C-DD2B3ACFD102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41023610"/>
      </p:ext>
    </p:extLst>
  </p:cSld>
  <p:clrMapOvr>
    <a:masterClrMapping/>
  </p:clrMapOvr>
  <p:transition>
    <p:split/>
  </p:transition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99118B25-01A8-4756-9F74-9E276F46CD7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1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47384223"/>
      </p:ext>
    </p:extLst>
  </p:cSld>
  <p:clrMapOvr>
    <a:masterClrMapping/>
  </p:clrMapOvr>
  <p:transition>
    <p:split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7B47CB65-2849-4A76-935A-BE8C6B7312D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5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65563"/>
      </p:ext>
    </p:extLst>
  </p:cSld>
  <p:clrMapOvr>
    <a:masterClrMapping/>
  </p:clrMapOvr>
  <p:transition>
    <p:split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CF194CD-781D-4274-8530-3F0CFF85CC5E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8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graphicFrame>
        <p:nvGraphicFramePr>
          <p:cNvPr id="10" name="物件 15"/>
          <p:cNvGraphicFramePr>
            <a:graphicFrameLocks noChangeAspect="1"/>
          </p:cNvGraphicFramePr>
          <p:nvPr userDrawn="1"/>
        </p:nvGraphicFramePr>
        <p:xfrm>
          <a:off x="0" y="5748338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9" name="Image" r:id="rId5" imgW="10158730" imgH="1168254" progId="">
                  <p:embed/>
                </p:oleObj>
              </mc:Choice>
              <mc:Fallback>
                <p:oleObj name="Image" r:id="rId5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748338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597207497"/>
      </p:ext>
    </p:extLst>
  </p:cSld>
  <p:clrMapOvr>
    <a:masterClrMapping/>
  </p:clrMapOvr>
  <p:transition>
    <p:split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內文頁3 拷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9"/>
          <p:cNvSpPr>
            <a:spLocks noChangeShapeType="1"/>
          </p:cNvSpPr>
          <p:nvPr userDrawn="1"/>
        </p:nvSpPr>
        <p:spPr bwMode="auto">
          <a:xfrm>
            <a:off x="831850" y="6423025"/>
            <a:ext cx="74644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44722" tIns="23256" rIns="44722" bIns="23256" anchor="ctr"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pic>
        <p:nvPicPr>
          <p:cNvPr id="6" name="Picture 9" descr="中文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6540500"/>
            <a:ext cx="10715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Shape 113"/>
          <p:cNvSpPr>
            <a:spLocks noGrp="1"/>
          </p:cNvSpPr>
          <p:nvPr>
            <p:ph type="pic" sz="half" idx="13"/>
          </p:nvPr>
        </p:nvSpPr>
        <p:spPr>
          <a:xfrm>
            <a:off x="0" y="0"/>
            <a:ext cx="9144000" cy="2540522"/>
          </a:xfrm>
          <a:prstGeom prst="rect">
            <a:avLst/>
          </a:prstGeom>
        </p:spPr>
        <p:txBody>
          <a:bodyPr lIns="45437" tIns="22718" rIns="45437" bIns="22718">
            <a:noAutofit/>
          </a:bodyPr>
          <a:lstStyle/>
          <a:p>
            <a:pPr lvl="0"/>
            <a:endParaRPr noProof="0"/>
          </a:p>
        </p:txBody>
      </p:sp>
      <p:sp>
        <p:nvSpPr>
          <p:cNvPr id="114" name="Shape 114"/>
          <p:cNvSpPr>
            <a:spLocks noGrp="1"/>
          </p:cNvSpPr>
          <p:nvPr>
            <p:ph type="body" sz="quarter" idx="14"/>
          </p:nvPr>
        </p:nvSpPr>
        <p:spPr>
          <a:xfrm>
            <a:off x="3732614" y="956752"/>
            <a:ext cx="2057902" cy="917590"/>
          </a:xfrm>
          <a:prstGeom prst="rect">
            <a:avLst/>
          </a:prstGeom>
        </p:spPr>
        <p:txBody>
          <a:bodyPr wrap="none" lIns="28400" tIns="28400" rIns="28400" bIns="28400">
            <a:spAutoFit/>
          </a:bodyPr>
          <a:lstStyle>
            <a:lvl1pPr defTabSz="567973">
              <a:lnSpc>
                <a:spcPct val="130000"/>
              </a:lnSpc>
              <a:spcBef>
                <a:spcPts val="0"/>
              </a:spcBef>
              <a:defRPr sz="43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15" name="Shape 115"/>
          <p:cNvSpPr>
            <a:spLocks noGrp="1"/>
          </p:cNvSpPr>
          <p:nvPr>
            <p:ph type="body" sz="quarter" idx="15"/>
          </p:nvPr>
        </p:nvSpPr>
        <p:spPr>
          <a:xfrm>
            <a:off x="4264228" y="1649086"/>
            <a:ext cx="980684" cy="357437"/>
          </a:xfrm>
          <a:prstGeom prst="rect">
            <a:avLst/>
          </a:prstGeom>
        </p:spPr>
        <p:txBody>
          <a:bodyPr wrap="none" lIns="28400" tIns="28400" rIns="28400" bIns="28400">
            <a:spAutoFit/>
          </a:bodyPr>
          <a:lstStyle>
            <a:lvl1pPr defTabSz="567973">
              <a:lnSpc>
                <a:spcPct val="130000"/>
              </a:lnSpc>
              <a:spcBef>
                <a:spcPts val="0"/>
              </a:spcBef>
              <a:defRPr sz="15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副標題</a:t>
            </a:r>
          </a:p>
        </p:txBody>
      </p:sp>
      <p:sp>
        <p:nvSpPr>
          <p:cNvPr id="7" name="Shape 116"/>
          <p:cNvSpPr>
            <a:spLocks noGrp="1"/>
          </p:cNvSpPr>
          <p:nvPr>
            <p:ph type="sldNum" sz="quarter" idx="16"/>
          </p:nvPr>
        </p:nvSpPr>
        <p:spPr>
          <a:xfrm>
            <a:off x="8734425" y="6538913"/>
            <a:ext cx="276225" cy="279400"/>
          </a:xfrm>
          <a:prstGeom prst="rect">
            <a:avLst/>
          </a:prstGeom>
        </p:spPr>
        <p:txBody>
          <a:bodyPr vert="horz" wrap="square" lIns="45446" tIns="22723" rIns="45446" bIns="22723" numCol="1" anchor="t" anchorCtr="0" compatLnSpc="1">
            <a:prstTxWarp prst="textNoShape">
              <a:avLst/>
            </a:prstTxWarp>
          </a:bodyPr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fld id="{5800096B-74E0-4542-8279-CEA5DE74E8C8}" type="slidenum">
              <a:rPr lang="zh-TW" altLang="zh-TW" sz="1300" b="0">
                <a:solidFill>
                  <a:srgbClr val="000000"/>
                </a:solidFill>
                <a:latin typeface="Times New Roman" pitchFamily="18" charset="0"/>
                <a:ea typeface="DFKai-SB" pitchFamily="65" charset="-120"/>
              </a:rPr>
              <a:pPr>
                <a:defRPr/>
              </a:pPr>
              <a:t>‹#›</a:t>
            </a:fld>
            <a:endParaRPr lang="zh-TW" altLang="zh-TW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7973982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6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FDEF266-8442-440C-B31F-F8517D500BF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3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5"/>
            <a:ext cx="1723549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1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r>
              <a:t>副標題</a:t>
            </a:r>
          </a:p>
          <a:p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8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1" name="Shape 19"/>
          <p:cNvSpPr>
            <a:spLocks noGrp="1"/>
          </p:cNvSpPr>
          <p:nvPr>
            <p:ph type="sldNum" sz="quarter" idx="16"/>
          </p:nvPr>
        </p:nvSpPr>
        <p:spPr>
          <a:xfrm>
            <a:off x="8734425" y="6538913"/>
            <a:ext cx="276225" cy="279400"/>
          </a:xfrm>
          <a:prstGeom prst="rect">
            <a:avLst/>
          </a:prstGeom>
        </p:spPr>
        <p:txBody>
          <a:bodyPr vert="horz" wrap="square" lIns="45446" tIns="22723" rIns="45446" bIns="22723" numCol="1" anchor="t" anchorCtr="0" compatLnSpc="1">
            <a:prstTxWarp prst="textNoShape">
              <a:avLst/>
            </a:prstTxWarp>
          </a:bodyPr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fld id="{3EA20846-A86E-4C7C-80D1-C108CBE3752A}" type="slidenum">
              <a:rPr lang="zh-TW" altLang="zh-TW" sz="1300" b="0">
                <a:solidFill>
                  <a:srgbClr val="000000"/>
                </a:solidFill>
                <a:latin typeface="Times New Roman" pitchFamily="18" charset="0"/>
                <a:ea typeface="DFKai-SB" pitchFamily="65" charset="-120"/>
              </a:rPr>
              <a:pPr>
                <a:defRPr/>
              </a:pPr>
              <a:t>‹#›</a:t>
            </a:fld>
            <a:endParaRPr lang="zh-TW" altLang="zh-TW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5936416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736521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85D2756B-D4C7-4403-A977-FB65D6ADDCB5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6249556"/>
      </p:ext>
    </p:extLst>
  </p:cSld>
  <p:clrMapOvr>
    <a:masterClrMapping/>
  </p:clrMapOvr>
  <p:transition>
    <p:split/>
  </p:transition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08144" cy="6334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08144" cy="48252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8756561"/>
      </p:ext>
    </p:extLst>
  </p:cSld>
  <p:clrMapOvr>
    <a:masterClrMapping/>
  </p:clrMapOvr>
  <p:transition>
    <p:split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94326093"/>
      </p:ext>
    </p:extLst>
  </p:cSld>
  <p:clrMapOvr>
    <a:masterClrMapping/>
  </p:clrMapOvr>
  <p:transition>
    <p:split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89462263"/>
      </p:ext>
    </p:extLst>
  </p:cSld>
  <p:clrMapOvr>
    <a:masterClrMapping/>
  </p:clrMapOvr>
  <p:transition>
    <p:split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71049033"/>
      </p:ext>
    </p:extLst>
  </p:cSld>
  <p:clrMapOvr>
    <a:masterClrMapping/>
  </p:clrMapOvr>
  <p:transition>
    <p:split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68175090"/>
      </p:ext>
    </p:extLst>
  </p:cSld>
  <p:clrMapOvr>
    <a:masterClrMapping/>
  </p:clrMapOvr>
  <p:transition>
    <p:split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950325"/>
      </p:ext>
    </p:extLst>
  </p:cSld>
  <p:clrMapOvr>
    <a:masterClrMapping/>
  </p:clrMapOvr>
  <p:transition>
    <p:split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30317135"/>
      </p:ext>
    </p:extLst>
  </p:cSld>
  <p:clrMapOvr>
    <a:masterClrMapping/>
  </p:clrMapOvr>
  <p:transition>
    <p:split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59101457"/>
      </p:ext>
    </p:extLst>
  </p:cSld>
  <p:clrMapOvr>
    <a:masterClrMapping/>
  </p:clrMapOvr>
  <p:transition>
    <p:split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75041143"/>
      </p:ext>
    </p:extLst>
  </p:cSld>
  <p:clrMapOvr>
    <a:masterClrMapping/>
  </p:clrMapOvr>
  <p:transition>
    <p:split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77862152"/>
      </p:ext>
    </p:extLst>
  </p:cSld>
  <p:clrMapOvr>
    <a:masterClrMapping/>
  </p:clrMapOvr>
  <p:transition>
    <p:split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32600837"/>
      </p:ext>
    </p:extLst>
  </p:cSld>
  <p:clrMapOvr>
    <a:masterClrMapping/>
  </p:clrMapOvr>
  <p:transition>
    <p:split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04812"/>
            <a:ext cx="6491288" cy="64770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36727540"/>
      </p:ext>
    </p:extLst>
  </p:cSld>
  <p:clrMapOvr>
    <a:masterClrMapping/>
  </p:clrMapOvr>
  <p:transition>
    <p:split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9539528"/>
      </p:ext>
    </p:extLst>
  </p:cSld>
  <p:clrMapOvr>
    <a:masterClrMapping/>
  </p:clrMapOvr>
  <p:transition>
    <p:split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51650602"/>
      </p:ext>
    </p:extLst>
  </p:cSld>
  <p:clrMapOvr>
    <a:masterClrMapping/>
  </p:clrMapOvr>
  <p:transition>
    <p:split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771624335"/>
      </p:ext>
    </p:extLst>
  </p:cSld>
  <p:clrMapOvr>
    <a:masterClrMapping/>
  </p:clrMapOvr>
  <p:transition>
    <p:split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941905757"/>
      </p:ext>
    </p:extLst>
  </p:cSld>
  <p:clrMapOvr>
    <a:masterClrMapping/>
  </p:clrMapOvr>
  <p:transition>
    <p:split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35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7585237"/>
      </p:ext>
    </p:extLst>
  </p:cSld>
  <p:clrMapOvr>
    <a:masterClrMapping/>
  </p:clrMapOvr>
  <p:transition>
    <p:split/>
  </p:transition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46198"/>
      </p:ext>
    </p:extLst>
  </p:cSld>
  <p:clrMapOvr>
    <a:masterClrMapping/>
  </p:clrMapOvr>
  <p:transition>
    <p:split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011486"/>
      </p:ext>
    </p:extLst>
  </p:cSld>
  <p:clrMapOvr>
    <a:masterClrMapping/>
  </p:clrMapOvr>
  <p:transition>
    <p:split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7986878"/>
      </p:ext>
    </p:extLst>
  </p:cSld>
  <p:clrMapOvr>
    <a:masterClrMapping/>
  </p:clrMapOvr>
  <p:transition>
    <p:split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3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7404879"/>
      </p:ext>
    </p:extLst>
  </p:cSld>
  <p:clrMapOvr>
    <a:masterClrMapping/>
  </p:clrMapOvr>
  <p:transition>
    <p:split/>
  </p:transition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4274235"/>
      </p:ext>
    </p:extLst>
  </p:cSld>
  <p:clrMapOvr>
    <a:masterClrMapping/>
  </p:clrMapOvr>
  <p:transition>
    <p:split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92408"/>
      </p:ext>
    </p:extLst>
  </p:cSld>
  <p:clrMapOvr>
    <a:masterClrMapping/>
  </p:clrMapOvr>
  <p:transition>
    <p:split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1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0165568"/>
      </p:ext>
    </p:extLst>
  </p:cSld>
  <p:clrMapOvr>
    <a:masterClrMapping/>
  </p:clrMapOvr>
  <p:transition>
    <p:split/>
  </p:transition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3937026"/>
      </p:ext>
    </p:extLst>
  </p:cSld>
  <p:clrMapOvr>
    <a:masterClrMapping/>
  </p:clrMapOvr>
  <p:transition>
    <p:split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619175"/>
      </p:ext>
    </p:extLst>
  </p:cSld>
  <p:clrMapOvr>
    <a:masterClrMapping/>
  </p:clrMapOvr>
  <p:transition>
    <p:split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71390153"/>
      </p:ext>
    </p:extLst>
  </p:cSld>
  <p:clrMapOvr>
    <a:masterClrMapping/>
  </p:clrMapOvr>
  <p:transition>
    <p:split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9" y="18684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sz="1800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1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7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79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7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6524591"/>
      </p:ext>
    </p:extLst>
  </p:cSld>
  <p:clrMapOvr>
    <a:masterClrMapping/>
  </p:clrMapOvr>
  <p:transition>
    <p:split/>
  </p:transition>
  <p:hf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4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6874266"/>
      </p:ext>
    </p:extLst>
  </p:cSld>
  <p:clrMapOvr>
    <a:masterClrMapping/>
  </p:clrMapOvr>
  <p:transition>
    <p:split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34853"/>
      </p:ext>
    </p:extLst>
  </p:cSld>
  <p:clrMapOvr>
    <a:masterClrMapping/>
  </p:clrMapOvr>
  <p:transition>
    <p:split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7"/>
            <a:ext cx="1723550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2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9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xfrm>
            <a:off x="8734813" y="6538221"/>
            <a:ext cx="276408" cy="280330"/>
          </a:xfrm>
          <a:prstGeom prst="rect">
            <a:avLst/>
          </a:prstGeom>
        </p:spPr>
        <p:txBody>
          <a:bodyPr lIns="45446" tIns="22723" rIns="45446" bIns="22723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6CB4B4D-7CA3-9044-876B-883B54F8677D}" type="slidenum">
              <a:rPr kumimoji="1" b="1">
                <a:solidFill>
                  <a:srgbClr val="000000"/>
                </a:solidFill>
                <a:ea typeface="標楷體" pitchFamily="65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6958710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5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59936401"/>
      </p:ext>
    </p:extLst>
  </p:cSld>
  <p:clrMapOvr>
    <a:masterClrMapping/>
  </p:clrMapOvr>
  <p:transition>
    <p:split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DED95B6-F424-4F92-9EDD-10516A8A798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31236558"/>
      </p:ext>
    </p:extLst>
  </p:cSld>
  <p:clrMapOvr>
    <a:masterClrMapping/>
  </p:clrMapOvr>
  <p:transition>
    <p:split/>
  </p:transition>
  <p:hf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0861570"/>
      </p:ext>
    </p:extLst>
  </p:cSld>
  <p:clrMapOvr>
    <a:masterClrMapping/>
  </p:clrMapOvr>
  <p:transition>
    <p:split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6221586"/>
      </p:ext>
    </p:extLst>
  </p:cSld>
  <p:clrMapOvr>
    <a:masterClrMapping/>
  </p:clrMapOvr>
  <p:transition>
    <p:split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0294944"/>
      </p:ext>
    </p:extLst>
  </p:cSld>
  <p:clrMapOvr>
    <a:masterClrMapping/>
  </p:clrMapOvr>
  <p:transition>
    <p:split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03975"/>
      </p:ext>
    </p:extLst>
  </p:cSld>
  <p:clrMapOvr>
    <a:masterClrMapping/>
  </p:clrMapOvr>
  <p:transition>
    <p:split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6490017"/>
      </p:ext>
    </p:extLst>
  </p:cSld>
  <p:clrMapOvr>
    <a:masterClrMapping/>
  </p:clrMapOvr>
  <p:transition>
    <p:split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889876"/>
      </p:ext>
    </p:extLst>
  </p:cSld>
  <p:clrMapOvr>
    <a:masterClrMapping/>
  </p:clrMapOvr>
  <p:transition>
    <p:split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750148"/>
      </p:ext>
    </p:extLst>
  </p:cSld>
  <p:clrMapOvr>
    <a:masterClrMapping/>
  </p:clrMapOvr>
  <p:transition>
    <p:split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3729151"/>
      </p:ext>
    </p:extLst>
  </p:cSld>
  <p:clrMapOvr>
    <a:masterClrMapping/>
  </p:clrMapOvr>
  <p:transition>
    <p:split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6788881"/>
      </p:ext>
    </p:extLst>
  </p:cSld>
  <p:clrMapOvr>
    <a:masterClrMapping/>
  </p:clrMapOvr>
  <p:transition>
    <p:split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2084026"/>
      </p:ext>
    </p:extLst>
  </p:cSld>
  <p:clrMapOvr>
    <a:masterClrMapping/>
  </p:clrMapOvr>
  <p:transition>
    <p:split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8227717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39781248"/>
      </p:ext>
    </p:extLst>
  </p:cSld>
  <p:clrMapOvr>
    <a:masterClrMapping/>
  </p:clrMapOvr>
  <p:transition>
    <p:split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13592351"/>
      </p:ext>
    </p:extLst>
  </p:cSld>
  <p:clrMapOvr>
    <a:masterClrMapping/>
  </p:clrMapOvr>
  <p:transition>
    <p:split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40" y="186848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2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fld id="{67C150D6-889D-4B47-9F52-79F89B41574A}" type="slidenum">
              <a:rPr lang="en-US" altLang="zh-TW" sz="1200" b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26893460"/>
      </p:ext>
    </p:extLst>
  </p:cSld>
  <p:clrMapOvr>
    <a:masterClrMapping/>
  </p:clrMapOvr>
  <p:transition>
    <p:split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853532"/>
      </p:ext>
    </p:extLst>
  </p:cSld>
  <p:clrMapOvr>
    <a:masterClrMapping/>
  </p:clrMapOvr>
  <p:transition>
    <p:split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85084653"/>
      </p:ext>
    </p:extLst>
  </p:cSld>
  <p:clrMapOvr>
    <a:masterClrMapping/>
  </p:clrMapOvr>
  <p:transition>
    <p:split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1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90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90388226"/>
      </p:ext>
    </p:extLst>
  </p:cSld>
  <p:clrMapOvr>
    <a:masterClrMapping/>
  </p:clrMapOvr>
  <p:transition>
    <p:split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059082508"/>
      </p:ext>
    </p:extLst>
  </p:cSld>
  <p:clrMapOvr>
    <a:masterClrMapping/>
  </p:clrMapOvr>
  <p:transition>
    <p:split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071630655"/>
      </p:ext>
    </p:extLst>
  </p:cSld>
  <p:clrMapOvr>
    <a:masterClrMapping/>
  </p:clrMapOvr>
  <p:transition>
    <p:split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609170"/>
      </p:ext>
    </p:extLst>
  </p:cSld>
  <p:clrMapOvr>
    <a:masterClrMapping/>
  </p:clrMapOvr>
  <p:transition>
    <p:split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129646"/>
      </p:ext>
    </p:extLst>
  </p:cSld>
  <p:clrMapOvr>
    <a:masterClrMapping/>
  </p:clrMapOvr>
  <p:transition>
    <p:split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86531668"/>
      </p:ext>
    </p:extLst>
  </p:cSld>
  <p:clrMapOvr>
    <a:masterClrMapping/>
  </p:clrMapOvr>
  <p:transition>
    <p:split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73698216"/>
      </p:ext>
    </p:extLst>
  </p:cSld>
  <p:clrMapOvr>
    <a:masterClrMapping/>
  </p:clrMapOvr>
  <p:transition>
    <p:split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2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03770047"/>
      </p:ext>
    </p:extLst>
  </p:cSld>
  <p:clrMapOvr>
    <a:masterClrMapping/>
  </p:clrMapOvr>
  <p:transition>
    <p:split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9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6359027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1427287" y="395292"/>
            <a:ext cx="7365023" cy="4016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427287" y="1619250"/>
            <a:ext cx="3577004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5144966" y="1619250"/>
            <a:ext cx="3577003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1427287" y="1843090"/>
            <a:ext cx="3577004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144966" y="1843090"/>
            <a:ext cx="3577003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8166997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2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013529852"/>
      </p:ext>
    </p:extLst>
  </p:cSld>
  <p:clrMapOvr>
    <a:masterClrMapping/>
  </p:clrMapOvr>
  <p:transition>
    <p:split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88641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6491288" cy="63341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1" y="1196975"/>
            <a:ext cx="3919538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90" y="1196975"/>
            <a:ext cx="3921125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22720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2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20991374"/>
      </p:ext>
    </p:extLst>
  </p:cSld>
  <p:clrMapOvr>
    <a:masterClrMapping/>
  </p:clrMapOvr>
  <p:transition>
    <p:spli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vmlDrawing" Target="../drawings/vmlDrawing3.v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oleObject" Target="../embeddings/oleObject4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.bin"/><Relationship Id="rId5" Type="http://schemas.openxmlformats.org/officeDocument/2006/relationships/vmlDrawing" Target="../drawings/vmlDrawing6.v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oleObject" Target="../embeddings/oleObject5.bin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vmlDrawing" Target="../drawings/vmlDrawing8.v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6.xml"/><Relationship Id="rId10" Type="http://schemas.openxmlformats.org/officeDocument/2006/relationships/oleObject" Target="../embeddings/oleObject6.bin"/><Relationship Id="rId4" Type="http://schemas.openxmlformats.org/officeDocument/2006/relationships/slideLayout" Target="../slideLayouts/slideLayout55.xml"/><Relationship Id="rId9" Type="http://schemas.openxmlformats.org/officeDocument/2006/relationships/vmlDrawing" Target="../drawings/vmlDrawing9.v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61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oleObject" Target="../embeddings/oleObject3.bin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8.xml"/><Relationship Id="rId19" Type="http://schemas.openxmlformats.org/officeDocument/2006/relationships/vmlDrawing" Target="../drawings/vmlDrawing14.v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8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vmlDrawing" Target="../drawings/vmlDrawing15.v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oleObject" Target="../embeddings/oleObject1.bin"/><Relationship Id="rId5" Type="http://schemas.openxmlformats.org/officeDocument/2006/relationships/vmlDrawing" Target="../drawings/vmlDrawing17.vml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5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vmlDrawing" Target="../drawings/vmlDrawing19.v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8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89.xml"/><Relationship Id="rId7" Type="http://schemas.openxmlformats.org/officeDocument/2006/relationships/vmlDrawing" Target="../drawings/vmlDrawing21.v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theme" Target="../theme/theme11.xml"/><Relationship Id="rId5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0.xml"/><Relationship Id="rId9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93.xml"/><Relationship Id="rId16" Type="http://schemas.openxmlformats.org/officeDocument/2006/relationships/vmlDrawing" Target="../drawings/vmlDrawing23.v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theme" Target="../theme/theme12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18" Type="http://schemas.openxmlformats.org/officeDocument/2006/relationships/theme" Target="../theme/theme13.xml"/><Relationship Id="rId3" Type="http://schemas.openxmlformats.org/officeDocument/2006/relationships/slideLayout" Target="../slideLayouts/slideLayout108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21.xml"/><Relationship Id="rId20" Type="http://schemas.openxmlformats.org/officeDocument/2006/relationships/oleObject" Target="../embeddings/oleObject5.bin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5.xml"/><Relationship Id="rId19" Type="http://schemas.openxmlformats.org/officeDocument/2006/relationships/vmlDrawing" Target="../drawings/vmlDrawing24.v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" name="Image" r:id="rId8" imgW="2547917" imgH="749492" progId="">
                  <p:embed/>
                </p:oleObj>
              </mc:Choice>
              <mc:Fallback>
                <p:oleObj name="Image" r:id="rId8" imgW="2547917" imgH="749492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chemeClr val="bg2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20" r:id="rId1"/>
    <p:sldLayoutId id="2147485778" r:id="rId2"/>
    <p:sldLayoutId id="2147485783" r:id="rId3"/>
    <p:sldLayoutId id="2147485846" r:id="rId4"/>
    <p:sldLayoutId id="2147485962" r:id="rId5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3" name="Object 471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3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F13EAEB-A02A-4A31-A718-6EB199877577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 dirty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030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22" r:id="rId1"/>
    <p:sldLayoutId id="2147485823" r:id="rId2"/>
    <p:sldLayoutId id="2147485824" r:id="rId3"/>
    <p:sldLayoutId id="2147485825" r:id="rId4"/>
    <p:sldLayoutId id="2147485826" r:id="rId5"/>
    <p:sldLayoutId id="2147485827" r:id="rId6"/>
    <p:sldLayoutId id="2147485828" r:id="rId7"/>
    <p:sldLayoutId id="2147485829" r:id="rId8"/>
    <p:sldLayoutId id="2147485830" r:id="rId9"/>
    <p:sldLayoutId id="2147485831" r:id="rId10"/>
    <p:sldLayoutId id="2147485832" r:id="rId11"/>
    <p:sldLayoutId id="2147485833" r:id="rId12"/>
    <p:sldLayoutId id="2147485834" r:id="rId13"/>
    <p:sldLayoutId id="2147485835" r:id="rId14"/>
    <p:sldLayoutId id="2147485836" r:id="rId15"/>
    <p:sldLayoutId id="2147485837" r:id="rId16"/>
    <p:sldLayoutId id="2147485838" r:id="rId1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E6902999-915F-4B63-B27E-CDD4815E23A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7" name="Image" r:id="rId9" imgW="2547917" imgH="749492" progId="Photoshop.Image.7">
                  <p:embed/>
                </p:oleObj>
              </mc:Choice>
              <mc:Fallback>
                <p:oleObj name="Image" r:id="rId9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4172490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40" r:id="rId1"/>
    <p:sldLayoutId id="2147485841" r:id="rId2"/>
    <p:sldLayoutId id="2147485842" r:id="rId3"/>
    <p:sldLayoutId id="2147485843" r:id="rId4"/>
    <p:sldLayoutId id="2147485844" r:id="rId5"/>
    <p:sldLayoutId id="2147485845" r:id="rId6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5" name="Image" r:id="rId6" imgW="2547917" imgH="749492" progId="">
                  <p:embed/>
                </p:oleObj>
              </mc:Choice>
              <mc:Fallback>
                <p:oleObj name="Image" r:id="rId6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987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48" r:id="rId1"/>
    <p:sldLayoutId id="2147485849" r:id="rId2"/>
    <p:sldLayoutId id="2147485850" r:id="rId3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F2BB0796-65FA-4C51-B79F-0D12303BEFD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graphicFrame>
        <p:nvGraphicFramePr>
          <p:cNvPr id="1033" name="Object 455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3" name="Image" r:id="rId23" imgW="2547917" imgH="749492" progId="">
                  <p:embed/>
                </p:oleObj>
              </mc:Choice>
              <mc:Fallback>
                <p:oleObj name="Image" r:id="rId23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298842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52" r:id="rId1"/>
    <p:sldLayoutId id="2147485853" r:id="rId2"/>
    <p:sldLayoutId id="2147485854" r:id="rId3"/>
    <p:sldLayoutId id="2147485855" r:id="rId4"/>
    <p:sldLayoutId id="2147485856" r:id="rId5"/>
    <p:sldLayoutId id="2147485857" r:id="rId6"/>
    <p:sldLayoutId id="2147485858" r:id="rId7"/>
    <p:sldLayoutId id="2147485859" r:id="rId8"/>
    <p:sldLayoutId id="2147485860" r:id="rId9"/>
    <p:sldLayoutId id="2147485861" r:id="rId10"/>
    <p:sldLayoutId id="2147485862" r:id="rId11"/>
    <p:sldLayoutId id="2147485863" r:id="rId12"/>
    <p:sldLayoutId id="2147485864" r:id="rId13"/>
    <p:sldLayoutId id="2147485865" r:id="rId14"/>
    <p:sldLayoutId id="2147485866" r:id="rId15"/>
    <p:sldLayoutId id="2147485867" r:id="rId16"/>
    <p:sldLayoutId id="2147485868" r:id="rId17"/>
    <p:sldLayoutId id="2147485869" r:id="rId18"/>
    <p:sldLayoutId id="2147485870" r:id="rId19"/>
    <p:sldLayoutId id="2147485871" r:id="rId20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1027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29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083470FF-33DF-46EE-A722-AC351481CC5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1032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7" name="Image" r:id="rId10" imgW="2547917" imgH="749492" progId="Photoshop.Image.7">
                  <p:embed/>
                </p:oleObj>
              </mc:Choice>
              <mc:Fallback>
                <p:oleObj name="Image" r:id="rId10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105606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73" r:id="rId1"/>
    <p:sldLayoutId id="2147485874" r:id="rId2"/>
    <p:sldLayoutId id="2147485875" r:id="rId3"/>
    <p:sldLayoutId id="2147485876" r:id="rId4"/>
    <p:sldLayoutId id="2147485877" r:id="rId5"/>
    <p:sldLayoutId id="2147485878" r:id="rId6"/>
    <p:sldLayoutId id="2147485879" r:id="rId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544" y="1124744"/>
            <a:ext cx="8208144" cy="4825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03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404664"/>
            <a:ext cx="8208144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3" name="Object 471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7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  <a:endParaRPr lang="zh-TW" altLang="en-US" sz="1200" b="0" dirty="0">
              <a:solidFill>
                <a:srgbClr val="80808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F13EAEB-A02A-4A31-A718-6EB199877577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 dirty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D9AF69-F6AD-472A-BA36-BDA0AC20A997}"/>
              </a:ext>
            </a:extLst>
          </p:cNvPr>
          <p:cNvSpPr/>
          <p:nvPr userDrawn="1"/>
        </p:nvSpPr>
        <p:spPr>
          <a:xfrm>
            <a:off x="-630487" y="45617"/>
            <a:ext cx="540000" cy="540000"/>
          </a:xfrm>
          <a:prstGeom prst="rect">
            <a:avLst/>
          </a:prstGeom>
          <a:solidFill>
            <a:srgbClr val="AA1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56901D-8913-42B3-AA3F-4C88FA713E4E}"/>
              </a:ext>
            </a:extLst>
          </p:cNvPr>
          <p:cNvSpPr/>
          <p:nvPr userDrawn="1"/>
        </p:nvSpPr>
        <p:spPr>
          <a:xfrm>
            <a:off x="-630487" y="783627"/>
            <a:ext cx="540000" cy="540000"/>
          </a:xfrm>
          <a:prstGeom prst="rect">
            <a:avLst/>
          </a:prstGeom>
          <a:solidFill>
            <a:srgbClr val="6D09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27CD2B-967A-4624-BC2D-5E3512708F07}"/>
              </a:ext>
            </a:extLst>
          </p:cNvPr>
          <p:cNvSpPr/>
          <p:nvPr userDrawn="1"/>
        </p:nvSpPr>
        <p:spPr>
          <a:xfrm>
            <a:off x="-630487" y="1521637"/>
            <a:ext cx="540000" cy="540000"/>
          </a:xfrm>
          <a:prstGeom prst="rect">
            <a:avLst/>
          </a:prstGeom>
          <a:solidFill>
            <a:srgbClr val="EE7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FCCF9D-0217-47F2-9BAB-5B010555DB60}"/>
              </a:ext>
            </a:extLst>
          </p:cNvPr>
          <p:cNvSpPr/>
          <p:nvPr userDrawn="1"/>
        </p:nvSpPr>
        <p:spPr>
          <a:xfrm>
            <a:off x="-630487" y="2259647"/>
            <a:ext cx="540000" cy="540000"/>
          </a:xfrm>
          <a:prstGeom prst="rect">
            <a:avLst/>
          </a:prstGeom>
          <a:solidFill>
            <a:srgbClr val="F3A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FA52F5-BE24-42BA-95D0-69A5D46EF0AB}"/>
              </a:ext>
            </a:extLst>
          </p:cNvPr>
          <p:cNvSpPr/>
          <p:nvPr userDrawn="1"/>
        </p:nvSpPr>
        <p:spPr>
          <a:xfrm>
            <a:off x="-630487" y="2997657"/>
            <a:ext cx="540000" cy="540000"/>
          </a:xfrm>
          <a:prstGeom prst="rect">
            <a:avLst/>
          </a:prstGeom>
          <a:solidFill>
            <a:srgbClr val="B7A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ED319F-0BE7-45E1-8B1D-EA33ADD94A86}"/>
              </a:ext>
            </a:extLst>
          </p:cNvPr>
          <p:cNvSpPr/>
          <p:nvPr userDrawn="1"/>
        </p:nvSpPr>
        <p:spPr>
          <a:xfrm>
            <a:off x="-630487" y="3735667"/>
            <a:ext cx="540000" cy="54000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01A5F7-F7B3-4E3F-BD25-CF4E8D4B6846}"/>
              </a:ext>
            </a:extLst>
          </p:cNvPr>
          <p:cNvSpPr/>
          <p:nvPr userDrawn="1"/>
        </p:nvSpPr>
        <p:spPr>
          <a:xfrm>
            <a:off x="-630487" y="4473677"/>
            <a:ext cx="540000" cy="540000"/>
          </a:xfrm>
          <a:prstGeom prst="rect">
            <a:avLst/>
          </a:prstGeom>
          <a:solidFill>
            <a:srgbClr val="E2EB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4C3262-49EC-4D09-8676-80A273E0933E}"/>
              </a:ext>
            </a:extLst>
          </p:cNvPr>
          <p:cNvSpPr/>
          <p:nvPr userDrawn="1"/>
        </p:nvSpPr>
        <p:spPr>
          <a:xfrm>
            <a:off x="-630487" y="5211687"/>
            <a:ext cx="540000" cy="540000"/>
          </a:xfrm>
          <a:prstGeom prst="rect">
            <a:avLst/>
          </a:prstGeom>
          <a:solidFill>
            <a:srgbClr val="BEA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4B8D3D-328F-4D7D-AEB5-C39483DFB772}"/>
              </a:ext>
            </a:extLst>
          </p:cNvPr>
          <p:cNvSpPr/>
          <p:nvPr userDrawn="1"/>
        </p:nvSpPr>
        <p:spPr>
          <a:xfrm>
            <a:off x="-630487" y="5949701"/>
            <a:ext cx="540000" cy="540000"/>
          </a:xfrm>
          <a:prstGeom prst="rect">
            <a:avLst/>
          </a:prstGeom>
          <a:solidFill>
            <a:srgbClr val="CAC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47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81" r:id="rId1"/>
    <p:sldLayoutId id="2147485882" r:id="rId2"/>
    <p:sldLayoutId id="2147485883" r:id="rId3"/>
    <p:sldLayoutId id="2147485884" r:id="rId4"/>
    <p:sldLayoutId id="2147485885" r:id="rId5"/>
    <p:sldLayoutId id="2147485886" r:id="rId6"/>
    <p:sldLayoutId id="2147485887" r:id="rId7"/>
    <p:sldLayoutId id="2147485888" r:id="rId8"/>
    <p:sldLayoutId id="2147485889" r:id="rId9"/>
    <p:sldLayoutId id="2147485890" r:id="rId10"/>
    <p:sldLayoutId id="2147485891" r:id="rId11"/>
    <p:sldLayoutId id="2147485892" r:id="rId12"/>
    <p:sldLayoutId id="2147485893" r:id="rId13"/>
    <p:sldLayoutId id="2147485894" r:id="rId14"/>
    <p:sldLayoutId id="2147485895" r:id="rId15"/>
    <p:sldLayoutId id="2147485896" r:id="rId16"/>
    <p:sldLayoutId id="2147485897" r:id="rId1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1" name="Image" r:id="rId7" imgW="2547917" imgH="749492" progId="">
                  <p:embed/>
                </p:oleObj>
              </mc:Choice>
              <mc:Fallback>
                <p:oleObj name="Image" r:id="rId7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79894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99" r:id="rId1"/>
    <p:sldLayoutId id="2147485900" r:id="rId2"/>
    <p:sldLayoutId id="2147485901" r:id="rId3"/>
    <p:sldLayoutId id="2147485902" r:id="rId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9" name="Image" r:id="rId6" imgW="2547917" imgH="749492" progId="">
                  <p:embed/>
                </p:oleObj>
              </mc:Choice>
              <mc:Fallback>
                <p:oleObj name="Image" r:id="rId6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2612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14" r:id="rId1"/>
    <p:sldLayoutId id="2147485915" r:id="rId2"/>
    <p:sldLayoutId id="2147485916" r:id="rId3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 b="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 b="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7" name="Image" r:id="rId7" imgW="2547917" imgH="749492" progId="">
                  <p:embed/>
                </p:oleObj>
              </mc:Choice>
              <mc:Fallback>
                <p:oleObj name="Image" r:id="rId7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38204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18" r:id="rId1"/>
    <p:sldLayoutId id="2147485919" r:id="rId2"/>
    <p:sldLayoutId id="2147485920" r:id="rId3"/>
    <p:sldLayoutId id="2147485921" r:id="rId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9" y="18684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sz="1800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1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1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5" name="Image" r:id="rId8" imgW="2547917" imgH="749492" progId="">
                  <p:embed/>
                </p:oleObj>
              </mc:Choice>
              <mc:Fallback>
                <p:oleObj name="Image" r:id="rId8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6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52625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23" r:id="rId1"/>
    <p:sldLayoutId id="2147485924" r:id="rId2"/>
    <p:sldLayoutId id="2147485925" r:id="rId3"/>
    <p:sldLayoutId id="2147485926" r:id="rId4"/>
    <p:sldLayoutId id="2147485927" r:id="rId5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597D4441-0FF2-4368-A3FE-88BA5E4FE669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3" name="Image" r:id="rId17" imgW="2547917" imgH="749492" progId="Photoshop.Image.7">
                  <p:embed/>
                </p:oleObj>
              </mc:Choice>
              <mc:Fallback>
                <p:oleObj name="Image" r:id="rId17" imgW="2547917" imgH="749492" progId="Photoshop.Image.7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194251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29" r:id="rId1"/>
    <p:sldLayoutId id="2147485930" r:id="rId2"/>
    <p:sldLayoutId id="2147485931" r:id="rId3"/>
    <p:sldLayoutId id="2147485932" r:id="rId4"/>
    <p:sldLayoutId id="2147485933" r:id="rId5"/>
    <p:sldLayoutId id="2147485934" r:id="rId6"/>
    <p:sldLayoutId id="2147485935" r:id="rId7"/>
    <p:sldLayoutId id="2147485936" r:id="rId8"/>
    <p:sldLayoutId id="2147485937" r:id="rId9"/>
    <p:sldLayoutId id="2147485938" r:id="rId10"/>
    <p:sldLayoutId id="2147485939" r:id="rId11"/>
    <p:sldLayoutId id="2147485940" r:id="rId12"/>
    <p:sldLayoutId id="2147485941" r:id="rId13"/>
    <p:sldLayoutId id="2147485942" r:id="rId1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40" y="186848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5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2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2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fld id="{F2BB0796-65FA-4C51-B79F-0D12303BEFD6}" type="slidenum">
              <a:rPr lang="en-US" altLang="zh-TW" sz="1200" b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</a:endParaRPr>
          </a:p>
        </p:txBody>
      </p:sp>
      <p:graphicFrame>
        <p:nvGraphicFramePr>
          <p:cNvPr id="1033" name="Object 455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7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1033" name="Object 4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7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206427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45" r:id="rId1"/>
    <p:sldLayoutId id="2147485946" r:id="rId2"/>
    <p:sldLayoutId id="2147485947" r:id="rId3"/>
    <p:sldLayoutId id="2147485948" r:id="rId4"/>
    <p:sldLayoutId id="2147485949" r:id="rId5"/>
    <p:sldLayoutId id="2147485950" r:id="rId6"/>
    <p:sldLayoutId id="2147485951" r:id="rId7"/>
    <p:sldLayoutId id="2147485952" r:id="rId8"/>
    <p:sldLayoutId id="2147485953" r:id="rId9"/>
    <p:sldLayoutId id="2147485954" r:id="rId10"/>
    <p:sldLayoutId id="2147485955" r:id="rId11"/>
    <p:sldLayoutId id="2147485956" r:id="rId12"/>
    <p:sldLayoutId id="2147485957" r:id="rId13"/>
    <p:sldLayoutId id="2147485958" r:id="rId14"/>
    <p:sldLayoutId id="2147485959" r:id="rId15"/>
    <p:sldLayoutId id="2147485960" r:id="rId16"/>
    <p:sldLayoutId id="2147485961" r:id="rId17"/>
  </p:sldLayoutIdLst>
  <p:transition>
    <p:split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2.xml"/><Relationship Id="rId4" Type="http://schemas.openxmlformats.org/officeDocument/2006/relationships/image" Target="../media/image2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-108520" y="3933056"/>
            <a:ext cx="9361040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/>
          <p:cNvSpPr/>
          <p:nvPr/>
        </p:nvSpPr>
        <p:spPr bwMode="auto">
          <a:xfrm rot="2043878">
            <a:off x="-1337513" y="945986"/>
            <a:ext cx="4042162" cy="1478077"/>
          </a:xfrm>
          <a:prstGeom prst="rect">
            <a:avLst/>
          </a:prstGeom>
          <a:gradFill flip="none" rotWithShape="1">
            <a:gsLst>
              <a:gs pos="0">
                <a:srgbClr val="EDEEEE"/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843808" y="2348880"/>
            <a:ext cx="6336704" cy="1656184"/>
          </a:xfrm>
          <a:prstGeom prst="rect">
            <a:avLst/>
          </a:prstGeom>
          <a:solidFill>
            <a:srgbClr val="C434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sz="2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843808" y="3969104"/>
            <a:ext cx="6408712" cy="396000"/>
          </a:xfrm>
          <a:prstGeom prst="rect">
            <a:avLst/>
          </a:prstGeom>
          <a:solidFill>
            <a:srgbClr val="B8B9B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4ECCC2-9449-455B-899A-30E139A59520}"/>
              </a:ext>
            </a:extLst>
          </p:cNvPr>
          <p:cNvSpPr/>
          <p:nvPr/>
        </p:nvSpPr>
        <p:spPr>
          <a:xfrm>
            <a:off x="7740352" y="4725144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Helvetica" panose="020B0604020202020204" pitchFamily="34" charset="0"/>
            </a:endParaRPr>
          </a:p>
        </p:txBody>
      </p:sp>
      <p:pic>
        <p:nvPicPr>
          <p:cNvPr id="9" name="Picture 4" descr="ç¸éåç">
            <a:extLst>
              <a:ext uri="{FF2B5EF4-FFF2-40B4-BE49-F238E27FC236}">
                <a16:creationId xmlns:a16="http://schemas.microsoft.com/office/drawing/2014/main" id="{BBE30ECC-B50E-4348-876F-E5B2EBDB9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76872"/>
            <a:ext cx="929104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群組 9"/>
          <p:cNvGrpSpPr/>
          <p:nvPr/>
        </p:nvGrpSpPr>
        <p:grpSpPr>
          <a:xfrm>
            <a:off x="-108520" y="2132856"/>
            <a:ext cx="2987824" cy="3960440"/>
            <a:chOff x="827584" y="-34032"/>
            <a:chExt cx="7293052" cy="10049072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-34032"/>
              <a:ext cx="7293052" cy="10049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 bwMode="auto">
            <a:xfrm>
              <a:off x="5206652" y="7640780"/>
              <a:ext cx="2284304" cy="1312976"/>
            </a:xfrm>
            <a:prstGeom prst="rect">
              <a:avLst/>
            </a:prstGeom>
            <a:solidFill>
              <a:srgbClr val="EFEFE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4342555" y="8216845"/>
              <a:ext cx="3218792" cy="1364307"/>
            </a:xfrm>
            <a:prstGeom prst="rect">
              <a:avLst/>
            </a:prstGeom>
            <a:solidFill>
              <a:srgbClr val="EFEFE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4" name="等腰三角形 13"/>
          <p:cNvSpPr/>
          <p:nvPr/>
        </p:nvSpPr>
        <p:spPr bwMode="auto">
          <a:xfrm rot="5400000">
            <a:off x="2699792" y="3861048"/>
            <a:ext cx="216024" cy="216024"/>
          </a:xfrm>
          <a:prstGeom prst="triangle">
            <a:avLst/>
          </a:prstGeom>
          <a:solidFill>
            <a:srgbClr val="EDEEE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直角三角形 14"/>
          <p:cNvSpPr/>
          <p:nvPr/>
        </p:nvSpPr>
        <p:spPr bwMode="auto">
          <a:xfrm rot="16200000">
            <a:off x="539552" y="3717032"/>
            <a:ext cx="1728192" cy="3024336"/>
          </a:xfrm>
          <a:prstGeom prst="rt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524328" y="4005064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2876466" y="2132856"/>
            <a:ext cx="6300192" cy="216024"/>
          </a:xfrm>
          <a:prstGeom prst="rect">
            <a:avLst/>
          </a:prstGeom>
          <a:solidFill>
            <a:srgbClr val="EDEEE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直角三角形 17"/>
          <p:cNvSpPr/>
          <p:nvPr/>
        </p:nvSpPr>
        <p:spPr bwMode="auto">
          <a:xfrm flipH="1">
            <a:off x="-180528" y="4365104"/>
            <a:ext cx="3096344" cy="1728192"/>
          </a:xfrm>
          <a:prstGeom prst="rtTriangl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6309320"/>
            <a:ext cx="1008112" cy="3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2DEB817-6841-42B4-9DA4-C5535DFE8A7F}"/>
              </a:ext>
            </a:extLst>
          </p:cNvPr>
          <p:cNvSpPr/>
          <p:nvPr/>
        </p:nvSpPr>
        <p:spPr>
          <a:xfrm>
            <a:off x="3107142" y="2574592"/>
            <a:ext cx="63151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從新創到上市公司：</a:t>
            </a:r>
            <a:endParaRPr lang="en-US" altLang="zh-TW" sz="3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資本市場的關鍵決策與估值密碼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431C56-1832-412C-94C3-F10DC6455339}"/>
              </a:ext>
            </a:extLst>
          </p:cNvPr>
          <p:cNvSpPr/>
          <p:nvPr/>
        </p:nvSpPr>
        <p:spPr bwMode="auto">
          <a:xfrm>
            <a:off x="-108520" y="3949509"/>
            <a:ext cx="9361040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4106318"/>
      </p:ext>
    </p:extLst>
  </p:cSld>
  <p:clrMapOvr>
    <a:masterClrMapping/>
  </p:clrMapOvr>
  <p:transition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" descr="ç¸éåç">
            <a:extLst>
              <a:ext uri="{FF2B5EF4-FFF2-40B4-BE49-F238E27FC236}">
                <a16:creationId xmlns:a16="http://schemas.microsoft.com/office/drawing/2014/main" id="{E6739A05-B5A0-46DD-AB74-E7328D62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423" y="2644781"/>
            <a:ext cx="791610" cy="73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橢圓 42">
            <a:extLst>
              <a:ext uri="{FF2B5EF4-FFF2-40B4-BE49-F238E27FC236}">
                <a16:creationId xmlns:a16="http://schemas.microsoft.com/office/drawing/2014/main" id="{FCD63A08-C48F-4B1A-B6F1-26F5C69BEEB7}"/>
              </a:ext>
            </a:extLst>
          </p:cNvPr>
          <p:cNvSpPr/>
          <p:nvPr/>
        </p:nvSpPr>
        <p:spPr bwMode="auto">
          <a:xfrm>
            <a:off x="7083115" y="2264043"/>
            <a:ext cx="1457945" cy="1432926"/>
          </a:xfrm>
          <a:prstGeom prst="ellipse">
            <a:avLst/>
          </a:prstGeom>
          <a:noFill/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0DE5FB7-A908-47B2-96EC-189123C6B62F}"/>
              </a:ext>
            </a:extLst>
          </p:cNvPr>
          <p:cNvSpPr txBox="1"/>
          <p:nvPr/>
        </p:nvSpPr>
        <p:spPr>
          <a:xfrm>
            <a:off x="7019999" y="3927801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</a:t>
            </a:r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智慧好伙伴</a:t>
            </a: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簡報大綱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493016" y="1484784"/>
            <a:ext cx="5941888" cy="4156175"/>
            <a:chOff x="493016" y="1484784"/>
            <a:chExt cx="5941888" cy="4156175"/>
          </a:xfrm>
        </p:grpSpPr>
        <p:sp>
          <p:nvSpPr>
            <p:cNvPr id="52" name="平行四邊形 51">
              <a:extLst>
                <a:ext uri="{FF2B5EF4-FFF2-40B4-BE49-F238E27FC236}">
                  <a16:creationId xmlns:a16="http://schemas.microsoft.com/office/drawing/2014/main" id="{7B903FFF-5BB1-41EA-A52E-598AB490339E}"/>
                </a:ext>
              </a:extLst>
            </p:cNvPr>
            <p:cNvSpPr/>
            <p:nvPr/>
          </p:nvSpPr>
          <p:spPr>
            <a:xfrm>
              <a:off x="499470" y="256490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平行四邊形 50">
              <a:extLst>
                <a:ext uri="{FF2B5EF4-FFF2-40B4-BE49-F238E27FC236}">
                  <a16:creationId xmlns:a16="http://schemas.microsoft.com/office/drawing/2014/main" id="{5126069E-3C05-434A-992E-A7883835D778}"/>
                </a:ext>
              </a:extLst>
            </p:cNvPr>
            <p:cNvSpPr/>
            <p:nvPr/>
          </p:nvSpPr>
          <p:spPr>
            <a:xfrm>
              <a:off x="499074" y="148478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9" name="Shape 141">
              <a:extLst>
                <a:ext uri="{FF2B5EF4-FFF2-40B4-BE49-F238E27FC236}">
                  <a16:creationId xmlns:a16="http://schemas.microsoft.com/office/drawing/2014/main" id="{75919BC7-7330-4D3A-A396-1763D8ABE47C}"/>
                </a:ext>
              </a:extLst>
            </p:cNvPr>
            <p:cNvGrpSpPr/>
            <p:nvPr/>
          </p:nvGrpSpPr>
          <p:grpSpPr>
            <a:xfrm>
              <a:off x="1202070" y="1684837"/>
              <a:ext cx="5055240" cy="660233"/>
              <a:chOff x="4572000" y="1743934"/>
              <a:chExt cx="4428492" cy="461614"/>
            </a:xfrm>
          </p:grpSpPr>
          <p:sp>
            <p:nvSpPr>
              <p:cNvPr id="40" name="Shape 142">
                <a:extLst>
                  <a:ext uri="{FF2B5EF4-FFF2-40B4-BE49-F238E27FC236}">
                    <a16:creationId xmlns:a16="http://schemas.microsoft.com/office/drawing/2014/main" id="{A58E2294-6971-4DB5-87F7-5C73E2A3E8CA}"/>
                  </a:ext>
                </a:extLst>
              </p:cNvPr>
              <p:cNvSpPr/>
              <p:nvPr/>
            </p:nvSpPr>
            <p:spPr>
              <a:xfrm>
                <a:off x="4788024" y="1743934"/>
                <a:ext cx="4212468" cy="46161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41" name="Shape 143">
                <a:extLst>
                  <a:ext uri="{FF2B5EF4-FFF2-40B4-BE49-F238E27FC236}">
                    <a16:creationId xmlns:a16="http://schemas.microsoft.com/office/drawing/2014/main" id="{61B2284C-E416-4012-A3AA-671C371C383C}"/>
                  </a:ext>
                </a:extLst>
              </p:cNvPr>
              <p:cNvSpPr/>
              <p:nvPr/>
            </p:nvSpPr>
            <p:spPr>
              <a:xfrm rot="16200000">
                <a:off x="4449219" y="1866717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Shape 149">
              <a:extLst>
                <a:ext uri="{FF2B5EF4-FFF2-40B4-BE49-F238E27FC236}">
                  <a16:creationId xmlns:a16="http://schemas.microsoft.com/office/drawing/2014/main" id="{71D4AFC8-FC23-4923-960D-ACFAA57B0174}"/>
                </a:ext>
              </a:extLst>
            </p:cNvPr>
            <p:cNvGrpSpPr/>
            <p:nvPr/>
          </p:nvGrpSpPr>
          <p:grpSpPr>
            <a:xfrm>
              <a:off x="1180127" y="2769358"/>
              <a:ext cx="5083637" cy="661654"/>
              <a:chOff x="4577606" y="1737902"/>
              <a:chExt cx="4427564" cy="462607"/>
            </a:xfrm>
          </p:grpSpPr>
          <p:sp>
            <p:nvSpPr>
              <p:cNvPr id="33" name="Shape 150">
                <a:extLst>
                  <a:ext uri="{FF2B5EF4-FFF2-40B4-BE49-F238E27FC236}">
                    <a16:creationId xmlns:a16="http://schemas.microsoft.com/office/drawing/2014/main" id="{C1EDBE03-18D2-47F2-8C31-3405388DBE54}"/>
                  </a:ext>
                </a:extLst>
              </p:cNvPr>
              <p:cNvSpPr/>
              <p:nvPr/>
            </p:nvSpPr>
            <p:spPr>
              <a:xfrm>
                <a:off x="4792702" y="1737902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34" name="Shape 151">
                <a:extLst>
                  <a:ext uri="{FF2B5EF4-FFF2-40B4-BE49-F238E27FC236}">
                    <a16:creationId xmlns:a16="http://schemas.microsoft.com/office/drawing/2014/main" id="{7F6FD1CF-BE64-4EE9-9AB4-9DC8337B2F2F}"/>
                  </a:ext>
                </a:extLst>
              </p:cNvPr>
              <p:cNvSpPr/>
              <p:nvPr/>
            </p:nvSpPr>
            <p:spPr>
              <a:xfrm rot="16200000">
                <a:off x="4454825" y="1861728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12" name="Shape 168">
              <a:extLst>
                <a:ext uri="{FF2B5EF4-FFF2-40B4-BE49-F238E27FC236}">
                  <a16:creationId xmlns:a16="http://schemas.microsoft.com/office/drawing/2014/main" id="{8777A3BB-CF42-47CD-A3E4-1D068F6573BF}"/>
                </a:ext>
              </a:extLst>
            </p:cNvPr>
            <p:cNvSpPr txBox="1"/>
            <p:nvPr/>
          </p:nvSpPr>
          <p:spPr>
            <a:xfrm>
              <a:off x="660463" y="1582890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01</a:t>
              </a:r>
              <a:endParaRPr sz="3200" b="1" dirty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3" name="Shape 169">
              <a:extLst>
                <a:ext uri="{FF2B5EF4-FFF2-40B4-BE49-F238E27FC236}">
                  <a16:creationId xmlns:a16="http://schemas.microsoft.com/office/drawing/2014/main" id="{4A5FE8D5-5092-41C3-BB73-392FB5AAE4CD}"/>
                </a:ext>
              </a:extLst>
            </p:cNvPr>
            <p:cNvSpPr txBox="1"/>
            <p:nvPr/>
          </p:nvSpPr>
          <p:spPr>
            <a:xfrm>
              <a:off x="615959" y="2678341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02</a:t>
              </a: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BFB9EF6-D90D-484C-B1B6-577563242582}"/>
                </a:ext>
              </a:extLst>
            </p:cNvPr>
            <p:cNvSpPr/>
            <p:nvPr/>
          </p:nvSpPr>
          <p:spPr>
            <a:xfrm>
              <a:off x="1448447" y="1800694"/>
              <a:ext cx="357020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為什麼企業要走向資本市場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F02301C-D37C-4F08-B85C-BACB8A7591A8}"/>
                </a:ext>
              </a:extLst>
            </p:cNvPr>
            <p:cNvSpPr/>
            <p:nvPr/>
          </p:nvSpPr>
          <p:spPr>
            <a:xfrm>
              <a:off x="1448447" y="2882984"/>
              <a:ext cx="4134465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企業故事如何轉為資本市場語言</a:t>
              </a: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6C716480-B4F9-4393-9CF1-167AFC8FA39A}"/>
                </a:ext>
              </a:extLst>
            </p:cNvPr>
            <p:cNvSpPr txBox="1"/>
            <p:nvPr/>
          </p:nvSpPr>
          <p:spPr>
            <a:xfrm>
              <a:off x="5693134" y="3112108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P15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D2C0AEB9-4C6F-4210-A364-71E2F1A26A56}"/>
                </a:ext>
              </a:extLst>
            </p:cNvPr>
            <p:cNvSpPr txBox="1"/>
            <p:nvPr/>
          </p:nvSpPr>
          <p:spPr>
            <a:xfrm>
              <a:off x="5719402" y="2013906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P03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平行四邊形 27">
              <a:extLst>
                <a:ext uri="{FF2B5EF4-FFF2-40B4-BE49-F238E27FC236}">
                  <a16:creationId xmlns:a16="http://schemas.microsoft.com/office/drawing/2014/main" id="{AB004C93-43E0-4D44-A750-47D2281332AE}"/>
                </a:ext>
              </a:extLst>
            </p:cNvPr>
            <p:cNvSpPr/>
            <p:nvPr/>
          </p:nvSpPr>
          <p:spPr>
            <a:xfrm>
              <a:off x="497635" y="4724423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9" name="Shape 149">
              <a:extLst>
                <a:ext uri="{FF2B5EF4-FFF2-40B4-BE49-F238E27FC236}">
                  <a16:creationId xmlns:a16="http://schemas.microsoft.com/office/drawing/2014/main" id="{67621ABD-BF50-454F-963B-7BC3A97A7BB8}"/>
                </a:ext>
              </a:extLst>
            </p:cNvPr>
            <p:cNvGrpSpPr/>
            <p:nvPr/>
          </p:nvGrpSpPr>
          <p:grpSpPr>
            <a:xfrm>
              <a:off x="1171894" y="4937506"/>
              <a:ext cx="5085416" cy="660233"/>
              <a:chOff x="4572000" y="1743934"/>
              <a:chExt cx="4428492" cy="461613"/>
            </a:xfrm>
          </p:grpSpPr>
          <p:sp>
            <p:nvSpPr>
              <p:cNvPr id="31" name="Shape 150">
                <a:extLst>
                  <a:ext uri="{FF2B5EF4-FFF2-40B4-BE49-F238E27FC236}">
                    <a16:creationId xmlns:a16="http://schemas.microsoft.com/office/drawing/2014/main" id="{63AB286B-3357-4A04-9868-903C262A0D2F}"/>
                  </a:ext>
                </a:extLst>
              </p:cNvPr>
              <p:cNvSpPr/>
              <p:nvPr/>
            </p:nvSpPr>
            <p:spPr>
              <a:xfrm>
                <a:off x="4788024" y="1743934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35" name="Shape 151">
                <a:extLst>
                  <a:ext uri="{FF2B5EF4-FFF2-40B4-BE49-F238E27FC236}">
                    <a16:creationId xmlns:a16="http://schemas.microsoft.com/office/drawing/2014/main" id="{8E7CF3E4-5A3F-4DBD-9BB5-353DC2A9BB30}"/>
                  </a:ext>
                </a:extLst>
              </p:cNvPr>
              <p:cNvSpPr/>
              <p:nvPr/>
            </p:nvSpPr>
            <p:spPr>
              <a:xfrm rot="16200000">
                <a:off x="4449219" y="1866715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36" name="Shape 169">
              <a:extLst>
                <a:ext uri="{FF2B5EF4-FFF2-40B4-BE49-F238E27FC236}">
                  <a16:creationId xmlns:a16="http://schemas.microsoft.com/office/drawing/2014/main" id="{2E31CE0C-5F67-4FB4-9164-4D73CDC6B774}"/>
                </a:ext>
              </a:extLst>
            </p:cNvPr>
            <p:cNvSpPr txBox="1"/>
            <p:nvPr/>
          </p:nvSpPr>
          <p:spPr>
            <a:xfrm>
              <a:off x="614124" y="4837860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04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4FB96991-D159-4E29-B262-DAD50C4F811E}"/>
                </a:ext>
              </a:extLst>
            </p:cNvPr>
            <p:cNvSpPr txBox="1"/>
            <p:nvPr/>
          </p:nvSpPr>
          <p:spPr>
            <a:xfrm>
              <a:off x="5691299" y="5271627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P29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平行四邊形 29">
              <a:extLst>
                <a:ext uri="{FF2B5EF4-FFF2-40B4-BE49-F238E27FC236}">
                  <a16:creationId xmlns:a16="http://schemas.microsoft.com/office/drawing/2014/main" id="{7B903FFF-5BB1-41EA-A52E-598AB490339E}"/>
                </a:ext>
              </a:extLst>
            </p:cNvPr>
            <p:cNvSpPr/>
            <p:nvPr/>
          </p:nvSpPr>
          <p:spPr>
            <a:xfrm>
              <a:off x="493016" y="364502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Shape 149">
              <a:extLst>
                <a:ext uri="{FF2B5EF4-FFF2-40B4-BE49-F238E27FC236}">
                  <a16:creationId xmlns:a16="http://schemas.microsoft.com/office/drawing/2014/main" id="{71D4AFC8-FC23-4923-960D-ACFAA57B0174}"/>
                </a:ext>
              </a:extLst>
            </p:cNvPr>
            <p:cNvGrpSpPr/>
            <p:nvPr/>
          </p:nvGrpSpPr>
          <p:grpSpPr>
            <a:xfrm>
              <a:off x="1173673" y="3849478"/>
              <a:ext cx="5083637" cy="661654"/>
              <a:chOff x="4577606" y="1737902"/>
              <a:chExt cx="4427564" cy="462607"/>
            </a:xfrm>
          </p:grpSpPr>
          <p:sp>
            <p:nvSpPr>
              <p:cNvPr id="47" name="Shape 150">
                <a:extLst>
                  <a:ext uri="{FF2B5EF4-FFF2-40B4-BE49-F238E27FC236}">
                    <a16:creationId xmlns:a16="http://schemas.microsoft.com/office/drawing/2014/main" id="{C1EDBE03-18D2-47F2-8C31-3405388DBE54}"/>
                  </a:ext>
                </a:extLst>
              </p:cNvPr>
              <p:cNvSpPr/>
              <p:nvPr/>
            </p:nvSpPr>
            <p:spPr>
              <a:xfrm>
                <a:off x="4792702" y="1737902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49" name="Shape 151">
                <a:extLst>
                  <a:ext uri="{FF2B5EF4-FFF2-40B4-BE49-F238E27FC236}">
                    <a16:creationId xmlns:a16="http://schemas.microsoft.com/office/drawing/2014/main" id="{7F6FD1CF-BE64-4EE9-9AB4-9DC8337B2F2F}"/>
                  </a:ext>
                </a:extLst>
              </p:cNvPr>
              <p:cNvSpPr/>
              <p:nvPr/>
            </p:nvSpPr>
            <p:spPr>
              <a:xfrm rot="16200000">
                <a:off x="4454825" y="1861728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53" name="Shape 169">
              <a:extLst>
                <a:ext uri="{FF2B5EF4-FFF2-40B4-BE49-F238E27FC236}">
                  <a16:creationId xmlns:a16="http://schemas.microsoft.com/office/drawing/2014/main" id="{4A5FE8D5-5092-41C3-BB73-392FB5AAE4CD}"/>
                </a:ext>
              </a:extLst>
            </p:cNvPr>
            <p:cNvSpPr txBox="1"/>
            <p:nvPr/>
          </p:nvSpPr>
          <p:spPr>
            <a:xfrm>
              <a:off x="609505" y="3758461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03</a:t>
              </a: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6C716480-B4F9-4393-9CF1-167AFC8FA39A}"/>
                </a:ext>
              </a:extLst>
            </p:cNvPr>
            <p:cNvSpPr txBox="1"/>
            <p:nvPr/>
          </p:nvSpPr>
          <p:spPr>
            <a:xfrm>
              <a:off x="5686680" y="4192228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P20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1BA770A-212E-46E2-98CB-7B7B41862627}"/>
                </a:ext>
              </a:extLst>
            </p:cNvPr>
            <p:cNvSpPr/>
            <p:nvPr/>
          </p:nvSpPr>
          <p:spPr>
            <a:xfrm>
              <a:off x="1427096" y="3938514"/>
              <a:ext cx="3288080" cy="4364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110000"/>
                </a:lnSpc>
                <a:buClr>
                  <a:srgbClr val="D56C2A"/>
                </a:buClr>
                <a:buSzPct val="90000"/>
              </a:pPr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資本市場如何為企業定價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1BA770A-212E-46E2-98CB-7B7B41862627}"/>
                </a:ext>
              </a:extLst>
            </p:cNvPr>
            <p:cNvSpPr/>
            <p:nvPr/>
          </p:nvSpPr>
          <p:spPr>
            <a:xfrm>
              <a:off x="1448447" y="5018287"/>
              <a:ext cx="3570208" cy="4364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110000"/>
                </a:lnSpc>
                <a:buClr>
                  <a:srgbClr val="D56C2A"/>
                </a:buClr>
                <a:buSzPct val="90000"/>
              </a:pPr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企業如何善用資本市場成長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03774"/>
      </p:ext>
    </p:extLst>
  </p:cSld>
  <p:clrMapOvr>
    <a:masterClrMapping/>
  </p:clrMapOvr>
  <p:transition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為什麼企業要走向資本市場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5120403"/>
      </p:ext>
    </p:extLst>
  </p:cSld>
  <p:clrMapOvr>
    <a:masterClrMapping/>
  </p:clrMapOvr>
  <p:transition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2">
            <a:extLst>
              <a:ext uri="{FF2B5EF4-FFF2-40B4-BE49-F238E27FC236}">
                <a16:creationId xmlns:a16="http://schemas.microsoft.com/office/drawing/2014/main" id="{33086234-3D5A-460D-94F6-9724EC9CF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觀察一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科技迭代帶動產業快速升級</a:t>
            </a: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04C6E4D9-63C2-43F8-B8FC-958142426327}"/>
              </a:ext>
            </a:extLst>
          </p:cNvPr>
          <p:cNvSpPr txBox="1"/>
          <p:nvPr/>
        </p:nvSpPr>
        <p:spPr>
          <a:xfrm>
            <a:off x="455376" y="1058314"/>
            <a:ext cx="8207373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科技進步的速度越來越快，從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工業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1.0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的機械化、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2.0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的電氣化、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3.0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的自動化、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4.0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的數位化到如今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5.0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強調人機協作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與永續發展，每一次工業革命的時間間隔不斷縮短，顯示科技變化已進入高速甚至爆發式成長階段，深刻改變產業與社會運作的模式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3CF287B-664E-4A72-B688-A62D5AA09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49" y="2132856"/>
            <a:ext cx="8417102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56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企業經營面臨的機會及挑戰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除了產業轉型，企業也面臨多項挑戰及機會，如：資金需求擴大、品牌公信力的重要性提升、公司治理透明化、人才競爭加劇，以及併購風潮興起等。這些因素都代表企業需要更多資源、資本與制度來支撐規模擴張，因此需要一個強而有力的平台來做企業的後盾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DF90559-D6AA-4D43-A720-FAA47E89B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62" y="2044193"/>
            <a:ext cx="8783276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3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觀察三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)-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股市持續創高帶動估值及上市櫃公司增加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1143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過去三年，受惠於半導體、電子及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應用產業的高速發展，台灣股市持續創下歷史新高，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加權指數已突破二萬八千點大關，反應股票價值的本益比也持續上升，而日均成交量也上升至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&gt;5,000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億元水準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。好的估值也帶來更多企業願意加入資本市場，亦使得台股的上市櫃家數持續快速成長，同時各產業的代表性公司也陸續加入，開創台股成分股的多元性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77140F1-8982-4E19-BF38-CFC045866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6" y="2494775"/>
            <a:ext cx="8207373" cy="344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8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綜觀三大觀察，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將是企業成長的最好方法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611560" y="3248513"/>
            <a:ext cx="2448272" cy="2759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全球正快速邁向工業</a:t>
            </a:r>
            <a:r>
              <a:rPr lang="en-US" altLang="zh-TW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5.0</a:t>
            </a: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時代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企業不僅要追求製造效率的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提升，更需掌握</a:t>
            </a:r>
            <a:r>
              <a:rPr lang="en-US" altLang="zh-TW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、數據、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物聯網與人機協作等關鍵技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術能力。這波由人工智慧帶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動的新技術浪潮，不僅重塑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產業這價值鏈，也推動許多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企業重新思考營運模式與數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位轉型策略，進而在資本市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場尋求更大的發展空間。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4FBEA79-FE0B-4F4B-8EB3-4875AF56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9" y="1268760"/>
            <a:ext cx="8068801" cy="103837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2044651-0446-4820-90EB-03EAC61ED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04" y="2468215"/>
            <a:ext cx="7630590" cy="61921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9E2809B-4EBA-4E36-8F96-665B21204850}"/>
              </a:ext>
            </a:extLst>
          </p:cNvPr>
          <p:cNvSpPr txBox="1"/>
          <p:nvPr/>
        </p:nvSpPr>
        <p:spPr>
          <a:xfrm>
            <a:off x="3419872" y="3248512"/>
            <a:ext cx="2448272" cy="248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隨著產業轉型加速，企業同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時面臨多重挑戰，這些挑戰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顯示，企業若要持續擴張與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升級，必須具備健全的治理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架構與穩定的資本來源。對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許多企業而言，透過資本市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場募集資金、強化治理與提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升品牌信任度，已成為推動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長期成長的重要策略。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373814F-71C8-47F3-AE01-48B6D45A2DED}"/>
              </a:ext>
            </a:extLst>
          </p:cNvPr>
          <p:cNvSpPr txBox="1"/>
          <p:nvPr/>
        </p:nvSpPr>
        <p:spPr>
          <a:xfrm>
            <a:off x="6228184" y="3248512"/>
            <a:ext cx="2448272" cy="3028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近三年台灣股市表現亮眼，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成交量與本益比持續攀升，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反映出市場資金充裕與投資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信心高漲。這波熱潮主要受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、半導體、電子及應用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產業需求推動，使得企業評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價提升、投資氛圍活絡。良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好的市場條件促使更多公司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選擇加速申請上市</a:t>
            </a:r>
            <a:r>
              <a:rPr lang="en-US" altLang="zh-TW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上櫃掛牌，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以提升知名度、募集發展資</a:t>
            </a:r>
          </a:p>
          <a:p>
            <a:pPr algn="just">
              <a:lnSpc>
                <a:spcPct val="125000"/>
              </a:lnSpc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金並強化競爭地位。</a:t>
            </a:r>
          </a:p>
        </p:txBody>
      </p:sp>
    </p:spTree>
    <p:extLst>
      <p:ext uri="{BB962C8B-B14F-4D97-AF65-F5344CB8AC3E}">
        <p14:creationId xmlns:p14="http://schemas.microsoft.com/office/powerpoint/2010/main" val="802527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平行四邊形 79">
            <a:extLst>
              <a:ext uri="{FF2B5EF4-FFF2-40B4-BE49-F238E27FC236}">
                <a16:creationId xmlns:a16="http://schemas.microsoft.com/office/drawing/2014/main" id="{6AD4AF00-3671-4336-BB6D-DB38E5601836}"/>
              </a:ext>
            </a:extLst>
          </p:cNvPr>
          <p:cNvSpPr/>
          <p:nvPr/>
        </p:nvSpPr>
        <p:spPr bwMode="auto">
          <a:xfrm>
            <a:off x="621792" y="5851226"/>
            <a:ext cx="8027133" cy="396225"/>
          </a:xfrm>
          <a:prstGeom prst="parallelogram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-2335118" y="2909803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一家好公司，為什麼需要資本市場？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企業從產品驗證走向經濟規模化，資金需求會從一次性資金，轉向可持續、可放大的資本供給</a:t>
            </a:r>
          </a:p>
        </p:txBody>
      </p:sp>
      <p:sp>
        <p:nvSpPr>
          <p:cNvPr id="13" name="Shape 10"/>
          <p:cNvSpPr/>
          <p:nvPr/>
        </p:nvSpPr>
        <p:spPr>
          <a:xfrm>
            <a:off x="1923129" y="2505878"/>
            <a:ext cx="0" cy="3018828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2927896" y="2505878"/>
            <a:ext cx="0" cy="3018828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5" name="Shape 12"/>
          <p:cNvSpPr/>
          <p:nvPr/>
        </p:nvSpPr>
        <p:spPr>
          <a:xfrm>
            <a:off x="4255241" y="2505878"/>
            <a:ext cx="0" cy="3018828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101" name="弧形接點 100"/>
          <p:cNvCxnSpPr>
            <a:cxnSpLocks/>
          </p:cNvCxnSpPr>
          <p:nvPr/>
        </p:nvCxnSpPr>
        <p:spPr bwMode="auto">
          <a:xfrm flipV="1">
            <a:off x="1244653" y="3525096"/>
            <a:ext cx="3492000" cy="14400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92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Shape 4"/>
          <p:cNvSpPr/>
          <p:nvPr/>
        </p:nvSpPr>
        <p:spPr>
          <a:xfrm>
            <a:off x="621792" y="1691862"/>
            <a:ext cx="58888" cy="389526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743762" y="1727017"/>
            <a:ext cx="2748118" cy="292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企業成長曲線與資本需求演進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 flipV="1">
            <a:off x="813952" y="5524706"/>
            <a:ext cx="4515337" cy="1502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4890394" y="5589240"/>
            <a:ext cx="372959" cy="1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1560" y="2060848"/>
            <a:ext cx="125102" cy="216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企業價值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2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/資本需求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3572253" y="3648387"/>
            <a:ext cx="148187" cy="140653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3"/>
          <p:cNvSpPr/>
          <p:nvPr/>
        </p:nvSpPr>
        <p:spPr>
          <a:xfrm>
            <a:off x="868062" y="2841943"/>
            <a:ext cx="1010915" cy="194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產品驗證期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63026" y="3210149"/>
            <a:ext cx="1010916" cy="664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1875203" y="2554590"/>
            <a:ext cx="1109062" cy="194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規模成長期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2005251" y="2924944"/>
            <a:ext cx="868274" cy="49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VC/Growth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擴產、拓客、招募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3031105" y="2359827"/>
            <a:ext cx="1138506" cy="194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組織成熟期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2945532" y="2624569"/>
            <a:ext cx="1150096" cy="82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4255241" y="2075114"/>
            <a:ext cx="1209172" cy="194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公開市場階段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4201851" y="2421412"/>
            <a:ext cx="1127441" cy="610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53"/>
          <p:cNvSpPr/>
          <p:nvPr/>
        </p:nvSpPr>
        <p:spPr>
          <a:xfrm>
            <a:off x="5809959" y="1736620"/>
            <a:ext cx="1570353" cy="30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三個洞察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Shape 54"/>
          <p:cNvSpPr/>
          <p:nvPr/>
        </p:nvSpPr>
        <p:spPr>
          <a:xfrm>
            <a:off x="5665240" y="2366090"/>
            <a:ext cx="2983689" cy="906296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5"/>
          <p:cNvSpPr/>
          <p:nvPr/>
        </p:nvSpPr>
        <p:spPr>
          <a:xfrm>
            <a:off x="5762237" y="2492896"/>
            <a:ext cx="253323" cy="255625"/>
          </a:xfrm>
          <a:prstGeom prst="ellipse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6"/>
          <p:cNvSpPr/>
          <p:nvPr/>
        </p:nvSpPr>
        <p:spPr>
          <a:xfrm>
            <a:off x="5706653" y="2527690"/>
            <a:ext cx="359129" cy="18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 57"/>
          <p:cNvSpPr/>
          <p:nvPr/>
        </p:nvSpPr>
        <p:spPr>
          <a:xfrm>
            <a:off x="6125381" y="2539532"/>
            <a:ext cx="1815721" cy="194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資本需求升級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58"/>
          <p:cNvSpPr/>
          <p:nvPr/>
        </p:nvSpPr>
        <p:spPr>
          <a:xfrm>
            <a:off x="6125381" y="2795159"/>
            <a:ext cx="2523544" cy="388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企業規模擴大後，需要更大量、期限更長且可重複取得的資本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Shape 59"/>
          <p:cNvSpPr/>
          <p:nvPr/>
        </p:nvSpPr>
        <p:spPr>
          <a:xfrm>
            <a:off x="5665239" y="3391089"/>
            <a:ext cx="2983690" cy="920082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2"/>
          <p:cNvSpPr/>
          <p:nvPr/>
        </p:nvSpPr>
        <p:spPr>
          <a:xfrm>
            <a:off x="6103892" y="3564531"/>
            <a:ext cx="1815721" cy="194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治理要求升級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 63"/>
          <p:cNvSpPr/>
          <p:nvPr/>
        </p:nvSpPr>
        <p:spPr>
          <a:xfrm>
            <a:off x="6103891" y="3820156"/>
            <a:ext cx="2545033" cy="368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資本越大，投資人越重視財務品質、內控、股權結構與透明度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Shape 64"/>
          <p:cNvSpPr/>
          <p:nvPr/>
        </p:nvSpPr>
        <p:spPr>
          <a:xfrm>
            <a:off x="5665238" y="4430635"/>
            <a:ext cx="2983691" cy="903937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70" name="Shape 65"/>
          <p:cNvSpPr/>
          <p:nvPr/>
        </p:nvSpPr>
        <p:spPr>
          <a:xfrm>
            <a:off x="5762237" y="4581128"/>
            <a:ext cx="253323" cy="255625"/>
          </a:xfrm>
          <a:prstGeom prst="ellipse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6"/>
          <p:cNvSpPr/>
          <p:nvPr/>
        </p:nvSpPr>
        <p:spPr>
          <a:xfrm>
            <a:off x="5762237" y="4623697"/>
            <a:ext cx="253323" cy="15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Text 67"/>
          <p:cNvSpPr/>
          <p:nvPr/>
        </p:nvSpPr>
        <p:spPr>
          <a:xfrm>
            <a:off x="6125381" y="4602389"/>
            <a:ext cx="1815721" cy="194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市場準備提前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 68"/>
          <p:cNvSpPr/>
          <p:nvPr/>
        </p:nvSpPr>
        <p:spPr>
          <a:xfrm>
            <a:off x="6125381" y="4869160"/>
            <a:ext cx="2523543" cy="291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en-US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不是臨門一腳，而是商業、治理與資本市場準備同步推進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 70"/>
          <p:cNvSpPr/>
          <p:nvPr/>
        </p:nvSpPr>
        <p:spPr>
          <a:xfrm>
            <a:off x="1211951" y="6013321"/>
            <a:ext cx="7211370" cy="79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en-US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的本質，不只是募資，而是讓企業取得更大、更持續、也更可驗證的資本能力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Shape 6"/>
          <p:cNvSpPr/>
          <p:nvPr/>
        </p:nvSpPr>
        <p:spPr>
          <a:xfrm rot="16200000">
            <a:off x="-815464" y="3896792"/>
            <a:ext cx="3258832" cy="0"/>
          </a:xfrm>
          <a:prstGeom prst="line">
            <a:avLst/>
          </a:prstGeom>
          <a:noFill/>
          <a:ln w="13970">
            <a:solidFill>
              <a:srgbClr val="555555">
                <a:alpha val="98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Shape 20">
            <a:extLst>
              <a:ext uri="{FF2B5EF4-FFF2-40B4-BE49-F238E27FC236}">
                <a16:creationId xmlns:a16="http://schemas.microsoft.com/office/drawing/2014/main" id="{871E7935-6B60-4D6A-9CEC-88710D502C7B}"/>
              </a:ext>
            </a:extLst>
          </p:cNvPr>
          <p:cNvSpPr/>
          <p:nvPr/>
        </p:nvSpPr>
        <p:spPr>
          <a:xfrm>
            <a:off x="2326609" y="4656499"/>
            <a:ext cx="148187" cy="140653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Shape 20">
            <a:extLst>
              <a:ext uri="{FF2B5EF4-FFF2-40B4-BE49-F238E27FC236}">
                <a16:creationId xmlns:a16="http://schemas.microsoft.com/office/drawing/2014/main" id="{D07E1533-461C-478B-8668-5CF9E55163CF}"/>
              </a:ext>
            </a:extLst>
          </p:cNvPr>
          <p:cNvSpPr/>
          <p:nvPr/>
        </p:nvSpPr>
        <p:spPr>
          <a:xfrm>
            <a:off x="1226734" y="4872523"/>
            <a:ext cx="148187" cy="140653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552BD331-FEEE-44EE-B46B-4F2DDEB3C98F}"/>
              </a:ext>
            </a:extLst>
          </p:cNvPr>
          <p:cNvSpPr/>
          <p:nvPr/>
        </p:nvSpPr>
        <p:spPr>
          <a:xfrm>
            <a:off x="809051" y="3124865"/>
            <a:ext cx="1126912" cy="664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altLang="zh-TW" sz="12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Founder/Angel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200" b="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PMF、初期商業模式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4CCF14AB-6EEB-4B29-BA53-0464C1CF4111}"/>
              </a:ext>
            </a:extLst>
          </p:cNvPr>
          <p:cNvSpPr/>
          <p:nvPr/>
        </p:nvSpPr>
        <p:spPr>
          <a:xfrm>
            <a:off x="2960669" y="2674074"/>
            <a:ext cx="1261502" cy="610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altLang="zh-TW" sz="12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Pre-IPO/</a:t>
            </a:r>
            <a:r>
              <a:rPr lang="en-US" altLang="zh-TW" sz="120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機構資本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200" b="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治理、內控、財務品質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 27">
            <a:extLst>
              <a:ext uri="{FF2B5EF4-FFF2-40B4-BE49-F238E27FC236}">
                <a16:creationId xmlns:a16="http://schemas.microsoft.com/office/drawing/2014/main" id="{11B2FDEA-3D06-4438-8133-62CB4B835EBE}"/>
              </a:ext>
            </a:extLst>
          </p:cNvPr>
          <p:cNvSpPr/>
          <p:nvPr/>
        </p:nvSpPr>
        <p:spPr>
          <a:xfrm>
            <a:off x="4355978" y="2413749"/>
            <a:ext cx="1108436" cy="51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altLang="zh-TW" sz="12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Public Market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200" b="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併購、海外布局、持續融資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Shape 4">
            <a:extLst>
              <a:ext uri="{FF2B5EF4-FFF2-40B4-BE49-F238E27FC236}">
                <a16:creationId xmlns:a16="http://schemas.microsoft.com/office/drawing/2014/main" id="{40AE1FF2-9522-4847-8096-3413506A4A1A}"/>
              </a:ext>
            </a:extLst>
          </p:cNvPr>
          <p:cNvSpPr/>
          <p:nvPr/>
        </p:nvSpPr>
        <p:spPr>
          <a:xfrm>
            <a:off x="5665240" y="1700808"/>
            <a:ext cx="58888" cy="389526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Shape 55">
            <a:extLst>
              <a:ext uri="{FF2B5EF4-FFF2-40B4-BE49-F238E27FC236}">
                <a16:creationId xmlns:a16="http://schemas.microsoft.com/office/drawing/2014/main" id="{DF383502-4DDB-43F7-B0D6-6E4D5B835CFA}"/>
              </a:ext>
            </a:extLst>
          </p:cNvPr>
          <p:cNvSpPr/>
          <p:nvPr/>
        </p:nvSpPr>
        <p:spPr>
          <a:xfrm>
            <a:off x="5762237" y="3533415"/>
            <a:ext cx="253323" cy="255625"/>
          </a:xfrm>
          <a:prstGeom prst="ellipse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1"/>
          <p:cNvSpPr/>
          <p:nvPr/>
        </p:nvSpPr>
        <p:spPr>
          <a:xfrm>
            <a:off x="5748811" y="3568402"/>
            <a:ext cx="274812" cy="16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Shape 20">
            <a:extLst>
              <a:ext uri="{FF2B5EF4-FFF2-40B4-BE49-F238E27FC236}">
                <a16:creationId xmlns:a16="http://schemas.microsoft.com/office/drawing/2014/main" id="{F8135C23-15E5-4560-8608-26CBDE9E5334}"/>
              </a:ext>
            </a:extLst>
          </p:cNvPr>
          <p:cNvSpPr/>
          <p:nvPr/>
        </p:nvSpPr>
        <p:spPr>
          <a:xfrm>
            <a:off x="4765572" y="3435382"/>
            <a:ext cx="147088" cy="15266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1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-2487168" y="256180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EB2334FD-2623-43C6-9A39-F04DD770393B}"/>
              </a:ext>
            </a:extLst>
          </p:cNvPr>
          <p:cNvGrpSpPr/>
          <p:nvPr/>
        </p:nvGrpSpPr>
        <p:grpSpPr>
          <a:xfrm>
            <a:off x="478446" y="1411632"/>
            <a:ext cx="8338062" cy="3458622"/>
            <a:chOff x="478446" y="1491558"/>
            <a:chExt cx="8338062" cy="3378696"/>
          </a:xfrm>
        </p:grpSpPr>
        <p:sp>
          <p:nvSpPr>
            <p:cNvPr id="5" name="Shape 3"/>
            <p:cNvSpPr/>
            <p:nvPr/>
          </p:nvSpPr>
          <p:spPr>
            <a:xfrm>
              <a:off x="3717265" y="2708744"/>
              <a:ext cx="1452249" cy="1411284"/>
            </a:xfrm>
            <a:prstGeom prst="gear9">
              <a:avLst/>
            </a:prstGeom>
            <a:solidFill>
              <a:srgbClr val="920000"/>
            </a:solidFill>
            <a:ln w="15240">
              <a:solidFill>
                <a:srgbClr val="920000"/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816471" y="3019226"/>
              <a:ext cx="1253164" cy="752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Listed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Company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公開市場平台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5145941" y="1633896"/>
              <a:ext cx="3504073" cy="545697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298546" y="1700808"/>
              <a:ext cx="3240052" cy="376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現增、CB／ECB、公司債</a:t>
              </a:r>
            </a:p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</a:t>
              </a:r>
              <a:r>
                <a:rPr lang="en-US" sz="1200" b="0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支應擴產、研發與海外布局</a:t>
              </a:r>
              <a:r>
                <a:rPr lang="zh-TW" alt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等營運擴展策略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862828" y="1491558"/>
              <a:ext cx="1126974" cy="1129027"/>
            </a:xfrm>
            <a:prstGeom prst="gear9">
              <a:avLst/>
            </a:prstGeom>
            <a:solidFill>
              <a:srgbClr val="7F7F7F"/>
            </a:solidFill>
            <a:ln w="889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097615" y="1731489"/>
              <a:ext cx="657402" cy="658599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206796" y="1974876"/>
              <a:ext cx="356875" cy="357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909785" y="1922863"/>
              <a:ext cx="1033060" cy="244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持續</a:t>
              </a:r>
              <a:endPara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融資</a:t>
              </a:r>
              <a:endParaRPr 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78446" y="2407670"/>
              <a:ext cx="1959954" cy="545697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635175" y="2481762"/>
              <a:ext cx="1878291" cy="376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現金、換股與股權工具</a:t>
              </a:r>
            </a:p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提高整合與擴張彈性</a:t>
              </a:r>
            </a:p>
          </p:txBody>
        </p:sp>
        <p:sp>
          <p:nvSpPr>
            <p:cNvPr id="16" name="Shape 13"/>
            <p:cNvSpPr/>
            <p:nvPr/>
          </p:nvSpPr>
          <p:spPr>
            <a:xfrm>
              <a:off x="2629031" y="2219499"/>
              <a:ext cx="1173932" cy="1176070"/>
            </a:xfrm>
            <a:prstGeom prst="gear9">
              <a:avLst/>
            </a:prstGeom>
            <a:solidFill>
              <a:srgbClr val="BFBFBF"/>
            </a:solidFill>
            <a:ln w="8890">
              <a:noFill/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2863818" y="2454713"/>
              <a:ext cx="704359" cy="70564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3014081" y="2614659"/>
              <a:ext cx="403833" cy="404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2678783" y="2638271"/>
              <a:ext cx="1080017" cy="326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併購</a:t>
              </a:r>
              <a:endPara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籌碼</a:t>
              </a:r>
              <a:endParaRPr 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Shape 17"/>
            <p:cNvSpPr/>
            <p:nvPr/>
          </p:nvSpPr>
          <p:spPr>
            <a:xfrm>
              <a:off x="6425519" y="2420888"/>
              <a:ext cx="2223405" cy="620965"/>
            </a:xfrm>
            <a:prstGeom prst="roundRect">
              <a:avLst>
                <a:gd name="adj" fmla="val 9091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6516216" y="2494979"/>
              <a:ext cx="2217551" cy="4935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員工認股、限制員工權利新股</a:t>
              </a:r>
            </a:p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讓核心人才分享成長成果</a:t>
              </a:r>
            </a:p>
          </p:txBody>
        </p:sp>
        <p:sp>
          <p:nvSpPr>
            <p:cNvPr id="22" name="Shape 19"/>
            <p:cNvSpPr/>
            <p:nvPr/>
          </p:nvSpPr>
          <p:spPr>
            <a:xfrm>
              <a:off x="5098982" y="2232472"/>
              <a:ext cx="1173932" cy="1176070"/>
            </a:xfrm>
            <a:prstGeom prst="gear9">
              <a:avLst>
                <a:gd name="adj1" fmla="val 10000"/>
                <a:gd name="adj2" fmla="val 0"/>
              </a:avLst>
            </a:prstGeom>
            <a:solidFill>
              <a:srgbClr val="D7CCB2"/>
            </a:solidFill>
            <a:ln w="889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Shape 20"/>
            <p:cNvSpPr/>
            <p:nvPr/>
          </p:nvSpPr>
          <p:spPr>
            <a:xfrm>
              <a:off x="5318602" y="2467686"/>
              <a:ext cx="735357" cy="70564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21"/>
            <p:cNvSpPr/>
            <p:nvPr/>
          </p:nvSpPr>
          <p:spPr>
            <a:xfrm>
              <a:off x="5587339" y="2718153"/>
              <a:ext cx="403833" cy="404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148167" y="2691144"/>
              <a:ext cx="1080017" cy="244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人才</a:t>
              </a:r>
              <a:endPara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激勵</a:t>
              </a:r>
              <a:endParaRPr 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478446" y="3903631"/>
              <a:ext cx="2114203" cy="545697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Text 24"/>
            <p:cNvSpPr/>
            <p:nvPr/>
          </p:nvSpPr>
          <p:spPr>
            <a:xfrm>
              <a:off x="663292" y="3977723"/>
              <a:ext cx="2000380" cy="376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價格發現與交易流動性</a:t>
              </a:r>
            </a:p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使股權更具可交易性</a:t>
              </a:r>
            </a:p>
          </p:txBody>
        </p:sp>
        <p:sp>
          <p:nvSpPr>
            <p:cNvPr id="28" name="Shape 25"/>
            <p:cNvSpPr/>
            <p:nvPr/>
          </p:nvSpPr>
          <p:spPr>
            <a:xfrm>
              <a:off x="2854427" y="3707729"/>
              <a:ext cx="1126974" cy="1129027"/>
            </a:xfrm>
            <a:prstGeom prst="gear9">
              <a:avLst/>
            </a:prstGeom>
            <a:solidFill>
              <a:srgbClr val="7F7F7F"/>
            </a:solidFill>
            <a:ln w="8890">
              <a:noFill/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30" name="Shape 26"/>
            <p:cNvSpPr/>
            <p:nvPr/>
          </p:nvSpPr>
          <p:spPr>
            <a:xfrm>
              <a:off x="3089844" y="3944545"/>
              <a:ext cx="657402" cy="658599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31" name="Text 27"/>
            <p:cNvSpPr/>
            <p:nvPr/>
          </p:nvSpPr>
          <p:spPr>
            <a:xfrm>
              <a:off x="3286433" y="4016534"/>
              <a:ext cx="356875" cy="357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2900087" y="4132834"/>
              <a:ext cx="1033060" cy="244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股東</a:t>
              </a:r>
              <a:endPara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流動性</a:t>
              </a:r>
              <a:endParaRPr 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6099153" y="3931857"/>
              <a:ext cx="2549771" cy="566929"/>
            </a:xfrm>
            <a:prstGeom prst="roundRect">
              <a:avLst>
                <a:gd name="adj" fmla="val 9091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sz="1200"/>
            </a:p>
          </p:txBody>
        </p:sp>
        <p:sp>
          <p:nvSpPr>
            <p:cNvPr id="34" name="Text 30"/>
            <p:cNvSpPr/>
            <p:nvPr/>
          </p:nvSpPr>
          <p:spPr>
            <a:xfrm>
              <a:off x="6228184" y="4005948"/>
              <a:ext cx="2588324" cy="451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</a:t>
              </a:r>
              <a:r>
                <a:rPr lang="zh-TW" alt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內控制度</a:t>
              </a: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sz="1200" b="0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公司治理</a:t>
              </a: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zh-TW" alt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財務透明度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>
                <a:buNone/>
              </a:pPr>
              <a:r>
                <a:rPr 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提升客戶、銀行與投資人信任</a:t>
              </a:r>
            </a:p>
          </p:txBody>
        </p:sp>
        <p:sp>
          <p:nvSpPr>
            <p:cNvPr id="35" name="Shape 31"/>
            <p:cNvSpPr/>
            <p:nvPr/>
          </p:nvSpPr>
          <p:spPr>
            <a:xfrm>
              <a:off x="4925221" y="3694184"/>
              <a:ext cx="1173932" cy="1176070"/>
            </a:xfrm>
            <a:prstGeom prst="gear9">
              <a:avLst/>
            </a:prstGeom>
            <a:solidFill>
              <a:srgbClr val="BFBFBF"/>
            </a:solidFill>
            <a:ln w="8890">
              <a:noFill/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36" name="Shape 32"/>
            <p:cNvSpPr/>
            <p:nvPr/>
          </p:nvSpPr>
          <p:spPr>
            <a:xfrm>
              <a:off x="5162249" y="3934150"/>
              <a:ext cx="704359" cy="70564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37" name="Text 33"/>
            <p:cNvSpPr/>
            <p:nvPr/>
          </p:nvSpPr>
          <p:spPr>
            <a:xfrm>
              <a:off x="5145941" y="4044760"/>
              <a:ext cx="403833" cy="404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Text 34"/>
            <p:cNvSpPr/>
            <p:nvPr/>
          </p:nvSpPr>
          <p:spPr>
            <a:xfrm>
              <a:off x="4972179" y="4144267"/>
              <a:ext cx="1080017" cy="244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信用</a:t>
              </a:r>
              <a:endParaRPr 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與治理</a:t>
              </a:r>
              <a:endParaRPr 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0" name="Shape 36"/>
          <p:cNvSpPr/>
          <p:nvPr/>
        </p:nvSpPr>
        <p:spPr>
          <a:xfrm>
            <a:off x="502920" y="4869160"/>
            <a:ext cx="54864" cy="256032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7"/>
          <p:cNvSpPr/>
          <p:nvPr/>
        </p:nvSpPr>
        <p:spPr>
          <a:xfrm>
            <a:off x="621792" y="4894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上市後真正改變的是什麼？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628708" y="5229200"/>
            <a:ext cx="1885891" cy="64266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749808" y="5283687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0"/>
          <p:cNvSpPr/>
          <p:nvPr/>
        </p:nvSpPr>
        <p:spPr>
          <a:xfrm>
            <a:off x="749808" y="5373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1097280" y="53012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募資能力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1097280" y="55686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從一次募資，轉為持續取得資本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2651760" y="5229200"/>
            <a:ext cx="1874520" cy="64266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4"/>
          <p:cNvSpPr/>
          <p:nvPr/>
        </p:nvSpPr>
        <p:spPr>
          <a:xfrm>
            <a:off x="2761488" y="5283687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5"/>
          <p:cNvSpPr/>
          <p:nvPr/>
        </p:nvSpPr>
        <p:spPr>
          <a:xfrm>
            <a:off x="2761488" y="5373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↗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3108960" y="53012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資本工具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3108960" y="55686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股票可成為融資、併購與激勵工具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hape 48"/>
          <p:cNvSpPr/>
          <p:nvPr/>
        </p:nvSpPr>
        <p:spPr>
          <a:xfrm>
            <a:off x="4663440" y="5229200"/>
            <a:ext cx="1874520" cy="64266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49"/>
          <p:cNvSpPr/>
          <p:nvPr/>
        </p:nvSpPr>
        <p:spPr>
          <a:xfrm>
            <a:off x="4773168" y="5283687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0"/>
          <p:cNvSpPr/>
          <p:nvPr/>
        </p:nvSpPr>
        <p:spPr>
          <a:xfrm>
            <a:off x="4773168" y="5373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◆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5120640" y="53012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市場定價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5120640" y="55686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由公開市場持續進行價格發現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6675119" y="5229200"/>
            <a:ext cx="1987629" cy="64266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4"/>
          <p:cNvSpPr/>
          <p:nvPr/>
        </p:nvSpPr>
        <p:spPr>
          <a:xfrm>
            <a:off x="6784848" y="5283687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5"/>
          <p:cNvSpPr/>
          <p:nvPr/>
        </p:nvSpPr>
        <p:spPr>
          <a:xfrm>
            <a:off x="6784848" y="5373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✓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7132320" y="53012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企業體質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7132320" y="55686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治理、透明度與可驗證性同步提升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帶給企業的，不只是一次募資</a:t>
            </a:r>
            <a:endParaRPr lang="zh-TW" altLang="en-US" sz="24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的意義，不只是募得一筆資金，而是建立可反覆使用的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Public Market Capital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平行四邊形 63">
            <a:extLst>
              <a:ext uri="{FF2B5EF4-FFF2-40B4-BE49-F238E27FC236}">
                <a16:creationId xmlns:a16="http://schemas.microsoft.com/office/drawing/2014/main" id="{396BFD04-94F1-4AC4-842A-24BD6A25EE84}"/>
              </a:ext>
            </a:extLst>
          </p:cNvPr>
          <p:cNvSpPr/>
          <p:nvPr/>
        </p:nvSpPr>
        <p:spPr bwMode="auto">
          <a:xfrm>
            <a:off x="557784" y="5956285"/>
            <a:ext cx="8091141" cy="379198"/>
          </a:xfrm>
          <a:prstGeom prst="parallelogram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66" name="Text 70">
            <a:extLst>
              <a:ext uri="{FF2B5EF4-FFF2-40B4-BE49-F238E27FC236}">
                <a16:creationId xmlns:a16="http://schemas.microsoft.com/office/drawing/2014/main" id="{D171FCC2-5418-4251-B943-051EA980A1A6}"/>
              </a:ext>
            </a:extLst>
          </p:cNvPr>
          <p:cNvSpPr/>
          <p:nvPr/>
        </p:nvSpPr>
        <p:spPr>
          <a:xfrm>
            <a:off x="1211951" y="6093296"/>
            <a:ext cx="7211370" cy="79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上市不是終點，而是企業取得「資本市場貨幣」的起點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286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17BCB8C4-9E7B-44ED-835E-3ECD48F8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年台灣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件數評析</a:t>
            </a:r>
          </a:p>
        </p:txBody>
      </p:sp>
      <p:graphicFrame>
        <p:nvGraphicFramePr>
          <p:cNvPr id="33" name="圖表 32">
            <a:extLst>
              <a:ext uri="{FF2B5EF4-FFF2-40B4-BE49-F238E27FC236}">
                <a16:creationId xmlns:a16="http://schemas.microsoft.com/office/drawing/2014/main" id="{78CB085C-9C3B-4AB6-A518-6FAF7F419D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5976596"/>
              </p:ext>
            </p:extLst>
          </p:nvPr>
        </p:nvGraphicFramePr>
        <p:xfrm>
          <a:off x="467543" y="2226091"/>
          <a:ext cx="4104457" cy="1677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754CBB11-9CCF-4E06-8051-9654D63EE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59741"/>
              </p:ext>
            </p:extLst>
          </p:nvPr>
        </p:nvGraphicFramePr>
        <p:xfrm>
          <a:off x="4696121" y="1817152"/>
          <a:ext cx="4242919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3909">
                  <a:extLst>
                    <a:ext uri="{9D8B030D-6E8A-4147-A177-3AD203B41FA5}">
                      <a16:colId xmlns:a16="http://schemas.microsoft.com/office/drawing/2014/main" val="3937190306"/>
                    </a:ext>
                  </a:extLst>
                </a:gridCol>
                <a:gridCol w="353104">
                  <a:extLst>
                    <a:ext uri="{9D8B030D-6E8A-4147-A177-3AD203B41FA5}">
                      <a16:colId xmlns:a16="http://schemas.microsoft.com/office/drawing/2014/main" val="2411972017"/>
                    </a:ext>
                  </a:extLst>
                </a:gridCol>
                <a:gridCol w="1200674">
                  <a:extLst>
                    <a:ext uri="{9D8B030D-6E8A-4147-A177-3AD203B41FA5}">
                      <a16:colId xmlns:a16="http://schemas.microsoft.com/office/drawing/2014/main" val="606095946"/>
                    </a:ext>
                  </a:extLst>
                </a:gridCol>
                <a:gridCol w="932616">
                  <a:extLst>
                    <a:ext uri="{9D8B030D-6E8A-4147-A177-3AD203B41FA5}">
                      <a16:colId xmlns:a16="http://schemas.microsoft.com/office/drawing/2014/main" val="2112524092"/>
                    </a:ext>
                  </a:extLst>
                </a:gridCol>
                <a:gridCol w="932616">
                  <a:extLst>
                    <a:ext uri="{9D8B030D-6E8A-4147-A177-3AD203B41FA5}">
                      <a16:colId xmlns:a16="http://schemas.microsoft.com/office/drawing/2014/main" val="3451050097"/>
                    </a:ext>
                  </a:extLst>
                </a:gridCol>
              </a:tblGrid>
              <a:tr h="17946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產業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件數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掛牌時資本額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平均募資金額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總募資金額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2555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生技醫療業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288.8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391139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半導體業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25.7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591.3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870186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數位雲端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93.8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426402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綠能環保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157.1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84557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其他電子業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4.2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69350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電子零組件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4.4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997817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航運業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98.6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32.0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286811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372.2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8062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總和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13.8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1,764.0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160608"/>
                  </a:ext>
                </a:extLst>
              </a:tr>
            </a:tbl>
          </a:graphicData>
        </a:graphic>
      </p:graphicFrame>
      <p:sp>
        <p:nvSpPr>
          <p:cNvPr id="39" name="文字方塊 38">
            <a:extLst>
              <a:ext uri="{FF2B5EF4-FFF2-40B4-BE49-F238E27FC236}">
                <a16:creationId xmlns:a16="http://schemas.microsoft.com/office/drawing/2014/main" id="{2FE60657-57A5-44A6-B336-24CF304B57AE}"/>
              </a:ext>
            </a:extLst>
          </p:cNvPr>
          <p:cNvSpPr txBox="1"/>
          <p:nvPr/>
        </p:nvSpPr>
        <p:spPr>
          <a:xfrm>
            <a:off x="457200" y="1151763"/>
            <a:ext cx="394594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年有許多公司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，其中多數公司資本額介於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億以下，掛牌上櫃公司家數相對較多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E1203D8-231A-44F1-94A2-DAB09F50FAE8}"/>
              </a:ext>
            </a:extLst>
          </p:cNvPr>
          <p:cNvSpPr txBox="1"/>
          <p:nvPr/>
        </p:nvSpPr>
        <p:spPr>
          <a:xfrm>
            <a:off x="4572000" y="1127388"/>
            <a:ext cx="41148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已掛牌件數來看，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生技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數位雲端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類股最熱絡；其中半導體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平均募資金額最高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BDD7A79-F0F7-4EE6-B819-5A6933BE5674}"/>
              </a:ext>
            </a:extLst>
          </p:cNvPr>
          <p:cNvSpPr txBox="1"/>
          <p:nvPr/>
        </p:nvSpPr>
        <p:spPr>
          <a:xfrm>
            <a:off x="4582343" y="3834951"/>
            <a:ext cx="41938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台新近年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輔導家數為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市場前二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，前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大券商合計市占超過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7E5D079-572D-4C8C-BA7B-6D80D8383EB8}"/>
              </a:ext>
            </a:extLst>
          </p:cNvPr>
          <p:cNvSpPr txBox="1"/>
          <p:nvPr/>
        </p:nvSpPr>
        <p:spPr>
          <a:xfrm>
            <a:off x="2267744" y="6532688"/>
            <a:ext cx="5832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統計區間：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2024~2026/6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上市、上櫃家數統計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C4C7256-2DB8-4C7E-B25F-9C1B5905CBF3}"/>
              </a:ext>
            </a:extLst>
          </p:cNvPr>
          <p:cNvSpPr txBox="1"/>
          <p:nvPr/>
        </p:nvSpPr>
        <p:spPr>
          <a:xfrm>
            <a:off x="510411" y="1962446"/>
            <a:ext cx="406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上市櫃家數統計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F7354B8-0B93-4129-BBB5-E0C120677FDF}"/>
              </a:ext>
            </a:extLst>
          </p:cNvPr>
          <p:cNvSpPr txBox="1"/>
          <p:nvPr/>
        </p:nvSpPr>
        <p:spPr>
          <a:xfrm>
            <a:off x="624570" y="4057071"/>
            <a:ext cx="406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上市櫃家數統計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(by 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資本額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5" name="圖表 44">
            <a:extLst>
              <a:ext uri="{FF2B5EF4-FFF2-40B4-BE49-F238E27FC236}">
                <a16:creationId xmlns:a16="http://schemas.microsoft.com/office/drawing/2014/main" id="{54EA208D-8C3D-41ED-860A-39E2B02D06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94890"/>
              </p:ext>
            </p:extLst>
          </p:nvPr>
        </p:nvGraphicFramePr>
        <p:xfrm>
          <a:off x="467543" y="4336194"/>
          <a:ext cx="4114800" cy="2007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文字方塊 48">
            <a:extLst>
              <a:ext uri="{FF2B5EF4-FFF2-40B4-BE49-F238E27FC236}">
                <a16:creationId xmlns:a16="http://schemas.microsoft.com/office/drawing/2014/main" id="{847C5C75-9EC6-48C5-9264-FEA18299D18A}"/>
              </a:ext>
            </a:extLst>
          </p:cNvPr>
          <p:cNvSpPr txBox="1"/>
          <p:nvPr/>
        </p:nvSpPr>
        <p:spPr>
          <a:xfrm>
            <a:off x="7927602" y="1594448"/>
            <a:ext cx="1011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單位：億元</a:t>
            </a:r>
          </a:p>
        </p:txBody>
      </p:sp>
      <p:graphicFrame>
        <p:nvGraphicFramePr>
          <p:cNvPr id="52" name="圖表 51">
            <a:extLst>
              <a:ext uri="{FF2B5EF4-FFF2-40B4-BE49-F238E27FC236}">
                <a16:creationId xmlns:a16="http://schemas.microsoft.com/office/drawing/2014/main" id="{A1EA9D49-7E80-4509-8520-17DE88F6CB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400251"/>
              </p:ext>
            </p:extLst>
          </p:nvPr>
        </p:nvGraphicFramePr>
        <p:xfrm>
          <a:off x="4403142" y="4282056"/>
          <a:ext cx="4356697" cy="2279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6525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8928992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台灣資本市場掛牌市場多元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3203848" y="1844823"/>
            <a:ext cx="1439804" cy="1063192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上市市場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marR="0" lvl="0" indent="-180975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為鼓勵新經濟公司在台灣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IPO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、完善新創企業之籌資管道，近年交易所及櫃買中心陸續設立不同板塊，建立台灣之多層次資本市場，使不同規模、特性的產業，都能找到適合的板塊掛牌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A36189-B5FA-4A6E-A186-3FF844620264}"/>
              </a:ext>
            </a:extLst>
          </p:cNvPr>
          <p:cNvSpPr/>
          <p:nvPr/>
        </p:nvSpPr>
        <p:spPr bwMode="auto">
          <a:xfrm>
            <a:off x="524777" y="1844824"/>
            <a:ext cx="1064984" cy="106319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主板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4584E3B-BE76-42C2-B966-E01D22676EF2}"/>
              </a:ext>
            </a:extLst>
          </p:cNvPr>
          <p:cNvSpPr/>
          <p:nvPr/>
        </p:nvSpPr>
        <p:spPr bwMode="auto">
          <a:xfrm>
            <a:off x="1746728" y="3439541"/>
            <a:ext cx="2897280" cy="576064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興櫃市場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4777" y="3439541"/>
            <a:ext cx="1064984" cy="5760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預備市場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588AB92-BFB7-4EFB-AB85-07F6D50B468D}"/>
              </a:ext>
            </a:extLst>
          </p:cNvPr>
          <p:cNvSpPr/>
          <p:nvPr/>
        </p:nvSpPr>
        <p:spPr bwMode="auto">
          <a:xfrm>
            <a:off x="1740873" y="5355733"/>
            <a:ext cx="4991368" cy="46001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未公發公司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2429FB2-D854-4D3E-9734-8577FA04B5FF}"/>
              </a:ext>
            </a:extLst>
          </p:cNvPr>
          <p:cNvSpPr/>
          <p:nvPr/>
        </p:nvSpPr>
        <p:spPr bwMode="auto">
          <a:xfrm>
            <a:off x="1751052" y="4539208"/>
            <a:ext cx="1380789" cy="468000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一般公發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2CA35D4-80D1-46AC-BD4F-F70A4E121C80}"/>
              </a:ext>
            </a:extLst>
          </p:cNvPr>
          <p:cNvSpPr/>
          <p:nvPr/>
        </p:nvSpPr>
        <p:spPr bwMode="auto">
          <a:xfrm>
            <a:off x="5645265" y="1843581"/>
            <a:ext cx="2901600" cy="1063192"/>
          </a:xfrm>
          <a:prstGeom prst="rect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創新板 </a:t>
            </a:r>
            <a:r>
              <a:rPr lang="zh-TW" altLang="en-US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kumimoji="1" lang="en-US" altLang="zh-TW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取得創新板上市核准函後，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併送現金增資及補辦簡易公開發行</a:t>
            </a: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1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7" name="箭號: 向左 56">
            <a:extLst>
              <a:ext uri="{FF2B5EF4-FFF2-40B4-BE49-F238E27FC236}">
                <a16:creationId xmlns:a16="http://schemas.microsoft.com/office/drawing/2014/main" id="{2A9A5DAF-8198-44E7-B108-47EA6F27D69C}"/>
              </a:ext>
            </a:extLst>
          </p:cNvPr>
          <p:cNvSpPr/>
          <p:nvPr/>
        </p:nvSpPr>
        <p:spPr bwMode="auto">
          <a:xfrm>
            <a:off x="4754156" y="2154172"/>
            <a:ext cx="720081" cy="386117"/>
          </a:xfrm>
          <a:prstGeom prst="leftArrow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60" name="箭號: 向左 59">
            <a:extLst>
              <a:ext uri="{FF2B5EF4-FFF2-40B4-BE49-F238E27FC236}">
                <a16:creationId xmlns:a16="http://schemas.microsoft.com/office/drawing/2014/main" id="{1D054568-FEAA-4B52-A10F-84A532CE5F49}"/>
              </a:ext>
            </a:extLst>
          </p:cNvPr>
          <p:cNvSpPr/>
          <p:nvPr/>
        </p:nvSpPr>
        <p:spPr bwMode="auto">
          <a:xfrm rot="5400000">
            <a:off x="5775974" y="3756528"/>
            <a:ext cx="1984540" cy="504056"/>
          </a:xfrm>
          <a:prstGeom prst="leftArrow">
            <a:avLst>
              <a:gd name="adj1" fmla="val 50000"/>
              <a:gd name="adj2" fmla="val 82335"/>
            </a:avLst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3766F062-2D94-4334-BCAA-A672EAA91926}"/>
              </a:ext>
            </a:extLst>
          </p:cNvPr>
          <p:cNvCxnSpPr>
            <a:cxnSpLocks/>
          </p:cNvCxnSpPr>
          <p:nvPr/>
        </p:nvCxnSpPr>
        <p:spPr bwMode="auto">
          <a:xfrm>
            <a:off x="457539" y="5229200"/>
            <a:ext cx="82210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4777" y="4528839"/>
            <a:ext cx="1064984" cy="46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公發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6357" y="5357669"/>
            <a:ext cx="1064984" cy="4561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未公發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894BEF-134C-4AE9-9090-4269B60A991E}"/>
              </a:ext>
            </a:extLst>
          </p:cNvPr>
          <p:cNvSpPr/>
          <p:nvPr/>
        </p:nvSpPr>
        <p:spPr bwMode="auto">
          <a:xfrm>
            <a:off x="7197808" y="3842084"/>
            <a:ext cx="1201046" cy="468000"/>
          </a:xfrm>
          <a:prstGeom prst="rect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申報輔導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滿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6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個月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7" name="箭號: 向左 51">
            <a:extLst>
              <a:ext uri="{FF2B5EF4-FFF2-40B4-BE49-F238E27FC236}">
                <a16:creationId xmlns:a16="http://schemas.microsoft.com/office/drawing/2014/main" id="{7F1871C5-C4E2-4D04-8E6F-0C096274D91A}"/>
              </a:ext>
            </a:extLst>
          </p:cNvPr>
          <p:cNvSpPr/>
          <p:nvPr/>
        </p:nvSpPr>
        <p:spPr bwMode="auto">
          <a:xfrm rot="5400000">
            <a:off x="2984699" y="2983915"/>
            <a:ext cx="360041" cy="386117"/>
          </a:xfrm>
          <a:prstGeom prst="leftArrow">
            <a:avLst>
              <a:gd name="adj1" fmla="val 50001"/>
              <a:gd name="adj2" fmla="val 45297"/>
            </a:avLst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2" name="Text Box 43">
            <a:extLst>
              <a:ext uri="{FF2B5EF4-FFF2-40B4-BE49-F238E27FC236}">
                <a16:creationId xmlns:a16="http://schemas.microsoft.com/office/drawing/2014/main" id="{00749D25-56F6-0432-C9FF-665508676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06" y="5927580"/>
            <a:ext cx="8085730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050" b="0">
                <a:solidFill>
                  <a:schemeClr val="bg1">
                    <a:lumMod val="50000"/>
                  </a:schemeClr>
                </a:solidFill>
                <a:latin typeface="+mn-lt"/>
                <a:ea typeface="微軟正黑體" pitchFamily="34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註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1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：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2024/1/1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起，開放未公發公司可選擇採用併送一般公發或簡易公發方式，申請登錄興櫃，加速企業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IPO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時程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註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2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：創新板亦屬上市板塊，為提升交易活絡度，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2025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年放寬交易制度，並調整審核項目及嚴謹度，相關內容請參照附件一</a:t>
            </a:r>
            <a:endParaRPr lang="en-US" altLang="zh-TW" sz="1000" b="1" dirty="0">
              <a:solidFill>
                <a:srgbClr val="FFFFFF">
                  <a:lumMod val="50000"/>
                </a:srgbClr>
              </a:solidFill>
              <a:latin typeface="Arial"/>
            </a:endParaRPr>
          </a:p>
          <a:p>
            <a:pPr lvl="0"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註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3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：創櫃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</a:rPr>
              <a:t>板積極推動中小微企業進入創櫃板，希望新增登錄與申請輔導目標家數二年內成長一倍，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相關內容請參照附件一</a:t>
            </a:r>
          </a:p>
        </p:txBody>
      </p:sp>
      <p:sp>
        <p:nvSpPr>
          <p:cNvPr id="23" name="矩形 22"/>
          <p:cNvSpPr/>
          <p:nvPr/>
        </p:nvSpPr>
        <p:spPr bwMode="auto">
          <a:xfrm>
            <a:off x="1751053" y="1844823"/>
            <a:ext cx="1380788" cy="1069924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上櫃市場</a:t>
            </a:r>
          </a:p>
        </p:txBody>
      </p:sp>
      <p:sp>
        <p:nvSpPr>
          <p:cNvPr id="3" name="十字形 2">
            <a:extLst>
              <a:ext uri="{FF2B5EF4-FFF2-40B4-BE49-F238E27FC236}">
                <a16:creationId xmlns:a16="http://schemas.microsoft.com/office/drawing/2014/main" id="{80FD3015-94BD-F749-8355-A7953DC0450B}"/>
              </a:ext>
            </a:extLst>
          </p:cNvPr>
          <p:cNvSpPr/>
          <p:nvPr/>
        </p:nvSpPr>
        <p:spPr bwMode="auto">
          <a:xfrm>
            <a:off x="2297430" y="4114149"/>
            <a:ext cx="288032" cy="302033"/>
          </a:xfrm>
          <a:prstGeom prst="plus">
            <a:avLst>
              <a:gd name="adj" fmla="val 33818"/>
            </a:avLst>
          </a:prstGeom>
          <a:solidFill>
            <a:srgbClr val="920000"/>
          </a:solidFill>
          <a:ln w="9525" cap="flat" cmpd="sng" algn="ctr">
            <a:solidFill>
              <a:srgbClr val="9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5" name="十字形 4">
            <a:extLst>
              <a:ext uri="{FF2B5EF4-FFF2-40B4-BE49-F238E27FC236}">
                <a16:creationId xmlns:a16="http://schemas.microsoft.com/office/drawing/2014/main" id="{F01C15BE-39F3-8BC9-58B7-98C862097E1C}"/>
              </a:ext>
            </a:extLst>
          </p:cNvPr>
          <p:cNvSpPr/>
          <p:nvPr/>
        </p:nvSpPr>
        <p:spPr bwMode="auto">
          <a:xfrm>
            <a:off x="3779734" y="4117642"/>
            <a:ext cx="288032" cy="302033"/>
          </a:xfrm>
          <a:prstGeom prst="plus">
            <a:avLst>
              <a:gd name="adj" fmla="val 33818"/>
            </a:avLst>
          </a:prstGeom>
          <a:solidFill>
            <a:srgbClr val="920000"/>
          </a:solidFill>
          <a:ln w="9525" cap="flat" cmpd="sng" algn="ctr">
            <a:solidFill>
              <a:srgbClr val="9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D0EB5D-7F98-7552-40D3-8F0D6D002BB3}"/>
              </a:ext>
            </a:extLst>
          </p:cNvPr>
          <p:cNvSpPr/>
          <p:nvPr/>
        </p:nvSpPr>
        <p:spPr bwMode="auto">
          <a:xfrm>
            <a:off x="3266456" y="4539206"/>
            <a:ext cx="1380789" cy="468000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簡易公發</a:t>
            </a:r>
          </a:p>
        </p:txBody>
      </p:sp>
      <p:sp>
        <p:nvSpPr>
          <p:cNvPr id="28" name="箭號: 向左 51">
            <a:extLst>
              <a:ext uri="{FF2B5EF4-FFF2-40B4-BE49-F238E27FC236}">
                <a16:creationId xmlns:a16="http://schemas.microsoft.com/office/drawing/2014/main" id="{7F1871C5-C4E2-4D04-8E6F-0C096274D91A}"/>
              </a:ext>
            </a:extLst>
          </p:cNvPr>
          <p:cNvSpPr/>
          <p:nvPr/>
        </p:nvSpPr>
        <p:spPr bwMode="auto">
          <a:xfrm rot="9104617">
            <a:off x="4813395" y="2983914"/>
            <a:ext cx="680250" cy="386117"/>
          </a:xfrm>
          <a:prstGeom prst="leftArrow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88AB92-BFB7-4EFB-AB85-07F6D50B468D}"/>
              </a:ext>
            </a:extLst>
          </p:cNvPr>
          <p:cNvSpPr/>
          <p:nvPr/>
        </p:nvSpPr>
        <p:spPr bwMode="auto">
          <a:xfrm>
            <a:off x="6858035" y="5358056"/>
            <a:ext cx="1880593" cy="46001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創櫃板 </a:t>
            </a:r>
            <a:r>
              <a:rPr lang="zh-TW" altLang="en-US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kumimoji="1" lang="zh-TW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19342" y="5001302"/>
            <a:ext cx="3690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TW" altLang="en-US" sz="9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9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172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63A7CA59-7FA1-4BA5-8287-D6FFB1C80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3" y="1837167"/>
            <a:ext cx="2082468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上市前置準備階段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883E2696-E5EB-4E37-90AD-28870F924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205" y="1837167"/>
            <a:ext cx="2604836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上市申請審查階段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ADECBAF3-1A52-4183-A2F0-843CF218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484" y="1837167"/>
            <a:ext cx="1715550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承銷</a:t>
            </a:r>
            <a:r>
              <a:rPr lang="zh-CN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</a:t>
            </a: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掛牌階段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97227010-3578-4526-BE23-96FFA146E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052" y="1837167"/>
            <a:ext cx="1368000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保薦階段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0F789CB3-0691-42EA-9149-CE86803E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232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申請上市前現增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補辦公開發行及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D532A95E-4FA9-4DFA-8B7D-ACB844F8B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4" y="4525809"/>
            <a:ext cx="1813581" cy="480124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申請資料及書件準備，預先與主管機關溝通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5B7C8077-3820-4374-9836-F7920227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628" y="3021689"/>
            <a:ext cx="443943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上市申請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向台灣證交所提出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030FDB84-0C1B-46D3-BB94-2BFFF992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836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CN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審議會審查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Line 11">
            <a:extLst>
              <a:ext uri="{FF2B5EF4-FFF2-40B4-BE49-F238E27FC236}">
                <a16:creationId xmlns:a16="http://schemas.microsoft.com/office/drawing/2014/main" id="{30865189-A35F-4B21-8035-B48F8DCC8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4756" y="3702544"/>
            <a:ext cx="22267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id="{166C6E2E-0A23-4984-A0BA-612C08317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5934" y="3702544"/>
            <a:ext cx="31790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D357E79E-E325-46EF-833D-59D8224EB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032" y="3027114"/>
            <a:ext cx="445343" cy="1440000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回覆主管機關提問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041A592B-5FA5-44A8-A549-12C189E0F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168" y="3702544"/>
            <a:ext cx="19046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15">
            <a:extLst>
              <a:ext uri="{FF2B5EF4-FFF2-40B4-BE49-F238E27FC236}">
                <a16:creationId xmlns:a16="http://schemas.microsoft.com/office/drawing/2014/main" id="{D3A37FE4-CA44-4C35-90A8-B8B39B4B3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205" y="2892845"/>
            <a:ext cx="2414375" cy="1699253"/>
          </a:xfrm>
          <a:prstGeom prst="rect">
            <a:avLst/>
          </a:prstGeom>
          <a:noFill/>
          <a:ln w="2857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563" tIns="40281" rIns="80563" bIns="40281" anchor="ctr"/>
          <a:lstStyle/>
          <a:p>
            <a:pPr algn="ctr" defTabSz="277208" fontAlgn="base">
              <a:spcBef>
                <a:spcPct val="50000"/>
              </a:spcBef>
              <a:spcAft>
                <a:spcPct val="10000"/>
              </a:spcAft>
            </a:pPr>
            <a:endParaRPr kumimoji="1" lang="zh-CN" altLang="zh-CN" sz="1235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16">
            <a:extLst>
              <a:ext uri="{FF2B5EF4-FFF2-40B4-BE49-F238E27FC236}">
                <a16:creationId xmlns:a16="http://schemas.microsoft.com/office/drawing/2014/main" id="{16F250AE-5B68-4D76-AF8A-8C0705AEA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3402807"/>
            <a:ext cx="1814982" cy="431298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展開財務報表審計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營運策略規劃及獲利預測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評估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17">
            <a:extLst>
              <a:ext uri="{FF2B5EF4-FFF2-40B4-BE49-F238E27FC236}">
                <a16:creationId xmlns:a16="http://schemas.microsoft.com/office/drawing/2014/main" id="{76450BE8-D072-4A9F-91C4-CA5165DCF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2216058"/>
            <a:ext cx="1814982" cy="553363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確定工作小組，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聘請專業中介機構，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各方進場開始盡職調查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18">
            <a:extLst>
              <a:ext uri="{FF2B5EF4-FFF2-40B4-BE49-F238E27FC236}">
                <a16:creationId xmlns:a16="http://schemas.microsoft.com/office/drawing/2014/main" id="{4C217F28-1D63-402B-832A-48FF04E2D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2" y="3933113"/>
            <a:ext cx="1814982" cy="49233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依據合規性及不宜條款規範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梳理重大議題並輔導改善，確保排除上市障礙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1801DCFC-3F66-412C-BA23-BCD6841FE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82" y="3691693"/>
            <a:ext cx="317902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20">
            <a:extLst>
              <a:ext uri="{FF2B5EF4-FFF2-40B4-BE49-F238E27FC236}">
                <a16:creationId xmlns:a16="http://schemas.microsoft.com/office/drawing/2014/main" id="{F02EAE26-CD2F-4EB0-A2FB-E7387ECC9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2868430"/>
            <a:ext cx="1814982" cy="43401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論證分析並確立上市架構，規劃制定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時程表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4" name="AutoShape 21">
            <a:extLst>
              <a:ext uri="{FF2B5EF4-FFF2-40B4-BE49-F238E27FC236}">
                <a16:creationId xmlns:a16="http://schemas.microsoft.com/office/drawing/2014/main" id="{BE6E8979-BF43-4617-A1F6-F374703A0749}"/>
              </a:ext>
            </a:extLst>
          </p:cNvPr>
          <p:cNvCxnSpPr>
            <a:cxnSpLocks noChangeShapeType="1"/>
            <a:stCxn id="44" idx="3"/>
            <a:endCxn id="43" idx="1"/>
          </p:cNvCxnSpPr>
          <p:nvPr/>
        </p:nvCxnSpPr>
        <p:spPr bwMode="auto">
          <a:xfrm>
            <a:off x="2412704" y="3618456"/>
            <a:ext cx="316501" cy="124016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22">
            <a:extLst>
              <a:ext uri="{FF2B5EF4-FFF2-40B4-BE49-F238E27FC236}">
                <a16:creationId xmlns:a16="http://schemas.microsoft.com/office/drawing/2014/main" id="{86A3972F-5122-439F-AE67-7BD0BB32ED40}"/>
              </a:ext>
            </a:extLst>
          </p:cNvPr>
          <p:cNvCxnSpPr>
            <a:cxnSpLocks noChangeShapeType="1"/>
            <a:stCxn id="49" idx="3"/>
            <a:endCxn id="43" idx="1"/>
          </p:cNvCxnSpPr>
          <p:nvPr/>
        </p:nvCxnSpPr>
        <p:spPr bwMode="auto">
          <a:xfrm flipV="1">
            <a:off x="2411304" y="3742472"/>
            <a:ext cx="317901" cy="436806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Rectangle 23">
            <a:extLst>
              <a:ext uri="{FF2B5EF4-FFF2-40B4-BE49-F238E27FC236}">
                <a16:creationId xmlns:a16="http://schemas.microsoft.com/office/drawing/2014/main" id="{62407FE2-969D-4092-A427-AC18F689C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764" y="5723252"/>
            <a:ext cx="5398731" cy="368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640" tIns="40321" rIns="80640" bIns="40321" anchor="ctr"/>
          <a:lstStyle/>
          <a:p>
            <a:pPr algn="ctr" defTabSz="898829" fontAlgn="base">
              <a:spcAft>
                <a:spcPct val="0"/>
              </a:spcAft>
            </a:pPr>
            <a:r>
              <a:rPr lang="zh-TW" altLang="en-US" sz="12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上市輔導保薦工作將貫穿完整的上市流程</a:t>
            </a:r>
            <a:endParaRPr lang="en-US" altLang="zh-TW" sz="125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98829" fontAlgn="base">
              <a:spcAft>
                <a:spcPct val="0"/>
              </a:spcAft>
            </a:pPr>
            <a:r>
              <a:rPr lang="zh-TW" altLang="en-US" sz="12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及上市後持續督導階段</a:t>
            </a:r>
            <a:endParaRPr lang="zh-CN" altLang="en-US" sz="125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9" name="AutoShape 24">
            <a:extLst>
              <a:ext uri="{FF2B5EF4-FFF2-40B4-BE49-F238E27FC236}">
                <a16:creationId xmlns:a16="http://schemas.microsoft.com/office/drawing/2014/main" id="{B5297984-97A3-4840-9E68-30ADA1C55364}"/>
              </a:ext>
            </a:extLst>
          </p:cNvPr>
          <p:cNvCxnSpPr>
            <a:cxnSpLocks noChangeShapeType="1"/>
            <a:stCxn id="35" idx="3"/>
            <a:endCxn id="43" idx="1"/>
          </p:cNvCxnSpPr>
          <p:nvPr/>
        </p:nvCxnSpPr>
        <p:spPr bwMode="auto">
          <a:xfrm flipV="1">
            <a:off x="2409905" y="3742472"/>
            <a:ext cx="319300" cy="1023399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25">
            <a:extLst>
              <a:ext uri="{FF2B5EF4-FFF2-40B4-BE49-F238E27FC236}">
                <a16:creationId xmlns:a16="http://schemas.microsoft.com/office/drawing/2014/main" id="{5AA23356-18CD-431F-BCD2-B6A9FEFCEBA8}"/>
              </a:ext>
            </a:extLst>
          </p:cNvPr>
          <p:cNvCxnSpPr>
            <a:cxnSpLocks noChangeShapeType="1"/>
            <a:stCxn id="53" idx="3"/>
            <a:endCxn id="43" idx="1"/>
          </p:cNvCxnSpPr>
          <p:nvPr/>
        </p:nvCxnSpPr>
        <p:spPr bwMode="auto">
          <a:xfrm>
            <a:off x="2412704" y="3085435"/>
            <a:ext cx="316501" cy="657037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26">
            <a:extLst>
              <a:ext uri="{FF2B5EF4-FFF2-40B4-BE49-F238E27FC236}">
                <a16:creationId xmlns:a16="http://schemas.microsoft.com/office/drawing/2014/main" id="{1A139B4D-0BB8-4422-9610-AE05950DC1CC}"/>
              </a:ext>
            </a:extLst>
          </p:cNvPr>
          <p:cNvCxnSpPr>
            <a:cxnSpLocks noChangeShapeType="1"/>
            <a:stCxn id="45" idx="3"/>
            <a:endCxn id="43" idx="1"/>
          </p:cNvCxnSpPr>
          <p:nvPr/>
        </p:nvCxnSpPr>
        <p:spPr bwMode="auto">
          <a:xfrm>
            <a:off x="2412704" y="2492740"/>
            <a:ext cx="316501" cy="1249732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Rectangle 27">
            <a:extLst>
              <a:ext uri="{FF2B5EF4-FFF2-40B4-BE49-F238E27FC236}">
                <a16:creationId xmlns:a16="http://schemas.microsoft.com/office/drawing/2014/main" id="{F6904831-474E-4E4C-B429-D35E107E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4" y="5106296"/>
            <a:ext cx="1813581" cy="580489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針對董事及大股東進行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證管法令規定、公司治理及相關課程訓練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4" name="AutoShape 28">
            <a:extLst>
              <a:ext uri="{FF2B5EF4-FFF2-40B4-BE49-F238E27FC236}">
                <a16:creationId xmlns:a16="http://schemas.microsoft.com/office/drawing/2014/main" id="{977BE6EF-26C6-470E-BECA-223AC4F9282C}"/>
              </a:ext>
            </a:extLst>
          </p:cNvPr>
          <p:cNvCxnSpPr>
            <a:cxnSpLocks noChangeShapeType="1"/>
            <a:stCxn id="63" idx="3"/>
            <a:endCxn id="43" idx="1"/>
          </p:cNvCxnSpPr>
          <p:nvPr/>
        </p:nvCxnSpPr>
        <p:spPr bwMode="auto">
          <a:xfrm flipV="1">
            <a:off x="2409905" y="3742472"/>
            <a:ext cx="319300" cy="1654069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Line 29">
            <a:extLst>
              <a:ext uri="{FF2B5EF4-FFF2-40B4-BE49-F238E27FC236}">
                <a16:creationId xmlns:a16="http://schemas.microsoft.com/office/drawing/2014/main" id="{B499F4E7-8E70-43FD-B74E-6D7AED1B4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322" y="5783854"/>
            <a:ext cx="0" cy="309442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Line 30">
            <a:extLst>
              <a:ext uri="{FF2B5EF4-FFF2-40B4-BE49-F238E27FC236}">
                <a16:creationId xmlns:a16="http://schemas.microsoft.com/office/drawing/2014/main" id="{29D078BB-E770-4903-98D2-3B8579503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0456" y="5723253"/>
            <a:ext cx="0" cy="370041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Line 31">
            <a:extLst>
              <a:ext uri="{FF2B5EF4-FFF2-40B4-BE49-F238E27FC236}">
                <a16:creationId xmlns:a16="http://schemas.microsoft.com/office/drawing/2014/main" id="{806C26FE-73C5-4412-9CB3-7B7821C212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136" y="5915785"/>
            <a:ext cx="1207187" cy="0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Line 32">
            <a:extLst>
              <a:ext uri="{FF2B5EF4-FFF2-40B4-BE49-F238E27FC236}">
                <a16:creationId xmlns:a16="http://schemas.microsoft.com/office/drawing/2014/main" id="{85901B4D-E242-4BA3-884E-A41EEE403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7494" y="5915785"/>
            <a:ext cx="1079747" cy="0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Line 34">
            <a:extLst>
              <a:ext uri="{FF2B5EF4-FFF2-40B4-BE49-F238E27FC236}">
                <a16:creationId xmlns:a16="http://schemas.microsoft.com/office/drawing/2014/main" id="{05C61A73-858A-4384-A307-31B85D3ACE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6573" y="3702544"/>
            <a:ext cx="2226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35">
            <a:extLst>
              <a:ext uri="{FF2B5EF4-FFF2-40B4-BE49-F238E27FC236}">
                <a16:creationId xmlns:a16="http://schemas.microsoft.com/office/drawing/2014/main" id="{E0AF2F3E-073A-455D-9AE2-38AD67D6D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051" y="2478360"/>
            <a:ext cx="1368000" cy="2376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1748" tIns="9525" rIns="31748" bIns="9525" anchor="ctr" anchorCtr="1"/>
          <a:lstStyle/>
          <a:p>
            <a:pPr algn="just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為加強公司治理及強化監理，主辦承銷商將擔任保薦機構，於掛牌後</a:t>
            </a:r>
            <a:r>
              <a:rPr lang="en-US" altLang="zh-TW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年針對發行人海外營運情形及風險進行持續督導，內容包括且不限於發行人的內控制度、交易合理性及必要性、重大訊息公告等，並於保薦期間參與董事會及每年海外實地訪查</a:t>
            </a:r>
            <a:endParaRPr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2">
            <a:extLst>
              <a:ext uri="{FF2B5EF4-FFF2-40B4-BE49-F238E27FC236}">
                <a16:creationId xmlns:a16="http://schemas.microsoft.com/office/drawing/2014/main" id="{2CCF8918-7C0B-4687-8466-03AA1176A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924" y="476672"/>
            <a:ext cx="79375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957" tIns="44478" rIns="88957" bIns="44478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整體工作流程</a:t>
            </a:r>
            <a:r>
              <a:rPr lang="en-US" altLang="zh-TW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KY</a:t>
            </a:r>
            <a:r>
              <a:rPr lang="zh-TW" altLang="en-US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  <a:r>
              <a:rPr lang="en-US" altLang="zh-TW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CN" altLang="en-US" sz="24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61044AB0-839F-4E1A-8D03-4D3CBDDFA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48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進行造勢活動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確認承銷價格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2">
            <a:extLst>
              <a:ext uri="{FF2B5EF4-FFF2-40B4-BE49-F238E27FC236}">
                <a16:creationId xmlns:a16="http://schemas.microsoft.com/office/drawing/2014/main" id="{E5C38198-F798-4FD6-81CA-08872FCDC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36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競拍及公開申購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上市前現金增資承銷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Rectangle 2">
            <a:extLst>
              <a:ext uri="{FF2B5EF4-FFF2-40B4-BE49-F238E27FC236}">
                <a16:creationId xmlns:a16="http://schemas.microsoft.com/office/drawing/2014/main" id="{34F90175-C343-4673-9E73-724968B1D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24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新股上市掛牌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Line 11">
            <a:extLst>
              <a:ext uri="{FF2B5EF4-FFF2-40B4-BE49-F238E27FC236}">
                <a16:creationId xmlns:a16="http://schemas.microsoft.com/office/drawing/2014/main" id="{8DE82833-DE53-402A-AA38-4D9296819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4813" y="3708879"/>
            <a:ext cx="17595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Line 11">
            <a:extLst>
              <a:ext uri="{FF2B5EF4-FFF2-40B4-BE49-F238E27FC236}">
                <a16:creationId xmlns:a16="http://schemas.microsoft.com/office/drawing/2014/main" id="{93D08FB2-AE0B-471E-BC20-3D5A631B2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91" y="3708879"/>
            <a:ext cx="17595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5D4A8915-4B5D-4C2F-9595-D4DAFEACA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538" y="1495900"/>
            <a:ext cx="13668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年以上</a:t>
            </a:r>
          </a:p>
        </p:txBody>
      </p:sp>
      <p:sp>
        <p:nvSpPr>
          <p:cNvPr id="78" name="Rectangle 16">
            <a:extLst>
              <a:ext uri="{FF2B5EF4-FFF2-40B4-BE49-F238E27FC236}">
                <a16:creationId xmlns:a16="http://schemas.microsoft.com/office/drawing/2014/main" id="{B0045109-9B10-4BC8-9465-47503ECB7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173" y="1475922"/>
            <a:ext cx="2378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3~4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79" name="Rectangle 17">
            <a:extLst>
              <a:ext uri="{FF2B5EF4-FFF2-40B4-BE49-F238E27FC236}">
                <a16:creationId xmlns:a16="http://schemas.microsoft.com/office/drawing/2014/main" id="{7DFDC058-AD53-4B31-9D40-9FAD5842F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924" y="1495900"/>
            <a:ext cx="1441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2~3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80" name="Rectangle 17">
            <a:extLst>
              <a:ext uri="{FF2B5EF4-FFF2-40B4-BE49-F238E27FC236}">
                <a16:creationId xmlns:a16="http://schemas.microsoft.com/office/drawing/2014/main" id="{D3BF62CD-6A5D-4512-A037-46153AB6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975" y="1361734"/>
            <a:ext cx="1223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掛牌年度及</a:t>
            </a:r>
            <a:endParaRPr lang="en-US" altLang="zh-TW" sz="1200" dirty="0">
              <a:solidFill>
                <a:srgbClr val="A4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defRPr/>
            </a:pP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其後</a:t>
            </a:r>
            <a:r>
              <a:rPr lang="en-US" altLang="zh-TW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年度</a:t>
            </a:r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20445C22-B904-488D-AE10-22B92B7BC93E}"/>
              </a:ext>
            </a:extLst>
          </p:cNvPr>
          <p:cNvCxnSpPr/>
          <p:nvPr/>
        </p:nvCxnSpPr>
        <p:spPr bwMode="auto">
          <a:xfrm flipH="1">
            <a:off x="2489030" y="1657483"/>
            <a:ext cx="419390" cy="113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EFEB8025-3480-4546-975F-8350C96A87EB}"/>
              </a:ext>
            </a:extLst>
          </p:cNvPr>
          <p:cNvSpPr txBox="1"/>
          <p:nvPr/>
        </p:nvSpPr>
        <p:spPr>
          <a:xfrm>
            <a:off x="2751786" y="4646912"/>
            <a:ext cx="1754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申報輔導至少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個月得提出上市申請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D2C8C974-1B50-4F52-91E7-190C9B554F85}"/>
              </a:ext>
            </a:extLst>
          </p:cNvPr>
          <p:cNvSpPr txBox="1"/>
          <p:nvPr/>
        </p:nvSpPr>
        <p:spPr>
          <a:xfrm>
            <a:off x="2535762" y="1342154"/>
            <a:ext cx="1532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</a:p>
        </p:txBody>
      </p:sp>
    </p:spTree>
    <p:extLst>
      <p:ext uri="{BB962C8B-B14F-4D97-AF65-F5344CB8AC3E}">
        <p14:creationId xmlns:p14="http://schemas.microsoft.com/office/powerpoint/2010/main" val="228227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接點: 肘形 79">
            <a:extLst>
              <a:ext uri="{FF2B5EF4-FFF2-40B4-BE49-F238E27FC236}">
                <a16:creationId xmlns:a16="http://schemas.microsoft.com/office/drawing/2014/main" id="{F0530536-7E39-4C96-AE56-6282F6BF1C0A}"/>
              </a:ext>
            </a:extLst>
          </p:cNvPr>
          <p:cNvCxnSpPr>
            <a:cxnSpLocks/>
          </p:cNvCxnSpPr>
          <p:nvPr/>
        </p:nvCxnSpPr>
        <p:spPr bwMode="auto">
          <a:xfrm rot="10800000">
            <a:off x="6730550" y="2069325"/>
            <a:ext cx="1009802" cy="1722754"/>
          </a:xfrm>
          <a:prstGeom prst="bentConnector3">
            <a:avLst>
              <a:gd name="adj1" fmla="val 122638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接點: 肘形 51">
            <a:extLst>
              <a:ext uri="{FF2B5EF4-FFF2-40B4-BE49-F238E27FC236}">
                <a16:creationId xmlns:a16="http://schemas.microsoft.com/office/drawing/2014/main" id="{325AE365-5366-4E0D-9FC9-9F6EAB935587}"/>
              </a:ext>
            </a:extLst>
          </p:cNvPr>
          <p:cNvCxnSpPr>
            <a:cxnSpLocks/>
            <a:stCxn id="3" idx="1"/>
          </p:cNvCxnSpPr>
          <p:nvPr/>
        </p:nvCxnSpPr>
        <p:spPr bwMode="auto">
          <a:xfrm rot="10800000">
            <a:off x="1184280" y="2059299"/>
            <a:ext cx="3344" cy="1732781"/>
          </a:xfrm>
          <a:prstGeom prst="bentConnector3">
            <a:avLst>
              <a:gd name="adj1" fmla="val 6936124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接點: 肘形 53">
            <a:extLst>
              <a:ext uri="{FF2B5EF4-FFF2-40B4-BE49-F238E27FC236}">
                <a16:creationId xmlns:a16="http://schemas.microsoft.com/office/drawing/2014/main" id="{DD0C4EA9-9EB1-4193-8BB0-1F7084830EA4}"/>
              </a:ext>
            </a:extLst>
          </p:cNvPr>
          <p:cNvCxnSpPr>
            <a:cxnSpLocks/>
          </p:cNvCxnSpPr>
          <p:nvPr/>
        </p:nvCxnSpPr>
        <p:spPr bwMode="auto">
          <a:xfrm rot="10800000" flipH="1" flipV="1">
            <a:off x="3483505" y="2059298"/>
            <a:ext cx="46394" cy="1655250"/>
          </a:xfrm>
          <a:prstGeom prst="bentConnector4">
            <a:avLst>
              <a:gd name="adj1" fmla="val -492736"/>
              <a:gd name="adj2" fmla="val 103299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接點: 肘形 76">
            <a:extLst>
              <a:ext uri="{FF2B5EF4-FFF2-40B4-BE49-F238E27FC236}">
                <a16:creationId xmlns:a16="http://schemas.microsoft.com/office/drawing/2014/main" id="{931C0F04-3567-4DDE-81BC-082030F350F6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825225" y="4363448"/>
            <a:ext cx="857211" cy="19530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99420196-F0F4-415D-BFBF-BBD13254A834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520969" y="4357013"/>
            <a:ext cx="857211" cy="19530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8733" name="Rectangle 13"/>
          <p:cNvSpPr>
            <a:spLocks noChangeArrowheads="1"/>
          </p:cNvSpPr>
          <p:nvPr/>
        </p:nvSpPr>
        <p:spPr bwMode="auto">
          <a:xfrm>
            <a:off x="598344" y="4775577"/>
            <a:ext cx="3354387" cy="1633397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內控制度之建立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不宜條款與重大問題查核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修訂章程及各大辦法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編製申請公發書件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董監席次之安排</a:t>
            </a:r>
            <a:br>
              <a:rPr lang="zh-TW" altLang="en-US" sz="1200" b="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規劃資本額與上市（櫃）掛牌計劃</a:t>
            </a:r>
          </a:p>
        </p:txBody>
      </p:sp>
      <p:sp>
        <p:nvSpPr>
          <p:cNvPr id="798734" name="Rectangle 18"/>
          <p:cNvSpPr>
            <a:spLocks noChangeArrowheads="1"/>
          </p:cNvSpPr>
          <p:nvPr/>
        </p:nvSpPr>
        <p:spPr bwMode="auto">
          <a:xfrm>
            <a:off x="6568376" y="4723814"/>
            <a:ext cx="2468120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配合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主管機關審查人員的審查工作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審議會情境模擬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發佈媒體消息、配合承銷造勢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透過投顧報告取得法人認同</a:t>
            </a:r>
          </a:p>
        </p:txBody>
      </p:sp>
      <p:sp>
        <p:nvSpPr>
          <p:cNvPr id="798735" name="Rectangle 20"/>
          <p:cNvSpPr>
            <a:spLocks noChangeArrowheads="1"/>
          </p:cNvSpPr>
          <p:nvPr/>
        </p:nvSpPr>
        <p:spPr bwMode="auto">
          <a:xfrm>
            <a:off x="1309657" y="2305930"/>
            <a:ext cx="1678167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股票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無實體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設置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薪酬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/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審計委員會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選任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獨董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(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三席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)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準備興櫃掛牌文件</a:t>
            </a:r>
          </a:p>
        </p:txBody>
      </p:sp>
      <p:sp>
        <p:nvSpPr>
          <p:cNvPr id="798736" name="Rectangle 30"/>
          <p:cNvSpPr>
            <a:spLocks noChangeArrowheads="1"/>
          </p:cNvSpPr>
          <p:nvPr/>
        </p:nvSpPr>
        <p:spPr bwMode="auto">
          <a:xfrm>
            <a:off x="6732240" y="2305930"/>
            <a:ext cx="2304256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善用資本市場工具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引進外部資金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資訊公開，增加投資信任度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永續經營，實現經營理念</a:t>
            </a:r>
          </a:p>
        </p:txBody>
      </p:sp>
      <p:sp>
        <p:nvSpPr>
          <p:cNvPr id="10257" name="Text Box 31"/>
          <p:cNvSpPr txBox="1">
            <a:spLocks noChangeArrowheads="1"/>
          </p:cNvSpPr>
          <p:nvPr/>
        </p:nvSpPr>
        <p:spPr bwMode="auto">
          <a:xfrm>
            <a:off x="3576669" y="2377938"/>
            <a:ext cx="2656848" cy="863955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需移轉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3%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且不得低於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給興櫃推薦券商</a:t>
            </a:r>
          </a:p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董事、大股東不得在非興櫃市場交易</a:t>
            </a:r>
          </a:p>
        </p:txBody>
      </p:sp>
      <p:sp>
        <p:nvSpPr>
          <p:cNvPr id="798743" name="Rectangle 20"/>
          <p:cNvSpPr>
            <a:spLocks noChangeArrowheads="1"/>
          </p:cNvSpPr>
          <p:nvPr/>
        </p:nvSpPr>
        <p:spPr bwMode="auto">
          <a:xfrm>
            <a:off x="4184837" y="4686688"/>
            <a:ext cx="1611300" cy="1152525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追蹤內控執行情形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完成上市櫃輔導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確保</a:t>
            </a: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股權分散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模擬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審議會</a:t>
            </a: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問題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</p:txBody>
      </p:sp>
      <p:sp>
        <p:nvSpPr>
          <p:cNvPr id="62" name="Parallelogram 7">
            <a:extLst>
              <a:ext uri="{FF2B5EF4-FFF2-40B4-BE49-F238E27FC236}">
                <a16:creationId xmlns:a16="http://schemas.microsoft.com/office/drawing/2014/main" id="{808A9646-C987-4295-BF83-C8691A8A2C5A}"/>
              </a:ext>
            </a:extLst>
          </p:cNvPr>
          <p:cNvSpPr/>
          <p:nvPr/>
        </p:nvSpPr>
        <p:spPr bwMode="auto">
          <a:xfrm>
            <a:off x="6012160" y="3846071"/>
            <a:ext cx="1756737" cy="23526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審議承銷階段</a:t>
            </a:r>
          </a:p>
        </p:txBody>
      </p:sp>
      <p:sp>
        <p:nvSpPr>
          <p:cNvPr id="66" name="Parallelogram 7">
            <a:extLst>
              <a:ext uri="{FF2B5EF4-FFF2-40B4-BE49-F238E27FC236}">
                <a16:creationId xmlns:a16="http://schemas.microsoft.com/office/drawing/2014/main" id="{C3B56439-0301-4B1A-8C16-15BBA749A844}"/>
              </a:ext>
            </a:extLst>
          </p:cNvPr>
          <p:cNvSpPr/>
          <p:nvPr/>
        </p:nvSpPr>
        <p:spPr bwMode="auto">
          <a:xfrm>
            <a:off x="3491880" y="3846071"/>
            <a:ext cx="1728192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六個月興櫃期間</a:t>
            </a:r>
          </a:p>
        </p:txBody>
      </p:sp>
      <p:sp>
        <p:nvSpPr>
          <p:cNvPr id="42" name="Parallelogram 7">
            <a:extLst>
              <a:ext uri="{FF2B5EF4-FFF2-40B4-BE49-F238E27FC236}">
                <a16:creationId xmlns:a16="http://schemas.microsoft.com/office/drawing/2014/main" id="{38EE4178-AC2A-408E-B7E8-817EB4FF30C9}"/>
              </a:ext>
            </a:extLst>
          </p:cNvPr>
          <p:cNvSpPr/>
          <p:nvPr/>
        </p:nvSpPr>
        <p:spPr bwMode="auto">
          <a:xfrm>
            <a:off x="0" y="3846071"/>
            <a:ext cx="1321702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公開發行前</a:t>
            </a:r>
          </a:p>
        </p:txBody>
      </p:sp>
      <p:sp>
        <p:nvSpPr>
          <p:cNvPr id="60" name="Parallelogram 7">
            <a:extLst>
              <a:ext uri="{FF2B5EF4-FFF2-40B4-BE49-F238E27FC236}">
                <a16:creationId xmlns:a16="http://schemas.microsoft.com/office/drawing/2014/main" id="{783565D1-EC3C-43B3-8E91-90C0F14F9BA4}"/>
              </a:ext>
            </a:extLst>
          </p:cNvPr>
          <p:cNvSpPr/>
          <p:nvPr/>
        </p:nvSpPr>
        <p:spPr bwMode="auto">
          <a:xfrm>
            <a:off x="1984831" y="3846071"/>
            <a:ext cx="997948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輔導期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111A9F-4E91-4F7C-A1B8-07339126893E}"/>
              </a:ext>
            </a:extLst>
          </p:cNvPr>
          <p:cNvSpPr/>
          <p:nvPr/>
        </p:nvSpPr>
        <p:spPr bwMode="auto">
          <a:xfrm>
            <a:off x="1187624" y="3666079"/>
            <a:ext cx="937300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公開發行</a:t>
            </a:r>
            <a:endParaRPr lang="zh-TW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39403979-7A23-4000-9932-1C00112FB90D}"/>
              </a:ext>
            </a:extLst>
          </p:cNvPr>
          <p:cNvSpPr/>
          <p:nvPr/>
        </p:nvSpPr>
        <p:spPr bwMode="auto">
          <a:xfrm>
            <a:off x="2788179" y="3666079"/>
            <a:ext cx="937300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興櫃登錄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1BB79D3F-1071-4A15-B81F-189F28CA9835}"/>
              </a:ext>
            </a:extLst>
          </p:cNvPr>
          <p:cNvSpPr/>
          <p:nvPr/>
        </p:nvSpPr>
        <p:spPr bwMode="auto">
          <a:xfrm>
            <a:off x="5076056" y="3666079"/>
            <a:ext cx="1245164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上市櫃申請</a:t>
            </a: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14C104ED-DB94-4C14-A401-C6667EB9FD51}"/>
              </a:ext>
            </a:extLst>
          </p:cNvPr>
          <p:cNvSpPr/>
          <p:nvPr/>
        </p:nvSpPr>
        <p:spPr bwMode="auto">
          <a:xfrm>
            <a:off x="7452320" y="3666079"/>
            <a:ext cx="1401958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上市櫃掛牌</a:t>
            </a: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F319597-30DD-4C41-A9CA-65B21A264B9E}"/>
              </a:ext>
            </a:extLst>
          </p:cNvPr>
          <p:cNvSpPr txBox="1"/>
          <p:nvPr/>
        </p:nvSpPr>
        <p:spPr>
          <a:xfrm>
            <a:off x="440233" y="4849415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1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A56D7E41-8AC3-4DB0-B8D0-DB9584AC8BA4}"/>
              </a:ext>
            </a:extLst>
          </p:cNvPr>
          <p:cNvSpPr txBox="1"/>
          <p:nvPr/>
        </p:nvSpPr>
        <p:spPr>
          <a:xfrm>
            <a:off x="1184279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solidFill>
                  <a:schemeClr val="bg1"/>
                </a:solidFill>
                <a:latin typeface="Arial" pitchFamily="34" charset="0"/>
              </a:rPr>
              <a:t>2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370876C7-794D-4B5E-B0BC-6B5F287BB068}"/>
              </a:ext>
            </a:extLst>
          </p:cNvPr>
          <p:cNvSpPr txBox="1"/>
          <p:nvPr/>
        </p:nvSpPr>
        <p:spPr>
          <a:xfrm>
            <a:off x="3455629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3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F6AF6F70-B18D-4E47-BB37-9E6EBB1F01D3}"/>
              </a:ext>
            </a:extLst>
          </p:cNvPr>
          <p:cNvSpPr txBox="1"/>
          <p:nvPr/>
        </p:nvSpPr>
        <p:spPr>
          <a:xfrm>
            <a:off x="4024739" y="4729610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4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CF29E4AE-6E45-4ED8-861A-DC097CF4AF04}"/>
              </a:ext>
            </a:extLst>
          </p:cNvPr>
          <p:cNvSpPr txBox="1"/>
          <p:nvPr/>
        </p:nvSpPr>
        <p:spPr>
          <a:xfrm>
            <a:off x="6588224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6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ABA36914-0A91-42FE-8FF0-0F0B10BF3D2A}"/>
              </a:ext>
            </a:extLst>
          </p:cNvPr>
          <p:cNvSpPr txBox="1"/>
          <p:nvPr/>
        </p:nvSpPr>
        <p:spPr>
          <a:xfrm>
            <a:off x="6372200" y="4781818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solidFill>
                  <a:schemeClr val="bg1"/>
                </a:solidFill>
                <a:latin typeface="Arial" pitchFamily="34" charset="0"/>
              </a:rPr>
              <a:t>5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31" name="Parallelogram 7"/>
          <p:cNvSpPr/>
          <p:nvPr/>
        </p:nvSpPr>
        <p:spPr bwMode="auto">
          <a:xfrm>
            <a:off x="323850" y="1173534"/>
            <a:ext cx="1999427" cy="423863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前置規劃階段</a:t>
            </a:r>
          </a:p>
        </p:txBody>
      </p:sp>
      <p:sp>
        <p:nvSpPr>
          <p:cNvPr id="32" name="Parallelogram 8"/>
          <p:cNvSpPr/>
          <p:nvPr/>
        </p:nvSpPr>
        <p:spPr bwMode="auto">
          <a:xfrm>
            <a:off x="2273441" y="1173534"/>
            <a:ext cx="3000943" cy="423863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輔導階段</a:t>
            </a:r>
          </a:p>
        </p:txBody>
      </p:sp>
      <p:sp>
        <p:nvSpPr>
          <p:cNvPr id="33" name="Parallelogram 9"/>
          <p:cNvSpPr/>
          <p:nvPr/>
        </p:nvSpPr>
        <p:spPr bwMode="auto">
          <a:xfrm>
            <a:off x="6992210" y="1173534"/>
            <a:ext cx="1756254" cy="423862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承銷階段</a:t>
            </a:r>
          </a:p>
        </p:txBody>
      </p:sp>
      <p:sp>
        <p:nvSpPr>
          <p:cNvPr id="34" name="Parallelogram 9"/>
          <p:cNvSpPr/>
          <p:nvPr/>
        </p:nvSpPr>
        <p:spPr bwMode="auto">
          <a:xfrm>
            <a:off x="5224548" y="1173534"/>
            <a:ext cx="1817497" cy="423862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審查階段</a:t>
            </a:r>
          </a:p>
        </p:txBody>
      </p:sp>
      <p:sp>
        <p:nvSpPr>
          <p:cNvPr id="35" name="Rectangle 15"/>
          <p:cNvSpPr>
            <a:spLocks noChangeArrowheads="1"/>
          </p:cNvSpPr>
          <p:nvPr/>
        </p:nvSpPr>
        <p:spPr bwMode="auto">
          <a:xfrm>
            <a:off x="3090494" y="1593999"/>
            <a:ext cx="13668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個月以上</a:t>
            </a:r>
          </a:p>
        </p:txBody>
      </p:sp>
      <p:sp>
        <p:nvSpPr>
          <p:cNvPr id="36" name="Rectangle 16"/>
          <p:cNvSpPr>
            <a:spLocks noChangeArrowheads="1"/>
          </p:cNvSpPr>
          <p:nvPr/>
        </p:nvSpPr>
        <p:spPr bwMode="auto">
          <a:xfrm>
            <a:off x="4944258" y="1610859"/>
            <a:ext cx="2378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37" name="Rectangle 17"/>
          <p:cNvSpPr>
            <a:spLocks noChangeArrowheads="1"/>
          </p:cNvSpPr>
          <p:nvPr/>
        </p:nvSpPr>
        <p:spPr bwMode="auto">
          <a:xfrm>
            <a:off x="7119185" y="1610444"/>
            <a:ext cx="1441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38" name="Rectangle 15"/>
          <p:cNvSpPr>
            <a:spLocks noChangeArrowheads="1"/>
          </p:cNvSpPr>
          <p:nvPr/>
        </p:nvSpPr>
        <p:spPr bwMode="auto">
          <a:xfrm>
            <a:off x="630292" y="1610444"/>
            <a:ext cx="1366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至少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3~6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grpSp>
        <p:nvGrpSpPr>
          <p:cNvPr id="39" name="群組 1"/>
          <p:cNvGrpSpPr>
            <a:grpSpLocks/>
          </p:cNvGrpSpPr>
          <p:nvPr/>
        </p:nvGrpSpPr>
        <p:grpSpPr bwMode="auto">
          <a:xfrm>
            <a:off x="8521005" y="3930422"/>
            <a:ext cx="371475" cy="365125"/>
            <a:chOff x="6674917" y="1249161"/>
            <a:chExt cx="711898" cy="722258"/>
          </a:xfrm>
        </p:grpSpPr>
        <p:sp>
          <p:nvSpPr>
            <p:cNvPr id="40" name="Oval 3"/>
            <p:cNvSpPr/>
            <p:nvPr/>
          </p:nvSpPr>
          <p:spPr bwMode="auto">
            <a:xfrm>
              <a:off x="6674917" y="1249161"/>
              <a:ext cx="711898" cy="7222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0"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25"/>
            </a:p>
          </p:txBody>
        </p:sp>
        <p:sp>
          <p:nvSpPr>
            <p:cNvPr id="41" name="Rectangle 7"/>
            <p:cNvSpPr/>
            <p:nvPr/>
          </p:nvSpPr>
          <p:spPr>
            <a:xfrm>
              <a:off x="6802694" y="1355930"/>
              <a:ext cx="480683" cy="458477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401869" y="2055482"/>
                  </a:moveTo>
                  <a:lnTo>
                    <a:pt x="869869" y="2055482"/>
                  </a:lnTo>
                  <a:lnTo>
                    <a:pt x="869869" y="2919482"/>
                  </a:lnTo>
                  <a:lnTo>
                    <a:pt x="401869" y="2919482"/>
                  </a:lnTo>
                  <a:close/>
                  <a:moveTo>
                    <a:pt x="1121949" y="1695482"/>
                  </a:moveTo>
                  <a:lnTo>
                    <a:pt x="1589949" y="1695482"/>
                  </a:lnTo>
                  <a:lnTo>
                    <a:pt x="1589949" y="2919482"/>
                  </a:lnTo>
                  <a:lnTo>
                    <a:pt x="1121949" y="2919482"/>
                  </a:lnTo>
                  <a:close/>
                  <a:moveTo>
                    <a:pt x="1842029" y="1335482"/>
                  </a:moveTo>
                  <a:lnTo>
                    <a:pt x="2310029" y="1335482"/>
                  </a:lnTo>
                  <a:lnTo>
                    <a:pt x="2310029" y="2919482"/>
                  </a:lnTo>
                  <a:lnTo>
                    <a:pt x="1842029" y="2919482"/>
                  </a:lnTo>
                  <a:close/>
                  <a:moveTo>
                    <a:pt x="2562109" y="975482"/>
                  </a:moveTo>
                  <a:lnTo>
                    <a:pt x="3030109" y="975482"/>
                  </a:lnTo>
                  <a:lnTo>
                    <a:pt x="3030109" y="2919482"/>
                  </a:lnTo>
                  <a:lnTo>
                    <a:pt x="2562109" y="2919482"/>
                  </a:lnTo>
                  <a:close/>
                  <a:moveTo>
                    <a:pt x="2321888" y="224805"/>
                  </a:moveTo>
                  <a:lnTo>
                    <a:pt x="2880631" y="247420"/>
                  </a:lnTo>
                  <a:lnTo>
                    <a:pt x="2620844" y="742612"/>
                  </a:lnTo>
                  <a:lnTo>
                    <a:pt x="2546105" y="613161"/>
                  </a:lnTo>
                  <a:lnTo>
                    <a:pt x="541555" y="1770488"/>
                  </a:lnTo>
                  <a:lnTo>
                    <a:pt x="392077" y="1511585"/>
                  </a:lnTo>
                  <a:lnTo>
                    <a:pt x="2396627" y="354257"/>
                  </a:lnTo>
                  <a:close/>
                  <a:moveTo>
                    <a:pt x="0" y="0"/>
                  </a:moveTo>
                  <a:lnTo>
                    <a:pt x="180000" y="0"/>
                  </a:lnTo>
                  <a:lnTo>
                    <a:pt x="180000" y="3059999"/>
                  </a:lnTo>
                  <a:lnTo>
                    <a:pt x="3240000" y="3059999"/>
                  </a:lnTo>
                  <a:lnTo>
                    <a:pt x="3240000" y="3239999"/>
                  </a:lnTo>
                  <a:lnTo>
                    <a:pt x="180000" y="3239999"/>
                  </a:lnTo>
                  <a:lnTo>
                    <a:pt x="180000" y="3240000"/>
                  </a:lnTo>
                  <a:lnTo>
                    <a:pt x="0" y="3240000"/>
                  </a:lnTo>
                  <a:lnTo>
                    <a:pt x="0" y="3239999"/>
                  </a:lnTo>
                  <a:lnTo>
                    <a:pt x="0" y="305999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</p:grpSp>
      <p:sp>
        <p:nvSpPr>
          <p:cNvPr id="43" name="矩形: 圓角 62"/>
          <p:cNvSpPr/>
          <p:nvPr/>
        </p:nvSpPr>
        <p:spPr bwMode="auto">
          <a:xfrm>
            <a:off x="6233517" y="4088358"/>
            <a:ext cx="2226915" cy="3461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前現增</a:t>
            </a: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約股本*</a:t>
            </a: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10%)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1157884" y="3631538"/>
            <a:ext cx="2585443" cy="483389"/>
          </a:xfrm>
          <a:prstGeom prst="rect">
            <a:avLst/>
          </a:prstGeom>
          <a:noFill/>
          <a:ln w="38100" cap="flat" cmpd="sng" algn="ctr">
            <a:solidFill>
              <a:srgbClr val="C4AB8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085111" y="4132612"/>
            <a:ext cx="2686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公發至興櫃有三種方式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一般公發後再申請登錄興櫃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一般公發倂送登錄興櫃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簡易公發倂送登錄興櫃</a:t>
            </a:r>
          </a:p>
        </p:txBody>
      </p:sp>
      <p:cxnSp>
        <p:nvCxnSpPr>
          <p:cNvPr id="7" name="直線接點 6"/>
          <p:cNvCxnSpPr/>
          <p:nvPr/>
        </p:nvCxnSpPr>
        <p:spPr bwMode="auto">
          <a:xfrm>
            <a:off x="537888" y="4098786"/>
            <a:ext cx="0" cy="73232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81818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Rectangle 2">
            <a:extLst>
              <a:ext uri="{FF2B5EF4-FFF2-40B4-BE49-F238E27FC236}">
                <a16:creationId xmlns:a16="http://schemas.microsoft.com/office/drawing/2014/main" id="{5513A6FA-1C44-4F5B-AE67-7C58517F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上市櫃重點工作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3282324"/>
      </p:ext>
    </p:extLst>
  </p:cSld>
  <p:clrMapOvr>
    <a:masterClrMapping/>
  </p:clrMapOvr>
  <p:transition>
    <p:spli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如果企業把 </a:t>
            </a:r>
            <a:r>
              <a:rPr lang="en-US" altLang="zh-TW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IPO </a:t>
            </a:r>
            <a:r>
              <a:rPr lang="zh-TW" altLang="en-US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當成三年後的目標，可提前進行準備</a:t>
            </a: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的旅程應從 </a:t>
            </a:r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Business Readiness</a:t>
            </a:r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 Readiness </a:t>
            </a:r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Capital Market Readiness </a:t>
            </a:r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同步啟動</a:t>
            </a:r>
            <a:endParaRPr kumimoji="1" lang="en-US" altLang="zh-TW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1029876"/>
            <a:ext cx="8183879" cy="22860"/>
          </a:xfrm>
          <a:prstGeom prst="rect">
            <a:avLst/>
          </a:prstGeom>
          <a:solidFill>
            <a:srgbClr val="A67F4B"/>
          </a:solidFill>
          <a:ln w="6350"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1005840" y="3789040"/>
            <a:ext cx="7040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</a:t>
            </a:r>
            <a:r>
              <a:rPr lang="en-US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真正困難的不是送件：四</a:t>
            </a:r>
            <a:r>
              <a:rPr lang="zh-TW" altLang="en-US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大</a:t>
            </a:r>
            <a:r>
              <a:rPr lang="en-US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面向必須提前處理</a:t>
            </a:r>
            <a:endParaRPr lang="en-US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614301"/>
              </p:ext>
            </p:extLst>
          </p:nvPr>
        </p:nvGraphicFramePr>
        <p:xfrm>
          <a:off x="320040" y="4203738"/>
          <a:ext cx="8458204" cy="2105582"/>
        </p:xfrm>
        <a:graphic>
          <a:graphicData uri="http://schemas.openxmlformats.org/drawingml/2006/table">
            <a:tbl>
              <a:tblPr/>
              <a:tblGrid>
                <a:gridCol w="211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12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財務品質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治理與法遵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市場與營運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執行與定價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8457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獲利能力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營運狀況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客戶集中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關係人交易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重大非常規交易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營運資金／現金流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財報編製品質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內控制度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內部稽核、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董事會／獨董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股權結構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誠信原則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資訊揭露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財務業務獨立性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勞資與環境法遵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未來業務發展性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市場競爭力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產品開發與行銷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產業經營風險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團隊核心競爭力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智財權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重要合約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人才延續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資料保密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興櫃價格發現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投資人回饋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承銷結構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Roadshow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定價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Text 2"/>
          <p:cNvSpPr/>
          <p:nvPr/>
        </p:nvSpPr>
        <p:spPr>
          <a:xfrm>
            <a:off x="301752" y="1393790"/>
            <a:ext cx="7955280" cy="3241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9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"/>
          <p:cNvSpPr/>
          <p:nvPr/>
        </p:nvSpPr>
        <p:spPr>
          <a:xfrm>
            <a:off x="283949" y="1665095"/>
            <a:ext cx="1920240" cy="1945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T-36～24M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320040" y="2010901"/>
            <a:ext cx="1874520" cy="127516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5"/>
          <p:cNvSpPr/>
          <p:nvPr/>
        </p:nvSpPr>
        <p:spPr>
          <a:xfrm>
            <a:off x="323528" y="2024984"/>
            <a:ext cx="73152" cy="126000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6"/>
          <p:cNvSpPr/>
          <p:nvPr/>
        </p:nvSpPr>
        <p:spPr>
          <a:xfrm>
            <a:off x="462952" y="2097353"/>
            <a:ext cx="1444752" cy="21612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Business Readiness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 7"/>
          <p:cNvSpPr/>
          <p:nvPr/>
        </p:nvSpPr>
        <p:spPr>
          <a:xfrm>
            <a:off x="502920" y="2421546"/>
            <a:ext cx="1609344" cy="778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商業模式清楚、營收規模形成、KPI可持續追蹤；同步檢視股權結構與資本形成</a:t>
            </a:r>
            <a:r>
              <a:rPr lang="zh-TW" altLang="en-US" sz="10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等</a:t>
            </a:r>
            <a:endParaRPr lang="en-US" sz="10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8"/>
          <p:cNvSpPr/>
          <p:nvPr/>
        </p:nvSpPr>
        <p:spPr>
          <a:xfrm>
            <a:off x="2276856" y="2518804"/>
            <a:ext cx="219456" cy="172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9"/>
          <p:cNvSpPr/>
          <p:nvPr/>
        </p:nvSpPr>
        <p:spPr>
          <a:xfrm>
            <a:off x="2478509" y="1665095"/>
            <a:ext cx="1920240" cy="1945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T-24～12M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2518088" y="2010901"/>
            <a:ext cx="1871031" cy="127516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11"/>
          <p:cNvSpPr/>
          <p:nvPr/>
        </p:nvSpPr>
        <p:spPr>
          <a:xfrm>
            <a:off x="2518088" y="2024984"/>
            <a:ext cx="73152" cy="126000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6" name="Text 12"/>
          <p:cNvSpPr/>
          <p:nvPr/>
        </p:nvSpPr>
        <p:spPr>
          <a:xfrm>
            <a:off x="2483768" y="2097353"/>
            <a:ext cx="1444752" cy="21612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Readiness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2697480" y="2421546"/>
            <a:ext cx="1609344" cy="778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內控制度、財務制度、關係人交易、董事會與公司治理</a:t>
            </a:r>
            <a:r>
              <a:rPr lang="zh-TW" altLang="en-US" sz="10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等</a:t>
            </a:r>
            <a:r>
              <a:rPr lang="en-US" sz="10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，</a:t>
            </a:r>
            <a:r>
              <a:rPr lang="en-US" sz="10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降低送件風險</a:t>
            </a:r>
            <a:endParaRPr lang="en-US" sz="10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471416" y="2518804"/>
            <a:ext cx="219456" cy="172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4673068" y="1682728"/>
            <a:ext cx="1992905" cy="16209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T-12～6M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4713816" y="2010901"/>
            <a:ext cx="1952158" cy="127516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17"/>
          <p:cNvSpPr/>
          <p:nvPr/>
        </p:nvSpPr>
        <p:spPr>
          <a:xfrm>
            <a:off x="4712648" y="2024984"/>
            <a:ext cx="73152" cy="126000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18"/>
          <p:cNvSpPr/>
          <p:nvPr/>
        </p:nvSpPr>
        <p:spPr>
          <a:xfrm>
            <a:off x="4791440" y="2098386"/>
            <a:ext cx="2309293" cy="226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Capital Market Readiness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4890872" y="2421546"/>
            <a:ext cx="1609344" cy="778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建立 Positioning、Peer Group、Equity Story 與 KPI </a:t>
            </a:r>
            <a:r>
              <a:rPr lang="en-US" sz="10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Disclosure，並評估興櫃</a:t>
            </a:r>
            <a:r>
              <a:rPr lang="en-US" sz="10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／</a:t>
            </a:r>
            <a:r>
              <a:rPr lang="zh-TW" altLang="en-US" sz="10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直接上市</a:t>
            </a:r>
            <a:r>
              <a:rPr lang="en-US" sz="10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等路徑</a:t>
            </a:r>
            <a:endParaRPr lang="en-US" sz="10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6665976" y="2518804"/>
            <a:ext cx="219456" cy="172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6867629" y="1665095"/>
            <a:ext cx="1920240" cy="1945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6907208" y="2010901"/>
            <a:ext cx="1871032" cy="127516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23"/>
          <p:cNvSpPr/>
          <p:nvPr/>
        </p:nvSpPr>
        <p:spPr>
          <a:xfrm>
            <a:off x="6907208" y="2024984"/>
            <a:ext cx="73152" cy="126000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24"/>
          <p:cNvSpPr/>
          <p:nvPr/>
        </p:nvSpPr>
        <p:spPr>
          <a:xfrm>
            <a:off x="6727648" y="2097353"/>
            <a:ext cx="1444752" cy="21612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Execution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7092280" y="2421546"/>
            <a:ext cx="1609344" cy="778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申請、審查、承銷、Roadshow、定價與掛牌；重點是把市場認知轉為</a:t>
            </a:r>
            <a:r>
              <a:rPr lang="zh-TW" altLang="en-US" sz="10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可用</a:t>
            </a:r>
            <a:r>
              <a:rPr lang="en-US" sz="10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需求</a:t>
            </a:r>
            <a:endParaRPr lang="en-US" sz="10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4320" y="3356104"/>
            <a:ext cx="7982712" cy="29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註：時程為規劃示意，實際進度依公司條件、掛牌市場與輔導狀況而異</a:t>
            </a:r>
          </a:p>
        </p:txBody>
      </p:sp>
    </p:spTree>
    <p:extLst>
      <p:ext uri="{BB962C8B-B14F-4D97-AF65-F5344CB8AC3E}">
        <p14:creationId xmlns:p14="http://schemas.microsoft.com/office/powerpoint/2010/main" val="1483997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企業故事如何轉為資本市場語言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7325543"/>
      </p:ext>
    </p:extLst>
  </p:cSld>
  <p:clrMapOvr>
    <a:masterClrMapping/>
  </p:clrMapOvr>
  <p:transition>
    <p:spli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券商的角色：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Execution 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 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Capital Market Translation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券商的價值，不只是把公司帶到 </a:t>
            </a:r>
            <a:r>
              <a:rPr lang="en-US" altLang="zh-TW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，而是把企業經營本質轉換成市場可理解、可比較、可驗證、可定價的資本市場語言</a:t>
            </a:r>
          </a:p>
        </p:txBody>
      </p:sp>
      <p:sp>
        <p:nvSpPr>
          <p:cNvPr id="41" name="Shape 3"/>
          <p:cNvSpPr/>
          <p:nvPr/>
        </p:nvSpPr>
        <p:spPr>
          <a:xfrm>
            <a:off x="467544" y="1751048"/>
            <a:ext cx="1141800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2" name="Text 4"/>
          <p:cNvSpPr/>
          <p:nvPr/>
        </p:nvSpPr>
        <p:spPr>
          <a:xfrm>
            <a:off x="832104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02920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企業經營本質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21208" y="27089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財務</a:t>
            </a: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lang="en-US" sz="1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治理</a:t>
            </a: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</a:p>
          <a:p>
            <a:pPr marL="0" indent="0" algn="ctr">
              <a:buNone/>
            </a:pPr>
            <a:r>
              <a:rPr lang="en-US" sz="1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商業模式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8"/>
          <p:cNvSpPr/>
          <p:nvPr/>
        </p:nvSpPr>
        <p:spPr>
          <a:xfrm>
            <a:off x="1655064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1847088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10"/>
          <p:cNvSpPr/>
          <p:nvPr/>
        </p:nvSpPr>
        <p:spPr>
          <a:xfrm>
            <a:off x="2240280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1911096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Positioning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1929384" y="27089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市場如何定義你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3063240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3255264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16"/>
          <p:cNvSpPr/>
          <p:nvPr/>
        </p:nvSpPr>
        <p:spPr>
          <a:xfrm>
            <a:off x="3648456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3321560" y="2333295"/>
            <a:ext cx="1106424" cy="280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Benchmarking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3350136" y="27089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該和誰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進行</a:t>
            </a:r>
            <a:r>
              <a:rPr lang="en-US" sz="1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比較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4471416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Shape 21"/>
          <p:cNvSpPr/>
          <p:nvPr/>
        </p:nvSpPr>
        <p:spPr>
          <a:xfrm>
            <a:off x="4663440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22"/>
          <p:cNvSpPr/>
          <p:nvPr/>
        </p:nvSpPr>
        <p:spPr>
          <a:xfrm>
            <a:off x="5056632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4716016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Equity Story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4745736" y="27089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成長動能如何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轉成投資價值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5879592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Shape 27"/>
          <p:cNvSpPr/>
          <p:nvPr/>
        </p:nvSpPr>
        <p:spPr>
          <a:xfrm>
            <a:off x="6071616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66" name="Text 28"/>
          <p:cNvSpPr/>
          <p:nvPr/>
        </p:nvSpPr>
        <p:spPr>
          <a:xfrm>
            <a:off x="6464808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05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 29"/>
          <p:cNvSpPr/>
          <p:nvPr/>
        </p:nvSpPr>
        <p:spPr>
          <a:xfrm>
            <a:off x="6135624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Investor Access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6158448" y="27156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哪些投資人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適合你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7287768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Shape 33"/>
          <p:cNvSpPr/>
          <p:nvPr/>
        </p:nvSpPr>
        <p:spPr>
          <a:xfrm>
            <a:off x="7479792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72" name="Text 34"/>
          <p:cNvSpPr/>
          <p:nvPr/>
        </p:nvSpPr>
        <p:spPr>
          <a:xfrm>
            <a:off x="7872984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06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 35"/>
          <p:cNvSpPr/>
          <p:nvPr/>
        </p:nvSpPr>
        <p:spPr>
          <a:xfrm>
            <a:off x="7543800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Price Discovery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 37"/>
          <p:cNvSpPr/>
          <p:nvPr/>
        </p:nvSpPr>
        <p:spPr>
          <a:xfrm>
            <a:off x="7524328" y="2708920"/>
            <a:ext cx="106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價格發現與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市場估值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Shape 67"/>
          <p:cNvSpPr/>
          <p:nvPr/>
        </p:nvSpPr>
        <p:spPr>
          <a:xfrm>
            <a:off x="486968" y="6020099"/>
            <a:ext cx="484632" cy="0"/>
          </a:xfrm>
          <a:prstGeom prst="line">
            <a:avLst/>
          </a:prstGeom>
          <a:noFill/>
          <a:ln w="1651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Text 68"/>
          <p:cNvSpPr/>
          <p:nvPr/>
        </p:nvSpPr>
        <p:spPr>
          <a:xfrm>
            <a:off x="1043608" y="5661248"/>
            <a:ext cx="7040880" cy="64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</a:t>
            </a: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成功</a:t>
            </a:r>
            <a:r>
              <a:rPr lang="en-US" sz="14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不只是資料準備完成，而是市場知道你是誰、該跟誰比較，以及該如何替你定價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Shape 69"/>
          <p:cNvSpPr/>
          <p:nvPr/>
        </p:nvSpPr>
        <p:spPr>
          <a:xfrm>
            <a:off x="8100392" y="6020099"/>
            <a:ext cx="493776" cy="0"/>
          </a:xfrm>
          <a:prstGeom prst="line">
            <a:avLst/>
          </a:prstGeom>
          <a:noFill/>
          <a:ln w="1651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937507"/>
              </p:ext>
            </p:extLst>
          </p:nvPr>
        </p:nvGraphicFramePr>
        <p:xfrm>
          <a:off x="467542" y="3298695"/>
          <a:ext cx="8182681" cy="2420119"/>
        </p:xfrm>
        <a:graphic>
          <a:graphicData uri="http://schemas.openxmlformats.org/drawingml/2006/table">
            <a:tbl>
              <a:tblPr/>
              <a:tblGrid>
                <a:gridCol w="1974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3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0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券商角色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傳統認知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真正創造的價值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7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IPO輔導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文件、時程、送件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建立上市前資本市場準備路徑，協助企業完成財務、治理與市場溝通準備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7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市場定位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包裝公司故事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 Positioning 與 Peer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Group，讓市場知道你是誰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和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進行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7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法人溝通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把公司講得更好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將 Growth、Risk、Financial Outcome 轉化為可驗證的 Equity Story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7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承銷配售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找投資人買股票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找到真正理解 Business Model 與成長邏輯的投資人，提升定價效率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181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1740712" y="548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Text 2"/>
          <p:cNvSpPr/>
          <p:nvPr/>
        </p:nvSpPr>
        <p:spPr>
          <a:xfrm>
            <a:off x="1740712" y="1124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502922" y="2137592"/>
            <a:ext cx="1975632" cy="1579440"/>
          </a:xfrm>
          <a:prstGeom prst="roundRect">
            <a:avLst>
              <a:gd name="adj" fmla="val 5000"/>
            </a:avLst>
          </a:prstGeom>
          <a:solidFill>
            <a:schemeClr val="accent3">
              <a:lumMod val="95000"/>
              <a:alpha val="95000"/>
            </a:schemeClr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Shape 4"/>
          <p:cNvSpPr/>
          <p:nvPr/>
        </p:nvSpPr>
        <p:spPr>
          <a:xfrm>
            <a:off x="502922" y="2137592"/>
            <a:ext cx="53792" cy="157944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Text 5"/>
          <p:cNvSpPr/>
          <p:nvPr/>
        </p:nvSpPr>
        <p:spPr>
          <a:xfrm>
            <a:off x="539552" y="1859680"/>
            <a:ext cx="1721882" cy="2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Positioning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 6"/>
          <p:cNvSpPr/>
          <p:nvPr/>
        </p:nvSpPr>
        <p:spPr>
          <a:xfrm>
            <a:off x="647923" y="2266087"/>
            <a:ext cx="1631257" cy="1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確立市場定位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Text 8"/>
          <p:cNvSpPr/>
          <p:nvPr/>
        </p:nvSpPr>
        <p:spPr>
          <a:xfrm>
            <a:off x="2513195" y="2633894"/>
            <a:ext cx="163126" cy="297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2723437" y="2137592"/>
            <a:ext cx="1765391" cy="1576008"/>
          </a:xfrm>
          <a:prstGeom prst="roundRect">
            <a:avLst>
              <a:gd name="adj" fmla="val 5000"/>
            </a:avLst>
          </a:prstGeom>
          <a:solidFill>
            <a:schemeClr val="accent3">
              <a:lumMod val="95000"/>
              <a:alpha val="95000"/>
            </a:schemeClr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Shape 10"/>
          <p:cNvSpPr/>
          <p:nvPr/>
        </p:nvSpPr>
        <p:spPr>
          <a:xfrm>
            <a:off x="2723436" y="2137592"/>
            <a:ext cx="43200" cy="1576008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Text 11"/>
          <p:cNvSpPr/>
          <p:nvPr/>
        </p:nvSpPr>
        <p:spPr>
          <a:xfrm>
            <a:off x="2734924" y="1859680"/>
            <a:ext cx="1721882" cy="2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Benchmarking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2857571" y="2266087"/>
            <a:ext cx="1631257" cy="1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建立比較基準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2857571" y="2564904"/>
            <a:ext cx="1771800" cy="754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選對</a:t>
            </a:r>
            <a:r>
              <a:rPr lang="zh-TW" alt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同業</a:t>
            </a:r>
            <a:r>
              <a:rPr lang="en-US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與估值框架</a:t>
            </a: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：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同業比較是否合理</a:t>
            </a: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關鍵</a:t>
            </a: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KPI 是否可比？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Multiple </a:t>
            </a:r>
            <a:r>
              <a:rPr lang="en-US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如何解釋</a:t>
            </a: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4508563" y="2633894"/>
            <a:ext cx="163126" cy="297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4707938" y="2137592"/>
            <a:ext cx="1903133" cy="1575285"/>
          </a:xfrm>
          <a:prstGeom prst="roundRect">
            <a:avLst>
              <a:gd name="adj" fmla="val 5000"/>
            </a:avLst>
          </a:prstGeom>
          <a:solidFill>
            <a:schemeClr val="accent3">
              <a:lumMod val="95000"/>
              <a:alpha val="95000"/>
            </a:schemeClr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Shape 16"/>
          <p:cNvSpPr/>
          <p:nvPr/>
        </p:nvSpPr>
        <p:spPr>
          <a:xfrm>
            <a:off x="4707939" y="2137592"/>
            <a:ext cx="51818" cy="1575285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Text 17"/>
          <p:cNvSpPr/>
          <p:nvPr/>
        </p:nvSpPr>
        <p:spPr>
          <a:xfrm>
            <a:off x="4716016" y="1859680"/>
            <a:ext cx="1721882" cy="2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Equity Story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4852940" y="2266087"/>
            <a:ext cx="1631257" cy="1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精闢</a:t>
            </a: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投資論點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Text 19"/>
          <p:cNvSpPr/>
          <p:nvPr/>
        </p:nvSpPr>
        <p:spPr>
          <a:xfrm>
            <a:off x="4852940" y="2564904"/>
            <a:ext cx="1771800" cy="754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把成果轉成可驗證故事</a:t>
            </a: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：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Growth Catalyst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Margin/Cash Flow Path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主要風險與</a:t>
            </a: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Downside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6641122" y="2633894"/>
            <a:ext cx="163126" cy="297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Shape 21"/>
          <p:cNvSpPr/>
          <p:nvPr/>
        </p:nvSpPr>
        <p:spPr>
          <a:xfrm>
            <a:off x="6810447" y="2137592"/>
            <a:ext cx="1830631" cy="1573839"/>
          </a:xfrm>
          <a:prstGeom prst="roundRect">
            <a:avLst>
              <a:gd name="adj" fmla="val 5000"/>
            </a:avLst>
          </a:prstGeom>
          <a:solidFill>
            <a:schemeClr val="accent3">
              <a:lumMod val="95000"/>
              <a:alpha val="95000"/>
            </a:schemeClr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Shape 22"/>
          <p:cNvSpPr/>
          <p:nvPr/>
        </p:nvSpPr>
        <p:spPr>
          <a:xfrm>
            <a:off x="6810448" y="2137592"/>
            <a:ext cx="51232" cy="1573839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Text 23"/>
          <p:cNvSpPr/>
          <p:nvPr/>
        </p:nvSpPr>
        <p:spPr>
          <a:xfrm>
            <a:off x="6804248" y="1859680"/>
            <a:ext cx="1721882" cy="21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Investor Access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Text 24"/>
          <p:cNvSpPr/>
          <p:nvPr/>
        </p:nvSpPr>
        <p:spPr>
          <a:xfrm>
            <a:off x="6955448" y="2266087"/>
            <a:ext cx="1631257" cy="1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匹配適合資金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Text 25"/>
          <p:cNvSpPr/>
          <p:nvPr/>
        </p:nvSpPr>
        <p:spPr>
          <a:xfrm>
            <a:off x="6955448" y="2564904"/>
            <a:ext cx="1649000" cy="754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找到真正理解商業模式的投資人：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Long-only/Growth Fund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Strategic Investors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5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6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券商協助企業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Re-rating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：四大關鍵環節</a:t>
            </a:r>
          </a:p>
        </p:txBody>
      </p:sp>
      <p:sp>
        <p:nvSpPr>
          <p:cNvPr id="147" name="文字方塊 146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Positioning → Benchmarking → Equity Story → Investor Access</a:t>
            </a:r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；核心是建立正確比較基準，讓市場可驗證地理解公司價值</a:t>
            </a:r>
          </a:p>
        </p:txBody>
      </p:sp>
      <p:sp>
        <p:nvSpPr>
          <p:cNvPr id="148" name="Text 7"/>
          <p:cNvSpPr/>
          <p:nvPr/>
        </p:nvSpPr>
        <p:spPr>
          <a:xfrm>
            <a:off x="647922" y="2564904"/>
            <a:ext cx="18414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釐清公司真正的成長賽道</a:t>
            </a:r>
            <a:r>
              <a:rPr 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是軟體、平台或服務</a:t>
            </a:r>
            <a:r>
              <a:rPr lang="en-US" altLang="zh-TW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一次性收入或經常性收入</a:t>
            </a:r>
            <a:r>
              <a:rPr lang="en-US" altLang="zh-TW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核心成長</a:t>
            </a:r>
            <a:r>
              <a:rPr lang="zh-TW" altLang="en-US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動能</a:t>
            </a:r>
            <a:r>
              <a:rPr lang="en-US" altLang="zh-TW" sz="1200" b="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來自</a:t>
            </a:r>
            <a:r>
              <a:rPr lang="en-US" altLang="zh-TW" sz="1200" b="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Text 44"/>
          <p:cNvSpPr/>
          <p:nvPr/>
        </p:nvSpPr>
        <p:spPr>
          <a:xfrm>
            <a:off x="506755" y="3925685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Re-rating </a:t>
            </a: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如何發生</a:t>
            </a: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0" name="Text 45"/>
          <p:cNvSpPr/>
          <p:nvPr/>
        </p:nvSpPr>
        <p:spPr>
          <a:xfrm>
            <a:off x="2340980" y="3929117"/>
            <a:ext cx="3144671" cy="2213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需要券商、公司與市場三方共同完成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1" name="Shape 46"/>
          <p:cNvSpPr/>
          <p:nvPr/>
        </p:nvSpPr>
        <p:spPr>
          <a:xfrm flipV="1">
            <a:off x="5328456" y="4080482"/>
            <a:ext cx="3348000" cy="723"/>
          </a:xfrm>
          <a:prstGeom prst="line">
            <a:avLst/>
          </a:prstGeom>
          <a:noFill/>
          <a:ln w="12700">
            <a:solidFill>
              <a:srgbClr val="9B7A43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52" name="Shape 47"/>
          <p:cNvSpPr/>
          <p:nvPr/>
        </p:nvSpPr>
        <p:spPr>
          <a:xfrm>
            <a:off x="502922" y="4382869"/>
            <a:ext cx="2395726" cy="569537"/>
          </a:xfrm>
          <a:prstGeom prst="rect">
            <a:avLst/>
          </a:prstGeom>
          <a:solidFill>
            <a:srgbClr val="BFBFBF"/>
          </a:solidFill>
          <a:ln w="12700">
            <a:solidFill>
              <a:srgbClr val="F8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3" name="Text 48"/>
          <p:cNvSpPr/>
          <p:nvPr/>
        </p:nvSpPr>
        <p:spPr>
          <a:xfrm>
            <a:off x="557808" y="4476700"/>
            <a:ext cx="2286000" cy="2036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券商建立市場理解</a:t>
            </a:r>
            <a:endParaRPr lang="en-US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4" name="Text 49"/>
          <p:cNvSpPr/>
          <p:nvPr/>
        </p:nvSpPr>
        <p:spPr>
          <a:xfrm>
            <a:off x="557808" y="4680376"/>
            <a:ext cx="2286000" cy="2232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Market Understanding</a:t>
            </a:r>
            <a:endParaRPr lang="en-US" sz="12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Shape 50"/>
          <p:cNvSpPr/>
          <p:nvPr/>
        </p:nvSpPr>
        <p:spPr>
          <a:xfrm>
            <a:off x="502922" y="4959232"/>
            <a:ext cx="2395726" cy="119919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6" name="Text 51"/>
          <p:cNvSpPr/>
          <p:nvPr/>
        </p:nvSpPr>
        <p:spPr>
          <a:xfrm>
            <a:off x="668690" y="5168430"/>
            <a:ext cx="1383030" cy="773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Positioning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Peer Group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Investor Targeting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7" name="Shape 52"/>
          <p:cNvSpPr/>
          <p:nvPr/>
        </p:nvSpPr>
        <p:spPr>
          <a:xfrm>
            <a:off x="1917954" y="5222743"/>
            <a:ext cx="0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8" name="Text 53"/>
          <p:cNvSpPr/>
          <p:nvPr/>
        </p:nvSpPr>
        <p:spPr>
          <a:xfrm>
            <a:off x="1957872" y="5236322"/>
            <a:ext cx="789900" cy="6924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讓市場看見並理解公司價值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Text 54"/>
          <p:cNvSpPr/>
          <p:nvPr/>
        </p:nvSpPr>
        <p:spPr>
          <a:xfrm>
            <a:off x="2999232" y="5439748"/>
            <a:ext cx="228600" cy="2172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+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0" name="Shape 55"/>
          <p:cNvSpPr/>
          <p:nvPr/>
        </p:nvSpPr>
        <p:spPr>
          <a:xfrm>
            <a:off x="3310128" y="4381424"/>
            <a:ext cx="2514600" cy="575638"/>
          </a:xfrm>
          <a:prstGeom prst="rect">
            <a:avLst/>
          </a:prstGeom>
          <a:solidFill>
            <a:srgbClr val="D7CCB2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61" name="Text 56"/>
          <p:cNvSpPr/>
          <p:nvPr/>
        </p:nvSpPr>
        <p:spPr>
          <a:xfrm>
            <a:off x="3429000" y="4460430"/>
            <a:ext cx="2286000" cy="2036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公司持續交付基本面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Text 57"/>
          <p:cNvSpPr/>
          <p:nvPr/>
        </p:nvSpPr>
        <p:spPr>
          <a:xfrm>
            <a:off x="3429000" y="4700808"/>
            <a:ext cx="2286000" cy="2036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Fundamental Delivery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Shape 58"/>
          <p:cNvSpPr/>
          <p:nvPr/>
        </p:nvSpPr>
        <p:spPr>
          <a:xfrm>
            <a:off x="3310128" y="4959232"/>
            <a:ext cx="2514600" cy="1206072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4" name="Text 59"/>
          <p:cNvSpPr/>
          <p:nvPr/>
        </p:nvSpPr>
        <p:spPr>
          <a:xfrm>
            <a:off x="3456432" y="5168430"/>
            <a:ext cx="1383030" cy="773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Revenue/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KPI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Margin/Cash Flow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Execution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Shape 60"/>
          <p:cNvSpPr/>
          <p:nvPr/>
        </p:nvSpPr>
        <p:spPr>
          <a:xfrm>
            <a:off x="4844034" y="5222743"/>
            <a:ext cx="0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6" name="Text 61"/>
          <p:cNvSpPr/>
          <p:nvPr/>
        </p:nvSpPr>
        <p:spPr>
          <a:xfrm>
            <a:off x="4883952" y="5236322"/>
            <a:ext cx="789900" cy="6924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用數據驗證投資論點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7" name="Text 62"/>
          <p:cNvSpPr/>
          <p:nvPr/>
        </p:nvSpPr>
        <p:spPr>
          <a:xfrm>
            <a:off x="5897880" y="5439748"/>
            <a:ext cx="274320" cy="2172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→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8" name="Shape 63"/>
          <p:cNvSpPr/>
          <p:nvPr/>
        </p:nvSpPr>
        <p:spPr>
          <a:xfrm>
            <a:off x="6263640" y="4385733"/>
            <a:ext cx="2377438" cy="571329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9" name="Text 64"/>
          <p:cNvSpPr/>
          <p:nvPr/>
        </p:nvSpPr>
        <p:spPr>
          <a:xfrm>
            <a:off x="6382456" y="4476700"/>
            <a:ext cx="2221992" cy="2036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市場重新形成預期與價格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0" name="Text 65"/>
          <p:cNvSpPr/>
          <p:nvPr/>
        </p:nvSpPr>
        <p:spPr>
          <a:xfrm>
            <a:off x="6382456" y="4680376"/>
            <a:ext cx="2221992" cy="2232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Market Re-pricing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1" name="Shape 66"/>
          <p:cNvSpPr/>
          <p:nvPr/>
        </p:nvSpPr>
        <p:spPr>
          <a:xfrm>
            <a:off x="6263640" y="4959231"/>
            <a:ext cx="2377438" cy="1206071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2" name="Text 67"/>
          <p:cNvSpPr/>
          <p:nvPr/>
        </p:nvSpPr>
        <p:spPr>
          <a:xfrm>
            <a:off x="6409944" y="5168430"/>
            <a:ext cx="1347826" cy="773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Consensus Revision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Investor Acceptance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Price Discovery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3" name="Shape 68"/>
          <p:cNvSpPr/>
          <p:nvPr/>
        </p:nvSpPr>
        <p:spPr>
          <a:xfrm>
            <a:off x="7758501" y="5222743"/>
            <a:ext cx="0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4" name="Text 69"/>
          <p:cNvSpPr/>
          <p:nvPr/>
        </p:nvSpPr>
        <p:spPr>
          <a:xfrm>
            <a:off x="7740352" y="5236322"/>
            <a:ext cx="809427" cy="6924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反映在估值與股價表現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1724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平行四邊形 36">
            <a:extLst>
              <a:ext uri="{FF2B5EF4-FFF2-40B4-BE49-F238E27FC236}">
                <a16:creationId xmlns:a16="http://schemas.microsoft.com/office/drawing/2014/main" id="{048F1A0D-0A96-4FA3-9996-13FDAF7B797B}"/>
              </a:ext>
            </a:extLst>
          </p:cNvPr>
          <p:cNvSpPr/>
          <p:nvPr/>
        </p:nvSpPr>
        <p:spPr bwMode="auto">
          <a:xfrm>
            <a:off x="457107" y="5671683"/>
            <a:ext cx="8183971" cy="438912"/>
          </a:xfrm>
          <a:prstGeom prst="parallelogram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資本市場不只問你做了什麼，更在意這件事能否轉化為可追蹤的營運成果</a:t>
            </a:r>
            <a:endParaRPr lang="en-US" altLang="zh-TW" sz="14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資訊本身不變，但與投資人的溝通會改變市場理解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標題 1"/>
          <p:cNvSpPr txBox="1">
            <a:spLocks/>
          </p:cNvSpPr>
          <p:nvPr/>
        </p:nvSpPr>
        <p:spPr>
          <a:xfrm>
            <a:off x="457200" y="47667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同一個成長事件，市場如何重新解讀</a:t>
            </a:r>
          </a:p>
        </p:txBody>
      </p:sp>
      <p:sp>
        <p:nvSpPr>
          <p:cNvPr id="13" name="Text 3"/>
          <p:cNvSpPr/>
          <p:nvPr/>
        </p:nvSpPr>
        <p:spPr>
          <a:xfrm>
            <a:off x="457107" y="1556792"/>
            <a:ext cx="2462591" cy="489176"/>
          </a:xfrm>
          <a:prstGeom prst="rect">
            <a:avLst/>
          </a:prstGeom>
          <a:solidFill>
            <a:srgbClr val="F7F7F7"/>
          </a:solidFill>
          <a:ln w="7620">
            <a:solidFill>
              <a:srgbClr val="DADAD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01</a:t>
            </a:r>
            <a:r>
              <a:rPr lang="zh-TW" alt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公司</a:t>
            </a:r>
            <a:r>
              <a:rPr lang="zh-TW" altLang="en-US" sz="1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語言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What happened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024485" y="1666520"/>
            <a:ext cx="188617" cy="224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06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→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317889" y="1556792"/>
            <a:ext cx="2462499" cy="489176"/>
          </a:xfrm>
          <a:prstGeom prst="rect">
            <a:avLst/>
          </a:prstGeom>
          <a:solidFill>
            <a:schemeClr val="accent3">
              <a:lumMod val="95000"/>
            </a:schemeClr>
          </a:solidFill>
          <a:ln w="7620">
            <a:solidFill>
              <a:srgbClr val="DADAD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02</a:t>
            </a:r>
            <a:r>
              <a:rPr lang="zh-TW" alt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資本市場語言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Why it matters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885175" y="1666520"/>
            <a:ext cx="188617" cy="224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06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→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178579" y="1556792"/>
            <a:ext cx="2462499" cy="489176"/>
          </a:xfrm>
          <a:prstGeom prst="rect">
            <a:avLst/>
          </a:prstGeom>
          <a:solidFill>
            <a:schemeClr val="accent3">
              <a:lumMod val="95000"/>
            </a:schemeClr>
          </a:solidFill>
          <a:ln w="7620">
            <a:solidFill>
              <a:srgbClr val="DADAD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03</a:t>
            </a:r>
            <a:r>
              <a:rPr lang="zh-TW" alt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驗證重點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What to track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24720" y="2304835"/>
            <a:ext cx="2039112" cy="332077"/>
          </a:xfrm>
          <a:prstGeom prst="rect">
            <a:avLst/>
          </a:prstGeom>
          <a:solidFill>
            <a:srgbClr val="920000"/>
          </a:solidFill>
          <a:ln w="7620">
            <a:noFill/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營運面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2900992" y="2304835"/>
            <a:ext cx="3769584" cy="332077"/>
          </a:xfrm>
          <a:prstGeom prst="rect">
            <a:avLst/>
          </a:prstGeom>
          <a:solidFill>
            <a:srgbClr val="920000"/>
          </a:solidFill>
          <a:ln w="7620">
            <a:noFill/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市場如何重新解讀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814592" y="2304835"/>
            <a:ext cx="1831008" cy="332077"/>
          </a:xfrm>
          <a:prstGeom prst="rect">
            <a:avLst/>
          </a:prstGeom>
          <a:solidFill>
            <a:srgbClr val="920000"/>
          </a:solidFill>
          <a:ln w="7620">
            <a:noFill/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關鍵</a:t>
            </a: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問題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57198" y="2715285"/>
            <a:ext cx="267521" cy="5952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508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724720" y="2715285"/>
            <a:ext cx="2039112" cy="595250"/>
          </a:xfrm>
          <a:prstGeom prst="rect">
            <a:avLst/>
          </a:prstGeom>
          <a:solidFill>
            <a:srgbClr val="F7F7F7"/>
          </a:solidFill>
          <a:ln w="5080"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產能擴充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新增產線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2900992" y="2715285"/>
            <a:ext cx="3769584" cy="59525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508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just"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產能擴充若由客戶需求與新產品放量驅動，市場將關注其是否形成下一階段營收成長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814592" y="2685423"/>
            <a:ext cx="1826486" cy="625112"/>
          </a:xfrm>
          <a:prstGeom prst="rect">
            <a:avLst/>
          </a:prstGeom>
          <a:solidFill>
            <a:srgbClr val="F7F7F7"/>
          </a:solidFill>
          <a:ln w="508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5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產能利用率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5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訂單覆蓋率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5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毛利率變化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457198" y="3363357"/>
            <a:ext cx="267522" cy="61073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508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724720" y="3378843"/>
            <a:ext cx="2039112" cy="59525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客戶擴張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滲透率提升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2900992" y="3378843"/>
            <a:ext cx="3769584" cy="59525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just">
              <a:buNone/>
            </a:pPr>
            <a:r>
              <a:rPr lang="zh-TW" altLang="en-US" sz="120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客戶基礎擴大與既有客戶持續採用，是否帶動單客價值、續約與營收可預測性提升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724720" y="4042400"/>
            <a:ext cx="2039112" cy="595250"/>
          </a:xfrm>
          <a:prstGeom prst="rect">
            <a:avLst/>
          </a:prstGeom>
          <a:solidFill>
            <a:srgbClr val="F7F7F7"/>
          </a:solidFill>
          <a:ln w="5080"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用戶成長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App下載破百萬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2900992" y="4042400"/>
            <a:ext cx="3769584" cy="59525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508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流量規模能否轉化為活躍度、留存率與付費變現，而非停留在下載量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457198" y="4703787"/>
            <a:ext cx="267522" cy="5974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508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724720" y="4705958"/>
            <a:ext cx="2039112" cy="59525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AI 商業化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功能正式收費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2900992" y="4705958"/>
            <a:ext cx="3769584" cy="59525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AI </a:t>
            </a:r>
            <a:r>
              <a:rPr lang="en-US" sz="120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功能若能提升單客價值、留存或毛利，才可能形成新的成長敘事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A30D7A98-4003-42D1-9D06-0F2C7A59E7CB}"/>
              </a:ext>
            </a:extLst>
          </p:cNvPr>
          <p:cNvSpPr/>
          <p:nvPr/>
        </p:nvSpPr>
        <p:spPr>
          <a:xfrm>
            <a:off x="6822151" y="3378843"/>
            <a:ext cx="1826486" cy="663557"/>
          </a:xfrm>
          <a:prstGeom prst="rect">
            <a:avLst/>
          </a:prstGeom>
          <a:noFill/>
          <a:ln w="508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客戶成長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平均客單價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續約與留存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890106D3-0502-4574-AE10-7BA3CA5FA9B5}"/>
              </a:ext>
            </a:extLst>
          </p:cNvPr>
          <p:cNvSpPr/>
          <p:nvPr/>
        </p:nvSpPr>
        <p:spPr>
          <a:xfrm>
            <a:off x="6814592" y="4042400"/>
            <a:ext cx="1834044" cy="601010"/>
          </a:xfrm>
          <a:prstGeom prst="rect">
            <a:avLst/>
          </a:prstGeom>
          <a:solidFill>
            <a:srgbClr val="F7F7F7"/>
          </a:solidFill>
          <a:ln w="508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zh-TW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MAU/DAU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留存</a:t>
            </a:r>
            <a:r>
              <a:rPr 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率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付費率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43331591-FA11-49A8-873A-5FC1B0989112}"/>
              </a:ext>
            </a:extLst>
          </p:cNvPr>
          <p:cNvSpPr/>
          <p:nvPr/>
        </p:nvSpPr>
        <p:spPr>
          <a:xfrm>
            <a:off x="6814591" y="4637622"/>
            <a:ext cx="1826486" cy="663557"/>
          </a:xfrm>
          <a:prstGeom prst="rect">
            <a:avLst/>
          </a:prstGeom>
          <a:noFill/>
          <a:ln w="508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zh-TW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AI</a:t>
            </a:r>
            <a:r>
              <a:rPr lang="zh-TW" alt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使</a:t>
            </a:r>
            <a:r>
              <a:rPr lang="en-US" sz="115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用率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zh-TW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ARPU</a:t>
            </a:r>
            <a:r>
              <a:rPr lang="zh-TW" alt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影響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5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毛利率</a:t>
            </a:r>
            <a:r>
              <a:rPr lang="zh-TW" altLang="en-US" sz="115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影響</a:t>
            </a:r>
            <a:endParaRPr lang="en-US" sz="115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DE664800-88DE-42C7-9E6C-A29F475941BE}"/>
              </a:ext>
            </a:extLst>
          </p:cNvPr>
          <p:cNvSpPr/>
          <p:nvPr/>
        </p:nvSpPr>
        <p:spPr>
          <a:xfrm>
            <a:off x="457107" y="4027418"/>
            <a:ext cx="267522" cy="6080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508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3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740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平行四邊形 52">
            <a:extLst>
              <a:ext uri="{FF2B5EF4-FFF2-40B4-BE49-F238E27FC236}">
                <a16:creationId xmlns:a16="http://schemas.microsoft.com/office/drawing/2014/main" id="{A0CF430B-C8E5-45BC-9A46-4970232FA8FF}"/>
              </a:ext>
            </a:extLst>
          </p:cNvPr>
          <p:cNvSpPr/>
          <p:nvPr/>
        </p:nvSpPr>
        <p:spPr bwMode="auto">
          <a:xfrm>
            <a:off x="360926" y="5529127"/>
            <a:ext cx="8280152" cy="558406"/>
          </a:xfrm>
          <a:prstGeom prst="parallelogram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Investment Thesis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的核心在於證明市場、時點、競爭優勢、財務成果與風險五項條件同時成立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Text 0"/>
          <p:cNvSpPr/>
          <p:nvPr/>
        </p:nvSpPr>
        <p:spPr>
          <a:xfrm>
            <a:off x="3615208" y="3200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3615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76E44E29-F450-465E-B947-0B6C736D36D2}"/>
              </a:ext>
            </a:extLst>
          </p:cNvPr>
          <p:cNvGrpSpPr/>
          <p:nvPr/>
        </p:nvGrpSpPr>
        <p:grpSpPr>
          <a:xfrm>
            <a:off x="457200" y="1484783"/>
            <a:ext cx="8229600" cy="3764157"/>
            <a:chOff x="457200" y="1709928"/>
            <a:chExt cx="8229600" cy="3591280"/>
          </a:xfrm>
        </p:grpSpPr>
        <p:sp>
          <p:nvSpPr>
            <p:cNvPr id="101" name="Text 3"/>
            <p:cNvSpPr/>
            <p:nvPr/>
          </p:nvSpPr>
          <p:spPr>
            <a:xfrm>
              <a:off x="457200" y="17099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Shape 4"/>
            <p:cNvSpPr/>
            <p:nvPr/>
          </p:nvSpPr>
          <p:spPr>
            <a:xfrm>
              <a:off x="457200" y="1911097"/>
              <a:ext cx="1636776" cy="331261"/>
            </a:xfrm>
            <a:prstGeom prst="rect">
              <a:avLst/>
            </a:prstGeom>
            <a:solidFill>
              <a:srgbClr val="92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" name="Text 5"/>
            <p:cNvSpPr/>
            <p:nvPr/>
          </p:nvSpPr>
          <p:spPr>
            <a:xfrm>
              <a:off x="529946" y="2036773"/>
              <a:ext cx="1491284" cy="10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投資人問題</a:t>
              </a:r>
              <a:endParaRPr 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Shape 6"/>
            <p:cNvSpPr/>
            <p:nvPr/>
          </p:nvSpPr>
          <p:spPr>
            <a:xfrm>
              <a:off x="2093976" y="1911097"/>
              <a:ext cx="2000504" cy="331261"/>
            </a:xfrm>
            <a:prstGeom prst="rect">
              <a:avLst/>
            </a:prstGeom>
            <a:solidFill>
              <a:srgbClr val="92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5" name="Text 7"/>
            <p:cNvSpPr/>
            <p:nvPr/>
          </p:nvSpPr>
          <p:spPr>
            <a:xfrm>
              <a:off x="2166721" y="2036773"/>
              <a:ext cx="1855012" cy="10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想驗證什麼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6" name="Shape 8"/>
            <p:cNvSpPr/>
            <p:nvPr/>
          </p:nvSpPr>
          <p:spPr>
            <a:xfrm>
              <a:off x="4094479" y="1911097"/>
              <a:ext cx="4546599" cy="331261"/>
            </a:xfrm>
            <a:prstGeom prst="rect">
              <a:avLst/>
            </a:prstGeom>
            <a:solidFill>
              <a:srgbClr val="92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" name="Text 9"/>
            <p:cNvSpPr/>
            <p:nvPr/>
          </p:nvSpPr>
          <p:spPr>
            <a:xfrm>
              <a:off x="4167225" y="2036773"/>
              <a:ext cx="4401108" cy="10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</a:t>
              </a:r>
              <a:r>
                <a:rPr lang="zh-TW" alt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需</a:t>
              </a: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準備的</a:t>
              </a:r>
              <a:r>
                <a:rPr lang="zh-TW" alt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資訊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8" name="Shape 10"/>
            <p:cNvSpPr/>
            <p:nvPr/>
          </p:nvSpPr>
          <p:spPr>
            <a:xfrm>
              <a:off x="457200" y="2274322"/>
              <a:ext cx="1636776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" name="Shape 11"/>
            <p:cNvSpPr/>
            <p:nvPr/>
          </p:nvSpPr>
          <p:spPr>
            <a:xfrm>
              <a:off x="2093976" y="2274322"/>
              <a:ext cx="2000504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" name="Shape 12"/>
            <p:cNvSpPr/>
            <p:nvPr/>
          </p:nvSpPr>
          <p:spPr>
            <a:xfrm>
              <a:off x="4094479" y="2274322"/>
              <a:ext cx="4546599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" name="Shape 13"/>
            <p:cNvSpPr/>
            <p:nvPr/>
          </p:nvSpPr>
          <p:spPr>
            <a:xfrm>
              <a:off x="457200" y="2274322"/>
              <a:ext cx="45466" cy="605377"/>
            </a:xfrm>
            <a:prstGeom prst="rect">
              <a:avLst/>
            </a:prstGeom>
            <a:solidFill>
              <a:srgbClr val="92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112" name="Text 14"/>
            <p:cNvSpPr/>
            <p:nvPr/>
          </p:nvSpPr>
          <p:spPr>
            <a:xfrm>
              <a:off x="566318" y="2368951"/>
              <a:ext cx="1936851" cy="151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this industry?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4" name="Text 16"/>
            <p:cNvSpPr/>
            <p:nvPr/>
          </p:nvSpPr>
          <p:spPr>
            <a:xfrm>
              <a:off x="2184908" y="2403470"/>
              <a:ext cx="1818640" cy="161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這個市場值得投資嗎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5" name="Text 17"/>
            <p:cNvSpPr/>
            <p:nvPr/>
          </p:nvSpPr>
          <p:spPr>
            <a:xfrm>
              <a:off x="4211960" y="2397720"/>
              <a:ext cx="4296189" cy="1752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TAM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、產業 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CAGR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、滲透率、供需、競爭格局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6" name="Shape 18"/>
            <p:cNvSpPr/>
            <p:nvPr/>
          </p:nvSpPr>
          <p:spPr>
            <a:xfrm>
              <a:off x="457200" y="2879699"/>
              <a:ext cx="1636776" cy="605377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7" name="Shape 19"/>
            <p:cNvSpPr/>
            <p:nvPr/>
          </p:nvSpPr>
          <p:spPr>
            <a:xfrm>
              <a:off x="2093976" y="2879699"/>
              <a:ext cx="2000504" cy="605377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8" name="Shape 20"/>
            <p:cNvSpPr/>
            <p:nvPr/>
          </p:nvSpPr>
          <p:spPr>
            <a:xfrm>
              <a:off x="4094479" y="2879699"/>
              <a:ext cx="4546599" cy="605377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9" name="Shape 21"/>
            <p:cNvSpPr/>
            <p:nvPr/>
          </p:nvSpPr>
          <p:spPr>
            <a:xfrm>
              <a:off x="457200" y="2879699"/>
              <a:ext cx="45466" cy="605377"/>
            </a:xfrm>
            <a:prstGeom prst="rect">
              <a:avLst/>
            </a:prstGeom>
            <a:solidFill>
              <a:srgbClr val="92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0" name="Text 22"/>
            <p:cNvSpPr/>
            <p:nvPr/>
          </p:nvSpPr>
          <p:spPr>
            <a:xfrm>
              <a:off x="566318" y="2990685"/>
              <a:ext cx="1409446" cy="151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now?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2" name="Text 24"/>
            <p:cNvSpPr/>
            <p:nvPr/>
          </p:nvSpPr>
          <p:spPr>
            <a:xfrm>
              <a:off x="2184908" y="3051542"/>
              <a:ext cx="1818640" cy="161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為什麼是現在這個節點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3" name="Text 25"/>
            <p:cNvSpPr/>
            <p:nvPr/>
          </p:nvSpPr>
          <p:spPr>
            <a:xfrm>
              <a:off x="4221784" y="3065129"/>
              <a:ext cx="4291989" cy="20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技術轉折、產品週期、政策法規變化、規模經濟、客戶導入、生態系成熟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4" name="Shape 26"/>
            <p:cNvSpPr/>
            <p:nvPr/>
          </p:nvSpPr>
          <p:spPr>
            <a:xfrm>
              <a:off x="457200" y="3485077"/>
              <a:ext cx="1636776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" name="Shape 27"/>
            <p:cNvSpPr/>
            <p:nvPr/>
          </p:nvSpPr>
          <p:spPr>
            <a:xfrm>
              <a:off x="2093976" y="3485077"/>
              <a:ext cx="2000504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" name="Shape 28"/>
            <p:cNvSpPr/>
            <p:nvPr/>
          </p:nvSpPr>
          <p:spPr>
            <a:xfrm>
              <a:off x="4094479" y="3485077"/>
              <a:ext cx="4546599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7" name="Shape 29"/>
            <p:cNvSpPr/>
            <p:nvPr/>
          </p:nvSpPr>
          <p:spPr>
            <a:xfrm>
              <a:off x="457200" y="3485077"/>
              <a:ext cx="45466" cy="605377"/>
            </a:xfrm>
            <a:prstGeom prst="rect">
              <a:avLst/>
            </a:prstGeom>
            <a:solidFill>
              <a:srgbClr val="92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" name="Text 30"/>
            <p:cNvSpPr/>
            <p:nvPr/>
          </p:nvSpPr>
          <p:spPr>
            <a:xfrm>
              <a:off x="566318" y="3596061"/>
              <a:ext cx="1527658" cy="161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this company?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0" name="Text 32"/>
            <p:cNvSpPr/>
            <p:nvPr/>
          </p:nvSpPr>
          <p:spPr>
            <a:xfrm>
              <a:off x="2184908" y="3627606"/>
              <a:ext cx="1909570" cy="172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為什麼贏家可能是這家公司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1" name="Text 33"/>
            <p:cNvSpPr/>
            <p:nvPr/>
          </p:nvSpPr>
          <p:spPr>
            <a:xfrm>
              <a:off x="4221784" y="3590063"/>
              <a:ext cx="4291989" cy="20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產品差異化、核心技術 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IP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、核心客戶、通路、競爭壁壘、執行力</a:t>
              </a:r>
              <a:endPara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2" name="Shape 34"/>
            <p:cNvSpPr/>
            <p:nvPr/>
          </p:nvSpPr>
          <p:spPr>
            <a:xfrm>
              <a:off x="457200" y="4090454"/>
              <a:ext cx="1636776" cy="605377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3" name="Shape 35"/>
            <p:cNvSpPr/>
            <p:nvPr/>
          </p:nvSpPr>
          <p:spPr>
            <a:xfrm>
              <a:off x="2093976" y="4090454"/>
              <a:ext cx="2000504" cy="605377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" name="Shape 36"/>
            <p:cNvSpPr/>
            <p:nvPr/>
          </p:nvSpPr>
          <p:spPr>
            <a:xfrm>
              <a:off x="4094479" y="4090454"/>
              <a:ext cx="4546599" cy="605377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" name="Shape 37"/>
            <p:cNvSpPr/>
            <p:nvPr/>
          </p:nvSpPr>
          <p:spPr>
            <a:xfrm>
              <a:off x="457200" y="4090454"/>
              <a:ext cx="45466" cy="605377"/>
            </a:xfrm>
            <a:prstGeom prst="rect">
              <a:avLst/>
            </a:prstGeom>
            <a:solidFill>
              <a:srgbClr val="92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6" name="Text 38"/>
            <p:cNvSpPr/>
            <p:nvPr/>
          </p:nvSpPr>
          <p:spPr>
            <a:xfrm>
              <a:off x="566318" y="4201440"/>
              <a:ext cx="1409446" cy="1513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Can you execute?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8" name="Text 40"/>
            <p:cNvSpPr/>
            <p:nvPr/>
          </p:nvSpPr>
          <p:spPr>
            <a:xfrm>
              <a:off x="2184907" y="4217048"/>
              <a:ext cx="1836825" cy="1882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成長機會能否轉為財務效果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9" name="Text 41"/>
            <p:cNvSpPr/>
            <p:nvPr/>
          </p:nvSpPr>
          <p:spPr>
            <a:xfrm>
              <a:off x="4229552" y="4272916"/>
              <a:ext cx="4291989" cy="20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訂單轉營收程度、產能及交付能力、留存率、單位經濟、獲利能力、現金流狀況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0" name="Shape 42"/>
            <p:cNvSpPr/>
            <p:nvPr/>
          </p:nvSpPr>
          <p:spPr>
            <a:xfrm>
              <a:off x="457200" y="4695831"/>
              <a:ext cx="1636776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1" name="Shape 43"/>
            <p:cNvSpPr/>
            <p:nvPr/>
          </p:nvSpPr>
          <p:spPr>
            <a:xfrm>
              <a:off x="2093976" y="4695831"/>
              <a:ext cx="2000504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2" name="Shape 44"/>
            <p:cNvSpPr/>
            <p:nvPr/>
          </p:nvSpPr>
          <p:spPr>
            <a:xfrm>
              <a:off x="4094479" y="4695831"/>
              <a:ext cx="4546599" cy="605377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3" name="Shape 45"/>
            <p:cNvSpPr/>
            <p:nvPr/>
          </p:nvSpPr>
          <p:spPr>
            <a:xfrm>
              <a:off x="457200" y="4695831"/>
              <a:ext cx="45466" cy="605377"/>
            </a:xfrm>
            <a:prstGeom prst="rect">
              <a:avLst/>
            </a:prstGeom>
            <a:solidFill>
              <a:srgbClr val="92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4" name="Text 46"/>
            <p:cNvSpPr/>
            <p:nvPr/>
          </p:nvSpPr>
          <p:spPr>
            <a:xfrm>
              <a:off x="566318" y="4806817"/>
              <a:ext cx="1645869" cy="141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What can go wrong?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6" name="Text 48"/>
            <p:cNvSpPr/>
            <p:nvPr/>
          </p:nvSpPr>
          <p:spPr>
            <a:xfrm>
              <a:off x="2184908" y="4936494"/>
              <a:ext cx="1818640" cy="161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什麼情況會推翻這套投資論點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7" name="Text 49"/>
            <p:cNvSpPr/>
            <p:nvPr/>
          </p:nvSpPr>
          <p:spPr>
            <a:xfrm>
              <a:off x="4221784" y="4896136"/>
              <a:ext cx="4291989" cy="20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客戶集中度、新進者、法規政策變化、資安、技術替代、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Cash Burn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、公司治理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61" name="Text 63"/>
          <p:cNvSpPr/>
          <p:nvPr/>
        </p:nvSpPr>
        <p:spPr>
          <a:xfrm>
            <a:off x="713232" y="5677248"/>
            <a:ext cx="7845552" cy="15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Rectangle 36"/>
          <p:cNvSpPr/>
          <p:nvPr/>
        </p:nvSpPr>
        <p:spPr>
          <a:xfrm>
            <a:off x="457200" y="986414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法人溝通的終點：形成可投資的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Investment Thesis</a:t>
            </a:r>
            <a:endParaRPr lang="zh-TW" altLang="en-US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文字方塊 164"/>
          <p:cNvSpPr txBox="1"/>
          <p:nvPr/>
        </p:nvSpPr>
        <p:spPr>
          <a:xfrm>
            <a:off x="414195" y="1139183"/>
            <a:ext cx="8280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從市場機會一路驗證到執行能力與風險，讓投資人建立完整投資判斷</a:t>
            </a:r>
          </a:p>
        </p:txBody>
      </p:sp>
    </p:spTree>
    <p:extLst>
      <p:ext uri="{BB962C8B-B14F-4D97-AF65-F5344CB8AC3E}">
        <p14:creationId xmlns:p14="http://schemas.microsoft.com/office/powerpoint/2010/main" val="4100818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邊形 9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1864297" y="23050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259904" y="24995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資本市場如何為企業定價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225759" y="12916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" name="圖片 16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7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525968"/>
      </p:ext>
    </p:extLst>
  </p:cSld>
  <p:clrMapOvr>
    <a:masterClrMapping/>
  </p:clrMapOvr>
  <p:transition>
    <p:spli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字方塊 43"/>
          <p:cNvSpPr txBox="1"/>
          <p:nvPr/>
        </p:nvSpPr>
        <p:spPr>
          <a:xfrm>
            <a:off x="414195" y="1139183"/>
            <a:ext cx="8280152" cy="306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傳統成熟公司與新經濟公司具備不同體質，亦有不同評估指標，須找到公司價值基礎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5085184"/>
            <a:ext cx="3863339" cy="2431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500" b="1">
                <a:solidFill>
                  <a:srgbClr val="5A5A5A"/>
                </a:solidFill>
                <a:latin typeface="Microsoft JhengHei"/>
              </a:defRPr>
            </a:pPr>
            <a:r>
              <a:rPr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傳統成熟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公司</a:t>
            </a:r>
            <a:endParaRPr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07985" y="5085184"/>
            <a:ext cx="3840479" cy="2431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500" b="1">
                <a:solidFill>
                  <a:srgbClr val="D20000"/>
                </a:solidFill>
                <a:latin typeface="Microsoft JhengHei"/>
              </a:defRPr>
            </a:pPr>
            <a:r>
              <a:rPr sz="1400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</a:t>
            </a:r>
            <a:endParaRPr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2637" y="5462030"/>
            <a:ext cx="603919" cy="775282"/>
          </a:xfrm>
          <a:prstGeom prst="roundRect">
            <a:avLst/>
          </a:prstGeom>
          <a:solidFill>
            <a:srgbClr val="D7CCB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2637" y="5777201"/>
            <a:ext cx="603919" cy="214251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80" b="1">
                <a:solidFill>
                  <a:srgbClr val="232323"/>
                </a:solidFill>
                <a:latin typeface="Arial"/>
              </a:defRPr>
            </a:pPr>
            <a:r>
              <a:rPr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Revenue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1096556" y="5849671"/>
            <a:ext cx="116138" cy="0"/>
          </a:xfrm>
          <a:prstGeom prst="line">
            <a:avLst/>
          </a:prstGeom>
          <a:ln w="127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228180" y="5462030"/>
            <a:ext cx="603919" cy="775282"/>
          </a:xfrm>
          <a:prstGeom prst="roundRect">
            <a:avLst/>
          </a:prstGeom>
          <a:solidFill>
            <a:srgbClr val="D7CCB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5962" y="5685146"/>
            <a:ext cx="688352" cy="335476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80" b="1">
                <a:solidFill>
                  <a:srgbClr val="232323"/>
                </a:solidFill>
                <a:latin typeface="Arial"/>
              </a:defRPr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Operating</a:t>
            </a:r>
          </a:p>
          <a:p>
            <a:pPr algn="ctr">
              <a:defRPr sz="780" b="1">
                <a:solidFill>
                  <a:srgbClr val="232323"/>
                </a:solidFill>
                <a:latin typeface="Arial"/>
              </a:defRPr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Profit</a:t>
            </a:r>
            <a:endParaRPr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1832100" y="5849671"/>
            <a:ext cx="116137" cy="0"/>
          </a:xfrm>
          <a:prstGeom prst="line">
            <a:avLst/>
          </a:prstGeom>
          <a:ln w="127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63722" y="5462030"/>
            <a:ext cx="603919" cy="775282"/>
          </a:xfrm>
          <a:prstGeom prst="roundRect">
            <a:avLst/>
          </a:prstGeom>
          <a:solidFill>
            <a:srgbClr val="D7CCB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3722" y="5692241"/>
            <a:ext cx="603919" cy="39581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80" b="1">
                <a:solidFill>
                  <a:srgbClr val="232323"/>
                </a:solidFill>
                <a:latin typeface="Arial"/>
              </a:defRPr>
            </a:pPr>
            <a:r>
              <a:rPr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Net Income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2567641" y="5849671"/>
            <a:ext cx="116138" cy="0"/>
          </a:xfrm>
          <a:prstGeom prst="line">
            <a:avLst/>
          </a:prstGeom>
          <a:ln w="127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99263" y="5462030"/>
            <a:ext cx="603919" cy="775282"/>
          </a:xfrm>
          <a:prstGeom prst="roundRect">
            <a:avLst/>
          </a:prstGeom>
          <a:solidFill>
            <a:srgbClr val="D7CCB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99263" y="5777201"/>
            <a:ext cx="603919" cy="214251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80" b="1">
                <a:solidFill>
                  <a:srgbClr val="232323"/>
                </a:solidFill>
                <a:latin typeface="Arial"/>
              </a:defRPr>
            </a:pPr>
            <a:r>
              <a:rPr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EPS</a:t>
            </a:r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3303184" y="5849671"/>
            <a:ext cx="116138" cy="0"/>
          </a:xfrm>
          <a:prstGeom prst="line">
            <a:avLst/>
          </a:prstGeom>
          <a:ln w="127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34807" y="5462030"/>
            <a:ext cx="603919" cy="775282"/>
          </a:xfrm>
          <a:prstGeom prst="roundRect">
            <a:avLst/>
          </a:prstGeom>
          <a:solidFill>
            <a:srgbClr val="D7CCB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34807" y="5777201"/>
            <a:ext cx="603919" cy="214251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80" b="1">
                <a:solidFill>
                  <a:srgbClr val="232323"/>
                </a:solidFill>
                <a:latin typeface="Arial"/>
              </a:defRPr>
            </a:pPr>
            <a:r>
              <a:rPr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1444" y="5482807"/>
            <a:ext cx="634889" cy="77528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51444" y="5767549"/>
            <a:ext cx="634889" cy="18158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50" b="1">
                <a:solidFill>
                  <a:srgbClr val="D20000"/>
                </a:solidFill>
                <a:latin typeface="Arial"/>
              </a:defRPr>
            </a:pPr>
            <a:r>
              <a:rPr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Users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>
            <a:off x="5686333" y="5849671"/>
            <a:ext cx="123881" cy="0"/>
          </a:xfrm>
          <a:prstGeom prst="line">
            <a:avLst/>
          </a:prstGeom>
          <a:ln w="12700">
            <a:solidFill>
              <a:srgbClr val="92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786986" y="5482807"/>
            <a:ext cx="634889" cy="77528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86986" y="5770694"/>
            <a:ext cx="634889" cy="18158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50" b="1">
                <a:solidFill>
                  <a:srgbClr val="D20000"/>
                </a:solidFill>
                <a:latin typeface="Arial"/>
              </a:defRPr>
            </a:pPr>
            <a:r>
              <a:rPr sz="1000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ARR</a:t>
            </a:r>
            <a:endParaRPr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6421876" y="5849671"/>
            <a:ext cx="123881" cy="0"/>
          </a:xfrm>
          <a:prstGeom prst="line">
            <a:avLst/>
          </a:prstGeom>
          <a:ln w="12700">
            <a:solidFill>
              <a:srgbClr val="92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22529" y="5482807"/>
            <a:ext cx="634889" cy="77528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83816" y="5777201"/>
            <a:ext cx="735541" cy="18158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50" b="1">
                <a:solidFill>
                  <a:srgbClr val="D20000"/>
                </a:solidFill>
                <a:latin typeface="Arial"/>
              </a:defRPr>
            </a:pPr>
            <a:r>
              <a:rPr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Retention</a:t>
            </a:r>
          </a:p>
        </p:txBody>
      </p:sp>
      <p:cxnSp>
        <p:nvCxnSpPr>
          <p:cNvPr id="31" name="Connector 30"/>
          <p:cNvCxnSpPr>
            <a:cxnSpLocks/>
          </p:cNvCxnSpPr>
          <p:nvPr/>
        </p:nvCxnSpPr>
        <p:spPr>
          <a:xfrm>
            <a:off x="7157418" y="5849671"/>
            <a:ext cx="123881" cy="0"/>
          </a:xfrm>
          <a:prstGeom prst="line">
            <a:avLst/>
          </a:prstGeom>
          <a:ln w="12700">
            <a:solidFill>
              <a:srgbClr val="92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58071" y="5482807"/>
            <a:ext cx="634889" cy="77528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81297" y="5682697"/>
            <a:ext cx="634889" cy="335476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50" b="1">
                <a:solidFill>
                  <a:srgbClr val="D20000"/>
                </a:solidFill>
                <a:latin typeface="Arial"/>
              </a:defRPr>
            </a:pPr>
            <a:r>
              <a:rPr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Unit Econ.</a:t>
            </a:r>
          </a:p>
        </p:txBody>
      </p:sp>
      <p:cxnSp>
        <p:nvCxnSpPr>
          <p:cNvPr id="34" name="Connector 33"/>
          <p:cNvCxnSpPr>
            <a:cxnSpLocks/>
          </p:cNvCxnSpPr>
          <p:nvPr/>
        </p:nvCxnSpPr>
        <p:spPr>
          <a:xfrm>
            <a:off x="7892961" y="5849671"/>
            <a:ext cx="123881" cy="0"/>
          </a:xfrm>
          <a:prstGeom prst="line">
            <a:avLst/>
          </a:prstGeom>
          <a:ln w="12700">
            <a:solidFill>
              <a:srgbClr val="92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993614" y="5482807"/>
            <a:ext cx="634889" cy="77528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14716" y="5785132"/>
            <a:ext cx="634889" cy="18158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750" b="1">
                <a:solidFill>
                  <a:srgbClr val="D20000"/>
                </a:solidFill>
                <a:latin typeface="Arial"/>
              </a:defRPr>
            </a:pPr>
            <a:r>
              <a:rPr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FCF Path</a:t>
            </a:r>
          </a:p>
        </p:txBody>
      </p:sp>
      <p:sp>
        <p:nvSpPr>
          <p:cNvPr id="43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為企業定價：須先區分企業類型</a:t>
            </a:r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6423608F-101D-444F-A2DF-3DE24F4748D1}"/>
              </a:ext>
            </a:extLst>
          </p:cNvPr>
          <p:cNvSpPr/>
          <p:nvPr/>
        </p:nvSpPr>
        <p:spPr>
          <a:xfrm>
            <a:off x="4094764" y="5012607"/>
            <a:ext cx="1664208" cy="301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8" name="Table 6">
            <a:extLst>
              <a:ext uri="{FF2B5EF4-FFF2-40B4-BE49-F238E27FC236}">
                <a16:creationId xmlns:a16="http://schemas.microsoft.com/office/drawing/2014/main" id="{9AEC1556-81D6-4286-BDA8-1DE1D21EC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482900"/>
              </p:ext>
            </p:extLst>
          </p:nvPr>
        </p:nvGraphicFramePr>
        <p:xfrm>
          <a:off x="457199" y="1524783"/>
          <a:ext cx="8183881" cy="3128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2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0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傳統公司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新經濟公司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驅動力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土地、勞動力、實體資本、機器設備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數位科技、數據、智慧財產權、網路效應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資產型態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資產重型（重工業、製造業、連鎖零售）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資產輕型（軟體、雲端服務、數位平台）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9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增長模式</a:t>
                      </a:r>
                      <a:endParaRPr lang="en-US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線性增長，受限於產能與實體店面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指數型增長，邊際成本接近於零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9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客戶關係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單向交易（賣方到買方）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持續互動（訂閱制、社群、生態系留存）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4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代表產業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石化、鋼鐵、傳統金融、製造業等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電子商務、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SaaS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、串流媒體、金融科技等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Text 28">
            <a:extLst>
              <a:ext uri="{FF2B5EF4-FFF2-40B4-BE49-F238E27FC236}">
                <a16:creationId xmlns:a16="http://schemas.microsoft.com/office/drawing/2014/main" id="{BBA458AA-5E20-4BC6-9822-F92831830CF7}"/>
              </a:ext>
            </a:extLst>
          </p:cNvPr>
          <p:cNvSpPr/>
          <p:nvPr/>
        </p:nvSpPr>
        <p:spPr>
          <a:xfrm>
            <a:off x="457199" y="4813388"/>
            <a:ext cx="3129488" cy="2401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指標比較：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3581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57595"/>
              </p:ext>
            </p:extLst>
          </p:nvPr>
        </p:nvGraphicFramePr>
        <p:xfrm>
          <a:off x="457200" y="1598953"/>
          <a:ext cx="8183880" cy="4261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68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商業模式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規模指標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品質指標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效率指標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常見估值參考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SaaS </a:t>
                      </a:r>
                      <a:r>
                        <a:rPr lang="zh-TW" alt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軟體服務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年度經常性收入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 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NRR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淨收入留存率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 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法則／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CAC 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回收期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/ARR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Marketplace </a:t>
                      </a:r>
                      <a:r>
                        <a:rPr lang="zh-TW" alt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GMV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交易總額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營收成長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重複交易率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抽成率／貢獻毛利率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/GMV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訂閱制／</a:t>
                      </a:r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App</a:t>
                      </a:r>
                      <a:endParaRPr 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訂閱戶／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MAU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月活躍使用者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訂閱戶／營收成長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分群留存率／流失率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LTV/CAC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EV/Revenue；</a:t>
                      </a:r>
                    </a:p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成熟後看 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P/E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FinTech</a:t>
                      </a:r>
                    </a:p>
                    <a:p>
                      <a:pPr algn="l"/>
                      <a:r>
                        <a:rPr lang="zh-TW" alt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金融科技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TPV</a:t>
                      </a:r>
                      <a:r>
                        <a:rPr lang="zh-TW" altLang="en-US" sz="1250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50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總支付金額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AUM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資產管理規模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TPV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AUM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／營收成長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信用品質／損失率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貢獻利潤／成本效率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依模式而不同：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P/B、P/E、EV/Revenue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</a:t>
                      </a:r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</a:t>
                      </a:r>
                      <a:endParaRPr lang="zh-TW" alt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ARR／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使用量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／使用量成長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留存率／擴張率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毛利率／運算成本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</a:t>
                      </a:r>
                      <a:endParaRPr 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新經濟公司：若沒有穩定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EPS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，市場會看什麼？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C05782-8B67-42A1-B41A-DA5AEE416B7E}"/>
              </a:ext>
            </a:extLst>
          </p:cNvPr>
          <p:cNvSpPr txBox="1"/>
          <p:nvPr/>
        </p:nvSpPr>
        <p:spPr>
          <a:xfrm>
            <a:off x="414195" y="1139183"/>
            <a:ext cx="8280152" cy="306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先確認市場用哪一組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KPI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理解公司，再依商業模式與成熟度選擇合適的評估框架</a:t>
            </a:r>
          </a:p>
        </p:txBody>
      </p:sp>
    </p:spTree>
    <p:extLst>
      <p:ext uri="{BB962C8B-B14F-4D97-AF65-F5344CB8AC3E}">
        <p14:creationId xmlns:p14="http://schemas.microsoft.com/office/powerpoint/2010/main" val="1179729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平行四邊形 61">
            <a:extLst>
              <a:ext uri="{FF2B5EF4-FFF2-40B4-BE49-F238E27FC236}">
                <a16:creationId xmlns:a16="http://schemas.microsoft.com/office/drawing/2014/main" id="{1C4C4259-8179-414F-B64C-9C5372925A36}"/>
              </a:ext>
            </a:extLst>
          </p:cNvPr>
          <p:cNvSpPr/>
          <p:nvPr/>
        </p:nvSpPr>
        <p:spPr bwMode="auto">
          <a:xfrm>
            <a:off x="395536" y="5504182"/>
            <a:ext cx="8011633" cy="608729"/>
          </a:xfrm>
          <a:prstGeom prst="parallelogram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40386" y="1858905"/>
            <a:ext cx="7560000" cy="0"/>
          </a:xfrm>
          <a:prstGeom prst="line">
            <a:avLst/>
          </a:prstGeom>
          <a:noFill/>
          <a:ln w="25400">
            <a:solidFill>
              <a:srgbClr val="A67F4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71600" y="1772816"/>
            <a:ext cx="168176" cy="182508"/>
          </a:xfrm>
          <a:prstGeom prst="ellipse">
            <a:avLst/>
          </a:prstGeom>
          <a:solidFill>
            <a:srgbClr val="D7CCB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26591" y="2106028"/>
            <a:ext cx="822195" cy="482883"/>
          </a:xfrm>
          <a:prstGeom prst="roundRect">
            <a:avLst>
              <a:gd name="adj" fmla="val 14286"/>
            </a:avLst>
          </a:prstGeom>
          <a:solidFill>
            <a:srgbClr val="D7CCB2"/>
          </a:solidFill>
          <a:ln w="10160">
            <a:solidFill>
              <a:srgbClr val="D7CCB2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6488" y="2163059"/>
            <a:ext cx="962399" cy="35489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T0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原始定位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87600" y="1772816"/>
            <a:ext cx="168176" cy="182508"/>
          </a:xfrm>
          <a:prstGeom prst="ellipse">
            <a:avLst/>
          </a:prstGeom>
          <a:solidFill>
            <a:srgbClr val="D7CCB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66013" y="2099760"/>
            <a:ext cx="822195" cy="482883"/>
          </a:xfrm>
          <a:prstGeom prst="roundRect">
            <a:avLst>
              <a:gd name="adj" fmla="val 14286"/>
            </a:avLst>
          </a:prstGeom>
          <a:solidFill>
            <a:srgbClr val="D7CCB2"/>
          </a:solidFill>
          <a:ln w="10160">
            <a:solidFill>
              <a:srgbClr val="D7CCB2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95910" y="2155454"/>
            <a:ext cx="962399" cy="35489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T1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題材出現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07904" y="1772816"/>
            <a:ext cx="168176" cy="182508"/>
          </a:xfrm>
          <a:prstGeom prst="ellipse">
            <a:avLst/>
          </a:prstGeom>
          <a:solidFill>
            <a:srgbClr val="9200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96639" y="2113343"/>
            <a:ext cx="822195" cy="482883"/>
          </a:xfrm>
          <a:prstGeom prst="roundRect">
            <a:avLst>
              <a:gd name="adj" fmla="val 14286"/>
            </a:avLst>
          </a:prstGeom>
          <a:solidFill>
            <a:srgbClr val="920000"/>
          </a:solidFill>
          <a:ln w="10160">
            <a:noFill/>
            <a:prstDash val="solid"/>
          </a:ln>
        </p:spPr>
        <p:txBody>
          <a:bodyPr/>
          <a:lstStyle/>
          <a:p>
            <a:endParaRPr lang="zh-TW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22436" y="2163059"/>
            <a:ext cx="962399" cy="354893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T2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訂單驗證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51896" y="1772816"/>
            <a:ext cx="168176" cy="182508"/>
          </a:xfrm>
          <a:prstGeom prst="ellipse">
            <a:avLst/>
          </a:prstGeom>
          <a:solidFill>
            <a:srgbClr val="9200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25450" y="2106027"/>
            <a:ext cx="822195" cy="482883"/>
          </a:xfrm>
          <a:prstGeom prst="roundRect">
            <a:avLst>
              <a:gd name="adj" fmla="val 14286"/>
            </a:avLst>
          </a:prstGeom>
          <a:solidFill>
            <a:srgbClr val="920000"/>
          </a:solidFill>
          <a:ln w="1016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69252" y="2167411"/>
            <a:ext cx="962399" cy="354893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T3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營收貢獻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20048" y="1772816"/>
            <a:ext cx="168176" cy="182508"/>
          </a:xfrm>
          <a:prstGeom prst="ellipse">
            <a:avLst/>
          </a:prstGeom>
          <a:solidFill>
            <a:srgbClr val="9200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14078" y="2099760"/>
            <a:ext cx="822195" cy="482883"/>
          </a:xfrm>
          <a:prstGeom prst="roundRect">
            <a:avLst>
              <a:gd name="adj" fmla="val 14286"/>
            </a:avLst>
          </a:prstGeom>
          <a:solidFill>
            <a:srgbClr val="920000"/>
          </a:solidFill>
          <a:ln w="1016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46334" y="2158918"/>
            <a:ext cx="962399" cy="354893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T4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獲利反映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716192" y="1772816"/>
            <a:ext cx="168176" cy="182508"/>
          </a:xfrm>
          <a:prstGeom prst="ellipse">
            <a:avLst/>
          </a:prstGeom>
          <a:solidFill>
            <a:srgbClr val="9200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396619" y="2097503"/>
            <a:ext cx="822195" cy="482883"/>
          </a:xfrm>
          <a:prstGeom prst="roundRect">
            <a:avLst>
              <a:gd name="adj" fmla="val 14286"/>
            </a:avLst>
          </a:prstGeom>
          <a:solidFill>
            <a:srgbClr val="920000"/>
          </a:solidFill>
          <a:ln w="1016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 sz="105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26516" y="2155454"/>
            <a:ext cx="962399" cy="354893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T5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法人認可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809AE3D0-97E4-4E61-967C-0AAA0C596BB5}"/>
              </a:ext>
            </a:extLst>
          </p:cNvPr>
          <p:cNvGrpSpPr/>
          <p:nvPr/>
        </p:nvGrpSpPr>
        <p:grpSpPr>
          <a:xfrm>
            <a:off x="543329" y="2764912"/>
            <a:ext cx="7863840" cy="1128578"/>
            <a:chOff x="543329" y="2764911"/>
            <a:chExt cx="7863840" cy="1139559"/>
          </a:xfrm>
        </p:grpSpPr>
        <p:sp>
          <p:nvSpPr>
            <p:cNvPr id="9" name="Shape 7"/>
            <p:cNvSpPr/>
            <p:nvPr/>
          </p:nvSpPr>
          <p:spPr>
            <a:xfrm>
              <a:off x="543329" y="2764911"/>
              <a:ext cx="1188720" cy="1139559"/>
            </a:xfrm>
            <a:prstGeom prst="roundRect">
              <a:avLst>
                <a:gd name="adj" fmla="val 4464"/>
              </a:avLst>
            </a:prstGeom>
            <a:solidFill>
              <a:schemeClr val="accent3">
                <a:lumMod val="95000"/>
              </a:schemeClr>
            </a:solidFill>
            <a:ln w="1016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16481" y="2874640"/>
              <a:ext cx="1097280" cy="80467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 lnSpcReduction="10000"/>
            </a:bodyPr>
            <a:lstStyle/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傳統自動化／設備公司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低成長或景氣循環框架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1860065" y="2764911"/>
              <a:ext cx="1232248" cy="1139559"/>
            </a:xfrm>
            <a:prstGeom prst="roundRect">
              <a:avLst>
                <a:gd name="adj" fmla="val 4464"/>
              </a:avLst>
            </a:prstGeom>
            <a:solidFill>
              <a:schemeClr val="accent3">
                <a:lumMod val="95000"/>
              </a:schemeClr>
            </a:solidFill>
            <a:ln w="1016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1878353" y="2874640"/>
              <a:ext cx="1213960" cy="80467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 err="1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半導體、先進封</a:t>
              </a:r>
              <a:r>
                <a:rPr lang="zh-TW" alt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裝、</a:t>
              </a: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AI/HPC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 err="1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成為新成長想像</a:t>
              </a:r>
              <a:r>
                <a:rPr lang="zh-TW" alt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空間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3213377" y="2764911"/>
              <a:ext cx="1188720" cy="1139559"/>
            </a:xfrm>
            <a:prstGeom prst="roundRect">
              <a:avLst>
                <a:gd name="adj" fmla="val 4464"/>
              </a:avLst>
            </a:prstGeom>
            <a:solidFill>
              <a:schemeClr val="bg2">
                <a:lumMod val="20000"/>
                <a:lumOff val="80000"/>
              </a:schemeClr>
            </a:solidFill>
            <a:ln w="1016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3213377" y="2764912"/>
              <a:ext cx="49710" cy="1139558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3338816" y="2850664"/>
              <a:ext cx="1063281" cy="961247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客戶認證、Design-in、訂單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驗證需求不是口號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4548401" y="2764911"/>
              <a:ext cx="1188720" cy="1139559"/>
            </a:xfrm>
            <a:prstGeom prst="roundRect">
              <a:avLst>
                <a:gd name="adj" fmla="val 4464"/>
              </a:avLst>
            </a:prstGeom>
            <a:solidFill>
              <a:schemeClr val="bg2">
                <a:lumMod val="20000"/>
                <a:lumOff val="80000"/>
              </a:schemeClr>
            </a:solidFill>
            <a:ln w="1016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4548401" y="2764911"/>
              <a:ext cx="45719" cy="1139541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4659313" y="2874640"/>
              <a:ext cx="1060704" cy="80467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新業務營收占比提升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從題材進入財報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5883425" y="2764911"/>
              <a:ext cx="1188720" cy="1139559"/>
            </a:xfrm>
            <a:prstGeom prst="roundRect">
              <a:avLst>
                <a:gd name="adj" fmla="val 4464"/>
              </a:avLst>
            </a:prstGeom>
            <a:solidFill>
              <a:schemeClr val="bg2">
                <a:lumMod val="20000"/>
                <a:lumOff val="80000"/>
              </a:schemeClr>
            </a:solidFill>
            <a:ln w="1016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5883425" y="2764912"/>
              <a:ext cx="45719" cy="112696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006817" y="2852936"/>
              <a:ext cx="1001916" cy="80467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 err="1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毛利率、EPS、現金流改善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 err="1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形成</a:t>
              </a:r>
              <a:r>
                <a:rPr lang="zh-TW" alt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預期獲利修正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7218449" y="2764911"/>
              <a:ext cx="1188720" cy="1139559"/>
            </a:xfrm>
            <a:prstGeom prst="roundRect">
              <a:avLst>
                <a:gd name="adj" fmla="val 4464"/>
              </a:avLst>
            </a:prstGeom>
            <a:solidFill>
              <a:schemeClr val="bg2">
                <a:lumMod val="20000"/>
                <a:lumOff val="80000"/>
              </a:schemeClr>
            </a:solidFill>
            <a:ln w="1016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7218449" y="2764912"/>
              <a:ext cx="45719" cy="112696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7341841" y="2839212"/>
              <a:ext cx="1042472" cy="8401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 err="1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研究覆蓋、法人持股、P</a:t>
              </a: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/E band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b="0" dirty="0">
                  <a:solidFill>
                    <a:srgbClr val="11111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重新評估比較基準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0" name="Shape 38"/>
          <p:cNvSpPr/>
          <p:nvPr/>
        </p:nvSpPr>
        <p:spPr>
          <a:xfrm>
            <a:off x="543329" y="4024455"/>
            <a:ext cx="3913688" cy="1348761"/>
          </a:xfrm>
          <a:prstGeom prst="roundRect">
            <a:avLst>
              <a:gd name="adj" fmla="val 3906"/>
            </a:avLst>
          </a:prstGeom>
          <a:solidFill>
            <a:schemeClr val="bg2">
              <a:lumMod val="20000"/>
              <a:lumOff val="80000"/>
            </a:schemeClr>
          </a:solidFill>
          <a:ln w="10160">
            <a:solidFill>
              <a:srgbClr val="E7D5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1031473" y="4179904"/>
            <a:ext cx="1664208" cy="301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Re-rating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：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56937" y="4031207"/>
            <a:ext cx="3850232" cy="1346201"/>
          </a:xfrm>
          <a:prstGeom prst="roundRect">
            <a:avLst>
              <a:gd name="adj" fmla="val 3906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E6C8C8"/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121198" y="4144463"/>
            <a:ext cx="1188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8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短期題材交易</a:t>
            </a:r>
            <a:r>
              <a:rPr lang="zh-TW" altLang="en-US" sz="1400" b="1" dirty="0">
                <a:solidFill>
                  <a:srgbClr val="8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：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868497" y="4515992"/>
            <a:ext cx="3427968" cy="641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只有「進入 </a:t>
            </a:r>
            <a:r>
              <a:rPr lang="en-US" sz="12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AI／半導體」的</a:t>
            </a:r>
            <a:r>
              <a:rPr lang="zh-TW" altLang="en-US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敘事</a:t>
            </a:r>
            <a:r>
              <a:rPr lang="en-US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，若缺少訂單、營收占比與 EPS </a:t>
            </a:r>
            <a:r>
              <a:rPr lang="en-US" sz="12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上修，市場可能先給題材溢價，後續</a:t>
            </a:r>
            <a:r>
              <a:rPr lang="zh-TW" altLang="en-US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若沒有 </a:t>
            </a:r>
            <a:r>
              <a:rPr lang="en-US" altLang="zh-TW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deliver</a:t>
            </a:r>
            <a:r>
              <a:rPr lang="zh-TW" altLang="en-US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成果</a:t>
            </a:r>
            <a:r>
              <a:rPr lang="en-US" sz="12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再以</a:t>
            </a:r>
            <a:r>
              <a:rPr lang="en-US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De-rating </a:t>
            </a:r>
            <a:r>
              <a:rPr lang="en-US" sz="12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修正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16481" y="5594918"/>
            <a:ext cx="7607808" cy="531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判斷</a:t>
            </a:r>
            <a:r>
              <a:rPr lang="en-US" sz="1400" b="1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Re-rating </a:t>
            </a:r>
            <a:r>
              <a:rPr lang="en-US" sz="1400" b="1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時，需同時比較公司自身歷史</a:t>
            </a:r>
            <a:r>
              <a:rPr lang="en-US" sz="1400" b="1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PE/</a:t>
            </a:r>
            <a:r>
              <a:rPr lang="en-US" sz="14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PS</a:t>
            </a:r>
            <a:r>
              <a:rPr lang="en-US" sz="1400" b="1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multiple </a:t>
            </a:r>
            <a:r>
              <a:rPr lang="en-US" sz="1400" b="1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與同期同業區間，避免</a:t>
            </a:r>
            <a:r>
              <a:rPr lang="zh-TW" altLang="en-US" sz="1400" b="1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將</a:t>
            </a:r>
            <a:r>
              <a:rPr lang="en-US" sz="1400" b="1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市場多頭誤判為公司個別重估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標題 1">
            <a:extLst>
              <a:ext uri="{FF2B5EF4-FFF2-40B4-BE49-F238E27FC236}">
                <a16:creationId xmlns:a16="http://schemas.microsoft.com/office/drawing/2014/main" id="{37166419-DD4D-4815-BFFE-14F68A561DBB}"/>
              </a:ext>
            </a:extLst>
          </p:cNvPr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產業定位改變：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Re-rating 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必須由證據推進</a:t>
            </a:r>
          </a:p>
        </p:txBody>
      </p:sp>
      <p:sp>
        <p:nvSpPr>
          <p:cNvPr id="60" name="Rectangle 9">
            <a:extLst>
              <a:ext uri="{FF2B5EF4-FFF2-40B4-BE49-F238E27FC236}">
                <a16:creationId xmlns:a16="http://schemas.microsoft.com/office/drawing/2014/main" id="{4F0BEDF7-4354-4EF6-9402-09DA6AF50522}"/>
              </a:ext>
            </a:extLst>
          </p:cNvPr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2436FFD-60BE-4654-BD88-0FF71B47B892}"/>
              </a:ext>
            </a:extLst>
          </p:cNvPr>
          <p:cNvSpPr txBox="1"/>
          <p:nvPr/>
        </p:nvSpPr>
        <p:spPr>
          <a:xfrm>
            <a:off x="414195" y="1139183"/>
            <a:ext cx="8226884" cy="53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真正健康的路徑為：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Theme → Orders → Revenue → Earnings → Institutional Recognition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；若只有題材而無財務驗證，會是曇花一現、短期交易</a:t>
            </a:r>
          </a:p>
        </p:txBody>
      </p:sp>
      <p:sp>
        <p:nvSpPr>
          <p:cNvPr id="64" name="Text 50">
            <a:extLst>
              <a:ext uri="{FF2B5EF4-FFF2-40B4-BE49-F238E27FC236}">
                <a16:creationId xmlns:a16="http://schemas.microsoft.com/office/drawing/2014/main" id="{C66F4BD4-8567-40B8-87E7-3CBB8365723C}"/>
              </a:ext>
            </a:extLst>
          </p:cNvPr>
          <p:cNvSpPr/>
          <p:nvPr/>
        </p:nvSpPr>
        <p:spPr>
          <a:xfrm>
            <a:off x="781101" y="4618804"/>
            <a:ext cx="35843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題材先出現，但必須被訂單、營收與獲利逐步驗證，才可能形成結構性 Multiple Expansion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Freeform 345">
            <a:extLst>
              <a:ext uri="{FF2B5EF4-FFF2-40B4-BE49-F238E27FC236}">
                <a16:creationId xmlns:a16="http://schemas.microsoft.com/office/drawing/2014/main" id="{A0BFD08D-6695-4D90-B205-DE79F25972FC}"/>
              </a:ext>
            </a:extLst>
          </p:cNvPr>
          <p:cNvSpPr/>
          <p:nvPr/>
        </p:nvSpPr>
        <p:spPr>
          <a:xfrm>
            <a:off x="634197" y="4124630"/>
            <a:ext cx="293808" cy="265564"/>
          </a:xfrm>
          <a:custGeom>
            <a:avLst/>
            <a:gdLst>
              <a:gd name="connsiteX0" fmla="*/ 9015 w 504825"/>
              <a:gd name="connsiteY0" fmla="*/ 360589 h 432707"/>
              <a:gd name="connsiteX1" fmla="*/ 63103 w 504825"/>
              <a:gd name="connsiteY1" fmla="*/ 360589 h 432707"/>
              <a:gd name="connsiteX2" fmla="*/ 69583 w 504825"/>
              <a:gd name="connsiteY2" fmla="*/ 363125 h 432707"/>
              <a:gd name="connsiteX3" fmla="*/ 72118 w 504825"/>
              <a:gd name="connsiteY3" fmla="*/ 369604 h 432707"/>
              <a:gd name="connsiteX4" fmla="*/ 72118 w 504825"/>
              <a:gd name="connsiteY4" fmla="*/ 423692 h 432707"/>
              <a:gd name="connsiteX5" fmla="*/ 69583 w 504825"/>
              <a:gd name="connsiteY5" fmla="*/ 430172 h 432707"/>
              <a:gd name="connsiteX6" fmla="*/ 63103 w 504825"/>
              <a:gd name="connsiteY6" fmla="*/ 432707 h 432707"/>
              <a:gd name="connsiteX7" fmla="*/ 9015 w 504825"/>
              <a:gd name="connsiteY7" fmla="*/ 432707 h 432707"/>
              <a:gd name="connsiteX8" fmla="*/ 2535 w 504825"/>
              <a:gd name="connsiteY8" fmla="*/ 430172 h 432707"/>
              <a:gd name="connsiteX9" fmla="*/ 0 w 504825"/>
              <a:gd name="connsiteY9" fmla="*/ 423692 h 432707"/>
              <a:gd name="connsiteX10" fmla="*/ 0 w 504825"/>
              <a:gd name="connsiteY10" fmla="*/ 369604 h 432707"/>
              <a:gd name="connsiteX11" fmla="*/ 2535 w 504825"/>
              <a:gd name="connsiteY11" fmla="*/ 363125 h 432707"/>
              <a:gd name="connsiteX12" fmla="*/ 9015 w 504825"/>
              <a:gd name="connsiteY12" fmla="*/ 360589 h 432707"/>
              <a:gd name="connsiteX13" fmla="*/ 117192 w 504825"/>
              <a:gd name="connsiteY13" fmla="*/ 324530 h 432707"/>
              <a:gd name="connsiteX14" fmla="*/ 171280 w 504825"/>
              <a:gd name="connsiteY14" fmla="*/ 324530 h 432707"/>
              <a:gd name="connsiteX15" fmla="*/ 177759 w 504825"/>
              <a:gd name="connsiteY15" fmla="*/ 327066 h 432707"/>
              <a:gd name="connsiteX16" fmla="*/ 180295 w 504825"/>
              <a:gd name="connsiteY16" fmla="*/ 333545 h 432707"/>
              <a:gd name="connsiteX17" fmla="*/ 180295 w 504825"/>
              <a:gd name="connsiteY17" fmla="*/ 423692 h 432707"/>
              <a:gd name="connsiteX18" fmla="*/ 177759 w 504825"/>
              <a:gd name="connsiteY18" fmla="*/ 430172 h 432707"/>
              <a:gd name="connsiteX19" fmla="*/ 171280 w 504825"/>
              <a:gd name="connsiteY19" fmla="*/ 432707 h 432707"/>
              <a:gd name="connsiteX20" fmla="*/ 117192 w 504825"/>
              <a:gd name="connsiteY20" fmla="*/ 432707 h 432707"/>
              <a:gd name="connsiteX21" fmla="*/ 110712 w 504825"/>
              <a:gd name="connsiteY21" fmla="*/ 430172 h 432707"/>
              <a:gd name="connsiteX22" fmla="*/ 108177 w 504825"/>
              <a:gd name="connsiteY22" fmla="*/ 423692 h 432707"/>
              <a:gd name="connsiteX23" fmla="*/ 108177 w 504825"/>
              <a:gd name="connsiteY23" fmla="*/ 333545 h 432707"/>
              <a:gd name="connsiteX24" fmla="*/ 110712 w 504825"/>
              <a:gd name="connsiteY24" fmla="*/ 327066 h 432707"/>
              <a:gd name="connsiteX25" fmla="*/ 117192 w 504825"/>
              <a:gd name="connsiteY25" fmla="*/ 324530 h 432707"/>
              <a:gd name="connsiteX26" fmla="*/ 225368 w 504825"/>
              <a:gd name="connsiteY26" fmla="*/ 252412 h 432707"/>
              <a:gd name="connsiteX27" fmla="*/ 279457 w 504825"/>
              <a:gd name="connsiteY27" fmla="*/ 252412 h 432707"/>
              <a:gd name="connsiteX28" fmla="*/ 285936 w 504825"/>
              <a:gd name="connsiteY28" fmla="*/ 254948 h 432707"/>
              <a:gd name="connsiteX29" fmla="*/ 288472 w 504825"/>
              <a:gd name="connsiteY29" fmla="*/ 261427 h 432707"/>
              <a:gd name="connsiteX30" fmla="*/ 288472 w 504825"/>
              <a:gd name="connsiteY30" fmla="*/ 423692 h 432707"/>
              <a:gd name="connsiteX31" fmla="*/ 285936 w 504825"/>
              <a:gd name="connsiteY31" fmla="*/ 430172 h 432707"/>
              <a:gd name="connsiteX32" fmla="*/ 279457 w 504825"/>
              <a:gd name="connsiteY32" fmla="*/ 432707 h 432707"/>
              <a:gd name="connsiteX33" fmla="*/ 225368 w 504825"/>
              <a:gd name="connsiteY33" fmla="*/ 432707 h 432707"/>
              <a:gd name="connsiteX34" fmla="*/ 218889 w 504825"/>
              <a:gd name="connsiteY34" fmla="*/ 430172 h 432707"/>
              <a:gd name="connsiteX35" fmla="*/ 216354 w 504825"/>
              <a:gd name="connsiteY35" fmla="*/ 423692 h 432707"/>
              <a:gd name="connsiteX36" fmla="*/ 216354 w 504825"/>
              <a:gd name="connsiteY36" fmla="*/ 261427 h 432707"/>
              <a:gd name="connsiteX37" fmla="*/ 218889 w 504825"/>
              <a:gd name="connsiteY37" fmla="*/ 254948 h 432707"/>
              <a:gd name="connsiteX38" fmla="*/ 225368 w 504825"/>
              <a:gd name="connsiteY38" fmla="*/ 252412 h 432707"/>
              <a:gd name="connsiteX39" fmla="*/ 333545 w 504825"/>
              <a:gd name="connsiteY39" fmla="*/ 144236 h 432707"/>
              <a:gd name="connsiteX40" fmla="*/ 387633 w 504825"/>
              <a:gd name="connsiteY40" fmla="*/ 144236 h 432707"/>
              <a:gd name="connsiteX41" fmla="*/ 394113 w 504825"/>
              <a:gd name="connsiteY41" fmla="*/ 146771 h 432707"/>
              <a:gd name="connsiteX42" fmla="*/ 396648 w 504825"/>
              <a:gd name="connsiteY42" fmla="*/ 153250 h 432707"/>
              <a:gd name="connsiteX43" fmla="*/ 396648 w 504825"/>
              <a:gd name="connsiteY43" fmla="*/ 423692 h 432707"/>
              <a:gd name="connsiteX44" fmla="*/ 394113 w 504825"/>
              <a:gd name="connsiteY44" fmla="*/ 430172 h 432707"/>
              <a:gd name="connsiteX45" fmla="*/ 387633 w 504825"/>
              <a:gd name="connsiteY45" fmla="*/ 432707 h 432707"/>
              <a:gd name="connsiteX46" fmla="*/ 333545 w 504825"/>
              <a:gd name="connsiteY46" fmla="*/ 432707 h 432707"/>
              <a:gd name="connsiteX47" fmla="*/ 327066 w 504825"/>
              <a:gd name="connsiteY47" fmla="*/ 430172 h 432707"/>
              <a:gd name="connsiteX48" fmla="*/ 324530 w 504825"/>
              <a:gd name="connsiteY48" fmla="*/ 423692 h 432707"/>
              <a:gd name="connsiteX49" fmla="*/ 324530 w 504825"/>
              <a:gd name="connsiteY49" fmla="*/ 153250 h 432707"/>
              <a:gd name="connsiteX50" fmla="*/ 327066 w 504825"/>
              <a:gd name="connsiteY50" fmla="*/ 146771 h 432707"/>
              <a:gd name="connsiteX51" fmla="*/ 333545 w 504825"/>
              <a:gd name="connsiteY51" fmla="*/ 144236 h 432707"/>
              <a:gd name="connsiteX52" fmla="*/ 441722 w 504825"/>
              <a:gd name="connsiteY52" fmla="*/ 0 h 432707"/>
              <a:gd name="connsiteX53" fmla="*/ 495810 w 504825"/>
              <a:gd name="connsiteY53" fmla="*/ 0 h 432707"/>
              <a:gd name="connsiteX54" fmla="*/ 502290 w 504825"/>
              <a:gd name="connsiteY54" fmla="*/ 2535 h 432707"/>
              <a:gd name="connsiteX55" fmla="*/ 504825 w 504825"/>
              <a:gd name="connsiteY55" fmla="*/ 9015 h 432707"/>
              <a:gd name="connsiteX56" fmla="*/ 504825 w 504825"/>
              <a:gd name="connsiteY56" fmla="*/ 423692 h 432707"/>
              <a:gd name="connsiteX57" fmla="*/ 502290 w 504825"/>
              <a:gd name="connsiteY57" fmla="*/ 430172 h 432707"/>
              <a:gd name="connsiteX58" fmla="*/ 495810 w 504825"/>
              <a:gd name="connsiteY58" fmla="*/ 432707 h 432707"/>
              <a:gd name="connsiteX59" fmla="*/ 441722 w 504825"/>
              <a:gd name="connsiteY59" fmla="*/ 432707 h 432707"/>
              <a:gd name="connsiteX60" fmla="*/ 435243 w 504825"/>
              <a:gd name="connsiteY60" fmla="*/ 430172 h 432707"/>
              <a:gd name="connsiteX61" fmla="*/ 432707 w 504825"/>
              <a:gd name="connsiteY61" fmla="*/ 423692 h 432707"/>
              <a:gd name="connsiteX62" fmla="*/ 432707 w 504825"/>
              <a:gd name="connsiteY62" fmla="*/ 9015 h 432707"/>
              <a:gd name="connsiteX63" fmla="*/ 435243 w 504825"/>
              <a:gd name="connsiteY63" fmla="*/ 2535 h 432707"/>
              <a:gd name="connsiteX64" fmla="*/ 441722 w 504825"/>
              <a:gd name="connsiteY64" fmla="*/ 0 h 43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4825" h="432707">
                <a:moveTo>
                  <a:pt x="9015" y="360589"/>
                </a:moveTo>
                <a:lnTo>
                  <a:pt x="63103" y="360589"/>
                </a:lnTo>
                <a:cubicBezTo>
                  <a:pt x="65732" y="360589"/>
                  <a:pt x="67892" y="361434"/>
                  <a:pt x="69583" y="363125"/>
                </a:cubicBezTo>
                <a:cubicBezTo>
                  <a:pt x="71273" y="364815"/>
                  <a:pt x="72118" y="366975"/>
                  <a:pt x="72118" y="369604"/>
                </a:cubicBezTo>
                <a:lnTo>
                  <a:pt x="72118" y="423692"/>
                </a:lnTo>
                <a:cubicBezTo>
                  <a:pt x="72118" y="426322"/>
                  <a:pt x="71273" y="428481"/>
                  <a:pt x="69583" y="430172"/>
                </a:cubicBezTo>
                <a:cubicBezTo>
                  <a:pt x="67892" y="431862"/>
                  <a:pt x="65732" y="432707"/>
                  <a:pt x="63103" y="432707"/>
                </a:cubicBezTo>
                <a:lnTo>
                  <a:pt x="9015" y="432707"/>
                </a:lnTo>
                <a:cubicBezTo>
                  <a:pt x="6385" y="432707"/>
                  <a:pt x="4226" y="431862"/>
                  <a:pt x="2535" y="430172"/>
                </a:cubicBezTo>
                <a:cubicBezTo>
                  <a:pt x="845" y="428481"/>
                  <a:pt x="0" y="426322"/>
                  <a:pt x="0" y="423692"/>
                </a:cubicBezTo>
                <a:lnTo>
                  <a:pt x="0" y="369604"/>
                </a:lnTo>
                <a:cubicBezTo>
                  <a:pt x="0" y="366975"/>
                  <a:pt x="845" y="364815"/>
                  <a:pt x="2535" y="363125"/>
                </a:cubicBezTo>
                <a:cubicBezTo>
                  <a:pt x="4226" y="361434"/>
                  <a:pt x="6385" y="360589"/>
                  <a:pt x="9015" y="360589"/>
                </a:cubicBezTo>
                <a:close/>
                <a:moveTo>
                  <a:pt x="117192" y="324530"/>
                </a:moveTo>
                <a:lnTo>
                  <a:pt x="171280" y="324530"/>
                </a:lnTo>
                <a:cubicBezTo>
                  <a:pt x="173909" y="324530"/>
                  <a:pt x="176069" y="325375"/>
                  <a:pt x="177759" y="327066"/>
                </a:cubicBezTo>
                <a:cubicBezTo>
                  <a:pt x="179450" y="328756"/>
                  <a:pt x="180295" y="330916"/>
                  <a:pt x="180295" y="333545"/>
                </a:cubicBezTo>
                <a:lnTo>
                  <a:pt x="180295" y="423692"/>
                </a:lnTo>
                <a:cubicBezTo>
                  <a:pt x="180295" y="426322"/>
                  <a:pt x="179450" y="428481"/>
                  <a:pt x="177759" y="430172"/>
                </a:cubicBezTo>
                <a:cubicBezTo>
                  <a:pt x="176069" y="431862"/>
                  <a:pt x="173909" y="432707"/>
                  <a:pt x="171280" y="432707"/>
                </a:cubicBezTo>
                <a:lnTo>
                  <a:pt x="117192" y="432707"/>
                </a:lnTo>
                <a:cubicBezTo>
                  <a:pt x="114562" y="432707"/>
                  <a:pt x="112403" y="431862"/>
                  <a:pt x="110712" y="430172"/>
                </a:cubicBezTo>
                <a:cubicBezTo>
                  <a:pt x="109022" y="428481"/>
                  <a:pt x="108177" y="426322"/>
                  <a:pt x="108177" y="423692"/>
                </a:cubicBezTo>
                <a:lnTo>
                  <a:pt x="108177" y="333545"/>
                </a:lnTo>
                <a:cubicBezTo>
                  <a:pt x="108177" y="330916"/>
                  <a:pt x="109022" y="328756"/>
                  <a:pt x="110712" y="327066"/>
                </a:cubicBezTo>
                <a:cubicBezTo>
                  <a:pt x="112403" y="325375"/>
                  <a:pt x="114562" y="324530"/>
                  <a:pt x="117192" y="324530"/>
                </a:cubicBezTo>
                <a:close/>
                <a:moveTo>
                  <a:pt x="225368" y="252412"/>
                </a:moveTo>
                <a:lnTo>
                  <a:pt x="279457" y="252412"/>
                </a:lnTo>
                <a:cubicBezTo>
                  <a:pt x="282086" y="252412"/>
                  <a:pt x="284246" y="253258"/>
                  <a:pt x="285936" y="254948"/>
                </a:cubicBezTo>
                <a:cubicBezTo>
                  <a:pt x="287627" y="256638"/>
                  <a:pt x="288472" y="258798"/>
                  <a:pt x="288472" y="261427"/>
                </a:cubicBezTo>
                <a:lnTo>
                  <a:pt x="288472" y="423692"/>
                </a:lnTo>
                <a:cubicBezTo>
                  <a:pt x="288472" y="426322"/>
                  <a:pt x="287627" y="428481"/>
                  <a:pt x="285936" y="430172"/>
                </a:cubicBezTo>
                <a:cubicBezTo>
                  <a:pt x="284246" y="431862"/>
                  <a:pt x="282086" y="432707"/>
                  <a:pt x="279457" y="432707"/>
                </a:cubicBezTo>
                <a:lnTo>
                  <a:pt x="225368" y="432707"/>
                </a:lnTo>
                <a:cubicBezTo>
                  <a:pt x="222739" y="432707"/>
                  <a:pt x="220579" y="431862"/>
                  <a:pt x="218889" y="430172"/>
                </a:cubicBezTo>
                <a:cubicBezTo>
                  <a:pt x="217199" y="428481"/>
                  <a:pt x="216354" y="426322"/>
                  <a:pt x="216354" y="423692"/>
                </a:cubicBezTo>
                <a:lnTo>
                  <a:pt x="216354" y="261427"/>
                </a:lnTo>
                <a:cubicBezTo>
                  <a:pt x="216354" y="258798"/>
                  <a:pt x="217199" y="256638"/>
                  <a:pt x="218889" y="254948"/>
                </a:cubicBezTo>
                <a:cubicBezTo>
                  <a:pt x="220579" y="253258"/>
                  <a:pt x="222739" y="252412"/>
                  <a:pt x="225368" y="252412"/>
                </a:cubicBezTo>
                <a:close/>
                <a:moveTo>
                  <a:pt x="333545" y="144236"/>
                </a:moveTo>
                <a:lnTo>
                  <a:pt x="387633" y="144236"/>
                </a:lnTo>
                <a:cubicBezTo>
                  <a:pt x="390263" y="144236"/>
                  <a:pt x="392423" y="145081"/>
                  <a:pt x="394113" y="146771"/>
                </a:cubicBezTo>
                <a:cubicBezTo>
                  <a:pt x="395803" y="148461"/>
                  <a:pt x="396648" y="150621"/>
                  <a:pt x="396648" y="153250"/>
                </a:cubicBezTo>
                <a:lnTo>
                  <a:pt x="396648" y="423692"/>
                </a:lnTo>
                <a:cubicBezTo>
                  <a:pt x="396648" y="426322"/>
                  <a:pt x="395803" y="428481"/>
                  <a:pt x="394113" y="430172"/>
                </a:cubicBezTo>
                <a:cubicBezTo>
                  <a:pt x="392423" y="431862"/>
                  <a:pt x="390263" y="432707"/>
                  <a:pt x="387633" y="432707"/>
                </a:cubicBezTo>
                <a:lnTo>
                  <a:pt x="333545" y="432707"/>
                </a:lnTo>
                <a:cubicBezTo>
                  <a:pt x="330916" y="432707"/>
                  <a:pt x="328756" y="431862"/>
                  <a:pt x="327066" y="430172"/>
                </a:cubicBezTo>
                <a:cubicBezTo>
                  <a:pt x="325376" y="428481"/>
                  <a:pt x="324530" y="426322"/>
                  <a:pt x="324530" y="423692"/>
                </a:cubicBezTo>
                <a:lnTo>
                  <a:pt x="324530" y="153250"/>
                </a:lnTo>
                <a:cubicBezTo>
                  <a:pt x="324530" y="150621"/>
                  <a:pt x="325376" y="148461"/>
                  <a:pt x="327066" y="146771"/>
                </a:cubicBezTo>
                <a:cubicBezTo>
                  <a:pt x="328756" y="145081"/>
                  <a:pt x="330916" y="144236"/>
                  <a:pt x="333545" y="144236"/>
                </a:cubicBezTo>
                <a:close/>
                <a:moveTo>
                  <a:pt x="441722" y="0"/>
                </a:moveTo>
                <a:lnTo>
                  <a:pt x="495810" y="0"/>
                </a:lnTo>
                <a:cubicBezTo>
                  <a:pt x="498440" y="0"/>
                  <a:pt x="500600" y="845"/>
                  <a:pt x="502290" y="2535"/>
                </a:cubicBezTo>
                <a:cubicBezTo>
                  <a:pt x="503980" y="4226"/>
                  <a:pt x="504825" y="6385"/>
                  <a:pt x="504825" y="9015"/>
                </a:cubicBezTo>
                <a:lnTo>
                  <a:pt x="504825" y="423692"/>
                </a:lnTo>
                <a:cubicBezTo>
                  <a:pt x="504825" y="426322"/>
                  <a:pt x="503980" y="428481"/>
                  <a:pt x="502290" y="430172"/>
                </a:cubicBezTo>
                <a:cubicBezTo>
                  <a:pt x="500600" y="431862"/>
                  <a:pt x="498440" y="432707"/>
                  <a:pt x="495810" y="432707"/>
                </a:cubicBezTo>
                <a:lnTo>
                  <a:pt x="441722" y="432707"/>
                </a:lnTo>
                <a:cubicBezTo>
                  <a:pt x="439093" y="432707"/>
                  <a:pt x="436933" y="431862"/>
                  <a:pt x="435243" y="430172"/>
                </a:cubicBezTo>
                <a:cubicBezTo>
                  <a:pt x="433552" y="428481"/>
                  <a:pt x="432707" y="426322"/>
                  <a:pt x="432707" y="423692"/>
                </a:cubicBezTo>
                <a:lnTo>
                  <a:pt x="432707" y="9015"/>
                </a:lnTo>
                <a:cubicBezTo>
                  <a:pt x="432707" y="6385"/>
                  <a:pt x="433552" y="4226"/>
                  <a:pt x="435243" y="2535"/>
                </a:cubicBezTo>
                <a:cubicBezTo>
                  <a:pt x="436933" y="845"/>
                  <a:pt x="439093" y="0"/>
                  <a:pt x="441722" y="0"/>
                </a:cubicBezTo>
                <a:close/>
              </a:path>
            </a:pathLst>
          </a:custGeom>
          <a:solidFill>
            <a:srgbClr val="A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íSľiďé">
            <a:extLst>
              <a:ext uri="{FF2B5EF4-FFF2-40B4-BE49-F238E27FC236}">
                <a16:creationId xmlns:a16="http://schemas.microsoft.com/office/drawing/2014/main" id="{072DEB5A-CBA5-4EAF-BA5A-6E0DF116510B}"/>
              </a:ext>
            </a:extLst>
          </p:cNvPr>
          <p:cNvSpPr/>
          <p:nvPr/>
        </p:nvSpPr>
        <p:spPr bwMode="auto">
          <a:xfrm>
            <a:off x="4788024" y="4103121"/>
            <a:ext cx="253214" cy="265564"/>
          </a:xfrm>
          <a:custGeom>
            <a:avLst/>
            <a:gdLst>
              <a:gd name="T0" fmla="*/ 76 w 152"/>
              <a:gd name="T1" fmla="*/ 0 h 153"/>
              <a:gd name="T2" fmla="*/ 0 w 152"/>
              <a:gd name="T3" fmla="*/ 77 h 153"/>
              <a:gd name="T4" fmla="*/ 76 w 152"/>
              <a:gd name="T5" fmla="*/ 153 h 153"/>
              <a:gd name="T6" fmla="*/ 152 w 152"/>
              <a:gd name="T7" fmla="*/ 77 h 153"/>
              <a:gd name="T8" fmla="*/ 76 w 152"/>
              <a:gd name="T9" fmla="*/ 0 h 153"/>
              <a:gd name="T10" fmla="*/ 76 w 152"/>
              <a:gd name="T11" fmla="*/ 137 h 153"/>
              <a:gd name="T12" fmla="*/ 16 w 152"/>
              <a:gd name="T13" fmla="*/ 77 h 153"/>
              <a:gd name="T14" fmla="*/ 76 w 152"/>
              <a:gd name="T15" fmla="*/ 16 h 153"/>
              <a:gd name="T16" fmla="*/ 136 w 152"/>
              <a:gd name="T17" fmla="*/ 77 h 153"/>
              <a:gd name="T18" fmla="*/ 76 w 152"/>
              <a:gd name="T19" fmla="*/ 137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2" h="153">
                <a:moveTo>
                  <a:pt x="76" y="0"/>
                </a:moveTo>
                <a:cubicBezTo>
                  <a:pt x="34" y="0"/>
                  <a:pt x="0" y="34"/>
                  <a:pt x="0" y="77"/>
                </a:cubicBezTo>
                <a:cubicBezTo>
                  <a:pt x="0" y="119"/>
                  <a:pt x="34" y="153"/>
                  <a:pt x="76" y="153"/>
                </a:cubicBezTo>
                <a:cubicBezTo>
                  <a:pt x="118" y="153"/>
                  <a:pt x="152" y="119"/>
                  <a:pt x="152" y="77"/>
                </a:cubicBezTo>
                <a:cubicBezTo>
                  <a:pt x="152" y="34"/>
                  <a:pt x="118" y="0"/>
                  <a:pt x="76" y="0"/>
                </a:cubicBezTo>
                <a:close/>
                <a:moveTo>
                  <a:pt x="76" y="137"/>
                </a:moveTo>
                <a:cubicBezTo>
                  <a:pt x="43" y="137"/>
                  <a:pt x="16" y="110"/>
                  <a:pt x="16" y="77"/>
                </a:cubicBezTo>
                <a:cubicBezTo>
                  <a:pt x="16" y="43"/>
                  <a:pt x="43" y="16"/>
                  <a:pt x="76" y="16"/>
                </a:cubicBezTo>
                <a:cubicBezTo>
                  <a:pt x="109" y="16"/>
                  <a:pt x="136" y="43"/>
                  <a:pt x="136" y="77"/>
                </a:cubicBezTo>
                <a:cubicBezTo>
                  <a:pt x="136" y="110"/>
                  <a:pt x="109" y="137"/>
                  <a:pt x="76" y="137"/>
                </a:cubicBezTo>
                <a:close/>
              </a:path>
            </a:pathLst>
          </a:custGeom>
          <a:solidFill>
            <a:srgbClr val="920000"/>
          </a:solidFill>
          <a:ln>
            <a:noFill/>
          </a:ln>
        </p:spPr>
        <p:txBody>
          <a:bodyPr lIns="68580" tIns="34290" rIns="68580" bIns="34290">
            <a:normAutofit fontScale="92500" lnSpcReduction="10000"/>
          </a:bodyPr>
          <a:lstStyle/>
          <a:p>
            <a:pPr marL="0" marR="0" lvl="0" indent="0" algn="l" defTabSz="685324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ïşḷíḓé">
            <a:extLst>
              <a:ext uri="{FF2B5EF4-FFF2-40B4-BE49-F238E27FC236}">
                <a16:creationId xmlns:a16="http://schemas.microsoft.com/office/drawing/2014/main" id="{4ECA0FB1-51D5-4E42-896F-E65F60E1624E}"/>
              </a:ext>
            </a:extLst>
          </p:cNvPr>
          <p:cNvSpPr/>
          <p:nvPr/>
        </p:nvSpPr>
        <p:spPr bwMode="auto">
          <a:xfrm>
            <a:off x="4893881" y="4226466"/>
            <a:ext cx="41499" cy="95574"/>
          </a:xfrm>
          <a:custGeom>
            <a:avLst/>
            <a:gdLst>
              <a:gd name="T0" fmla="*/ 21 w 25"/>
              <a:gd name="T1" fmla="*/ 0 h 55"/>
              <a:gd name="T2" fmla="*/ 5 w 25"/>
              <a:gd name="T3" fmla="*/ 0 h 55"/>
              <a:gd name="T4" fmla="*/ 0 w 25"/>
              <a:gd name="T5" fmla="*/ 5 h 55"/>
              <a:gd name="T6" fmla="*/ 0 w 25"/>
              <a:gd name="T7" fmla="*/ 51 h 55"/>
              <a:gd name="T8" fmla="*/ 5 w 25"/>
              <a:gd name="T9" fmla="*/ 55 h 55"/>
              <a:gd name="T10" fmla="*/ 21 w 25"/>
              <a:gd name="T11" fmla="*/ 55 h 55"/>
              <a:gd name="T12" fmla="*/ 25 w 25"/>
              <a:gd name="T13" fmla="*/ 51 h 55"/>
              <a:gd name="T14" fmla="*/ 25 w 25"/>
              <a:gd name="T15" fmla="*/ 5 h 55"/>
              <a:gd name="T16" fmla="*/ 21 w 25"/>
              <a:gd name="T17" fmla="*/ 0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" h="55">
                <a:moveTo>
                  <a:pt x="21" y="0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0" y="2"/>
                  <a:pt x="0" y="5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3"/>
                  <a:pt x="2" y="55"/>
                  <a:pt x="5" y="55"/>
                </a:cubicBezTo>
                <a:cubicBezTo>
                  <a:pt x="21" y="55"/>
                  <a:pt x="21" y="55"/>
                  <a:pt x="21" y="55"/>
                </a:cubicBezTo>
                <a:cubicBezTo>
                  <a:pt x="23" y="55"/>
                  <a:pt x="25" y="53"/>
                  <a:pt x="25" y="51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2"/>
                  <a:pt x="23" y="0"/>
                  <a:pt x="21" y="0"/>
                </a:cubicBezTo>
                <a:close/>
              </a:path>
            </a:pathLst>
          </a:custGeom>
          <a:solidFill>
            <a:srgbClr val="920000"/>
          </a:solidFill>
          <a:ln>
            <a:noFill/>
          </a:ln>
        </p:spPr>
        <p:txBody>
          <a:bodyPr lIns="68580" tIns="34290" rIns="68580" bIns="34290">
            <a:normAutofit fontScale="25000" lnSpcReduction="20000"/>
          </a:bodyPr>
          <a:lstStyle/>
          <a:p>
            <a:pPr marL="0" marR="0" lvl="0" indent="0" algn="l" defTabSz="685324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ïšḷíḑe">
            <a:extLst>
              <a:ext uri="{FF2B5EF4-FFF2-40B4-BE49-F238E27FC236}">
                <a16:creationId xmlns:a16="http://schemas.microsoft.com/office/drawing/2014/main" id="{D83D5479-5655-4625-AC02-EF497DE000F9}"/>
              </a:ext>
            </a:extLst>
          </p:cNvPr>
          <p:cNvSpPr/>
          <p:nvPr/>
        </p:nvSpPr>
        <p:spPr bwMode="auto">
          <a:xfrm>
            <a:off x="4888957" y="4156558"/>
            <a:ext cx="46423" cy="46692"/>
          </a:xfrm>
          <a:prstGeom prst="ellipse">
            <a:avLst/>
          </a:prstGeom>
          <a:solidFill>
            <a:srgbClr val="920000"/>
          </a:solidFill>
          <a:ln>
            <a:noFill/>
          </a:ln>
        </p:spPr>
        <p:txBody>
          <a:bodyPr lIns="68580" tIns="34290" rIns="68580" bIns="34290">
            <a:normAutofit fontScale="25000" lnSpcReduction="20000"/>
          </a:bodyPr>
          <a:lstStyle/>
          <a:p>
            <a:pPr marL="0" marR="0" lvl="0" indent="0" algn="l" defTabSz="685324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-2044913" y="29489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1566988"/>
            <a:ext cx="3778263" cy="380622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pPr algn="just"/>
            <a:endParaRPr lang="zh-TW" altLang="en-US" dirty="0"/>
          </a:p>
        </p:txBody>
      </p:sp>
      <p:sp>
        <p:nvSpPr>
          <p:cNvPr id="6" name="Text 4"/>
          <p:cNvSpPr/>
          <p:nvPr/>
        </p:nvSpPr>
        <p:spPr>
          <a:xfrm>
            <a:off x="611560" y="1628801"/>
            <a:ext cx="30358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三年成長承諾與實際交付</a:t>
            </a:r>
            <a:r>
              <a:rPr lang="zh-TW" altLang="en-US" sz="14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sz="1400" b="1" dirty="0" err="1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</a:t>
            </a:r>
            <a:r>
              <a:rPr lang="zh-TW" altLang="en-US" sz="14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</a:t>
            </a:r>
            <a:r>
              <a:rPr lang="en-US" altLang="zh-TW" sz="1400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400" dirty="0">
              <a:solidFill>
                <a:srgbClr val="92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956832"/>
            <a:ext cx="340504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公司承諾未來三年約 30% CAGR，實際交付 +28%、+35%、+31%，</a:t>
            </a:r>
            <a:r>
              <a:rPr lang="en-US" sz="1200" b="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市場對管理團隊可信度提升</a:t>
            </a:r>
            <a:endParaRPr lang="en-US" sz="1200" b="0" dirty="0"/>
          </a:p>
        </p:txBody>
      </p:sp>
      <p:sp>
        <p:nvSpPr>
          <p:cNvPr id="8" name="Shape 6"/>
          <p:cNvSpPr/>
          <p:nvPr/>
        </p:nvSpPr>
        <p:spPr>
          <a:xfrm>
            <a:off x="899592" y="4536544"/>
            <a:ext cx="3127248" cy="0"/>
          </a:xfrm>
          <a:prstGeom prst="line">
            <a:avLst/>
          </a:prstGeom>
          <a:noFill/>
          <a:ln w="889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99592" y="2543152"/>
            <a:ext cx="0" cy="1993392"/>
          </a:xfrm>
          <a:prstGeom prst="line">
            <a:avLst/>
          </a:prstGeom>
          <a:noFill/>
          <a:ln w="889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045896" y="3233524"/>
            <a:ext cx="292608" cy="1303020"/>
          </a:xfrm>
          <a:prstGeom prst="rect">
            <a:avLst/>
          </a:prstGeom>
          <a:solidFill>
            <a:srgbClr val="D7CCB2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1" name="Text 9"/>
          <p:cNvSpPr/>
          <p:nvPr/>
        </p:nvSpPr>
        <p:spPr>
          <a:xfrm>
            <a:off x="1018464" y="3068960"/>
            <a:ext cx="38404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7CC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30%</a:t>
            </a:r>
            <a:endParaRPr lang="en-US" sz="1000" dirty="0">
              <a:solidFill>
                <a:srgbClr val="D7CCB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6168" y="4637128"/>
            <a:ext cx="512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21384" y="3320392"/>
            <a:ext cx="292608" cy="1216152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>
              <a:solidFill>
                <a:srgbClr val="92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93952" y="3156974"/>
            <a:ext cx="38404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28%</a:t>
            </a:r>
            <a:endParaRPr lang="en-US" sz="1000" dirty="0">
              <a:solidFill>
                <a:srgbClr val="92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1656" y="4637128"/>
            <a:ext cx="512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Y1實際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96872" y="3233524"/>
            <a:ext cx="292608" cy="1303020"/>
          </a:xfrm>
          <a:prstGeom prst="rect">
            <a:avLst/>
          </a:prstGeom>
          <a:solidFill>
            <a:srgbClr val="D7CCB2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7" name="Text 15"/>
          <p:cNvSpPr/>
          <p:nvPr/>
        </p:nvSpPr>
        <p:spPr>
          <a:xfrm>
            <a:off x="1969440" y="3068960"/>
            <a:ext cx="38404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7CC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30%</a:t>
            </a:r>
            <a:endParaRPr lang="en-US" sz="1000" dirty="0">
              <a:solidFill>
                <a:srgbClr val="D7CCB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87144" y="4637128"/>
            <a:ext cx="512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72360" y="3016354"/>
            <a:ext cx="292608" cy="152019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>
              <a:solidFill>
                <a:srgbClr val="92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44928" y="2852936"/>
            <a:ext cx="38404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35%</a:t>
            </a:r>
            <a:endParaRPr lang="en-US" sz="1000" dirty="0">
              <a:solidFill>
                <a:srgbClr val="92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62632" y="4637128"/>
            <a:ext cx="512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Y2實際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47848" y="3233524"/>
            <a:ext cx="292608" cy="1303020"/>
          </a:xfrm>
          <a:prstGeom prst="rect">
            <a:avLst/>
          </a:prstGeom>
          <a:solidFill>
            <a:srgbClr val="D7CCB2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920416" y="3068960"/>
            <a:ext cx="38404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7CC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30%</a:t>
            </a:r>
            <a:endParaRPr lang="en-US" sz="1000" dirty="0">
              <a:solidFill>
                <a:srgbClr val="D7CCB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838120" y="4637128"/>
            <a:ext cx="512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3336" y="3190090"/>
            <a:ext cx="292608" cy="1346454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>
              <a:solidFill>
                <a:srgbClr val="92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95904" y="3026672"/>
            <a:ext cx="38404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31%</a:t>
            </a:r>
            <a:endParaRPr lang="en-US" sz="1000" dirty="0">
              <a:solidFill>
                <a:srgbClr val="92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13608" y="4637128"/>
            <a:ext cx="512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Y3實際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9592" y="4869160"/>
            <a:ext cx="3127248" cy="1058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b="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註：數字為示意，重點在</a:t>
            </a:r>
            <a:r>
              <a:rPr lang="zh-TW" altLang="en-US" sz="1000" b="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 </a:t>
            </a:r>
            <a:r>
              <a:rPr lang="en-US" sz="1000" b="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Guidance </a:t>
            </a:r>
            <a:r>
              <a:rPr lang="en-US" sz="1000" b="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與實際結果是否連續對得</a:t>
            </a:r>
            <a:r>
              <a:rPr lang="zh-TW" altLang="en-US" sz="1000" b="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</a:t>
            </a:r>
            <a:endParaRPr lang="en-US" sz="1000" b="0" dirty="0"/>
          </a:p>
        </p:txBody>
      </p:sp>
      <p:sp>
        <p:nvSpPr>
          <p:cNvPr id="29" name="Shape 27"/>
          <p:cNvSpPr/>
          <p:nvPr/>
        </p:nvSpPr>
        <p:spPr>
          <a:xfrm>
            <a:off x="4535424" y="1566988"/>
            <a:ext cx="4041648" cy="3806227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0" name="Text 28"/>
          <p:cNvSpPr/>
          <p:nvPr/>
        </p:nvSpPr>
        <p:spPr>
          <a:xfrm>
            <a:off x="4744648" y="1628800"/>
            <a:ext cx="3129488" cy="2401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財務邏輯：從執行</a:t>
            </a:r>
            <a:r>
              <a:rPr lang="zh-TW" altLang="en-US" sz="14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r>
              <a:rPr lang="en-US" sz="1400" b="1" dirty="0" err="1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到估值</a:t>
            </a:r>
            <a:r>
              <a:rPr lang="zh-TW" altLang="en-US" sz="14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倍數提升</a:t>
            </a:r>
            <a:endParaRPr lang="en-US" sz="1400" dirty="0">
              <a:solidFill>
                <a:srgbClr val="920000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73168" y="2132856"/>
            <a:ext cx="847817" cy="1432890"/>
          </a:xfrm>
          <a:prstGeom prst="roundRect">
            <a:avLst>
              <a:gd name="adj" fmla="val 6098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716016" y="2132856"/>
            <a:ext cx="55468" cy="143289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>
              <a:solidFill>
                <a:srgbClr val="92000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58180" y="2659137"/>
            <a:ext cx="721932" cy="284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Execution</a:t>
            </a:r>
            <a:endParaRPr lang="en-US" sz="1200" dirty="0">
              <a:solidFill>
                <a:srgbClr val="92000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73111" y="2939775"/>
            <a:ext cx="674401" cy="4355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2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營收與毛利率持續達標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30939" y="2799257"/>
            <a:ext cx="96343" cy="0"/>
          </a:xfrm>
          <a:prstGeom prst="line">
            <a:avLst/>
          </a:prstGeom>
          <a:noFill/>
          <a:ln w="12700">
            <a:solidFill>
              <a:srgbClr val="D7CC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5707695" y="2132856"/>
            <a:ext cx="847817" cy="1432890"/>
          </a:xfrm>
          <a:prstGeom prst="roundRect">
            <a:avLst>
              <a:gd name="adj" fmla="val 6098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7" name="Text 35"/>
          <p:cNvSpPr/>
          <p:nvPr/>
        </p:nvSpPr>
        <p:spPr>
          <a:xfrm>
            <a:off x="5761562" y="2659137"/>
            <a:ext cx="751475" cy="284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Credibility</a:t>
            </a:r>
            <a:endParaRPr lang="en-US" sz="1200" dirty="0">
              <a:solidFill>
                <a:srgbClr val="920000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04513" y="3011783"/>
            <a:ext cx="674401" cy="4355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2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管理層可信度提升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565466" y="2799257"/>
            <a:ext cx="96343" cy="0"/>
          </a:xfrm>
          <a:prstGeom prst="line">
            <a:avLst/>
          </a:prstGeom>
          <a:noFill/>
          <a:ln w="12700">
            <a:solidFill>
              <a:srgbClr val="D7CC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6642221" y="2132856"/>
            <a:ext cx="847817" cy="1432890"/>
          </a:xfrm>
          <a:prstGeom prst="roundRect">
            <a:avLst>
              <a:gd name="adj" fmla="val 6098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1" name="Text 39"/>
          <p:cNvSpPr/>
          <p:nvPr/>
        </p:nvSpPr>
        <p:spPr>
          <a:xfrm>
            <a:off x="6700845" y="2587129"/>
            <a:ext cx="751475" cy="284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Risk Premium</a:t>
            </a:r>
            <a:endParaRPr lang="en-US" sz="1200" dirty="0">
              <a:solidFill>
                <a:srgbClr val="920000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43796" y="3011783"/>
            <a:ext cx="674401" cy="4355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200" b="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市場要求報酬下降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499993" y="2799257"/>
            <a:ext cx="96343" cy="0"/>
          </a:xfrm>
          <a:prstGeom prst="line">
            <a:avLst/>
          </a:prstGeom>
          <a:noFill/>
          <a:ln w="12700">
            <a:solidFill>
              <a:srgbClr val="D7CC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7576748" y="2132856"/>
            <a:ext cx="844876" cy="1432890"/>
          </a:xfrm>
          <a:prstGeom prst="roundRect">
            <a:avLst>
              <a:gd name="adj" fmla="val 6098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5" name="Text 43"/>
          <p:cNvSpPr/>
          <p:nvPr/>
        </p:nvSpPr>
        <p:spPr>
          <a:xfrm>
            <a:off x="7636949" y="2659137"/>
            <a:ext cx="751475" cy="284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Multiple</a:t>
            </a:r>
            <a:endParaRPr lang="en-US" sz="1200" dirty="0">
              <a:solidFill>
                <a:srgbClr val="920000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7679900" y="3011783"/>
            <a:ext cx="674401" cy="4355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zh-TW" altLang="en-US" sz="1200" b="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給予更高倍數</a:t>
            </a:r>
            <a:endParaRPr 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754880" y="3789040"/>
            <a:ext cx="3666744" cy="660433"/>
          </a:xfrm>
          <a:prstGeom prst="rect">
            <a:avLst/>
          </a:prstGeom>
          <a:solidFill>
            <a:srgbClr val="D7CC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8" name="Text 46"/>
          <p:cNvSpPr/>
          <p:nvPr/>
        </p:nvSpPr>
        <p:spPr>
          <a:xfrm>
            <a:off x="4820236" y="3889890"/>
            <a:ext cx="1767988" cy="206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2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 Deliver Numbers</a:t>
            </a:r>
            <a:endParaRPr lang="en-US" sz="1200" dirty="0">
              <a:solidFill>
                <a:srgbClr val="920000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6700028" y="3892308"/>
            <a:ext cx="1639244" cy="2993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sz="1050" b="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Guidance 與財務結果形成可信紀錄 → Credibility discount 下降</a:t>
            </a:r>
            <a:endParaRPr lang="en-US" sz="1050" b="0" dirty="0"/>
          </a:p>
        </p:txBody>
      </p:sp>
      <p:sp>
        <p:nvSpPr>
          <p:cNvPr id="50" name="Shape 48"/>
          <p:cNvSpPr/>
          <p:nvPr/>
        </p:nvSpPr>
        <p:spPr>
          <a:xfrm>
            <a:off x="4751858" y="4581128"/>
            <a:ext cx="3666744" cy="6082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1" name="Text 49"/>
          <p:cNvSpPr/>
          <p:nvPr/>
        </p:nvSpPr>
        <p:spPr>
          <a:xfrm>
            <a:off x="4820236" y="4651060"/>
            <a:ext cx="1623972" cy="166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 Miss Guidance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00028" y="4651060"/>
            <a:ext cx="1639244" cy="3258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sz="1050" b="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即使產業故事仍在，也可能形成 Structural Valuation Discount</a:t>
            </a:r>
            <a:endParaRPr lang="en-US" sz="1050" b="0" dirty="0"/>
          </a:p>
        </p:txBody>
      </p:sp>
      <p:sp>
        <p:nvSpPr>
          <p:cNvPr id="54" name="Text 52"/>
          <p:cNvSpPr/>
          <p:nvPr/>
        </p:nvSpPr>
        <p:spPr>
          <a:xfrm>
            <a:off x="877824" y="6299803"/>
            <a:ext cx="7543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C9B13BF8-37BE-445C-873B-A56187B37655}"/>
              </a:ext>
            </a:extLst>
          </p:cNvPr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市場從「不相信」到「相信」：營運實績支撐高估值</a:t>
            </a:r>
          </a:p>
        </p:txBody>
      </p:sp>
      <p:sp>
        <p:nvSpPr>
          <p:cNvPr id="58" name="Rectangle 9">
            <a:extLst>
              <a:ext uri="{FF2B5EF4-FFF2-40B4-BE49-F238E27FC236}">
                <a16:creationId xmlns:a16="http://schemas.microsoft.com/office/drawing/2014/main" id="{0C616023-825E-402C-9498-1083D702E7E5}"/>
              </a:ext>
            </a:extLst>
          </p:cNvPr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7C48827-ABBF-4884-8CA9-91D78406F569}"/>
              </a:ext>
            </a:extLst>
          </p:cNvPr>
          <p:cNvSpPr txBox="1"/>
          <p:nvPr/>
        </p:nvSpPr>
        <p:spPr>
          <a:xfrm>
            <a:off x="414195" y="1139183"/>
            <a:ext cx="8280152" cy="306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公開市場不會只因財測給予高估值，而會逐季檢驗公司是否持續交付營收、毛利率與現金流</a:t>
            </a:r>
          </a:p>
        </p:txBody>
      </p:sp>
      <p:sp>
        <p:nvSpPr>
          <p:cNvPr id="66" name="平行四邊形 65">
            <a:extLst>
              <a:ext uri="{FF2B5EF4-FFF2-40B4-BE49-F238E27FC236}">
                <a16:creationId xmlns:a16="http://schemas.microsoft.com/office/drawing/2014/main" id="{087B11C6-1643-44C0-A228-85B35B4B435D}"/>
              </a:ext>
            </a:extLst>
          </p:cNvPr>
          <p:cNvSpPr/>
          <p:nvPr/>
        </p:nvSpPr>
        <p:spPr bwMode="auto">
          <a:xfrm>
            <a:off x="323528" y="5611833"/>
            <a:ext cx="8253544" cy="501078"/>
          </a:xfrm>
          <a:prstGeom prst="parallelogram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67" name="Text 55">
            <a:extLst>
              <a:ext uri="{FF2B5EF4-FFF2-40B4-BE49-F238E27FC236}">
                <a16:creationId xmlns:a16="http://schemas.microsoft.com/office/drawing/2014/main" id="{FD4A9BB2-B131-450A-AB6B-876484840C0E}"/>
              </a:ext>
            </a:extLst>
          </p:cNvPr>
          <p:cNvSpPr/>
          <p:nvPr/>
        </p:nvSpPr>
        <p:spPr>
          <a:xfrm>
            <a:off x="548584" y="5733256"/>
            <a:ext cx="7790688" cy="4303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altLang="zh-TW" sz="14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有效的</a:t>
            </a:r>
            <a:r>
              <a:rPr lang="zh-TW" altLang="en-US" sz="14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投資人溝通</a:t>
            </a:r>
            <a:r>
              <a:rPr lang="en-US" altLang="zh-TW" sz="1400" b="1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不是頻繁辦法說會，而是持續交付可驗證的財務結果，讓預測變成</a:t>
            </a:r>
            <a:r>
              <a:rPr lang="zh-TW" altLang="en-US" sz="140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歷史實績</a:t>
            </a:r>
            <a:endParaRPr lang="en-US" altLang="zh-TW" sz="1400" dirty="0"/>
          </a:p>
        </p:txBody>
      </p:sp>
      <p:grpSp>
        <p:nvGrpSpPr>
          <p:cNvPr id="86" name="i$liḋê">
            <a:extLst>
              <a:ext uri="{FF2B5EF4-FFF2-40B4-BE49-F238E27FC236}">
                <a16:creationId xmlns:a16="http://schemas.microsoft.com/office/drawing/2014/main" id="{90D25B90-411D-44D8-9233-9D7A4B1F8AAC}"/>
              </a:ext>
            </a:extLst>
          </p:cNvPr>
          <p:cNvGrpSpPr>
            <a:grpSpLocks/>
          </p:cNvGrpSpPr>
          <p:nvPr/>
        </p:nvGrpSpPr>
        <p:grpSpPr bwMode="auto">
          <a:xfrm>
            <a:off x="5059505" y="2196666"/>
            <a:ext cx="2127416" cy="314561"/>
            <a:chOff x="-1278940" y="2963109"/>
            <a:chExt cx="3283741" cy="523310"/>
          </a:xfrm>
          <a:solidFill>
            <a:srgbClr val="920000"/>
          </a:solidFill>
        </p:grpSpPr>
        <p:sp>
          <p:nvSpPr>
            <p:cNvPr id="95" name="íṧľïḍe">
              <a:extLst>
                <a:ext uri="{FF2B5EF4-FFF2-40B4-BE49-F238E27FC236}">
                  <a16:creationId xmlns:a16="http://schemas.microsoft.com/office/drawing/2014/main" id="{0BD1DE31-997D-4B95-A314-9DEAAD998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78940" y="2963109"/>
              <a:ext cx="470135" cy="523308"/>
            </a:xfrm>
            <a:custGeom>
              <a:avLst/>
              <a:gdLst>
                <a:gd name="T0" fmla="*/ 370471 w 738457"/>
                <a:gd name="T1" fmla="*/ 823954 h 735085"/>
                <a:gd name="T2" fmla="*/ 365316 w 738457"/>
                <a:gd name="T3" fmla="*/ 569904 h 735085"/>
                <a:gd name="T4" fmla="*/ 416862 w 738457"/>
                <a:gd name="T5" fmla="*/ 611382 h 735085"/>
                <a:gd name="T6" fmla="*/ 499344 w 738457"/>
                <a:gd name="T7" fmla="*/ 616566 h 735085"/>
                <a:gd name="T8" fmla="*/ 509654 w 738457"/>
                <a:gd name="T9" fmla="*/ 683965 h 735085"/>
                <a:gd name="T10" fmla="*/ 561202 w 738457"/>
                <a:gd name="T11" fmla="*/ 746182 h 735085"/>
                <a:gd name="T12" fmla="*/ 519962 w 738457"/>
                <a:gd name="T13" fmla="*/ 798030 h 735085"/>
                <a:gd name="T14" fmla="*/ 514809 w 738457"/>
                <a:gd name="T15" fmla="*/ 886171 h 735085"/>
                <a:gd name="T16" fmla="*/ 447795 w 738457"/>
                <a:gd name="T17" fmla="*/ 891353 h 735085"/>
                <a:gd name="T18" fmla="*/ 380779 w 738457"/>
                <a:gd name="T19" fmla="*/ 948388 h 735085"/>
                <a:gd name="T20" fmla="*/ 329227 w 738457"/>
                <a:gd name="T21" fmla="*/ 906910 h 735085"/>
                <a:gd name="T22" fmla="*/ 246751 w 738457"/>
                <a:gd name="T23" fmla="*/ 901726 h 735085"/>
                <a:gd name="T24" fmla="*/ 236441 w 738457"/>
                <a:gd name="T25" fmla="*/ 834322 h 735085"/>
                <a:gd name="T26" fmla="*/ 184891 w 738457"/>
                <a:gd name="T27" fmla="*/ 772108 h 735085"/>
                <a:gd name="T28" fmla="*/ 226134 w 738457"/>
                <a:gd name="T29" fmla="*/ 715074 h 735085"/>
                <a:gd name="T30" fmla="*/ 231285 w 738457"/>
                <a:gd name="T31" fmla="*/ 632120 h 735085"/>
                <a:gd name="T32" fmla="*/ 298302 w 738457"/>
                <a:gd name="T33" fmla="*/ 621746 h 735085"/>
                <a:gd name="T34" fmla="*/ 365316 w 738457"/>
                <a:gd name="T35" fmla="*/ 569904 h 735085"/>
                <a:gd name="T36" fmla="*/ 725565 w 738457"/>
                <a:gd name="T37" fmla="*/ 606428 h 735085"/>
                <a:gd name="T38" fmla="*/ 720401 w 738457"/>
                <a:gd name="T39" fmla="*/ 291478 h 735085"/>
                <a:gd name="T40" fmla="*/ 803006 w 738457"/>
                <a:gd name="T41" fmla="*/ 353435 h 735085"/>
                <a:gd name="T42" fmla="*/ 885619 w 738457"/>
                <a:gd name="T43" fmla="*/ 363761 h 735085"/>
                <a:gd name="T44" fmla="*/ 895943 w 738457"/>
                <a:gd name="T45" fmla="*/ 461860 h 735085"/>
                <a:gd name="T46" fmla="*/ 952737 w 738457"/>
                <a:gd name="T47" fmla="*/ 523815 h 735085"/>
                <a:gd name="T48" fmla="*/ 890781 w 738457"/>
                <a:gd name="T49" fmla="*/ 606428 h 735085"/>
                <a:gd name="T50" fmla="*/ 880455 w 738457"/>
                <a:gd name="T51" fmla="*/ 689039 h 735085"/>
                <a:gd name="T52" fmla="*/ 782354 w 738457"/>
                <a:gd name="T53" fmla="*/ 699363 h 735085"/>
                <a:gd name="T54" fmla="*/ 715237 w 738457"/>
                <a:gd name="T55" fmla="*/ 756157 h 735085"/>
                <a:gd name="T56" fmla="*/ 637789 w 738457"/>
                <a:gd name="T57" fmla="*/ 694198 h 735085"/>
                <a:gd name="T58" fmla="*/ 550017 w 738457"/>
                <a:gd name="T59" fmla="*/ 689039 h 735085"/>
                <a:gd name="T60" fmla="*/ 544851 w 738457"/>
                <a:gd name="T61" fmla="*/ 590936 h 735085"/>
                <a:gd name="T62" fmla="*/ 482894 w 738457"/>
                <a:gd name="T63" fmla="*/ 523815 h 735085"/>
                <a:gd name="T64" fmla="*/ 544851 w 738457"/>
                <a:gd name="T65" fmla="*/ 446375 h 735085"/>
                <a:gd name="T66" fmla="*/ 555178 w 738457"/>
                <a:gd name="T67" fmla="*/ 358596 h 735085"/>
                <a:gd name="T68" fmla="*/ 653278 w 738457"/>
                <a:gd name="T69" fmla="*/ 343110 h 735085"/>
                <a:gd name="T70" fmla="*/ 720401 w 738457"/>
                <a:gd name="T71" fmla="*/ 291478 h 735085"/>
                <a:gd name="T72" fmla="*/ 283176 w 738457"/>
                <a:gd name="T73" fmla="*/ 383385 h 735085"/>
                <a:gd name="T74" fmla="*/ 252283 w 738457"/>
                <a:gd name="T75" fmla="*/ 0 h 735085"/>
                <a:gd name="T76" fmla="*/ 339812 w 738457"/>
                <a:gd name="T77" fmla="*/ 56990 h 735085"/>
                <a:gd name="T78" fmla="*/ 458230 w 738457"/>
                <a:gd name="T79" fmla="*/ 62172 h 735085"/>
                <a:gd name="T80" fmla="*/ 483972 w 738457"/>
                <a:gd name="T81" fmla="*/ 165790 h 735085"/>
                <a:gd name="T82" fmla="*/ 561203 w 738457"/>
                <a:gd name="T83" fmla="*/ 253862 h 735085"/>
                <a:gd name="T84" fmla="*/ 504568 w 738457"/>
                <a:gd name="T85" fmla="*/ 341944 h 735085"/>
                <a:gd name="T86" fmla="*/ 504568 w 738457"/>
                <a:gd name="T87" fmla="*/ 461103 h 735085"/>
                <a:gd name="T88" fmla="*/ 396444 w 738457"/>
                <a:gd name="T89" fmla="*/ 481825 h 735085"/>
                <a:gd name="T90" fmla="*/ 308920 w 738457"/>
                <a:gd name="T91" fmla="*/ 569904 h 735085"/>
                <a:gd name="T92" fmla="*/ 216241 w 738457"/>
                <a:gd name="T93" fmla="*/ 502550 h 735085"/>
                <a:gd name="T94" fmla="*/ 102969 w 738457"/>
                <a:gd name="T95" fmla="*/ 507731 h 735085"/>
                <a:gd name="T96" fmla="*/ 82380 w 738457"/>
                <a:gd name="T97" fmla="*/ 393750 h 735085"/>
                <a:gd name="T98" fmla="*/ 0 w 738457"/>
                <a:gd name="T99" fmla="*/ 316034 h 735085"/>
                <a:gd name="T100" fmla="*/ 56634 w 738457"/>
                <a:gd name="T101" fmla="*/ 222779 h 735085"/>
                <a:gd name="T102" fmla="*/ 56634 w 738457"/>
                <a:gd name="T103" fmla="*/ 103620 h 735085"/>
                <a:gd name="T104" fmla="*/ 164754 w 738457"/>
                <a:gd name="T105" fmla="*/ 82894 h 735085"/>
                <a:gd name="T106" fmla="*/ 252283 w 738457"/>
                <a:gd name="T107" fmla="*/ 0 h 73508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738457" h="735085">
                  <a:moveTo>
                    <a:pt x="291143" y="534154"/>
                  </a:moveTo>
                  <a:cubicBezTo>
                    <a:pt x="263174" y="534154"/>
                    <a:pt x="239201" y="558265"/>
                    <a:pt x="239201" y="586396"/>
                  </a:cubicBezTo>
                  <a:cubicBezTo>
                    <a:pt x="235205" y="614526"/>
                    <a:pt x="259178" y="638638"/>
                    <a:pt x="287147" y="638638"/>
                  </a:cubicBezTo>
                  <a:cubicBezTo>
                    <a:pt x="319111" y="638638"/>
                    <a:pt x="343084" y="618545"/>
                    <a:pt x="343084" y="586396"/>
                  </a:cubicBezTo>
                  <a:cubicBezTo>
                    <a:pt x="343084" y="558265"/>
                    <a:pt x="319111" y="534154"/>
                    <a:pt x="291143" y="534154"/>
                  </a:cubicBezTo>
                  <a:close/>
                  <a:moveTo>
                    <a:pt x="283151" y="441725"/>
                  </a:moveTo>
                  <a:cubicBezTo>
                    <a:pt x="283151" y="441725"/>
                    <a:pt x="283151" y="441725"/>
                    <a:pt x="303129" y="441725"/>
                  </a:cubicBezTo>
                  <a:cubicBezTo>
                    <a:pt x="311120" y="441725"/>
                    <a:pt x="319111" y="449762"/>
                    <a:pt x="319111" y="457800"/>
                  </a:cubicBezTo>
                  <a:cubicBezTo>
                    <a:pt x="319111" y="457800"/>
                    <a:pt x="319111" y="457800"/>
                    <a:pt x="323107" y="473874"/>
                  </a:cubicBezTo>
                  <a:cubicBezTo>
                    <a:pt x="331098" y="473874"/>
                    <a:pt x="343084" y="477893"/>
                    <a:pt x="351075" y="485930"/>
                  </a:cubicBezTo>
                  <a:cubicBezTo>
                    <a:pt x="351075" y="485930"/>
                    <a:pt x="351075" y="485930"/>
                    <a:pt x="359066" y="477893"/>
                  </a:cubicBezTo>
                  <a:cubicBezTo>
                    <a:pt x="367057" y="469856"/>
                    <a:pt x="379044" y="469856"/>
                    <a:pt x="387035" y="477893"/>
                  </a:cubicBezTo>
                  <a:cubicBezTo>
                    <a:pt x="387035" y="477893"/>
                    <a:pt x="387035" y="477893"/>
                    <a:pt x="399022" y="493967"/>
                  </a:cubicBezTo>
                  <a:cubicBezTo>
                    <a:pt x="407013" y="502005"/>
                    <a:pt x="407013" y="510042"/>
                    <a:pt x="403017" y="518079"/>
                  </a:cubicBezTo>
                  <a:cubicBezTo>
                    <a:pt x="403017" y="518079"/>
                    <a:pt x="403017" y="518079"/>
                    <a:pt x="395026" y="530135"/>
                  </a:cubicBezTo>
                  <a:cubicBezTo>
                    <a:pt x="399022" y="538172"/>
                    <a:pt x="403017" y="546210"/>
                    <a:pt x="403017" y="558265"/>
                  </a:cubicBezTo>
                  <a:cubicBezTo>
                    <a:pt x="403017" y="558265"/>
                    <a:pt x="403017" y="558265"/>
                    <a:pt x="418999" y="558265"/>
                  </a:cubicBezTo>
                  <a:cubicBezTo>
                    <a:pt x="426990" y="562284"/>
                    <a:pt x="434981" y="570321"/>
                    <a:pt x="434981" y="578359"/>
                  </a:cubicBezTo>
                  <a:cubicBezTo>
                    <a:pt x="434981" y="578359"/>
                    <a:pt x="434981" y="578359"/>
                    <a:pt x="434981" y="598452"/>
                  </a:cubicBezTo>
                  <a:cubicBezTo>
                    <a:pt x="434981" y="610508"/>
                    <a:pt x="426990" y="618545"/>
                    <a:pt x="415004" y="618545"/>
                  </a:cubicBezTo>
                  <a:cubicBezTo>
                    <a:pt x="415004" y="618545"/>
                    <a:pt x="415004" y="618545"/>
                    <a:pt x="403017" y="618545"/>
                  </a:cubicBezTo>
                  <a:cubicBezTo>
                    <a:pt x="403017" y="630601"/>
                    <a:pt x="399022" y="638638"/>
                    <a:pt x="391031" y="646675"/>
                  </a:cubicBezTo>
                  <a:cubicBezTo>
                    <a:pt x="391031" y="646675"/>
                    <a:pt x="391031" y="646675"/>
                    <a:pt x="399022" y="658731"/>
                  </a:cubicBezTo>
                  <a:cubicBezTo>
                    <a:pt x="407013" y="666769"/>
                    <a:pt x="407013" y="678824"/>
                    <a:pt x="399022" y="686862"/>
                  </a:cubicBezTo>
                  <a:cubicBezTo>
                    <a:pt x="399022" y="686862"/>
                    <a:pt x="399022" y="686862"/>
                    <a:pt x="383039" y="698918"/>
                  </a:cubicBezTo>
                  <a:cubicBezTo>
                    <a:pt x="375048" y="706955"/>
                    <a:pt x="367057" y="706955"/>
                    <a:pt x="359066" y="702936"/>
                  </a:cubicBezTo>
                  <a:cubicBezTo>
                    <a:pt x="359066" y="702936"/>
                    <a:pt x="359066" y="702936"/>
                    <a:pt x="347080" y="690880"/>
                  </a:cubicBezTo>
                  <a:cubicBezTo>
                    <a:pt x="339089" y="698918"/>
                    <a:pt x="327102" y="698918"/>
                    <a:pt x="319111" y="702936"/>
                  </a:cubicBezTo>
                  <a:cubicBezTo>
                    <a:pt x="319111" y="702936"/>
                    <a:pt x="319111" y="702936"/>
                    <a:pt x="315116" y="719011"/>
                  </a:cubicBezTo>
                  <a:cubicBezTo>
                    <a:pt x="315116" y="727048"/>
                    <a:pt x="307125" y="735085"/>
                    <a:pt x="295138" y="735085"/>
                  </a:cubicBezTo>
                  <a:cubicBezTo>
                    <a:pt x="295138" y="735085"/>
                    <a:pt x="295138" y="735085"/>
                    <a:pt x="275160" y="735085"/>
                  </a:cubicBezTo>
                  <a:cubicBezTo>
                    <a:pt x="267169" y="735085"/>
                    <a:pt x="259178" y="727048"/>
                    <a:pt x="255183" y="719011"/>
                  </a:cubicBezTo>
                  <a:cubicBezTo>
                    <a:pt x="255183" y="719011"/>
                    <a:pt x="255183" y="719011"/>
                    <a:pt x="255183" y="702936"/>
                  </a:cubicBezTo>
                  <a:cubicBezTo>
                    <a:pt x="247192" y="698918"/>
                    <a:pt x="239201" y="694899"/>
                    <a:pt x="227214" y="690880"/>
                  </a:cubicBezTo>
                  <a:cubicBezTo>
                    <a:pt x="227214" y="690880"/>
                    <a:pt x="227214" y="690880"/>
                    <a:pt x="215228" y="698918"/>
                  </a:cubicBezTo>
                  <a:cubicBezTo>
                    <a:pt x="207237" y="706955"/>
                    <a:pt x="199246" y="702936"/>
                    <a:pt x="191254" y="698918"/>
                  </a:cubicBezTo>
                  <a:cubicBezTo>
                    <a:pt x="191254" y="698918"/>
                    <a:pt x="191254" y="698918"/>
                    <a:pt x="175272" y="682843"/>
                  </a:cubicBezTo>
                  <a:cubicBezTo>
                    <a:pt x="171277" y="674806"/>
                    <a:pt x="171277" y="662750"/>
                    <a:pt x="175272" y="654713"/>
                  </a:cubicBezTo>
                  <a:cubicBezTo>
                    <a:pt x="175272" y="654713"/>
                    <a:pt x="175272" y="654713"/>
                    <a:pt x="183263" y="646675"/>
                  </a:cubicBezTo>
                  <a:cubicBezTo>
                    <a:pt x="179268" y="638638"/>
                    <a:pt x="175272" y="626582"/>
                    <a:pt x="175272" y="618545"/>
                  </a:cubicBezTo>
                  <a:cubicBezTo>
                    <a:pt x="175272" y="618545"/>
                    <a:pt x="175272" y="618545"/>
                    <a:pt x="159290" y="618545"/>
                  </a:cubicBezTo>
                  <a:cubicBezTo>
                    <a:pt x="151299" y="614526"/>
                    <a:pt x="143308" y="606489"/>
                    <a:pt x="143308" y="598452"/>
                  </a:cubicBezTo>
                  <a:cubicBezTo>
                    <a:pt x="143308" y="598452"/>
                    <a:pt x="143308" y="598452"/>
                    <a:pt x="143308" y="578359"/>
                  </a:cubicBezTo>
                  <a:cubicBezTo>
                    <a:pt x="143308" y="566303"/>
                    <a:pt x="151299" y="558265"/>
                    <a:pt x="159290" y="558265"/>
                  </a:cubicBezTo>
                  <a:lnTo>
                    <a:pt x="175272" y="554247"/>
                  </a:lnTo>
                  <a:cubicBezTo>
                    <a:pt x="175272" y="546210"/>
                    <a:pt x="179268" y="538172"/>
                    <a:pt x="187259" y="526116"/>
                  </a:cubicBezTo>
                  <a:cubicBezTo>
                    <a:pt x="187259" y="526116"/>
                    <a:pt x="187259" y="526116"/>
                    <a:pt x="179268" y="518079"/>
                  </a:cubicBezTo>
                  <a:cubicBezTo>
                    <a:pt x="171277" y="510042"/>
                    <a:pt x="171277" y="497986"/>
                    <a:pt x="179268" y="489949"/>
                  </a:cubicBezTo>
                  <a:cubicBezTo>
                    <a:pt x="179268" y="489949"/>
                    <a:pt x="179268" y="489949"/>
                    <a:pt x="195250" y="477893"/>
                  </a:cubicBezTo>
                  <a:cubicBezTo>
                    <a:pt x="199246" y="469856"/>
                    <a:pt x="211232" y="469856"/>
                    <a:pt x="219223" y="473874"/>
                  </a:cubicBezTo>
                  <a:cubicBezTo>
                    <a:pt x="219223" y="473874"/>
                    <a:pt x="219223" y="473874"/>
                    <a:pt x="231210" y="481911"/>
                  </a:cubicBezTo>
                  <a:cubicBezTo>
                    <a:pt x="239201" y="477893"/>
                    <a:pt x="251187" y="473874"/>
                    <a:pt x="259178" y="469856"/>
                  </a:cubicBezTo>
                  <a:cubicBezTo>
                    <a:pt x="259178" y="469856"/>
                    <a:pt x="259178" y="469856"/>
                    <a:pt x="263174" y="457800"/>
                  </a:cubicBezTo>
                  <a:cubicBezTo>
                    <a:pt x="263174" y="449762"/>
                    <a:pt x="271165" y="441725"/>
                    <a:pt x="283151" y="441725"/>
                  </a:cubicBezTo>
                  <a:close/>
                  <a:moveTo>
                    <a:pt x="550369" y="341975"/>
                  </a:moveTo>
                  <a:cubicBezTo>
                    <a:pt x="518354" y="345977"/>
                    <a:pt x="490341" y="373990"/>
                    <a:pt x="494343" y="410007"/>
                  </a:cubicBezTo>
                  <a:cubicBezTo>
                    <a:pt x="494343" y="446024"/>
                    <a:pt x="526358" y="474038"/>
                    <a:pt x="562375" y="470036"/>
                  </a:cubicBezTo>
                  <a:cubicBezTo>
                    <a:pt x="598391" y="466034"/>
                    <a:pt x="622403" y="434019"/>
                    <a:pt x="622403" y="402004"/>
                  </a:cubicBezTo>
                  <a:cubicBezTo>
                    <a:pt x="618401" y="365987"/>
                    <a:pt x="586386" y="337973"/>
                    <a:pt x="550369" y="341975"/>
                  </a:cubicBezTo>
                  <a:close/>
                  <a:moveTo>
                    <a:pt x="558373" y="225921"/>
                  </a:moveTo>
                  <a:cubicBezTo>
                    <a:pt x="570378" y="225921"/>
                    <a:pt x="578382" y="233925"/>
                    <a:pt x="578382" y="241928"/>
                  </a:cubicBezTo>
                  <a:cubicBezTo>
                    <a:pt x="578382" y="241928"/>
                    <a:pt x="578382" y="241928"/>
                    <a:pt x="582384" y="261938"/>
                  </a:cubicBezTo>
                  <a:cubicBezTo>
                    <a:pt x="598391" y="261938"/>
                    <a:pt x="610397" y="265940"/>
                    <a:pt x="622403" y="273943"/>
                  </a:cubicBezTo>
                  <a:cubicBezTo>
                    <a:pt x="622403" y="273943"/>
                    <a:pt x="622403" y="273943"/>
                    <a:pt x="634408" y="261938"/>
                  </a:cubicBezTo>
                  <a:cubicBezTo>
                    <a:pt x="642412" y="253934"/>
                    <a:pt x="654418" y="253934"/>
                    <a:pt x="662422" y="257936"/>
                  </a:cubicBezTo>
                  <a:cubicBezTo>
                    <a:pt x="662422" y="257936"/>
                    <a:pt x="662422" y="257936"/>
                    <a:pt x="686433" y="281947"/>
                  </a:cubicBezTo>
                  <a:cubicBezTo>
                    <a:pt x="694437" y="285949"/>
                    <a:pt x="694437" y="297955"/>
                    <a:pt x="690435" y="305958"/>
                  </a:cubicBezTo>
                  <a:cubicBezTo>
                    <a:pt x="690435" y="305958"/>
                    <a:pt x="690435" y="305958"/>
                    <a:pt x="678429" y="321966"/>
                  </a:cubicBezTo>
                  <a:cubicBezTo>
                    <a:pt x="686433" y="333972"/>
                    <a:pt x="690435" y="345977"/>
                    <a:pt x="694437" y="357983"/>
                  </a:cubicBezTo>
                  <a:cubicBezTo>
                    <a:pt x="694437" y="357983"/>
                    <a:pt x="694437" y="357983"/>
                    <a:pt x="714446" y="357983"/>
                  </a:cubicBezTo>
                  <a:cubicBezTo>
                    <a:pt x="726452" y="357983"/>
                    <a:pt x="734455" y="365987"/>
                    <a:pt x="734455" y="373990"/>
                  </a:cubicBezTo>
                  <a:cubicBezTo>
                    <a:pt x="734455" y="373990"/>
                    <a:pt x="734455" y="373990"/>
                    <a:pt x="738457" y="406005"/>
                  </a:cubicBezTo>
                  <a:cubicBezTo>
                    <a:pt x="738457" y="418011"/>
                    <a:pt x="730453" y="426015"/>
                    <a:pt x="722450" y="430017"/>
                  </a:cubicBezTo>
                  <a:cubicBezTo>
                    <a:pt x="722450" y="430017"/>
                    <a:pt x="722450" y="430017"/>
                    <a:pt x="702440" y="434019"/>
                  </a:cubicBezTo>
                  <a:cubicBezTo>
                    <a:pt x="698438" y="446024"/>
                    <a:pt x="694437" y="458030"/>
                    <a:pt x="690435" y="470036"/>
                  </a:cubicBezTo>
                  <a:cubicBezTo>
                    <a:pt x="690435" y="470036"/>
                    <a:pt x="690435" y="470036"/>
                    <a:pt x="702440" y="482041"/>
                  </a:cubicBezTo>
                  <a:cubicBezTo>
                    <a:pt x="710444" y="490045"/>
                    <a:pt x="710444" y="502051"/>
                    <a:pt x="706442" y="510055"/>
                  </a:cubicBezTo>
                  <a:cubicBezTo>
                    <a:pt x="706442" y="510055"/>
                    <a:pt x="706442" y="510055"/>
                    <a:pt x="682431" y="534066"/>
                  </a:cubicBezTo>
                  <a:cubicBezTo>
                    <a:pt x="678429" y="542070"/>
                    <a:pt x="666423" y="546071"/>
                    <a:pt x="658420" y="538068"/>
                  </a:cubicBezTo>
                  <a:cubicBezTo>
                    <a:pt x="658420" y="538068"/>
                    <a:pt x="658420" y="538068"/>
                    <a:pt x="638410" y="526062"/>
                  </a:cubicBezTo>
                  <a:cubicBezTo>
                    <a:pt x="630407" y="534066"/>
                    <a:pt x="618401" y="538068"/>
                    <a:pt x="606395" y="542070"/>
                  </a:cubicBezTo>
                  <a:cubicBezTo>
                    <a:pt x="606395" y="542070"/>
                    <a:pt x="606395" y="542070"/>
                    <a:pt x="606395" y="566081"/>
                  </a:cubicBezTo>
                  <a:cubicBezTo>
                    <a:pt x="606395" y="574085"/>
                    <a:pt x="598391" y="582088"/>
                    <a:pt x="586386" y="586090"/>
                  </a:cubicBezTo>
                  <a:cubicBezTo>
                    <a:pt x="586386" y="586090"/>
                    <a:pt x="586386" y="586090"/>
                    <a:pt x="554371" y="586090"/>
                  </a:cubicBezTo>
                  <a:cubicBezTo>
                    <a:pt x="546367" y="590092"/>
                    <a:pt x="534361" y="582088"/>
                    <a:pt x="534361" y="570083"/>
                  </a:cubicBezTo>
                  <a:cubicBezTo>
                    <a:pt x="534361" y="570083"/>
                    <a:pt x="534361" y="570083"/>
                    <a:pt x="530360" y="550073"/>
                  </a:cubicBezTo>
                  <a:cubicBezTo>
                    <a:pt x="518354" y="546071"/>
                    <a:pt x="506348" y="542070"/>
                    <a:pt x="494343" y="538068"/>
                  </a:cubicBezTo>
                  <a:cubicBezTo>
                    <a:pt x="494343" y="538068"/>
                    <a:pt x="494343" y="538068"/>
                    <a:pt x="478335" y="554075"/>
                  </a:cubicBezTo>
                  <a:cubicBezTo>
                    <a:pt x="470331" y="562079"/>
                    <a:pt x="458326" y="562079"/>
                    <a:pt x="454324" y="554075"/>
                  </a:cubicBezTo>
                  <a:cubicBezTo>
                    <a:pt x="454324" y="554075"/>
                    <a:pt x="454324" y="554075"/>
                    <a:pt x="426311" y="534066"/>
                  </a:cubicBezTo>
                  <a:cubicBezTo>
                    <a:pt x="418307" y="526062"/>
                    <a:pt x="418307" y="514056"/>
                    <a:pt x="422309" y="506053"/>
                  </a:cubicBezTo>
                  <a:cubicBezTo>
                    <a:pt x="422309" y="506053"/>
                    <a:pt x="422309" y="506053"/>
                    <a:pt x="438316" y="490045"/>
                  </a:cubicBezTo>
                  <a:cubicBezTo>
                    <a:pt x="430313" y="478040"/>
                    <a:pt x="426311" y="470036"/>
                    <a:pt x="422309" y="458030"/>
                  </a:cubicBezTo>
                  <a:cubicBezTo>
                    <a:pt x="422309" y="458030"/>
                    <a:pt x="422309" y="458030"/>
                    <a:pt x="398298" y="458030"/>
                  </a:cubicBezTo>
                  <a:cubicBezTo>
                    <a:pt x="386292" y="458030"/>
                    <a:pt x="378288" y="450026"/>
                    <a:pt x="378288" y="438020"/>
                  </a:cubicBezTo>
                  <a:cubicBezTo>
                    <a:pt x="378288" y="438020"/>
                    <a:pt x="378288" y="438020"/>
                    <a:pt x="374286" y="406005"/>
                  </a:cubicBezTo>
                  <a:cubicBezTo>
                    <a:pt x="374286" y="398002"/>
                    <a:pt x="382290" y="385996"/>
                    <a:pt x="390294" y="385996"/>
                  </a:cubicBezTo>
                  <a:cubicBezTo>
                    <a:pt x="390294" y="385996"/>
                    <a:pt x="390294" y="385996"/>
                    <a:pt x="414305" y="381994"/>
                  </a:cubicBezTo>
                  <a:cubicBezTo>
                    <a:pt x="414305" y="369989"/>
                    <a:pt x="418307" y="357983"/>
                    <a:pt x="422309" y="345977"/>
                  </a:cubicBezTo>
                  <a:cubicBezTo>
                    <a:pt x="422309" y="345977"/>
                    <a:pt x="422309" y="345977"/>
                    <a:pt x="410303" y="329970"/>
                  </a:cubicBezTo>
                  <a:cubicBezTo>
                    <a:pt x="402299" y="321966"/>
                    <a:pt x="402299" y="309960"/>
                    <a:pt x="410303" y="305958"/>
                  </a:cubicBezTo>
                  <a:cubicBezTo>
                    <a:pt x="410303" y="305958"/>
                    <a:pt x="410303" y="305958"/>
                    <a:pt x="430313" y="277945"/>
                  </a:cubicBezTo>
                  <a:cubicBezTo>
                    <a:pt x="434314" y="269942"/>
                    <a:pt x="446320" y="269942"/>
                    <a:pt x="454324" y="273943"/>
                  </a:cubicBezTo>
                  <a:cubicBezTo>
                    <a:pt x="454324" y="273943"/>
                    <a:pt x="454324" y="273943"/>
                    <a:pt x="470331" y="285949"/>
                  </a:cubicBezTo>
                  <a:cubicBezTo>
                    <a:pt x="482337" y="277945"/>
                    <a:pt x="494343" y="273943"/>
                    <a:pt x="506348" y="265940"/>
                  </a:cubicBezTo>
                  <a:cubicBezTo>
                    <a:pt x="506348" y="265940"/>
                    <a:pt x="506348" y="265940"/>
                    <a:pt x="506348" y="249932"/>
                  </a:cubicBezTo>
                  <a:cubicBezTo>
                    <a:pt x="506348" y="237927"/>
                    <a:pt x="514352" y="229923"/>
                    <a:pt x="526358" y="229923"/>
                  </a:cubicBezTo>
                  <a:cubicBezTo>
                    <a:pt x="526358" y="229923"/>
                    <a:pt x="526358" y="229923"/>
                    <a:pt x="558373" y="225921"/>
                  </a:cubicBezTo>
                  <a:close/>
                  <a:moveTo>
                    <a:pt x="219487" y="140549"/>
                  </a:moveTo>
                  <a:cubicBezTo>
                    <a:pt x="175589" y="140549"/>
                    <a:pt x="139673" y="176690"/>
                    <a:pt x="139673" y="216847"/>
                  </a:cubicBezTo>
                  <a:cubicBezTo>
                    <a:pt x="139673" y="261019"/>
                    <a:pt x="175589" y="297160"/>
                    <a:pt x="219487" y="297160"/>
                  </a:cubicBezTo>
                  <a:cubicBezTo>
                    <a:pt x="263384" y="297160"/>
                    <a:pt x="295309" y="261019"/>
                    <a:pt x="295309" y="216847"/>
                  </a:cubicBezTo>
                  <a:cubicBezTo>
                    <a:pt x="295309" y="176690"/>
                    <a:pt x="263384" y="140549"/>
                    <a:pt x="219487" y="140549"/>
                  </a:cubicBezTo>
                  <a:close/>
                  <a:moveTo>
                    <a:pt x="195543" y="0"/>
                  </a:moveTo>
                  <a:cubicBezTo>
                    <a:pt x="195543" y="0"/>
                    <a:pt x="195543" y="0"/>
                    <a:pt x="243431" y="0"/>
                  </a:cubicBezTo>
                  <a:cubicBezTo>
                    <a:pt x="251412" y="0"/>
                    <a:pt x="259393" y="8031"/>
                    <a:pt x="263384" y="16063"/>
                  </a:cubicBezTo>
                  <a:cubicBezTo>
                    <a:pt x="263384" y="16063"/>
                    <a:pt x="263384" y="16063"/>
                    <a:pt x="263384" y="44172"/>
                  </a:cubicBezTo>
                  <a:cubicBezTo>
                    <a:pt x="279346" y="48188"/>
                    <a:pt x="295309" y="56219"/>
                    <a:pt x="307281" y="64251"/>
                  </a:cubicBezTo>
                  <a:cubicBezTo>
                    <a:pt x="307281" y="64251"/>
                    <a:pt x="307281" y="64251"/>
                    <a:pt x="331225" y="48188"/>
                  </a:cubicBezTo>
                  <a:cubicBezTo>
                    <a:pt x="339206" y="40157"/>
                    <a:pt x="347188" y="40157"/>
                    <a:pt x="355169" y="48188"/>
                  </a:cubicBezTo>
                  <a:cubicBezTo>
                    <a:pt x="355169" y="48188"/>
                    <a:pt x="355169" y="48188"/>
                    <a:pt x="391085" y="80314"/>
                  </a:cubicBezTo>
                  <a:cubicBezTo>
                    <a:pt x="395076" y="88345"/>
                    <a:pt x="399066" y="100392"/>
                    <a:pt x="391085" y="108423"/>
                  </a:cubicBezTo>
                  <a:cubicBezTo>
                    <a:pt x="391085" y="108423"/>
                    <a:pt x="391085" y="108423"/>
                    <a:pt x="375122" y="128502"/>
                  </a:cubicBezTo>
                  <a:cubicBezTo>
                    <a:pt x="379113" y="144564"/>
                    <a:pt x="387094" y="156611"/>
                    <a:pt x="391085" y="172674"/>
                  </a:cubicBezTo>
                  <a:cubicBezTo>
                    <a:pt x="391085" y="172674"/>
                    <a:pt x="391085" y="172674"/>
                    <a:pt x="419020" y="176690"/>
                  </a:cubicBezTo>
                  <a:cubicBezTo>
                    <a:pt x="427001" y="176690"/>
                    <a:pt x="434982" y="184721"/>
                    <a:pt x="434982" y="196768"/>
                  </a:cubicBezTo>
                  <a:cubicBezTo>
                    <a:pt x="434982" y="196768"/>
                    <a:pt x="434982" y="196768"/>
                    <a:pt x="434982" y="240941"/>
                  </a:cubicBezTo>
                  <a:cubicBezTo>
                    <a:pt x="434982" y="252988"/>
                    <a:pt x="427001" y="261019"/>
                    <a:pt x="419020" y="261019"/>
                  </a:cubicBezTo>
                  <a:cubicBezTo>
                    <a:pt x="419020" y="261019"/>
                    <a:pt x="419020" y="261019"/>
                    <a:pt x="391085" y="265035"/>
                  </a:cubicBezTo>
                  <a:cubicBezTo>
                    <a:pt x="387094" y="281098"/>
                    <a:pt x="379113" y="293145"/>
                    <a:pt x="371132" y="309207"/>
                  </a:cubicBezTo>
                  <a:cubicBezTo>
                    <a:pt x="371132" y="309207"/>
                    <a:pt x="371132" y="309207"/>
                    <a:pt x="391085" y="333301"/>
                  </a:cubicBezTo>
                  <a:cubicBezTo>
                    <a:pt x="399066" y="341333"/>
                    <a:pt x="395076" y="349364"/>
                    <a:pt x="391085" y="357396"/>
                  </a:cubicBezTo>
                  <a:cubicBezTo>
                    <a:pt x="391085" y="357396"/>
                    <a:pt x="391085" y="357396"/>
                    <a:pt x="355169" y="393537"/>
                  </a:cubicBezTo>
                  <a:cubicBezTo>
                    <a:pt x="347188" y="397552"/>
                    <a:pt x="339206" y="401568"/>
                    <a:pt x="331225" y="393537"/>
                  </a:cubicBezTo>
                  <a:cubicBezTo>
                    <a:pt x="331225" y="393537"/>
                    <a:pt x="331225" y="393537"/>
                    <a:pt x="307281" y="373458"/>
                  </a:cubicBezTo>
                  <a:cubicBezTo>
                    <a:pt x="291318" y="381490"/>
                    <a:pt x="279346" y="389521"/>
                    <a:pt x="263384" y="393537"/>
                  </a:cubicBezTo>
                  <a:cubicBezTo>
                    <a:pt x="263384" y="393537"/>
                    <a:pt x="263384" y="393537"/>
                    <a:pt x="259393" y="421646"/>
                  </a:cubicBezTo>
                  <a:cubicBezTo>
                    <a:pt x="259393" y="433693"/>
                    <a:pt x="251412" y="441725"/>
                    <a:pt x="239440" y="441725"/>
                  </a:cubicBezTo>
                  <a:cubicBezTo>
                    <a:pt x="239440" y="441725"/>
                    <a:pt x="239440" y="441725"/>
                    <a:pt x="191552" y="441725"/>
                  </a:cubicBezTo>
                  <a:cubicBezTo>
                    <a:pt x="183571" y="441725"/>
                    <a:pt x="175589" y="433693"/>
                    <a:pt x="171599" y="421646"/>
                  </a:cubicBezTo>
                  <a:cubicBezTo>
                    <a:pt x="171599" y="421646"/>
                    <a:pt x="171599" y="421646"/>
                    <a:pt x="167608" y="389521"/>
                  </a:cubicBezTo>
                  <a:cubicBezTo>
                    <a:pt x="155636" y="385505"/>
                    <a:pt x="143664" y="381490"/>
                    <a:pt x="127701" y="373458"/>
                  </a:cubicBezTo>
                  <a:cubicBezTo>
                    <a:pt x="127701" y="373458"/>
                    <a:pt x="127701" y="373458"/>
                    <a:pt x="103757" y="393537"/>
                  </a:cubicBezTo>
                  <a:cubicBezTo>
                    <a:pt x="95776" y="397552"/>
                    <a:pt x="87794" y="397552"/>
                    <a:pt x="79813" y="393537"/>
                  </a:cubicBezTo>
                  <a:cubicBezTo>
                    <a:pt x="79813" y="393537"/>
                    <a:pt x="79813" y="393537"/>
                    <a:pt x="43897" y="357396"/>
                  </a:cubicBezTo>
                  <a:cubicBezTo>
                    <a:pt x="39906" y="349364"/>
                    <a:pt x="35916" y="337317"/>
                    <a:pt x="43897" y="329286"/>
                  </a:cubicBezTo>
                  <a:cubicBezTo>
                    <a:pt x="43897" y="329286"/>
                    <a:pt x="43897" y="329286"/>
                    <a:pt x="63850" y="305192"/>
                  </a:cubicBezTo>
                  <a:cubicBezTo>
                    <a:pt x="55869" y="293145"/>
                    <a:pt x="51878" y="281098"/>
                    <a:pt x="47888" y="269051"/>
                  </a:cubicBezTo>
                  <a:lnTo>
                    <a:pt x="15962" y="265035"/>
                  </a:lnTo>
                  <a:cubicBezTo>
                    <a:pt x="7981" y="265035"/>
                    <a:pt x="0" y="252988"/>
                    <a:pt x="0" y="244956"/>
                  </a:cubicBezTo>
                  <a:cubicBezTo>
                    <a:pt x="0" y="244956"/>
                    <a:pt x="0" y="244956"/>
                    <a:pt x="0" y="196768"/>
                  </a:cubicBezTo>
                  <a:cubicBezTo>
                    <a:pt x="0" y="188737"/>
                    <a:pt x="7981" y="176690"/>
                    <a:pt x="15962" y="176690"/>
                  </a:cubicBezTo>
                  <a:cubicBezTo>
                    <a:pt x="15962" y="176690"/>
                    <a:pt x="15962" y="176690"/>
                    <a:pt x="43897" y="172674"/>
                  </a:cubicBezTo>
                  <a:cubicBezTo>
                    <a:pt x="47888" y="160627"/>
                    <a:pt x="55869" y="144564"/>
                    <a:pt x="63850" y="132517"/>
                  </a:cubicBezTo>
                  <a:cubicBezTo>
                    <a:pt x="63850" y="132517"/>
                    <a:pt x="63850" y="132517"/>
                    <a:pt x="43897" y="108423"/>
                  </a:cubicBezTo>
                  <a:cubicBezTo>
                    <a:pt x="35916" y="100392"/>
                    <a:pt x="39906" y="88345"/>
                    <a:pt x="43897" y="80314"/>
                  </a:cubicBezTo>
                  <a:cubicBezTo>
                    <a:pt x="43897" y="80314"/>
                    <a:pt x="43897" y="80314"/>
                    <a:pt x="79813" y="48188"/>
                  </a:cubicBezTo>
                  <a:cubicBezTo>
                    <a:pt x="87794" y="40157"/>
                    <a:pt x="95776" y="40157"/>
                    <a:pt x="103757" y="48188"/>
                  </a:cubicBezTo>
                  <a:cubicBezTo>
                    <a:pt x="103757" y="48188"/>
                    <a:pt x="103757" y="48188"/>
                    <a:pt x="127701" y="64251"/>
                  </a:cubicBezTo>
                  <a:cubicBezTo>
                    <a:pt x="139673" y="56219"/>
                    <a:pt x="155636" y="48188"/>
                    <a:pt x="171599" y="44172"/>
                  </a:cubicBezTo>
                  <a:cubicBezTo>
                    <a:pt x="171599" y="44172"/>
                    <a:pt x="171599" y="44172"/>
                    <a:pt x="175589" y="16063"/>
                  </a:cubicBezTo>
                  <a:cubicBezTo>
                    <a:pt x="175589" y="8031"/>
                    <a:pt x="183571" y="0"/>
                    <a:pt x="195543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6" name="îslidè">
              <a:extLst>
                <a:ext uri="{FF2B5EF4-FFF2-40B4-BE49-F238E27FC236}">
                  <a16:creationId xmlns:a16="http://schemas.microsoft.com/office/drawing/2014/main" id="{56BCD6E8-B61A-483B-BB3A-861E1087A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675" y="2978885"/>
              <a:ext cx="358126" cy="507534"/>
            </a:xfrm>
            <a:custGeom>
              <a:avLst/>
              <a:gdLst>
                <a:gd name="T0" fmla="*/ 2147483647 w 112"/>
                <a:gd name="T1" fmla="*/ 2147483647 h 163"/>
                <a:gd name="T2" fmla="*/ 2147483647 w 112"/>
                <a:gd name="T3" fmla="*/ 2147483647 h 163"/>
                <a:gd name="T4" fmla="*/ 2147483647 w 112"/>
                <a:gd name="T5" fmla="*/ 0 h 163"/>
                <a:gd name="T6" fmla="*/ 0 w 112"/>
                <a:gd name="T7" fmla="*/ 2147483647 h 163"/>
                <a:gd name="T8" fmla="*/ 0 w 112"/>
                <a:gd name="T9" fmla="*/ 2147483647 h 163"/>
                <a:gd name="T10" fmla="*/ 0 w 112"/>
                <a:gd name="T11" fmla="*/ 2147483647 h 163"/>
                <a:gd name="T12" fmla="*/ 2147483647 w 112"/>
                <a:gd name="T13" fmla="*/ 2147483647 h 163"/>
                <a:gd name="T14" fmla="*/ 2147483647 w 112"/>
                <a:gd name="T15" fmla="*/ 2147483647 h 163"/>
                <a:gd name="T16" fmla="*/ 2147483647 w 112"/>
                <a:gd name="T17" fmla="*/ 2147483647 h 163"/>
                <a:gd name="T18" fmla="*/ 2147483647 w 112"/>
                <a:gd name="T19" fmla="*/ 2147483647 h 163"/>
                <a:gd name="T20" fmla="*/ 2147483647 w 112"/>
                <a:gd name="T21" fmla="*/ 2147483647 h 163"/>
                <a:gd name="T22" fmla="*/ 2147483647 w 112"/>
                <a:gd name="T23" fmla="*/ 2147483647 h 163"/>
                <a:gd name="T24" fmla="*/ 2147483647 w 112"/>
                <a:gd name="T25" fmla="*/ 2147483647 h 163"/>
                <a:gd name="T26" fmla="*/ 2147483647 w 112"/>
                <a:gd name="T27" fmla="*/ 2147483647 h 163"/>
                <a:gd name="T28" fmla="*/ 2147483647 w 112"/>
                <a:gd name="T29" fmla="*/ 2147483647 h 163"/>
                <a:gd name="T30" fmla="*/ 2147483647 w 112"/>
                <a:gd name="T31" fmla="*/ 2147483647 h 163"/>
                <a:gd name="T32" fmla="*/ 2147483647 w 112"/>
                <a:gd name="T33" fmla="*/ 2147483647 h 163"/>
                <a:gd name="T34" fmla="*/ 2147483647 w 112"/>
                <a:gd name="T35" fmla="*/ 2147483647 h 163"/>
                <a:gd name="T36" fmla="*/ 2147483647 w 112"/>
                <a:gd name="T37" fmla="*/ 2147483647 h 163"/>
                <a:gd name="T38" fmla="*/ 2147483647 w 112"/>
                <a:gd name="T39" fmla="*/ 2147483647 h 163"/>
                <a:gd name="T40" fmla="*/ 2147483647 w 112"/>
                <a:gd name="T41" fmla="*/ 2147483647 h 16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2" h="163">
                  <a:moveTo>
                    <a:pt x="109" y="41"/>
                  </a:moveTo>
                  <a:cubicBezTo>
                    <a:pt x="109" y="38"/>
                    <a:pt x="108" y="36"/>
                    <a:pt x="107" y="34"/>
                  </a:cubicBezTo>
                  <a:cubicBezTo>
                    <a:pt x="96" y="9"/>
                    <a:pt x="74" y="0"/>
                    <a:pt x="55" y="0"/>
                  </a:cubicBezTo>
                  <a:cubicBezTo>
                    <a:pt x="30" y="0"/>
                    <a:pt x="3" y="16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8"/>
                    <a:pt x="0" y="60"/>
                    <a:pt x="0" y="62"/>
                  </a:cubicBezTo>
                  <a:cubicBezTo>
                    <a:pt x="2" y="78"/>
                    <a:pt x="15" y="95"/>
                    <a:pt x="24" y="111"/>
                  </a:cubicBezTo>
                  <a:cubicBezTo>
                    <a:pt x="35" y="129"/>
                    <a:pt x="45" y="146"/>
                    <a:pt x="56" y="163"/>
                  </a:cubicBezTo>
                  <a:cubicBezTo>
                    <a:pt x="62" y="152"/>
                    <a:pt x="69" y="141"/>
                    <a:pt x="75" y="130"/>
                  </a:cubicBezTo>
                  <a:cubicBezTo>
                    <a:pt x="77" y="127"/>
                    <a:pt x="79" y="123"/>
                    <a:pt x="81" y="120"/>
                  </a:cubicBezTo>
                  <a:cubicBezTo>
                    <a:pt x="82" y="118"/>
                    <a:pt x="84" y="116"/>
                    <a:pt x="85" y="114"/>
                  </a:cubicBezTo>
                  <a:cubicBezTo>
                    <a:pt x="96" y="96"/>
                    <a:pt x="112" y="76"/>
                    <a:pt x="112" y="58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48"/>
                    <a:pt x="110" y="41"/>
                    <a:pt x="109" y="41"/>
                  </a:cubicBezTo>
                  <a:close/>
                  <a:moveTo>
                    <a:pt x="56" y="75"/>
                  </a:moveTo>
                  <a:cubicBezTo>
                    <a:pt x="48" y="75"/>
                    <a:pt x="40" y="72"/>
                    <a:pt x="36" y="62"/>
                  </a:cubicBezTo>
                  <a:cubicBezTo>
                    <a:pt x="36" y="60"/>
                    <a:pt x="36" y="57"/>
                    <a:pt x="36" y="57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40"/>
                    <a:pt x="47" y="34"/>
                    <a:pt x="56" y="34"/>
                  </a:cubicBezTo>
                  <a:cubicBezTo>
                    <a:pt x="68" y="34"/>
                    <a:pt x="77" y="43"/>
                    <a:pt x="77" y="55"/>
                  </a:cubicBezTo>
                  <a:cubicBezTo>
                    <a:pt x="77" y="66"/>
                    <a:pt x="67" y="75"/>
                    <a:pt x="56" y="7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7" name="îsļîḍé">
              <a:extLst>
                <a:ext uri="{FF2B5EF4-FFF2-40B4-BE49-F238E27FC236}">
                  <a16:creationId xmlns:a16="http://schemas.microsoft.com/office/drawing/2014/main" id="{9AFD34F6-6CB2-4082-AB24-CAC98D2C7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517" y="3000229"/>
              <a:ext cx="353405" cy="486188"/>
            </a:xfrm>
            <a:custGeom>
              <a:avLst/>
              <a:gdLst>
                <a:gd name="T0" fmla="*/ 243094 w 551315"/>
                <a:gd name="T1" fmla="*/ 495485 h 558059"/>
                <a:gd name="T2" fmla="*/ 483467 w 551315"/>
                <a:gd name="T3" fmla="*/ 495485 h 558059"/>
                <a:gd name="T4" fmla="*/ 504373 w 551315"/>
                <a:gd name="T5" fmla="*/ 517213 h 558059"/>
                <a:gd name="T6" fmla="*/ 483467 w 551315"/>
                <a:gd name="T7" fmla="*/ 544370 h 558059"/>
                <a:gd name="T8" fmla="*/ 243094 w 551315"/>
                <a:gd name="T9" fmla="*/ 544370 h 558059"/>
                <a:gd name="T10" fmla="*/ 222192 w 551315"/>
                <a:gd name="T11" fmla="*/ 517213 h 558059"/>
                <a:gd name="T12" fmla="*/ 243094 w 551315"/>
                <a:gd name="T13" fmla="*/ 495485 h 558059"/>
                <a:gd name="T14" fmla="*/ 194415 w 551315"/>
                <a:gd name="T15" fmla="*/ 395503 h 558059"/>
                <a:gd name="T16" fmla="*/ 532145 w 551315"/>
                <a:gd name="T17" fmla="*/ 395503 h 558059"/>
                <a:gd name="T18" fmla="*/ 553254 w 551315"/>
                <a:gd name="T19" fmla="*/ 422163 h 558059"/>
                <a:gd name="T20" fmla="*/ 532145 w 551315"/>
                <a:gd name="T21" fmla="*/ 448827 h 558059"/>
                <a:gd name="T22" fmla="*/ 194415 w 551315"/>
                <a:gd name="T23" fmla="*/ 448827 h 558059"/>
                <a:gd name="T24" fmla="*/ 173310 w 551315"/>
                <a:gd name="T25" fmla="*/ 422163 h 558059"/>
                <a:gd name="T26" fmla="*/ 194415 w 551315"/>
                <a:gd name="T27" fmla="*/ 395503 h 558059"/>
                <a:gd name="T28" fmla="*/ 152682 w 551315"/>
                <a:gd name="T29" fmla="*/ 338625 h 558059"/>
                <a:gd name="T30" fmla="*/ 110562 w 551315"/>
                <a:gd name="T31" fmla="*/ 375663 h 558059"/>
                <a:gd name="T32" fmla="*/ 110562 w 551315"/>
                <a:gd name="T33" fmla="*/ 582013 h 558059"/>
                <a:gd name="T34" fmla="*/ 152682 w 551315"/>
                <a:gd name="T35" fmla="*/ 619049 h 558059"/>
                <a:gd name="T36" fmla="*/ 573878 w 551315"/>
                <a:gd name="T37" fmla="*/ 619049 h 558059"/>
                <a:gd name="T38" fmla="*/ 616001 w 551315"/>
                <a:gd name="T39" fmla="*/ 582013 h 558059"/>
                <a:gd name="T40" fmla="*/ 616001 w 551315"/>
                <a:gd name="T41" fmla="*/ 375663 h 558059"/>
                <a:gd name="T42" fmla="*/ 573878 w 551315"/>
                <a:gd name="T43" fmla="*/ 338625 h 558059"/>
                <a:gd name="T44" fmla="*/ 152682 w 551315"/>
                <a:gd name="T45" fmla="*/ 338625 h 558059"/>
                <a:gd name="T46" fmla="*/ 211081 w 551315"/>
                <a:gd name="T47" fmla="*/ 0 h 558059"/>
                <a:gd name="T48" fmla="*/ 515483 w 551315"/>
                <a:gd name="T49" fmla="*/ 0 h 558059"/>
                <a:gd name="T50" fmla="*/ 515483 w 551315"/>
                <a:gd name="T51" fmla="*/ 121863 h 558059"/>
                <a:gd name="T52" fmla="*/ 499737 w 551315"/>
                <a:gd name="T53" fmla="*/ 137761 h 558059"/>
                <a:gd name="T54" fmla="*/ 226826 w 551315"/>
                <a:gd name="T55" fmla="*/ 137761 h 558059"/>
                <a:gd name="T56" fmla="*/ 211081 w 551315"/>
                <a:gd name="T57" fmla="*/ 121863 h 558059"/>
                <a:gd name="T58" fmla="*/ 211081 w 551315"/>
                <a:gd name="T59" fmla="*/ 0 h 558059"/>
                <a:gd name="T60" fmla="*/ 68442 w 551315"/>
                <a:gd name="T61" fmla="*/ 0 h 558059"/>
                <a:gd name="T62" fmla="*/ 163214 w 551315"/>
                <a:gd name="T63" fmla="*/ 0 h 558059"/>
                <a:gd name="T64" fmla="*/ 163214 w 551315"/>
                <a:gd name="T65" fmla="*/ 121694 h 558059"/>
                <a:gd name="T66" fmla="*/ 226393 w 551315"/>
                <a:gd name="T67" fmla="*/ 185185 h 558059"/>
                <a:gd name="T68" fmla="*/ 500174 w 551315"/>
                <a:gd name="T69" fmla="*/ 185185 h 558059"/>
                <a:gd name="T70" fmla="*/ 563349 w 551315"/>
                <a:gd name="T71" fmla="*/ 121694 h 558059"/>
                <a:gd name="T72" fmla="*/ 563349 w 551315"/>
                <a:gd name="T73" fmla="*/ 31746 h 558059"/>
                <a:gd name="T74" fmla="*/ 716033 w 551315"/>
                <a:gd name="T75" fmla="*/ 185185 h 558059"/>
                <a:gd name="T76" fmla="*/ 726562 w 551315"/>
                <a:gd name="T77" fmla="*/ 211641 h 558059"/>
                <a:gd name="T78" fmla="*/ 726562 w 551315"/>
                <a:gd name="T79" fmla="*/ 666671 h 558059"/>
                <a:gd name="T80" fmla="*/ 658120 w 551315"/>
                <a:gd name="T81" fmla="*/ 735450 h 558059"/>
                <a:gd name="T82" fmla="*/ 68442 w 551315"/>
                <a:gd name="T83" fmla="*/ 735450 h 558059"/>
                <a:gd name="T84" fmla="*/ 0 w 551315"/>
                <a:gd name="T85" fmla="*/ 666671 h 558059"/>
                <a:gd name="T86" fmla="*/ 0 w 551315"/>
                <a:gd name="T87" fmla="*/ 68782 h 558059"/>
                <a:gd name="T88" fmla="*/ 68442 w 551315"/>
                <a:gd name="T89" fmla="*/ 0 h 5580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51315" h="558059">
                  <a:moveTo>
                    <a:pt x="184459" y="375973"/>
                  </a:moveTo>
                  <a:cubicBezTo>
                    <a:pt x="184459" y="375973"/>
                    <a:pt x="184459" y="375973"/>
                    <a:pt x="366857" y="375973"/>
                  </a:cubicBezTo>
                  <a:cubicBezTo>
                    <a:pt x="374787" y="375973"/>
                    <a:pt x="382717" y="384216"/>
                    <a:pt x="382717" y="392459"/>
                  </a:cubicBezTo>
                  <a:cubicBezTo>
                    <a:pt x="382717" y="404823"/>
                    <a:pt x="374787" y="413065"/>
                    <a:pt x="366857" y="413065"/>
                  </a:cubicBezTo>
                  <a:cubicBezTo>
                    <a:pt x="366857" y="413065"/>
                    <a:pt x="366857" y="413065"/>
                    <a:pt x="184459" y="413065"/>
                  </a:cubicBezTo>
                  <a:cubicBezTo>
                    <a:pt x="176529" y="413065"/>
                    <a:pt x="168598" y="404823"/>
                    <a:pt x="168598" y="392459"/>
                  </a:cubicBezTo>
                  <a:cubicBezTo>
                    <a:pt x="168598" y="384216"/>
                    <a:pt x="176529" y="375973"/>
                    <a:pt x="184459" y="375973"/>
                  </a:cubicBezTo>
                  <a:close/>
                  <a:moveTo>
                    <a:pt x="147524" y="300104"/>
                  </a:moveTo>
                  <a:cubicBezTo>
                    <a:pt x="147524" y="300104"/>
                    <a:pt x="147524" y="300104"/>
                    <a:pt x="403792" y="300104"/>
                  </a:cubicBezTo>
                  <a:cubicBezTo>
                    <a:pt x="411801" y="300104"/>
                    <a:pt x="419809" y="308197"/>
                    <a:pt x="419809" y="320336"/>
                  </a:cubicBezTo>
                  <a:cubicBezTo>
                    <a:pt x="419809" y="332475"/>
                    <a:pt x="411801" y="340567"/>
                    <a:pt x="403792" y="340567"/>
                  </a:cubicBezTo>
                  <a:cubicBezTo>
                    <a:pt x="403792" y="340567"/>
                    <a:pt x="403792" y="340567"/>
                    <a:pt x="147524" y="340567"/>
                  </a:cubicBezTo>
                  <a:cubicBezTo>
                    <a:pt x="139515" y="340567"/>
                    <a:pt x="131507" y="332475"/>
                    <a:pt x="131507" y="320336"/>
                  </a:cubicBezTo>
                  <a:cubicBezTo>
                    <a:pt x="131507" y="308197"/>
                    <a:pt x="139515" y="300104"/>
                    <a:pt x="147524" y="300104"/>
                  </a:cubicBezTo>
                  <a:close/>
                  <a:moveTo>
                    <a:pt x="115856" y="256948"/>
                  </a:moveTo>
                  <a:cubicBezTo>
                    <a:pt x="99876" y="256948"/>
                    <a:pt x="83896" y="268993"/>
                    <a:pt x="83896" y="285052"/>
                  </a:cubicBezTo>
                  <a:cubicBezTo>
                    <a:pt x="83896" y="285052"/>
                    <a:pt x="83896" y="285052"/>
                    <a:pt x="83896" y="441630"/>
                  </a:cubicBezTo>
                  <a:cubicBezTo>
                    <a:pt x="83896" y="457689"/>
                    <a:pt x="99876" y="469733"/>
                    <a:pt x="115856" y="469733"/>
                  </a:cubicBezTo>
                  <a:cubicBezTo>
                    <a:pt x="115856" y="469733"/>
                    <a:pt x="115856" y="469733"/>
                    <a:pt x="435459" y="469733"/>
                  </a:cubicBezTo>
                  <a:cubicBezTo>
                    <a:pt x="451439" y="469733"/>
                    <a:pt x="467419" y="457689"/>
                    <a:pt x="467419" y="441630"/>
                  </a:cubicBezTo>
                  <a:lnTo>
                    <a:pt x="467419" y="285052"/>
                  </a:lnTo>
                  <a:cubicBezTo>
                    <a:pt x="467419" y="268993"/>
                    <a:pt x="451439" y="256948"/>
                    <a:pt x="435459" y="256948"/>
                  </a:cubicBezTo>
                  <a:cubicBezTo>
                    <a:pt x="435459" y="256948"/>
                    <a:pt x="435459" y="256948"/>
                    <a:pt x="115856" y="256948"/>
                  </a:cubicBezTo>
                  <a:close/>
                  <a:moveTo>
                    <a:pt x="160168" y="0"/>
                  </a:moveTo>
                  <a:cubicBezTo>
                    <a:pt x="160168" y="0"/>
                    <a:pt x="160168" y="0"/>
                    <a:pt x="391147" y="0"/>
                  </a:cubicBezTo>
                  <a:cubicBezTo>
                    <a:pt x="391147" y="0"/>
                    <a:pt x="391147" y="0"/>
                    <a:pt x="391147" y="92470"/>
                  </a:cubicBezTo>
                  <a:cubicBezTo>
                    <a:pt x="391147" y="100511"/>
                    <a:pt x="383182" y="104531"/>
                    <a:pt x="379200" y="104531"/>
                  </a:cubicBezTo>
                  <a:cubicBezTo>
                    <a:pt x="379200" y="104531"/>
                    <a:pt x="379200" y="104531"/>
                    <a:pt x="172115" y="104531"/>
                  </a:cubicBezTo>
                  <a:cubicBezTo>
                    <a:pt x="168133" y="104531"/>
                    <a:pt x="160168" y="100511"/>
                    <a:pt x="160168" y="92470"/>
                  </a:cubicBezTo>
                  <a:cubicBezTo>
                    <a:pt x="160168" y="92470"/>
                    <a:pt x="160168" y="92470"/>
                    <a:pt x="160168" y="0"/>
                  </a:cubicBezTo>
                  <a:close/>
                  <a:moveTo>
                    <a:pt x="51935" y="0"/>
                  </a:moveTo>
                  <a:cubicBezTo>
                    <a:pt x="51935" y="0"/>
                    <a:pt x="51935" y="0"/>
                    <a:pt x="123846" y="0"/>
                  </a:cubicBezTo>
                  <a:cubicBezTo>
                    <a:pt x="123846" y="0"/>
                    <a:pt x="123846" y="0"/>
                    <a:pt x="123846" y="92341"/>
                  </a:cubicBezTo>
                  <a:cubicBezTo>
                    <a:pt x="123846" y="120445"/>
                    <a:pt x="147816" y="140519"/>
                    <a:pt x="171787" y="140519"/>
                  </a:cubicBezTo>
                  <a:cubicBezTo>
                    <a:pt x="171787" y="140519"/>
                    <a:pt x="171787" y="140519"/>
                    <a:pt x="379529" y="140519"/>
                  </a:cubicBezTo>
                  <a:cubicBezTo>
                    <a:pt x="403499" y="140519"/>
                    <a:pt x="427469" y="120445"/>
                    <a:pt x="427469" y="92341"/>
                  </a:cubicBezTo>
                  <a:cubicBezTo>
                    <a:pt x="427469" y="92341"/>
                    <a:pt x="427469" y="92341"/>
                    <a:pt x="427469" y="24089"/>
                  </a:cubicBezTo>
                  <a:cubicBezTo>
                    <a:pt x="427469" y="24089"/>
                    <a:pt x="427469" y="24089"/>
                    <a:pt x="543325" y="140519"/>
                  </a:cubicBezTo>
                  <a:cubicBezTo>
                    <a:pt x="547320" y="148548"/>
                    <a:pt x="551315" y="152563"/>
                    <a:pt x="551315" y="160593"/>
                  </a:cubicBezTo>
                  <a:cubicBezTo>
                    <a:pt x="551315" y="160593"/>
                    <a:pt x="551315" y="160593"/>
                    <a:pt x="551315" y="505867"/>
                  </a:cubicBezTo>
                  <a:cubicBezTo>
                    <a:pt x="551315" y="533970"/>
                    <a:pt x="527345" y="558059"/>
                    <a:pt x="499380" y="558059"/>
                  </a:cubicBezTo>
                  <a:cubicBezTo>
                    <a:pt x="499380" y="558059"/>
                    <a:pt x="499380" y="558059"/>
                    <a:pt x="51935" y="558059"/>
                  </a:cubicBezTo>
                  <a:cubicBezTo>
                    <a:pt x="23970" y="558059"/>
                    <a:pt x="0" y="533970"/>
                    <a:pt x="0" y="505867"/>
                  </a:cubicBezTo>
                  <a:cubicBezTo>
                    <a:pt x="0" y="505867"/>
                    <a:pt x="0" y="505867"/>
                    <a:pt x="0" y="52193"/>
                  </a:cubicBezTo>
                  <a:cubicBezTo>
                    <a:pt x="0" y="24089"/>
                    <a:pt x="23970" y="0"/>
                    <a:pt x="5193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04" name="Freeform 345">
            <a:extLst>
              <a:ext uri="{FF2B5EF4-FFF2-40B4-BE49-F238E27FC236}">
                <a16:creationId xmlns:a16="http://schemas.microsoft.com/office/drawing/2014/main" id="{F4D6A0AF-0687-4CD3-950E-1308CC963257}"/>
              </a:ext>
            </a:extLst>
          </p:cNvPr>
          <p:cNvSpPr/>
          <p:nvPr/>
        </p:nvSpPr>
        <p:spPr>
          <a:xfrm>
            <a:off x="7865782" y="2264994"/>
            <a:ext cx="293808" cy="265564"/>
          </a:xfrm>
          <a:custGeom>
            <a:avLst/>
            <a:gdLst>
              <a:gd name="connsiteX0" fmla="*/ 9015 w 504825"/>
              <a:gd name="connsiteY0" fmla="*/ 360589 h 432707"/>
              <a:gd name="connsiteX1" fmla="*/ 63103 w 504825"/>
              <a:gd name="connsiteY1" fmla="*/ 360589 h 432707"/>
              <a:gd name="connsiteX2" fmla="*/ 69583 w 504825"/>
              <a:gd name="connsiteY2" fmla="*/ 363125 h 432707"/>
              <a:gd name="connsiteX3" fmla="*/ 72118 w 504825"/>
              <a:gd name="connsiteY3" fmla="*/ 369604 h 432707"/>
              <a:gd name="connsiteX4" fmla="*/ 72118 w 504825"/>
              <a:gd name="connsiteY4" fmla="*/ 423692 h 432707"/>
              <a:gd name="connsiteX5" fmla="*/ 69583 w 504825"/>
              <a:gd name="connsiteY5" fmla="*/ 430172 h 432707"/>
              <a:gd name="connsiteX6" fmla="*/ 63103 w 504825"/>
              <a:gd name="connsiteY6" fmla="*/ 432707 h 432707"/>
              <a:gd name="connsiteX7" fmla="*/ 9015 w 504825"/>
              <a:gd name="connsiteY7" fmla="*/ 432707 h 432707"/>
              <a:gd name="connsiteX8" fmla="*/ 2535 w 504825"/>
              <a:gd name="connsiteY8" fmla="*/ 430172 h 432707"/>
              <a:gd name="connsiteX9" fmla="*/ 0 w 504825"/>
              <a:gd name="connsiteY9" fmla="*/ 423692 h 432707"/>
              <a:gd name="connsiteX10" fmla="*/ 0 w 504825"/>
              <a:gd name="connsiteY10" fmla="*/ 369604 h 432707"/>
              <a:gd name="connsiteX11" fmla="*/ 2535 w 504825"/>
              <a:gd name="connsiteY11" fmla="*/ 363125 h 432707"/>
              <a:gd name="connsiteX12" fmla="*/ 9015 w 504825"/>
              <a:gd name="connsiteY12" fmla="*/ 360589 h 432707"/>
              <a:gd name="connsiteX13" fmla="*/ 117192 w 504825"/>
              <a:gd name="connsiteY13" fmla="*/ 324530 h 432707"/>
              <a:gd name="connsiteX14" fmla="*/ 171280 w 504825"/>
              <a:gd name="connsiteY14" fmla="*/ 324530 h 432707"/>
              <a:gd name="connsiteX15" fmla="*/ 177759 w 504825"/>
              <a:gd name="connsiteY15" fmla="*/ 327066 h 432707"/>
              <a:gd name="connsiteX16" fmla="*/ 180295 w 504825"/>
              <a:gd name="connsiteY16" fmla="*/ 333545 h 432707"/>
              <a:gd name="connsiteX17" fmla="*/ 180295 w 504825"/>
              <a:gd name="connsiteY17" fmla="*/ 423692 h 432707"/>
              <a:gd name="connsiteX18" fmla="*/ 177759 w 504825"/>
              <a:gd name="connsiteY18" fmla="*/ 430172 h 432707"/>
              <a:gd name="connsiteX19" fmla="*/ 171280 w 504825"/>
              <a:gd name="connsiteY19" fmla="*/ 432707 h 432707"/>
              <a:gd name="connsiteX20" fmla="*/ 117192 w 504825"/>
              <a:gd name="connsiteY20" fmla="*/ 432707 h 432707"/>
              <a:gd name="connsiteX21" fmla="*/ 110712 w 504825"/>
              <a:gd name="connsiteY21" fmla="*/ 430172 h 432707"/>
              <a:gd name="connsiteX22" fmla="*/ 108177 w 504825"/>
              <a:gd name="connsiteY22" fmla="*/ 423692 h 432707"/>
              <a:gd name="connsiteX23" fmla="*/ 108177 w 504825"/>
              <a:gd name="connsiteY23" fmla="*/ 333545 h 432707"/>
              <a:gd name="connsiteX24" fmla="*/ 110712 w 504825"/>
              <a:gd name="connsiteY24" fmla="*/ 327066 h 432707"/>
              <a:gd name="connsiteX25" fmla="*/ 117192 w 504825"/>
              <a:gd name="connsiteY25" fmla="*/ 324530 h 432707"/>
              <a:gd name="connsiteX26" fmla="*/ 225368 w 504825"/>
              <a:gd name="connsiteY26" fmla="*/ 252412 h 432707"/>
              <a:gd name="connsiteX27" fmla="*/ 279457 w 504825"/>
              <a:gd name="connsiteY27" fmla="*/ 252412 h 432707"/>
              <a:gd name="connsiteX28" fmla="*/ 285936 w 504825"/>
              <a:gd name="connsiteY28" fmla="*/ 254948 h 432707"/>
              <a:gd name="connsiteX29" fmla="*/ 288472 w 504825"/>
              <a:gd name="connsiteY29" fmla="*/ 261427 h 432707"/>
              <a:gd name="connsiteX30" fmla="*/ 288472 w 504825"/>
              <a:gd name="connsiteY30" fmla="*/ 423692 h 432707"/>
              <a:gd name="connsiteX31" fmla="*/ 285936 w 504825"/>
              <a:gd name="connsiteY31" fmla="*/ 430172 h 432707"/>
              <a:gd name="connsiteX32" fmla="*/ 279457 w 504825"/>
              <a:gd name="connsiteY32" fmla="*/ 432707 h 432707"/>
              <a:gd name="connsiteX33" fmla="*/ 225368 w 504825"/>
              <a:gd name="connsiteY33" fmla="*/ 432707 h 432707"/>
              <a:gd name="connsiteX34" fmla="*/ 218889 w 504825"/>
              <a:gd name="connsiteY34" fmla="*/ 430172 h 432707"/>
              <a:gd name="connsiteX35" fmla="*/ 216354 w 504825"/>
              <a:gd name="connsiteY35" fmla="*/ 423692 h 432707"/>
              <a:gd name="connsiteX36" fmla="*/ 216354 w 504825"/>
              <a:gd name="connsiteY36" fmla="*/ 261427 h 432707"/>
              <a:gd name="connsiteX37" fmla="*/ 218889 w 504825"/>
              <a:gd name="connsiteY37" fmla="*/ 254948 h 432707"/>
              <a:gd name="connsiteX38" fmla="*/ 225368 w 504825"/>
              <a:gd name="connsiteY38" fmla="*/ 252412 h 432707"/>
              <a:gd name="connsiteX39" fmla="*/ 333545 w 504825"/>
              <a:gd name="connsiteY39" fmla="*/ 144236 h 432707"/>
              <a:gd name="connsiteX40" fmla="*/ 387633 w 504825"/>
              <a:gd name="connsiteY40" fmla="*/ 144236 h 432707"/>
              <a:gd name="connsiteX41" fmla="*/ 394113 w 504825"/>
              <a:gd name="connsiteY41" fmla="*/ 146771 h 432707"/>
              <a:gd name="connsiteX42" fmla="*/ 396648 w 504825"/>
              <a:gd name="connsiteY42" fmla="*/ 153250 h 432707"/>
              <a:gd name="connsiteX43" fmla="*/ 396648 w 504825"/>
              <a:gd name="connsiteY43" fmla="*/ 423692 h 432707"/>
              <a:gd name="connsiteX44" fmla="*/ 394113 w 504825"/>
              <a:gd name="connsiteY44" fmla="*/ 430172 h 432707"/>
              <a:gd name="connsiteX45" fmla="*/ 387633 w 504825"/>
              <a:gd name="connsiteY45" fmla="*/ 432707 h 432707"/>
              <a:gd name="connsiteX46" fmla="*/ 333545 w 504825"/>
              <a:gd name="connsiteY46" fmla="*/ 432707 h 432707"/>
              <a:gd name="connsiteX47" fmla="*/ 327066 w 504825"/>
              <a:gd name="connsiteY47" fmla="*/ 430172 h 432707"/>
              <a:gd name="connsiteX48" fmla="*/ 324530 w 504825"/>
              <a:gd name="connsiteY48" fmla="*/ 423692 h 432707"/>
              <a:gd name="connsiteX49" fmla="*/ 324530 w 504825"/>
              <a:gd name="connsiteY49" fmla="*/ 153250 h 432707"/>
              <a:gd name="connsiteX50" fmla="*/ 327066 w 504825"/>
              <a:gd name="connsiteY50" fmla="*/ 146771 h 432707"/>
              <a:gd name="connsiteX51" fmla="*/ 333545 w 504825"/>
              <a:gd name="connsiteY51" fmla="*/ 144236 h 432707"/>
              <a:gd name="connsiteX52" fmla="*/ 441722 w 504825"/>
              <a:gd name="connsiteY52" fmla="*/ 0 h 432707"/>
              <a:gd name="connsiteX53" fmla="*/ 495810 w 504825"/>
              <a:gd name="connsiteY53" fmla="*/ 0 h 432707"/>
              <a:gd name="connsiteX54" fmla="*/ 502290 w 504825"/>
              <a:gd name="connsiteY54" fmla="*/ 2535 h 432707"/>
              <a:gd name="connsiteX55" fmla="*/ 504825 w 504825"/>
              <a:gd name="connsiteY55" fmla="*/ 9015 h 432707"/>
              <a:gd name="connsiteX56" fmla="*/ 504825 w 504825"/>
              <a:gd name="connsiteY56" fmla="*/ 423692 h 432707"/>
              <a:gd name="connsiteX57" fmla="*/ 502290 w 504825"/>
              <a:gd name="connsiteY57" fmla="*/ 430172 h 432707"/>
              <a:gd name="connsiteX58" fmla="*/ 495810 w 504825"/>
              <a:gd name="connsiteY58" fmla="*/ 432707 h 432707"/>
              <a:gd name="connsiteX59" fmla="*/ 441722 w 504825"/>
              <a:gd name="connsiteY59" fmla="*/ 432707 h 432707"/>
              <a:gd name="connsiteX60" fmla="*/ 435243 w 504825"/>
              <a:gd name="connsiteY60" fmla="*/ 430172 h 432707"/>
              <a:gd name="connsiteX61" fmla="*/ 432707 w 504825"/>
              <a:gd name="connsiteY61" fmla="*/ 423692 h 432707"/>
              <a:gd name="connsiteX62" fmla="*/ 432707 w 504825"/>
              <a:gd name="connsiteY62" fmla="*/ 9015 h 432707"/>
              <a:gd name="connsiteX63" fmla="*/ 435243 w 504825"/>
              <a:gd name="connsiteY63" fmla="*/ 2535 h 432707"/>
              <a:gd name="connsiteX64" fmla="*/ 441722 w 504825"/>
              <a:gd name="connsiteY64" fmla="*/ 0 h 43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4825" h="432707">
                <a:moveTo>
                  <a:pt x="9015" y="360589"/>
                </a:moveTo>
                <a:lnTo>
                  <a:pt x="63103" y="360589"/>
                </a:lnTo>
                <a:cubicBezTo>
                  <a:pt x="65732" y="360589"/>
                  <a:pt x="67892" y="361434"/>
                  <a:pt x="69583" y="363125"/>
                </a:cubicBezTo>
                <a:cubicBezTo>
                  <a:pt x="71273" y="364815"/>
                  <a:pt x="72118" y="366975"/>
                  <a:pt x="72118" y="369604"/>
                </a:cubicBezTo>
                <a:lnTo>
                  <a:pt x="72118" y="423692"/>
                </a:lnTo>
                <a:cubicBezTo>
                  <a:pt x="72118" y="426322"/>
                  <a:pt x="71273" y="428481"/>
                  <a:pt x="69583" y="430172"/>
                </a:cubicBezTo>
                <a:cubicBezTo>
                  <a:pt x="67892" y="431862"/>
                  <a:pt x="65732" y="432707"/>
                  <a:pt x="63103" y="432707"/>
                </a:cubicBezTo>
                <a:lnTo>
                  <a:pt x="9015" y="432707"/>
                </a:lnTo>
                <a:cubicBezTo>
                  <a:pt x="6385" y="432707"/>
                  <a:pt x="4226" y="431862"/>
                  <a:pt x="2535" y="430172"/>
                </a:cubicBezTo>
                <a:cubicBezTo>
                  <a:pt x="845" y="428481"/>
                  <a:pt x="0" y="426322"/>
                  <a:pt x="0" y="423692"/>
                </a:cubicBezTo>
                <a:lnTo>
                  <a:pt x="0" y="369604"/>
                </a:lnTo>
                <a:cubicBezTo>
                  <a:pt x="0" y="366975"/>
                  <a:pt x="845" y="364815"/>
                  <a:pt x="2535" y="363125"/>
                </a:cubicBezTo>
                <a:cubicBezTo>
                  <a:pt x="4226" y="361434"/>
                  <a:pt x="6385" y="360589"/>
                  <a:pt x="9015" y="360589"/>
                </a:cubicBezTo>
                <a:close/>
                <a:moveTo>
                  <a:pt x="117192" y="324530"/>
                </a:moveTo>
                <a:lnTo>
                  <a:pt x="171280" y="324530"/>
                </a:lnTo>
                <a:cubicBezTo>
                  <a:pt x="173909" y="324530"/>
                  <a:pt x="176069" y="325375"/>
                  <a:pt x="177759" y="327066"/>
                </a:cubicBezTo>
                <a:cubicBezTo>
                  <a:pt x="179450" y="328756"/>
                  <a:pt x="180295" y="330916"/>
                  <a:pt x="180295" y="333545"/>
                </a:cubicBezTo>
                <a:lnTo>
                  <a:pt x="180295" y="423692"/>
                </a:lnTo>
                <a:cubicBezTo>
                  <a:pt x="180295" y="426322"/>
                  <a:pt x="179450" y="428481"/>
                  <a:pt x="177759" y="430172"/>
                </a:cubicBezTo>
                <a:cubicBezTo>
                  <a:pt x="176069" y="431862"/>
                  <a:pt x="173909" y="432707"/>
                  <a:pt x="171280" y="432707"/>
                </a:cubicBezTo>
                <a:lnTo>
                  <a:pt x="117192" y="432707"/>
                </a:lnTo>
                <a:cubicBezTo>
                  <a:pt x="114562" y="432707"/>
                  <a:pt x="112403" y="431862"/>
                  <a:pt x="110712" y="430172"/>
                </a:cubicBezTo>
                <a:cubicBezTo>
                  <a:pt x="109022" y="428481"/>
                  <a:pt x="108177" y="426322"/>
                  <a:pt x="108177" y="423692"/>
                </a:cubicBezTo>
                <a:lnTo>
                  <a:pt x="108177" y="333545"/>
                </a:lnTo>
                <a:cubicBezTo>
                  <a:pt x="108177" y="330916"/>
                  <a:pt x="109022" y="328756"/>
                  <a:pt x="110712" y="327066"/>
                </a:cubicBezTo>
                <a:cubicBezTo>
                  <a:pt x="112403" y="325375"/>
                  <a:pt x="114562" y="324530"/>
                  <a:pt x="117192" y="324530"/>
                </a:cubicBezTo>
                <a:close/>
                <a:moveTo>
                  <a:pt x="225368" y="252412"/>
                </a:moveTo>
                <a:lnTo>
                  <a:pt x="279457" y="252412"/>
                </a:lnTo>
                <a:cubicBezTo>
                  <a:pt x="282086" y="252412"/>
                  <a:pt x="284246" y="253258"/>
                  <a:pt x="285936" y="254948"/>
                </a:cubicBezTo>
                <a:cubicBezTo>
                  <a:pt x="287627" y="256638"/>
                  <a:pt x="288472" y="258798"/>
                  <a:pt x="288472" y="261427"/>
                </a:cubicBezTo>
                <a:lnTo>
                  <a:pt x="288472" y="423692"/>
                </a:lnTo>
                <a:cubicBezTo>
                  <a:pt x="288472" y="426322"/>
                  <a:pt x="287627" y="428481"/>
                  <a:pt x="285936" y="430172"/>
                </a:cubicBezTo>
                <a:cubicBezTo>
                  <a:pt x="284246" y="431862"/>
                  <a:pt x="282086" y="432707"/>
                  <a:pt x="279457" y="432707"/>
                </a:cubicBezTo>
                <a:lnTo>
                  <a:pt x="225368" y="432707"/>
                </a:lnTo>
                <a:cubicBezTo>
                  <a:pt x="222739" y="432707"/>
                  <a:pt x="220579" y="431862"/>
                  <a:pt x="218889" y="430172"/>
                </a:cubicBezTo>
                <a:cubicBezTo>
                  <a:pt x="217199" y="428481"/>
                  <a:pt x="216354" y="426322"/>
                  <a:pt x="216354" y="423692"/>
                </a:cubicBezTo>
                <a:lnTo>
                  <a:pt x="216354" y="261427"/>
                </a:lnTo>
                <a:cubicBezTo>
                  <a:pt x="216354" y="258798"/>
                  <a:pt x="217199" y="256638"/>
                  <a:pt x="218889" y="254948"/>
                </a:cubicBezTo>
                <a:cubicBezTo>
                  <a:pt x="220579" y="253258"/>
                  <a:pt x="222739" y="252412"/>
                  <a:pt x="225368" y="252412"/>
                </a:cubicBezTo>
                <a:close/>
                <a:moveTo>
                  <a:pt x="333545" y="144236"/>
                </a:moveTo>
                <a:lnTo>
                  <a:pt x="387633" y="144236"/>
                </a:lnTo>
                <a:cubicBezTo>
                  <a:pt x="390263" y="144236"/>
                  <a:pt x="392423" y="145081"/>
                  <a:pt x="394113" y="146771"/>
                </a:cubicBezTo>
                <a:cubicBezTo>
                  <a:pt x="395803" y="148461"/>
                  <a:pt x="396648" y="150621"/>
                  <a:pt x="396648" y="153250"/>
                </a:cubicBezTo>
                <a:lnTo>
                  <a:pt x="396648" y="423692"/>
                </a:lnTo>
                <a:cubicBezTo>
                  <a:pt x="396648" y="426322"/>
                  <a:pt x="395803" y="428481"/>
                  <a:pt x="394113" y="430172"/>
                </a:cubicBezTo>
                <a:cubicBezTo>
                  <a:pt x="392423" y="431862"/>
                  <a:pt x="390263" y="432707"/>
                  <a:pt x="387633" y="432707"/>
                </a:cubicBezTo>
                <a:lnTo>
                  <a:pt x="333545" y="432707"/>
                </a:lnTo>
                <a:cubicBezTo>
                  <a:pt x="330916" y="432707"/>
                  <a:pt x="328756" y="431862"/>
                  <a:pt x="327066" y="430172"/>
                </a:cubicBezTo>
                <a:cubicBezTo>
                  <a:pt x="325376" y="428481"/>
                  <a:pt x="324530" y="426322"/>
                  <a:pt x="324530" y="423692"/>
                </a:cubicBezTo>
                <a:lnTo>
                  <a:pt x="324530" y="153250"/>
                </a:lnTo>
                <a:cubicBezTo>
                  <a:pt x="324530" y="150621"/>
                  <a:pt x="325376" y="148461"/>
                  <a:pt x="327066" y="146771"/>
                </a:cubicBezTo>
                <a:cubicBezTo>
                  <a:pt x="328756" y="145081"/>
                  <a:pt x="330916" y="144236"/>
                  <a:pt x="333545" y="144236"/>
                </a:cubicBezTo>
                <a:close/>
                <a:moveTo>
                  <a:pt x="441722" y="0"/>
                </a:moveTo>
                <a:lnTo>
                  <a:pt x="495810" y="0"/>
                </a:lnTo>
                <a:cubicBezTo>
                  <a:pt x="498440" y="0"/>
                  <a:pt x="500600" y="845"/>
                  <a:pt x="502290" y="2535"/>
                </a:cubicBezTo>
                <a:cubicBezTo>
                  <a:pt x="503980" y="4226"/>
                  <a:pt x="504825" y="6385"/>
                  <a:pt x="504825" y="9015"/>
                </a:cubicBezTo>
                <a:lnTo>
                  <a:pt x="504825" y="423692"/>
                </a:lnTo>
                <a:cubicBezTo>
                  <a:pt x="504825" y="426322"/>
                  <a:pt x="503980" y="428481"/>
                  <a:pt x="502290" y="430172"/>
                </a:cubicBezTo>
                <a:cubicBezTo>
                  <a:pt x="500600" y="431862"/>
                  <a:pt x="498440" y="432707"/>
                  <a:pt x="495810" y="432707"/>
                </a:cubicBezTo>
                <a:lnTo>
                  <a:pt x="441722" y="432707"/>
                </a:lnTo>
                <a:cubicBezTo>
                  <a:pt x="439093" y="432707"/>
                  <a:pt x="436933" y="431862"/>
                  <a:pt x="435243" y="430172"/>
                </a:cubicBezTo>
                <a:cubicBezTo>
                  <a:pt x="433552" y="428481"/>
                  <a:pt x="432707" y="426322"/>
                  <a:pt x="432707" y="423692"/>
                </a:cubicBezTo>
                <a:lnTo>
                  <a:pt x="432707" y="9015"/>
                </a:lnTo>
                <a:cubicBezTo>
                  <a:pt x="432707" y="6385"/>
                  <a:pt x="433552" y="4226"/>
                  <a:pt x="435243" y="2535"/>
                </a:cubicBezTo>
                <a:cubicBezTo>
                  <a:pt x="436933" y="845"/>
                  <a:pt x="439093" y="0"/>
                  <a:pt x="441722" y="0"/>
                </a:cubicBezTo>
                <a:close/>
              </a:path>
            </a:pathLst>
          </a:cu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12DC70FA-3620-4E66-A128-D03C65CAA238}"/>
              </a:ext>
            </a:extLst>
          </p:cNvPr>
          <p:cNvSpPr/>
          <p:nvPr/>
        </p:nvSpPr>
        <p:spPr bwMode="auto">
          <a:xfrm>
            <a:off x="323528" y="5680291"/>
            <a:ext cx="8317549" cy="557022"/>
          </a:xfrm>
          <a:prstGeom prst="parallelogram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85800" y="5893272"/>
            <a:ext cx="77266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估值應回到企業營運本體，實務上券商會依據企業商模打造專屬故事，並評估適宜指標做合理定價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標題 1">
            <a:extLst>
              <a:ext uri="{FF2B5EF4-FFF2-40B4-BE49-F238E27FC236}">
                <a16:creationId xmlns:a16="http://schemas.microsoft.com/office/drawing/2014/main" id="{198F91C5-CA01-4D77-A133-9A625775D4C1}"/>
              </a:ext>
            </a:extLst>
          </p:cNvPr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不同產業，需要不同估值語言</a:t>
            </a: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4A331848-4DDD-4D80-A2C9-BA8F911F0998}"/>
              </a:ext>
            </a:extLst>
          </p:cNvPr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AEF2B089-8167-4736-A328-84D3901BEECB}"/>
              </a:ext>
            </a:extLst>
          </p:cNvPr>
          <p:cNvSpPr txBox="1"/>
          <p:nvPr/>
        </p:nvSpPr>
        <p:spPr>
          <a:xfrm>
            <a:off x="414195" y="1139183"/>
            <a:ext cx="8280152" cy="306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估值方法無高低之分，而是依照不同商模找尋最能反映企業價值的指標</a:t>
            </a:r>
          </a:p>
        </p:txBody>
      </p:sp>
      <p:graphicFrame>
        <p:nvGraphicFramePr>
          <p:cNvPr id="75" name="Table 6">
            <a:extLst>
              <a:ext uri="{FF2B5EF4-FFF2-40B4-BE49-F238E27FC236}">
                <a16:creationId xmlns:a16="http://schemas.microsoft.com/office/drawing/2014/main" id="{B2738531-48C9-456A-AD43-336076FA5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626128"/>
              </p:ext>
            </p:extLst>
          </p:nvPr>
        </p:nvGraphicFramePr>
        <p:xfrm>
          <a:off x="457200" y="1642257"/>
          <a:ext cx="8190460" cy="3841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9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1" dirty="0" err="1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產業類型</a:t>
                      </a:r>
                      <a:endParaRPr lang="en-US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err="1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觀察重點</a:t>
                      </a:r>
                      <a:endParaRPr lang="en-US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常見估值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成熟製造業</a:t>
                      </a:r>
                      <a:endParaRPr lang="en-US" altLang="zh-TW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獲利、現金流、ROE、週期性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P/E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重點在</a:t>
                      </a: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獲利持續性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與景氣循環位置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設備業</a:t>
                      </a:r>
                      <a:endParaRPr lang="en-US" altLang="zh-TW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訂單、客戶</a:t>
                      </a: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 Capex 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cycle、滲透率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P/E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需拆解</a:t>
                      </a: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訂單能否轉成營收與毛利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，避免只用題材推高倍數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b="1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SaaS/AI </a:t>
                      </a: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軟體</a:t>
                      </a:r>
                      <a:endParaRPr lang="en-US" altLang="zh-TW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ARR、NRR、40 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法則、毛利率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EV/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Revenue、EV</a:t>
                      </a: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/ARR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早期獲利未成熟時</a:t>
                      </a:r>
                      <a:r>
                        <a:rPr lang="zh-TW" altLang="en-US" sz="1200" b="1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營收</a:t>
                      </a: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可預測性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、留存與運算成本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b="1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Marketplace/</a:t>
                      </a: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平台</a:t>
                      </a:r>
                      <a:endParaRPr lang="en-US" altLang="zh-TW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GMV、抽成率、重複交易、貢獻利益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EV/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Revenue、EV</a:t>
                      </a: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/GMV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b="1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GMV 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不等於營收，需看補貼下降後是否仍有正向貢獻利益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b="1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Biotech</a:t>
                      </a:r>
                      <a:endParaRPr lang="en-US" altLang="zh-TW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Pipeline、臨床進度、成功機率、里程碑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rNPV、Milestone-based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尚未商業化階段傳統</a:t>
                      </a: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 P/E 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意義有限，重點</a:t>
                      </a:r>
                      <a:r>
                        <a:rPr lang="zh-TW" altLang="en-US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在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風險折現與</a:t>
                      </a: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里程碑</a:t>
                      </a:r>
                      <a:endParaRPr lang="en-US" altLang="zh-TW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7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新能源</a:t>
                      </a:r>
                      <a:endParaRPr lang="en-US" altLang="zh-TW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MW</a:t>
                      </a:r>
                      <a:r>
                        <a:rPr lang="zh-TW" altLang="en-US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 </a:t>
                      </a: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Pipeline、長約、IRR、資產回報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DCF、P/B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err="1">
                          <a:solidFill>
                            <a:srgbClr val="11111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 pitchFamily="34" charset="-120"/>
                        </a:rPr>
                        <a:t>需區分開發商、營運資產與製造商，估值語言不完全相同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4658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1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｜科技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半導體：從營運本質到資本市場定位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62842A7-78B5-E9F4-16F9-3077B2E8C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46699"/>
              </p:ext>
            </p:extLst>
          </p:nvPr>
        </p:nvGraphicFramePr>
        <p:xfrm>
          <a:off x="455378" y="1718369"/>
          <a:ext cx="8185702" cy="4518069"/>
        </p:xfrm>
        <a:graphic>
          <a:graphicData uri="http://schemas.openxmlformats.org/drawingml/2006/table">
            <a:tbl>
              <a:tblPr/>
              <a:tblGrid>
                <a:gridCol w="1461733">
                  <a:extLst>
                    <a:ext uri="{9D8B030D-6E8A-4147-A177-3AD203B41FA5}">
                      <a16:colId xmlns:a16="http://schemas.microsoft.com/office/drawing/2014/main" val="2672557303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208718753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833236620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893893432"/>
                    </a:ext>
                  </a:extLst>
                </a:gridCol>
              </a:tblGrid>
              <a:tr h="305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台新千金案件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(7751)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竑騰科技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(7734)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印能科技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(7750)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新代科技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667012"/>
                  </a:ext>
                </a:extLst>
              </a:tr>
              <a:tr h="5562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初始市場定位</a:t>
                      </a:r>
                      <a:endParaRPr lang="en-US" altLang="zh-TW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Before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半導體封裝自動化與檢測設備製造商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kern="12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高溫製程與除泡設備</a:t>
                      </a:r>
                      <a:endParaRPr lang="en-US" altLang="zh-TW" sz="1400" b="0" kern="120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kern="12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解決方案供應商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工具機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CNC </a:t>
                      </a: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控制器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與相關軟硬體供應商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140757"/>
                  </a:ext>
                </a:extLst>
              </a:tr>
              <a:tr h="5562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興櫃時市值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68.8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400" b="0" kern="12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220.5</a:t>
                      </a:r>
                      <a:endParaRPr lang="zh-TW" altLang="en-US" sz="1400" b="0" kern="120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138.3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752936"/>
                  </a:ext>
                </a:extLst>
              </a:tr>
              <a:tr h="7875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台新證券打造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專屬故事線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&lt;</a:t>
                      </a: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散熱製程的下一站</a:t>
                      </a: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&gt;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TIM </a:t>
                      </a: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關鍵製程設備</a:t>
                      </a:r>
                      <a:endParaRPr lang="en-US" altLang="zh-TW" sz="1400" b="1" kern="120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與整線解決方案領先者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&lt;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先進封裝良率關鍵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除泡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×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去殘留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×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翹曲抑制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技術領先同業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&lt;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聚焦機器人題材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從控制器走向一站式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智慧製造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雲端平台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878471"/>
                  </a:ext>
                </a:extLst>
              </a:tr>
              <a:tr h="732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市場共識定位</a:t>
                      </a:r>
                      <a:endParaRPr lang="en-US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After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先進封裝散熱與良率整線方案核心供應商，直接受惠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AI/</a:t>
                      </a:r>
                      <a:r>
                        <a:rPr kumimoji="0" lang="en-US" altLang="zh-TW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HPC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升級趨勢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先進封裝良率關鍵環節的一站式解決方案，並切入資料中心散熱市場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智慧製造整合平台，切入機器人核心系統，成為產業升級關鍵角色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54190"/>
                  </a:ext>
                </a:extLst>
              </a:tr>
              <a:tr h="498546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截至 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9/3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收盤股價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6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1,465</a:t>
                      </a:r>
                      <a:endParaRPr lang="zh-TW" altLang="en-US" sz="1600" b="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2,710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2,200</a:t>
                      </a:r>
                      <a:endParaRPr lang="zh-TW" altLang="en-US" sz="16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217340"/>
                  </a:ext>
                </a:extLst>
              </a:tr>
              <a:tr h="5065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本益比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71.5</a:t>
                      </a: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86.6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51.4</a:t>
                      </a: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966378"/>
                  </a:ext>
                </a:extLst>
              </a:tr>
              <a:tr h="541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zh-TW" altLang="en-US" sz="1400" b="1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市值</a:t>
                      </a:r>
                      <a:r>
                        <a:rPr lang="en-US" altLang="zh-TW" sz="1400" b="1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</a:t>
                      </a:r>
                      <a:r>
                        <a:rPr lang="en-US" altLang="zh-TW" sz="1400" b="1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400" b="1" dirty="0">
                        <a:solidFill>
                          <a:srgbClr val="92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432.9</a:t>
                      </a: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834.4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1630.8</a:t>
                      </a: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712764"/>
                  </a:ext>
                </a:extLst>
              </a:tr>
            </a:tbl>
          </a:graphicData>
        </a:graphic>
      </p:graphicFrame>
      <p:sp>
        <p:nvSpPr>
          <p:cNvPr id="7" name="文字方塊 4">
            <a:extLst>
              <a:ext uri="{FF2B5EF4-FFF2-40B4-BE49-F238E27FC236}">
                <a16:creationId xmlns:a16="http://schemas.microsoft.com/office/drawing/2014/main" id="{AB995434-F15F-49E2-9C33-D97C0432E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69" y="1102780"/>
            <a:ext cx="83835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00025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just" fontAlgn="auto">
              <a:spcBef>
                <a:spcPts val="600"/>
              </a:spcBef>
              <a:spcAft>
                <a:spcPct val="10000"/>
              </a:spcAft>
              <a:buClr>
                <a:srgbClr val="990000"/>
              </a:buClr>
              <a:buFont typeface="Arial" panose="020B0604020202020204" pitchFamily="34" charset="0"/>
              <a:buChar char="•"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台新於公司掛牌後持續深化市值維護策略，透過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量身打造差異化投資敘事與產業定位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，成功翻轉市場認知、推動估值重評（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Re-rating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），並帶動本益比顯著提升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283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9661240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2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｜成熟產業如何創造第二成長曲線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FE45DE2-2FC0-4338-9A6F-1111FC38B41C}"/>
              </a:ext>
            </a:extLst>
          </p:cNvPr>
          <p:cNvCxnSpPr>
            <a:cxnSpLocks/>
          </p:cNvCxnSpPr>
          <p:nvPr/>
        </p:nvCxnSpPr>
        <p:spPr bwMode="auto">
          <a:xfrm>
            <a:off x="3101559" y="4614341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6" name="群組 14">
            <a:extLst>
              <a:ext uri="{FF2B5EF4-FFF2-40B4-BE49-F238E27FC236}">
                <a16:creationId xmlns:a16="http://schemas.microsoft.com/office/drawing/2014/main" id="{0990C287-87DB-460F-8343-9EF20C21E141}"/>
              </a:ext>
            </a:extLst>
          </p:cNvPr>
          <p:cNvGrpSpPr>
            <a:grpSpLocks/>
          </p:cNvGrpSpPr>
          <p:nvPr/>
        </p:nvGrpSpPr>
        <p:grpSpPr bwMode="auto">
          <a:xfrm>
            <a:off x="251520" y="1135493"/>
            <a:ext cx="2016224" cy="484237"/>
            <a:chOff x="2123728" y="1293717"/>
            <a:chExt cx="3026327" cy="368739"/>
          </a:xfrm>
        </p:grpSpPr>
        <p:sp>
          <p:nvSpPr>
            <p:cNvPr id="27" name="平行四邊形 26">
              <a:extLst>
                <a:ext uri="{FF2B5EF4-FFF2-40B4-BE49-F238E27FC236}">
                  <a16:creationId xmlns:a16="http://schemas.microsoft.com/office/drawing/2014/main" id="{BF6919B4-E63B-4047-A567-845B67CD106B}"/>
                </a:ext>
              </a:extLst>
            </p:cNvPr>
            <p:cNvSpPr/>
            <p:nvPr/>
          </p:nvSpPr>
          <p:spPr bwMode="auto">
            <a:xfrm rot="10800000" flipV="1">
              <a:off x="2123728" y="1293717"/>
              <a:ext cx="2890497" cy="312922"/>
            </a:xfrm>
            <a:prstGeom prst="parallelogram">
              <a:avLst>
                <a:gd name="adj" fmla="val 23810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28" name="平行四邊形 27">
              <a:extLst>
                <a:ext uri="{FF2B5EF4-FFF2-40B4-BE49-F238E27FC236}">
                  <a16:creationId xmlns:a16="http://schemas.microsoft.com/office/drawing/2014/main" id="{928D9856-339B-4C91-BB47-BDC98475A491}"/>
                </a:ext>
              </a:extLst>
            </p:cNvPr>
            <p:cNvSpPr/>
            <p:nvPr/>
          </p:nvSpPr>
          <p:spPr bwMode="auto">
            <a:xfrm rot="10800000" flipV="1">
              <a:off x="2259560" y="1349534"/>
              <a:ext cx="2890495" cy="312922"/>
            </a:xfrm>
            <a:prstGeom prst="parallelogram">
              <a:avLst>
                <a:gd name="adj" fmla="val 23810"/>
              </a:avLst>
            </a:prstGeom>
            <a:solidFill>
              <a:srgbClr val="A4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/>
                <a:cs typeface="+mn-cs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5343E4DC-9D21-4D87-AD7F-8A324E82E333}"/>
              </a:ext>
            </a:extLst>
          </p:cNvPr>
          <p:cNvSpPr/>
          <p:nvPr/>
        </p:nvSpPr>
        <p:spPr>
          <a:xfrm>
            <a:off x="422275" y="1271945"/>
            <a:ext cx="18442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文鼎新細黑"/>
              </a:rPr>
              <a:t>宏碁集團猛虎策略</a:t>
            </a:r>
          </a:p>
        </p:txBody>
      </p:sp>
      <p:graphicFrame>
        <p:nvGraphicFramePr>
          <p:cNvPr id="30" name="表格 27">
            <a:extLst>
              <a:ext uri="{FF2B5EF4-FFF2-40B4-BE49-F238E27FC236}">
                <a16:creationId xmlns:a16="http://schemas.microsoft.com/office/drawing/2014/main" id="{6A587CE4-8A5E-4ECF-8098-E9A5A07A5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793440"/>
              </p:ext>
            </p:extLst>
          </p:nvPr>
        </p:nvGraphicFramePr>
        <p:xfrm>
          <a:off x="251520" y="2348880"/>
          <a:ext cx="8712971" cy="3888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48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743917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3183289">
                  <a:extLst>
                    <a:ext uri="{9D8B030D-6E8A-4147-A177-3AD203B41FA5}">
                      <a16:colId xmlns:a16="http://schemas.microsoft.com/office/drawing/2014/main" val="4113387697"/>
                    </a:ext>
                  </a:extLst>
                </a:gridCol>
                <a:gridCol w="600962">
                  <a:extLst>
                    <a:ext uri="{9D8B030D-6E8A-4147-A177-3AD203B41FA5}">
                      <a16:colId xmlns:a16="http://schemas.microsoft.com/office/drawing/2014/main" val="253577975"/>
                    </a:ext>
                  </a:extLst>
                </a:gridCol>
                <a:gridCol w="638522">
                  <a:extLst>
                    <a:ext uri="{9D8B030D-6E8A-4147-A177-3AD203B41FA5}">
                      <a16:colId xmlns:a16="http://schemas.microsoft.com/office/drawing/2014/main" val="2772027469"/>
                    </a:ext>
                  </a:extLst>
                </a:gridCol>
                <a:gridCol w="638522">
                  <a:extLst>
                    <a:ext uri="{9D8B030D-6E8A-4147-A177-3AD203B41FA5}">
                      <a16:colId xmlns:a16="http://schemas.microsoft.com/office/drawing/2014/main" val="21672233"/>
                    </a:ext>
                  </a:extLst>
                </a:gridCol>
                <a:gridCol w="566430">
                  <a:extLst>
                    <a:ext uri="{9D8B030D-6E8A-4147-A177-3AD203B41FA5}">
                      <a16:colId xmlns:a16="http://schemas.microsoft.com/office/drawing/2014/main" val="3230660075"/>
                    </a:ext>
                  </a:extLst>
                </a:gridCol>
                <a:gridCol w="2014581">
                  <a:extLst>
                    <a:ext uri="{9D8B030D-6E8A-4147-A177-3AD203B41FA5}">
                      <a16:colId xmlns:a16="http://schemas.microsoft.com/office/drawing/2014/main" val="85800258"/>
                    </a:ext>
                  </a:extLst>
                </a:gridCol>
              </a:tblGrid>
              <a:tr h="811434">
                <a:tc gridSpan="8">
                  <a:txBody>
                    <a:bodyPr/>
                    <a:lstStyle/>
                    <a:p>
                      <a:pPr marL="1343025" indent="-1254125" algn="just" eaLnBrk="0" hangingPunct="0">
                        <a:spcAft>
                          <a:spcPts val="600"/>
                        </a:spcAft>
                        <a:buClr>
                          <a:srgbClr val="00664D"/>
                        </a:buClr>
                        <a:buSzPts val="1400"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/>
                        </a:rPr>
                        <a:t>台新扮演重要角色：</a:t>
                      </a:r>
                      <a:endParaRPr lang="en-US" altLang="zh-TW" sz="14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/>
                      </a:endParaRPr>
                    </a:p>
                    <a:p>
                      <a:pPr marL="92075" indent="-3175" algn="just" eaLnBrk="0" hangingPunct="0">
                        <a:spcAft>
                          <a:spcPts val="600"/>
                        </a:spcAft>
                        <a:buClr>
                          <a:srgbClr val="00664D"/>
                        </a:buClr>
                        <a:buSzPts val="1400"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/>
                        </a:rPr>
                        <a:t>提供集團完整投資銀行服務，涵蓋分拆重組合規可行性、財務業務獨立性評估、法人引薦、潛在併購標的介紹、員工激勵獎酬、輔導上市櫃、資本市場籌資，提供集團轉型強力支援，協助小金虎透過資本市場壯大</a:t>
                      </a:r>
                      <a:endParaRPr lang="en-US" altLang="zh-TW" sz="14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00104"/>
                  </a:ext>
                </a:extLst>
              </a:tr>
              <a:tr h="347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8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公司名稱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業務範疇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板塊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承銷價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股價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元</a:t>
                      </a: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市值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億元</a:t>
                      </a: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台新服務業務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406444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建碁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多領域應用的商務型數位看板、工業電腦產品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上市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56.6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44.6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SPO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、財務顧問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安碁資訊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資訊安全管理，提供</a:t>
                      </a:r>
                      <a:r>
                        <a:rPr lang="en-US" altLang="zh-TW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SOC</a:t>
                      </a: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營運、資安檢測、數位鑑識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215.5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47.3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</a:t>
                      </a: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SPO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、財務顧問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148301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展碁國際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3C</a:t>
                      </a: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電子、軟體、家電專業通路代理商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上市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56.8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智聯服務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資訊系統整合商，系統規劃、建置、維運等服務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52.8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協辦、子公司</a:t>
                      </a: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31657"/>
                  </a:ext>
                </a:extLst>
              </a:tr>
              <a:tr h="285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宏碁資訊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提供企業雲端化技術平台、服務與產品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244.5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主辦、法人引薦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54045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倚天酷碁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提供跨界整合的智慧生活周邊產品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創新板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35.4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主辦、標的引薦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633144"/>
                  </a:ext>
                </a:extLst>
              </a:tr>
              <a:tr h="225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海伯特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多項品牌售後服務，如電子產品檢測、升級、維運等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協辦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73610"/>
                  </a:ext>
                </a:extLst>
              </a:tr>
              <a:tr h="2397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宏碁遊戲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娛樂性電子商品、遊戲軟體與點數及平台與網路服務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創新板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22.7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73572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宏碁智醫 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智慧醫療</a:t>
                      </a:r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輔助診斷與篩檢軟體解決方案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155.1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協辦、標的引薦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27561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博瑞達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橡塑膠材料之專業貿易通路商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12.3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36425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宏碁創達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資訊及半導體設計人力委外服務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71.9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10863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宏碁智新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居家生活家電品牌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422465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ED157D00-2A60-4111-BD80-E3BF77E470E0}"/>
              </a:ext>
            </a:extLst>
          </p:cNvPr>
          <p:cNvSpPr txBox="1"/>
          <p:nvPr/>
        </p:nvSpPr>
        <p:spPr>
          <a:xfrm>
            <a:off x="2275048" y="1285198"/>
            <a:ext cx="6274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於成熟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PC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市場紅海中，加速內部創業轉型，擴大轉投資，多重事業成長引擎策略持續發酵</a:t>
            </a:r>
          </a:p>
        </p:txBody>
      </p:sp>
      <p:sp>
        <p:nvSpPr>
          <p:cNvPr id="32" name="矩形 31"/>
          <p:cNvSpPr/>
          <p:nvPr/>
        </p:nvSpPr>
        <p:spPr>
          <a:xfrm>
            <a:off x="397557" y="1598463"/>
            <a:ext cx="815245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9063" marR="0" lvl="0" indent="-119063" algn="just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自宏碁推動集團轉型計畫，要建立成為生活風格品牌概念，啟動旗下各事業體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，上市櫃後透過併購與籌資擴大營運版圖，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2022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年新事業營收占比已超過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，營業利益接近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2026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年上半年營收佔比更是</a:t>
            </a:r>
            <a:r>
              <a:rPr kumimoji="0"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超過</a:t>
            </a:r>
            <a:r>
              <a:rPr kumimoji="0" lang="en-US" altLang="zh-TW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35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，營業利益更超越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集團整體市值自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2015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年的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403.6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億元，最高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成長至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2024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年的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1,483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億元 。</a:t>
            </a:r>
            <a:endParaRPr kumimoji="0" lang="zh-TW" altLang="en-US" sz="1200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414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is1ide-任意多边形: 形状 14">
            <a:extLst>
              <a:ext uri="{FF2B5EF4-FFF2-40B4-BE49-F238E27FC236}">
                <a16:creationId xmlns:a16="http://schemas.microsoft.com/office/drawing/2014/main" id="{7131F0E6-460F-4718-9919-253A39A9735B}"/>
              </a:ext>
            </a:extLst>
          </p:cNvPr>
          <p:cNvSpPr>
            <a:spLocks/>
          </p:cNvSpPr>
          <p:nvPr/>
        </p:nvSpPr>
        <p:spPr bwMode="auto">
          <a:xfrm>
            <a:off x="4998524" y="1497539"/>
            <a:ext cx="1157652" cy="808416"/>
          </a:xfrm>
          <a:custGeom>
            <a:avLst/>
            <a:gdLst>
              <a:gd name="T0" fmla="*/ 0 w 60"/>
              <a:gd name="T1" fmla="*/ 0 h 58"/>
              <a:gd name="T2" fmla="*/ 60 w 60"/>
              <a:gd name="T3" fmla="*/ 0 h 58"/>
              <a:gd name="T4" fmla="*/ 60 w 60"/>
              <a:gd name="T5" fmla="*/ 58 h 58"/>
              <a:gd name="T6" fmla="*/ 0 w 60"/>
              <a:gd name="T7" fmla="*/ 58 h 58"/>
              <a:gd name="T8" fmla="*/ 0 w 60"/>
              <a:gd name="T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58">
                <a:moveTo>
                  <a:pt x="0" y="0"/>
                </a:moveTo>
                <a:cubicBezTo>
                  <a:pt x="21" y="21"/>
                  <a:pt x="39" y="21"/>
                  <a:pt x="60" y="0"/>
                </a:cubicBezTo>
                <a:cubicBezTo>
                  <a:pt x="60" y="58"/>
                  <a:pt x="60" y="58"/>
                  <a:pt x="60" y="58"/>
                </a:cubicBezTo>
                <a:cubicBezTo>
                  <a:pt x="39" y="37"/>
                  <a:pt x="21" y="37"/>
                  <a:pt x="0" y="5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10165296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3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｜台新承辦多元新經濟公司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5FAA8632-57C5-41C0-A2D9-8A0B6B35E511}"/>
              </a:ext>
            </a:extLst>
          </p:cNvPr>
          <p:cNvSpPr/>
          <p:nvPr/>
        </p:nvSpPr>
        <p:spPr bwMode="auto">
          <a:xfrm>
            <a:off x="2051721" y="3414409"/>
            <a:ext cx="1467489" cy="2823279"/>
          </a:xfrm>
          <a:prstGeom prst="rect">
            <a:avLst/>
          </a:prstGeom>
          <a:solidFill>
            <a:srgbClr val="F0F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以電子票證與電子支付為核心，應用場景由交通運輸延伸至零售、小額消費及「悠遊付」，形成線上線下支付生態系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2023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年儲值卡交易達 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26.87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億筆、交易金額 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601.4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億元；悠遊付使用者 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271.1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萬人、交易 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3,839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萬筆、代理收付金額 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82.5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億元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0387069A-6421-44A9-A90E-FC836AF7C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994" y="3091793"/>
            <a:ext cx="1580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2026/01/23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興櫃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387069A-6421-44A9-A90E-FC836AF7C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3091793"/>
            <a:ext cx="15231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2023/01/03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興櫃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ïşḻïďê-文本框 66">
            <a:extLst>
              <a:ext uri="{FF2B5EF4-FFF2-40B4-BE49-F238E27FC236}">
                <a16:creationId xmlns:a16="http://schemas.microsoft.com/office/drawing/2014/main" id="{F159C64C-BA0B-4931-A5AF-D14C66FEC4A6}"/>
              </a:ext>
            </a:extLst>
          </p:cNvPr>
          <p:cNvSpPr txBox="1"/>
          <p:nvPr/>
        </p:nvSpPr>
        <p:spPr>
          <a:xfrm>
            <a:off x="5976979" y="2666735"/>
            <a:ext cx="1016950" cy="345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</p:spPr>
        <p:txBody>
          <a:bodyPr wrap="none" anchor="ctr">
            <a:no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ïşḻïďê-文本框 64">
            <a:extLst>
              <a:ext uri="{FF2B5EF4-FFF2-40B4-BE49-F238E27FC236}">
                <a16:creationId xmlns:a16="http://schemas.microsoft.com/office/drawing/2014/main" id="{A0BE7427-95BD-45BE-86E6-DA422F71A9A5}"/>
              </a:ext>
            </a:extLst>
          </p:cNvPr>
          <p:cNvSpPr txBox="1"/>
          <p:nvPr/>
        </p:nvSpPr>
        <p:spPr>
          <a:xfrm>
            <a:off x="2276991" y="2670136"/>
            <a:ext cx="1016950" cy="345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</p:spPr>
        <p:txBody>
          <a:bodyPr wrap="none" anchor="ctr">
            <a:no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悠遊卡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0" lang="en-US" altLang="zh-CN" sz="110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6035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ïşḻïďê-文本框 62">
            <a:extLst>
              <a:ext uri="{FF2B5EF4-FFF2-40B4-BE49-F238E27FC236}">
                <a16:creationId xmlns:a16="http://schemas.microsoft.com/office/drawing/2014/main" id="{FB359093-1207-478F-8D0D-F1FFD61EDC70}"/>
              </a:ext>
            </a:extLst>
          </p:cNvPr>
          <p:cNvSpPr txBox="1"/>
          <p:nvPr/>
        </p:nvSpPr>
        <p:spPr>
          <a:xfrm>
            <a:off x="5976979" y="2673522"/>
            <a:ext cx="1016950" cy="345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</p:spPr>
        <p:txBody>
          <a:bodyPr wrap="none" anchor="ctr">
            <a:no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任開數位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0" lang="en-US" altLang="zh-TW" sz="110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7904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535A4B0-C968-476E-B3EC-00DDFCC31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080300"/>
            <a:ext cx="1522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2022/09/13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ECD1BD9-AA09-48BD-A5AE-9942E7D2EA80}"/>
              </a:ext>
            </a:extLst>
          </p:cNvPr>
          <p:cNvSpPr/>
          <p:nvPr/>
        </p:nvSpPr>
        <p:spPr bwMode="auto">
          <a:xfrm>
            <a:off x="5753994" y="3414031"/>
            <a:ext cx="1462917" cy="2823279"/>
          </a:xfrm>
          <a:prstGeom prst="rect">
            <a:avLst/>
          </a:prstGeom>
          <a:solidFill>
            <a:srgbClr val="F0F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經營 </a:t>
            </a:r>
            <a:r>
              <a:rPr kumimoji="1" lang="en-US" altLang="zh-TW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Citiesocial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Japan Selects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兩大垂直選物電商平台，並發展自有品牌與獨家代理，採平台＋品牌雙軌模式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平台已匯集全球逾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3,000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個合作品牌；會員數於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2015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年即突破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萬人，公司並持續透過數據分析提升顧客黏著度與回購率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7A81052-A0D0-45A3-98E7-3CB9EDB3D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3868" y="3079325"/>
            <a:ext cx="15222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2025/01/15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興櫃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ïşḻïďê-文本框 64">
            <a:extLst>
              <a:ext uri="{FF2B5EF4-FFF2-40B4-BE49-F238E27FC236}">
                <a16:creationId xmlns:a16="http://schemas.microsoft.com/office/drawing/2014/main" id="{BA5BD0DB-315D-4C06-B088-AECE8F57EF8C}"/>
              </a:ext>
            </a:extLst>
          </p:cNvPr>
          <p:cNvSpPr txBox="1"/>
          <p:nvPr/>
        </p:nvSpPr>
        <p:spPr>
          <a:xfrm>
            <a:off x="405561" y="2662072"/>
            <a:ext cx="1016950" cy="345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</p:spPr>
        <p:txBody>
          <a:bodyPr wrap="none" anchor="ctr">
            <a:no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伊雲谷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CN" sz="110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6689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2" name="ïşḻïďê-文本框 62">
            <a:extLst>
              <a:ext uri="{FF2B5EF4-FFF2-40B4-BE49-F238E27FC236}">
                <a16:creationId xmlns:a16="http://schemas.microsoft.com/office/drawing/2014/main" id="{77C75119-3EBE-479E-A4E0-DC3E4B2FEBC0}"/>
              </a:ext>
            </a:extLst>
          </p:cNvPr>
          <p:cNvSpPr txBox="1"/>
          <p:nvPr/>
        </p:nvSpPr>
        <p:spPr>
          <a:xfrm>
            <a:off x="7821001" y="2668156"/>
            <a:ext cx="1016950" cy="345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</p:spPr>
        <p:txBody>
          <a:bodyPr wrap="none" anchor="ctr">
            <a:no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永悅健康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CN" sz="110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7835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A685D85C-CCB1-4B55-A379-9D669BBD5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302" y="3079325"/>
            <a:ext cx="171889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2026/07/24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創新板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4" name="is1ide-任意多边形: 形状 14">
            <a:extLst>
              <a:ext uri="{FF2B5EF4-FFF2-40B4-BE49-F238E27FC236}">
                <a16:creationId xmlns:a16="http://schemas.microsoft.com/office/drawing/2014/main" id="{E3CD6D61-18C3-4B6D-A58B-6C80664F8363}"/>
              </a:ext>
            </a:extLst>
          </p:cNvPr>
          <p:cNvSpPr>
            <a:spLocks/>
          </p:cNvSpPr>
          <p:nvPr/>
        </p:nvSpPr>
        <p:spPr bwMode="auto">
          <a:xfrm>
            <a:off x="6875641" y="1504326"/>
            <a:ext cx="1157652" cy="808416"/>
          </a:xfrm>
          <a:custGeom>
            <a:avLst/>
            <a:gdLst>
              <a:gd name="T0" fmla="*/ 0 w 60"/>
              <a:gd name="T1" fmla="*/ 0 h 58"/>
              <a:gd name="T2" fmla="*/ 60 w 60"/>
              <a:gd name="T3" fmla="*/ 0 h 58"/>
              <a:gd name="T4" fmla="*/ 60 w 60"/>
              <a:gd name="T5" fmla="*/ 58 h 58"/>
              <a:gd name="T6" fmla="*/ 0 w 60"/>
              <a:gd name="T7" fmla="*/ 58 h 58"/>
              <a:gd name="T8" fmla="*/ 0 w 60"/>
              <a:gd name="T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58">
                <a:moveTo>
                  <a:pt x="0" y="0"/>
                </a:moveTo>
                <a:cubicBezTo>
                  <a:pt x="21" y="21"/>
                  <a:pt x="39" y="21"/>
                  <a:pt x="60" y="0"/>
                </a:cubicBezTo>
                <a:cubicBezTo>
                  <a:pt x="60" y="58"/>
                  <a:pt x="60" y="58"/>
                  <a:pt x="60" y="58"/>
                </a:cubicBezTo>
                <a:cubicBezTo>
                  <a:pt x="39" y="37"/>
                  <a:pt x="21" y="37"/>
                  <a:pt x="0" y="5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5" name="is1ide-任意多边形: 形状 14">
            <a:extLst>
              <a:ext uri="{FF2B5EF4-FFF2-40B4-BE49-F238E27FC236}">
                <a16:creationId xmlns:a16="http://schemas.microsoft.com/office/drawing/2014/main" id="{129C2A93-73AD-46B0-9EA9-195D0278B37F}"/>
              </a:ext>
            </a:extLst>
          </p:cNvPr>
          <p:cNvSpPr>
            <a:spLocks/>
          </p:cNvSpPr>
          <p:nvPr/>
        </p:nvSpPr>
        <p:spPr bwMode="auto">
          <a:xfrm>
            <a:off x="1225978" y="1497539"/>
            <a:ext cx="1157652" cy="808416"/>
          </a:xfrm>
          <a:custGeom>
            <a:avLst/>
            <a:gdLst>
              <a:gd name="T0" fmla="*/ 0 w 60"/>
              <a:gd name="T1" fmla="*/ 0 h 58"/>
              <a:gd name="T2" fmla="*/ 60 w 60"/>
              <a:gd name="T3" fmla="*/ 0 h 58"/>
              <a:gd name="T4" fmla="*/ 60 w 60"/>
              <a:gd name="T5" fmla="*/ 58 h 58"/>
              <a:gd name="T6" fmla="*/ 0 w 60"/>
              <a:gd name="T7" fmla="*/ 58 h 58"/>
              <a:gd name="T8" fmla="*/ 0 w 60"/>
              <a:gd name="T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58">
                <a:moveTo>
                  <a:pt x="0" y="0"/>
                </a:moveTo>
                <a:cubicBezTo>
                  <a:pt x="21" y="21"/>
                  <a:pt x="39" y="21"/>
                  <a:pt x="60" y="0"/>
                </a:cubicBezTo>
                <a:cubicBezTo>
                  <a:pt x="60" y="58"/>
                  <a:pt x="60" y="58"/>
                  <a:pt x="60" y="58"/>
                </a:cubicBezTo>
                <a:cubicBezTo>
                  <a:pt x="39" y="37"/>
                  <a:pt x="21" y="37"/>
                  <a:pt x="0" y="5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6" name="is1ide-任意多边形: 形状 14">
            <a:extLst>
              <a:ext uri="{FF2B5EF4-FFF2-40B4-BE49-F238E27FC236}">
                <a16:creationId xmlns:a16="http://schemas.microsoft.com/office/drawing/2014/main" id="{07FAEF80-8349-4481-B5A1-1D93B4909856}"/>
              </a:ext>
            </a:extLst>
          </p:cNvPr>
          <p:cNvSpPr>
            <a:spLocks/>
          </p:cNvSpPr>
          <p:nvPr/>
        </p:nvSpPr>
        <p:spPr bwMode="auto">
          <a:xfrm>
            <a:off x="3131770" y="1488777"/>
            <a:ext cx="1157652" cy="808416"/>
          </a:xfrm>
          <a:custGeom>
            <a:avLst/>
            <a:gdLst>
              <a:gd name="T0" fmla="*/ 0 w 60"/>
              <a:gd name="T1" fmla="*/ 0 h 58"/>
              <a:gd name="T2" fmla="*/ 60 w 60"/>
              <a:gd name="T3" fmla="*/ 0 h 58"/>
              <a:gd name="T4" fmla="*/ 60 w 60"/>
              <a:gd name="T5" fmla="*/ 58 h 58"/>
              <a:gd name="T6" fmla="*/ 0 w 60"/>
              <a:gd name="T7" fmla="*/ 58 h 58"/>
              <a:gd name="T8" fmla="*/ 0 w 60"/>
              <a:gd name="T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58">
                <a:moveTo>
                  <a:pt x="0" y="0"/>
                </a:moveTo>
                <a:cubicBezTo>
                  <a:pt x="21" y="21"/>
                  <a:pt x="39" y="21"/>
                  <a:pt x="60" y="0"/>
                </a:cubicBezTo>
                <a:cubicBezTo>
                  <a:pt x="60" y="58"/>
                  <a:pt x="60" y="58"/>
                  <a:pt x="60" y="58"/>
                </a:cubicBezTo>
                <a:cubicBezTo>
                  <a:pt x="39" y="37"/>
                  <a:pt x="21" y="37"/>
                  <a:pt x="0" y="5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7" name="is1ide-Oval 25">
            <a:extLst>
              <a:ext uri="{FF2B5EF4-FFF2-40B4-BE49-F238E27FC236}">
                <a16:creationId xmlns:a16="http://schemas.microsoft.com/office/drawing/2014/main" id="{99245E7D-6AA8-4040-9BB3-23360B70DAA2}"/>
              </a:ext>
            </a:extLst>
          </p:cNvPr>
          <p:cNvSpPr>
            <a:spLocks/>
          </p:cNvSpPr>
          <p:nvPr/>
        </p:nvSpPr>
        <p:spPr bwMode="auto">
          <a:xfrm>
            <a:off x="4108013" y="1298406"/>
            <a:ext cx="1079201" cy="1147430"/>
          </a:xfrm>
          <a:prstGeom prst="ellipse">
            <a:avLst/>
          </a:prstGeom>
          <a:solidFill>
            <a:srgbClr val="920000"/>
          </a:solidFill>
          <a:ln w="9525">
            <a:noFill/>
            <a:round/>
            <a:headEnd/>
            <a:tailEnd/>
          </a:ln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is1ide-Oval 26">
            <a:extLst>
              <a:ext uri="{FF2B5EF4-FFF2-40B4-BE49-F238E27FC236}">
                <a16:creationId xmlns:a16="http://schemas.microsoft.com/office/drawing/2014/main" id="{7A425857-E756-4110-8D78-E161205D2B94}"/>
              </a:ext>
            </a:extLst>
          </p:cNvPr>
          <p:cNvSpPr>
            <a:spLocks/>
          </p:cNvSpPr>
          <p:nvPr/>
        </p:nvSpPr>
        <p:spPr bwMode="auto">
          <a:xfrm>
            <a:off x="4197414" y="1396199"/>
            <a:ext cx="900399" cy="951844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is1ide-Oval 25">
            <a:extLst>
              <a:ext uri="{FF2B5EF4-FFF2-40B4-BE49-F238E27FC236}">
                <a16:creationId xmlns:a16="http://schemas.microsoft.com/office/drawing/2014/main" id="{0588BA24-2C02-40FC-A6C6-F920F139D5B9}"/>
              </a:ext>
            </a:extLst>
          </p:cNvPr>
          <p:cNvSpPr>
            <a:spLocks/>
          </p:cNvSpPr>
          <p:nvPr/>
        </p:nvSpPr>
        <p:spPr bwMode="auto">
          <a:xfrm>
            <a:off x="366713" y="1286518"/>
            <a:ext cx="1079201" cy="1147430"/>
          </a:xfrm>
          <a:prstGeom prst="ellipse">
            <a:avLst/>
          </a:prstGeom>
          <a:solidFill>
            <a:srgbClr val="C4AB88"/>
          </a:solidFill>
          <a:ln w="9525">
            <a:noFill/>
            <a:round/>
            <a:headEnd/>
            <a:tailEnd/>
          </a:ln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0" name="is1ide-Oval 26">
            <a:extLst>
              <a:ext uri="{FF2B5EF4-FFF2-40B4-BE49-F238E27FC236}">
                <a16:creationId xmlns:a16="http://schemas.microsoft.com/office/drawing/2014/main" id="{D8B48FF6-9BE6-4FAA-AF66-369AD5D12F25}"/>
              </a:ext>
            </a:extLst>
          </p:cNvPr>
          <p:cNvSpPr>
            <a:spLocks/>
          </p:cNvSpPr>
          <p:nvPr/>
        </p:nvSpPr>
        <p:spPr bwMode="auto">
          <a:xfrm>
            <a:off x="456114" y="1384310"/>
            <a:ext cx="900399" cy="951844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2" name="is1ide-Oval 25">
            <a:extLst>
              <a:ext uri="{FF2B5EF4-FFF2-40B4-BE49-F238E27FC236}">
                <a16:creationId xmlns:a16="http://schemas.microsoft.com/office/drawing/2014/main" id="{C437F1A8-1F6A-4482-A078-A35DA9CFC108}"/>
              </a:ext>
            </a:extLst>
          </p:cNvPr>
          <p:cNvSpPr>
            <a:spLocks/>
          </p:cNvSpPr>
          <p:nvPr/>
        </p:nvSpPr>
        <p:spPr bwMode="auto">
          <a:xfrm>
            <a:off x="2245866" y="1298406"/>
            <a:ext cx="1079201" cy="1147430"/>
          </a:xfrm>
          <a:prstGeom prst="ellipse">
            <a:avLst/>
          </a:prstGeom>
          <a:solidFill>
            <a:srgbClr val="920000"/>
          </a:solidFill>
          <a:ln w="9525">
            <a:noFill/>
            <a:round/>
            <a:headEnd/>
            <a:tailEnd/>
          </a:ln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" name="is1ide-Oval 26">
            <a:extLst>
              <a:ext uri="{FF2B5EF4-FFF2-40B4-BE49-F238E27FC236}">
                <a16:creationId xmlns:a16="http://schemas.microsoft.com/office/drawing/2014/main" id="{5CDE64F9-5682-43C2-B95F-426B8C58617D}"/>
              </a:ext>
            </a:extLst>
          </p:cNvPr>
          <p:cNvSpPr>
            <a:spLocks/>
          </p:cNvSpPr>
          <p:nvPr/>
        </p:nvSpPr>
        <p:spPr bwMode="auto">
          <a:xfrm>
            <a:off x="2335267" y="1396199"/>
            <a:ext cx="900399" cy="951844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4" name="is1ide-Oval 25">
            <a:extLst>
              <a:ext uri="{FF2B5EF4-FFF2-40B4-BE49-F238E27FC236}">
                <a16:creationId xmlns:a16="http://schemas.microsoft.com/office/drawing/2014/main" id="{511DF872-CB80-49AD-87AD-353E4DAA4717}"/>
              </a:ext>
            </a:extLst>
          </p:cNvPr>
          <p:cNvSpPr>
            <a:spLocks/>
          </p:cNvSpPr>
          <p:nvPr/>
        </p:nvSpPr>
        <p:spPr bwMode="auto">
          <a:xfrm>
            <a:off x="5945854" y="1291620"/>
            <a:ext cx="1079201" cy="1147430"/>
          </a:xfrm>
          <a:prstGeom prst="ellipse">
            <a:avLst/>
          </a:prstGeom>
          <a:solidFill>
            <a:srgbClr val="C4AB88"/>
          </a:solidFill>
          <a:ln w="9525">
            <a:noFill/>
            <a:round/>
            <a:headEnd/>
            <a:tailEnd/>
          </a:ln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5" name="is1ide-Oval 26">
            <a:extLst>
              <a:ext uri="{FF2B5EF4-FFF2-40B4-BE49-F238E27FC236}">
                <a16:creationId xmlns:a16="http://schemas.microsoft.com/office/drawing/2014/main" id="{2047D97F-3C33-46AA-A46A-766F15DE29EC}"/>
              </a:ext>
            </a:extLst>
          </p:cNvPr>
          <p:cNvSpPr>
            <a:spLocks/>
          </p:cNvSpPr>
          <p:nvPr/>
        </p:nvSpPr>
        <p:spPr bwMode="auto">
          <a:xfrm>
            <a:off x="6035254" y="1389412"/>
            <a:ext cx="900399" cy="951844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6" name="is1ide-Oval 25">
            <a:extLst>
              <a:ext uri="{FF2B5EF4-FFF2-40B4-BE49-F238E27FC236}">
                <a16:creationId xmlns:a16="http://schemas.microsoft.com/office/drawing/2014/main" id="{2F085803-F7DD-40A7-844B-F68982922F28}"/>
              </a:ext>
            </a:extLst>
          </p:cNvPr>
          <p:cNvSpPr>
            <a:spLocks/>
          </p:cNvSpPr>
          <p:nvPr/>
        </p:nvSpPr>
        <p:spPr bwMode="auto">
          <a:xfrm>
            <a:off x="7780420" y="1298406"/>
            <a:ext cx="1079201" cy="1147430"/>
          </a:xfrm>
          <a:prstGeom prst="ellipse">
            <a:avLst/>
          </a:prstGeom>
          <a:solidFill>
            <a:srgbClr val="920000"/>
          </a:solidFill>
          <a:ln w="9525">
            <a:noFill/>
            <a:round/>
            <a:headEnd/>
            <a:tailEnd/>
          </a:ln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7" name="is1ide-Oval 26">
            <a:extLst>
              <a:ext uri="{FF2B5EF4-FFF2-40B4-BE49-F238E27FC236}">
                <a16:creationId xmlns:a16="http://schemas.microsoft.com/office/drawing/2014/main" id="{1BF75BBA-0932-4147-A8E5-AC9ECCFDCD38}"/>
              </a:ext>
            </a:extLst>
          </p:cNvPr>
          <p:cNvSpPr>
            <a:spLocks/>
          </p:cNvSpPr>
          <p:nvPr/>
        </p:nvSpPr>
        <p:spPr bwMode="auto">
          <a:xfrm>
            <a:off x="7869820" y="1396199"/>
            <a:ext cx="900399" cy="951844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8" name="ïşḻïďê-文本框 64">
            <a:extLst>
              <a:ext uri="{FF2B5EF4-FFF2-40B4-BE49-F238E27FC236}">
                <a16:creationId xmlns:a16="http://schemas.microsoft.com/office/drawing/2014/main" id="{B34F3A34-95B5-4802-9762-311CAD994C45}"/>
              </a:ext>
            </a:extLst>
          </p:cNvPr>
          <p:cNvSpPr txBox="1"/>
          <p:nvPr/>
        </p:nvSpPr>
        <p:spPr>
          <a:xfrm>
            <a:off x="4148577" y="2666735"/>
            <a:ext cx="1016950" cy="34591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</p:spPr>
        <p:txBody>
          <a:bodyPr wrap="none" anchor="ctr">
            <a:noAutofit/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稜研科技</a:t>
            </a:r>
            <a:endParaRPr kumimoji="0" lang="en-US" altLang="zh-TW" sz="1400" b="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(7812)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DA2F6B59-2A06-4D71-8BCD-498DB5AE050B}"/>
              </a:ext>
            </a:extLst>
          </p:cNvPr>
          <p:cNvSpPr/>
          <p:nvPr/>
        </p:nvSpPr>
        <p:spPr bwMode="auto">
          <a:xfrm>
            <a:off x="180291" y="3418793"/>
            <a:ext cx="1467489" cy="2813417"/>
          </a:xfrm>
          <a:prstGeom prst="rect">
            <a:avLst/>
          </a:prstGeom>
          <a:solidFill>
            <a:srgbClr val="F0F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主要提供公有雲導入、雲端遷移、託管維運及企業數位轉型服務，並布局多雲與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雲端服務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目前已服務逾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2,400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家企業客戶，其中超過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1,000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家使用新世代託管服務；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2025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年公司擁有超過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500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張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AWS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專業證照，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2024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年海外營收占比約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65%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BCEE6D87-56A7-4096-B9A3-845D8C193FE1}"/>
              </a:ext>
            </a:extLst>
          </p:cNvPr>
          <p:cNvSpPr/>
          <p:nvPr/>
        </p:nvSpPr>
        <p:spPr bwMode="auto">
          <a:xfrm>
            <a:off x="3913869" y="3414033"/>
            <a:ext cx="1467489" cy="2823279"/>
          </a:xfrm>
          <a:prstGeom prst="rect">
            <a:avLst/>
          </a:prstGeom>
          <a:solidFill>
            <a:srgbClr val="F0F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以毫米波技術與相控陣列天線模組為核心，應用於衛星通訊、國防及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5G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／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6G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次世代通訊市場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2025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年海外營收占比達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90.76%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，內銷僅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9.24%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，營收已高度以海外市場為主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8EED913-69A9-46DC-8C4F-E85DCD68B889}"/>
              </a:ext>
            </a:extLst>
          </p:cNvPr>
          <p:cNvSpPr/>
          <p:nvPr/>
        </p:nvSpPr>
        <p:spPr bwMode="auto">
          <a:xfrm>
            <a:off x="7540302" y="3428999"/>
            <a:ext cx="1467489" cy="2808311"/>
          </a:xfrm>
          <a:prstGeom prst="rect">
            <a:avLst/>
          </a:prstGeom>
          <a:solidFill>
            <a:srgbClr val="F0F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 lvl="0">
              <a:defRPr lang="zh-TW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、健康數據與數位健康平台為核心，串聯健檢機構、企業與個人健康管理，並逐步轉向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SaaS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訂閱型服務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目前服務逾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100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家健檢中心與醫療院所、逾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500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家企業客戶，每年管理超過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200 </a:t>
            </a:r>
            <a:r>
              <a:rPr kumimoji="1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萬筆健檢資料；平台續約率約 </a:t>
            </a:r>
            <a:r>
              <a:rPr kumimoji="1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98%–99%</a:t>
            </a:r>
            <a:endParaRPr kumimoji="1" lang="zh-TW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4286AE9-84C9-4D51-963A-BD45DB8EA9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8"/>
          <a:stretch/>
        </p:blipFill>
        <p:spPr>
          <a:xfrm>
            <a:off x="2466518" y="1602050"/>
            <a:ext cx="646437" cy="553965"/>
          </a:xfrm>
          <a:prstGeom prst="rect">
            <a:avLst/>
          </a:prstGeom>
        </p:spPr>
      </p:pic>
      <p:pic>
        <p:nvPicPr>
          <p:cNvPr id="158" name="圖片 157">
            <a:extLst>
              <a:ext uri="{FF2B5EF4-FFF2-40B4-BE49-F238E27FC236}">
                <a16:creationId xmlns:a16="http://schemas.microsoft.com/office/drawing/2014/main" id="{CEA9C9A4-802B-4E1D-A97C-6B03D7366D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22" y="1623698"/>
            <a:ext cx="748140" cy="443628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B143E13A-F2A1-496C-82F9-9ECF3B43364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063" r="3163"/>
          <a:stretch/>
        </p:blipFill>
        <p:spPr>
          <a:xfrm>
            <a:off x="4312801" y="1628800"/>
            <a:ext cx="664035" cy="547658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DF1B6F8F-065E-407B-AA57-1EC76E207E7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8789"/>
          <a:stretch/>
        </p:blipFill>
        <p:spPr>
          <a:xfrm>
            <a:off x="6054319" y="1722075"/>
            <a:ext cx="862268" cy="257078"/>
          </a:xfrm>
          <a:prstGeom prst="rect">
            <a:avLst/>
          </a:prstGeom>
        </p:spPr>
      </p:pic>
      <p:pic>
        <p:nvPicPr>
          <p:cNvPr id="164" name="圖片 163">
            <a:extLst>
              <a:ext uri="{FF2B5EF4-FFF2-40B4-BE49-F238E27FC236}">
                <a16:creationId xmlns:a16="http://schemas.microsoft.com/office/drawing/2014/main" id="{01979AD6-449C-4DFA-BB92-F32956EDBE3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436" y="1543836"/>
            <a:ext cx="592557" cy="62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80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企業如何善用資本市場成長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04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3560610"/>
      </p:ext>
    </p:extLst>
  </p:cSld>
  <p:clrMapOvr>
    <a:masterClrMapping/>
  </p:clrMapOvr>
  <p:transition>
    <p:spli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平行四邊形 71">
            <a:extLst>
              <a:ext uri="{FF2B5EF4-FFF2-40B4-BE49-F238E27FC236}">
                <a16:creationId xmlns:a16="http://schemas.microsoft.com/office/drawing/2014/main" id="{7BEA3934-38DD-4F9D-98F9-B6D4D34FEDFE}"/>
              </a:ext>
            </a:extLst>
          </p:cNvPr>
          <p:cNvSpPr/>
          <p:nvPr/>
        </p:nvSpPr>
        <p:spPr bwMode="auto">
          <a:xfrm>
            <a:off x="229804" y="5493224"/>
            <a:ext cx="8475284" cy="842259"/>
          </a:xfrm>
          <a:prstGeom prst="parallelogram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76" name="Shape 38"/>
          <p:cNvSpPr/>
          <p:nvPr/>
        </p:nvSpPr>
        <p:spPr>
          <a:xfrm>
            <a:off x="4572000" y="3667872"/>
            <a:ext cx="0" cy="841248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Rectangle 2"/>
          <p:cNvSpPr txBox="1">
            <a:spLocks noChangeArrowheads="1"/>
          </p:cNvSpPr>
          <p:nvPr/>
        </p:nvSpPr>
        <p:spPr bwMode="auto">
          <a:xfrm>
            <a:off x="467544" y="308198"/>
            <a:ext cx="73120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808080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lvl="0">
              <a:defRPr/>
            </a:pPr>
            <a:r>
              <a:rPr lang="zh-TW" altLang="en-US" dirty="0">
                <a:solidFill>
                  <a:schemeClr val="tx1"/>
                </a:solidFill>
              </a:rPr>
              <a:t>上市股票：資本市場的通行貨幣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1029876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310896"/>
            <a:ext cx="800100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icrosoft JhengHei"/>
              </a:defRPr>
            </a:pP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2382012" y="4719392"/>
            <a:ext cx="4494275" cy="640080"/>
          </a:xfrm>
          <a:prstGeom prst="roundRect">
            <a:avLst>
              <a:gd name="adj" fmla="val 7813"/>
            </a:avLst>
          </a:prstGeom>
          <a:solidFill>
            <a:schemeClr val="accent3">
              <a:lumMod val="85000"/>
            </a:schemeClr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2" name="Text 4"/>
          <p:cNvSpPr/>
          <p:nvPr/>
        </p:nvSpPr>
        <p:spPr>
          <a:xfrm>
            <a:off x="2483768" y="497431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Public Market Infrastructure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5"/>
          <p:cNvSpPr/>
          <p:nvPr/>
        </p:nvSpPr>
        <p:spPr>
          <a:xfrm>
            <a:off x="4329684" y="495602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Liquidity  +  Market Price  +  Disclosure  +  Investor Base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6"/>
          <p:cNvSpPr/>
          <p:nvPr/>
        </p:nvSpPr>
        <p:spPr>
          <a:xfrm>
            <a:off x="2514600" y="513432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3822192" y="2351136"/>
            <a:ext cx="1499616" cy="1499616"/>
          </a:xfrm>
          <a:prstGeom prst="ellipse">
            <a:avLst/>
          </a:prstGeom>
          <a:solidFill>
            <a:schemeClr val="accent3">
              <a:lumMod val="95000"/>
            </a:schemeClr>
          </a:solidFill>
          <a:ln w="13970">
            <a:solidFill>
              <a:schemeClr val="accent3">
                <a:lumMod val="85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46" name="Text 8"/>
          <p:cNvSpPr/>
          <p:nvPr/>
        </p:nvSpPr>
        <p:spPr>
          <a:xfrm>
            <a:off x="3950208" y="2799232"/>
            <a:ext cx="1243584" cy="57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Listed</a:t>
            </a:r>
            <a:endParaRPr lang="en-US" sz="2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Equity</a:t>
            </a:r>
            <a:endParaRPr lang="en-US" sz="2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9"/>
          <p:cNvSpPr/>
          <p:nvPr/>
        </p:nvSpPr>
        <p:spPr>
          <a:xfrm>
            <a:off x="3995928" y="30666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438912" y="17407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11"/>
          <p:cNvSpPr/>
          <p:nvPr/>
        </p:nvSpPr>
        <p:spPr>
          <a:xfrm>
            <a:off x="438912" y="17407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12"/>
          <p:cNvSpPr/>
          <p:nvPr/>
        </p:nvSpPr>
        <p:spPr>
          <a:xfrm>
            <a:off x="539552" y="18288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01</a:t>
            </a:r>
            <a:endParaRPr lang="en-US" sz="16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969264" y="1849384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Follow-on Financing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969264" y="2135120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後續籌資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969264" y="2420888"/>
            <a:ext cx="28025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Rights Issue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CB/ECB/GDR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擴張投資、償債與營運資金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5705856" y="1740736"/>
            <a:ext cx="3186624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17"/>
          <p:cNvSpPr/>
          <p:nvPr/>
        </p:nvSpPr>
        <p:spPr>
          <a:xfrm>
            <a:off x="5705856" y="17407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18"/>
          <p:cNvSpPr/>
          <p:nvPr/>
        </p:nvSpPr>
        <p:spPr>
          <a:xfrm>
            <a:off x="5806496" y="18288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02</a:t>
            </a:r>
            <a:endParaRPr lang="en-US" sz="16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6236208" y="1849384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M&amp;A Currency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6236208" y="2135120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併購交易對價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6236208" y="2420888"/>
            <a:ext cx="4384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Share Swap/Stock Consideration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降低現金支出壓力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讓賣方分享交易後長期上行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Shape 22"/>
          <p:cNvSpPr/>
          <p:nvPr/>
        </p:nvSpPr>
        <p:spPr>
          <a:xfrm>
            <a:off x="438912" y="31123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23"/>
          <p:cNvSpPr/>
          <p:nvPr/>
        </p:nvSpPr>
        <p:spPr>
          <a:xfrm>
            <a:off x="438912" y="31123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24"/>
          <p:cNvSpPr/>
          <p:nvPr/>
        </p:nvSpPr>
        <p:spPr>
          <a:xfrm>
            <a:off x="539552" y="32004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03</a:t>
            </a:r>
            <a:endParaRPr lang="en-US" sz="16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969264" y="3217536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Equity-based Incentives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969264" y="3506720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股權激勵工具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969264" y="3792488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ESOP/Stock Options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Restricted Shares/RSU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綁定核心人才與股東長期利益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Shape 28"/>
          <p:cNvSpPr/>
          <p:nvPr/>
        </p:nvSpPr>
        <p:spPr>
          <a:xfrm>
            <a:off x="5705855" y="3112336"/>
            <a:ext cx="3186623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7" name="Shape 29"/>
          <p:cNvSpPr/>
          <p:nvPr/>
        </p:nvSpPr>
        <p:spPr>
          <a:xfrm>
            <a:off x="5705856" y="31123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30"/>
          <p:cNvSpPr/>
          <p:nvPr/>
        </p:nvSpPr>
        <p:spPr>
          <a:xfrm>
            <a:off x="5806496" y="32004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04</a:t>
            </a:r>
            <a:endParaRPr lang="en-US" sz="16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6236208" y="3217536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Strategic Capital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6236208" y="3506720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策略資本合作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 33"/>
          <p:cNvSpPr/>
          <p:nvPr/>
        </p:nvSpPr>
        <p:spPr>
          <a:xfrm>
            <a:off x="6236208" y="3792488"/>
            <a:ext cx="30380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Private Placement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Strategic Investment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引進產業夥伴、長期資金或合作關係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Shape 40"/>
          <p:cNvSpPr/>
          <p:nvPr/>
        </p:nvSpPr>
        <p:spPr>
          <a:xfrm>
            <a:off x="489260" y="5589240"/>
            <a:ext cx="50292" cy="658368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Text 41"/>
          <p:cNvSpPr/>
          <p:nvPr/>
        </p:nvSpPr>
        <p:spPr>
          <a:xfrm>
            <a:off x="630935" y="5733256"/>
            <a:ext cx="1655065" cy="320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案例｜台灣保瑞藥業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Text 42"/>
          <p:cNvSpPr/>
          <p:nvPr/>
        </p:nvSpPr>
        <p:spPr>
          <a:xfrm>
            <a:off x="2427731" y="5733256"/>
            <a:ext cx="6085334" cy="3584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不</a:t>
            </a:r>
            <a:r>
              <a:rPr lang="zh-TW" altLang="en-US" sz="1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只</a:t>
            </a:r>
            <a:r>
              <a:rPr lang="en-US" sz="14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單次</a:t>
            </a:r>
            <a:r>
              <a:rPr lang="en-US" sz="1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IPO </a:t>
            </a:r>
            <a:r>
              <a:rPr lang="en-US" sz="14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募資，而是掛牌後結合併購、後續籌資、法人溝通與轉板</a:t>
            </a:r>
            <a:r>
              <a:rPr lang="en-US" sz="1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，</a:t>
            </a:r>
          </a:p>
          <a:p>
            <a:pPr algn="just"/>
            <a:r>
              <a:rPr lang="en-US" altLang="zh-TW" sz="1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   </a:t>
            </a:r>
            <a:r>
              <a:rPr lang="zh-TW" altLang="en-US" sz="1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憑藉資本市場</a:t>
            </a:r>
            <a:r>
              <a:rPr lang="en-US" sz="14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形成可持續的資本運作平台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 43"/>
          <p:cNvSpPr/>
          <p:nvPr/>
        </p:nvSpPr>
        <p:spPr>
          <a:xfrm>
            <a:off x="2331720" y="5962992"/>
            <a:ext cx="6263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14195" y="1139183"/>
            <a:ext cx="8280152" cy="306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上市後，讓上市股權具備「可交易、可估值、可被投資人接受」的基礎</a:t>
            </a:r>
          </a:p>
        </p:txBody>
      </p:sp>
    </p:spTree>
    <p:extLst>
      <p:ext uri="{BB962C8B-B14F-4D97-AF65-F5344CB8AC3E}">
        <p14:creationId xmlns:p14="http://schemas.microsoft.com/office/powerpoint/2010/main" val="3982965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4CB4BAF-BF91-45BB-A960-DCD812D9EB2A}"/>
              </a:ext>
            </a:extLst>
          </p:cNvPr>
          <p:cNvSpPr/>
          <p:nvPr/>
        </p:nvSpPr>
        <p:spPr bwMode="auto">
          <a:xfrm>
            <a:off x="361060" y="2852936"/>
            <a:ext cx="4282948" cy="3425207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2AA1091-FEEA-4D17-96D6-D9BD4A47CBFE}"/>
              </a:ext>
            </a:extLst>
          </p:cNvPr>
          <p:cNvSpPr/>
          <p:nvPr/>
        </p:nvSpPr>
        <p:spPr bwMode="auto">
          <a:xfrm>
            <a:off x="4817417" y="2696829"/>
            <a:ext cx="4219079" cy="3756507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22429FB8-3FF8-4193-8DC8-E93C5384D133}"/>
              </a:ext>
            </a:extLst>
          </p:cNvPr>
          <p:cNvSpPr txBox="1"/>
          <p:nvPr/>
        </p:nvSpPr>
        <p:spPr>
          <a:xfrm>
            <a:off x="5149806" y="2733488"/>
            <a:ext cx="359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台新投資銀行團隊扮演重要角色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6A4F9C3-017B-4D52-9D0A-8A7CA45BF60D}"/>
              </a:ext>
            </a:extLst>
          </p:cNvPr>
          <p:cNvSpPr/>
          <p:nvPr/>
        </p:nvSpPr>
        <p:spPr>
          <a:xfrm>
            <a:off x="254338" y="2951303"/>
            <a:ext cx="4677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台新提供多元投資銀行服務，</a:t>
            </a:r>
            <a:endParaRPr lang="en-US" altLang="zh-TW" sz="1600" b="1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一路伴隨公司邁向營收與獲利的永續成長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E2FBA40-2854-4920-9BE6-DDA2ABCC54BF}"/>
              </a:ext>
            </a:extLst>
          </p:cNvPr>
          <p:cNvSpPr/>
          <p:nvPr/>
        </p:nvSpPr>
        <p:spPr bwMode="auto">
          <a:xfrm>
            <a:off x="920035" y="4186628"/>
            <a:ext cx="626074" cy="372641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sz="9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AF95682-EBE0-4049-A074-6A3D2F734C4E}"/>
              </a:ext>
            </a:extLst>
          </p:cNvPr>
          <p:cNvSpPr/>
          <p:nvPr/>
        </p:nvSpPr>
        <p:spPr>
          <a:xfrm>
            <a:off x="787737" y="3661603"/>
            <a:ext cx="891591" cy="50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lnSpc>
                <a:spcPct val="200000"/>
              </a:lnSpc>
            </a:pPr>
            <a:r>
              <a:rPr lang="en-US" altLang="zh-TW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8.6</a:t>
            </a:r>
            <a:r>
              <a:rPr lang="zh-TW" altLang="en-US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億元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214A783-E7C6-4D68-A0D5-A71BE05AE8EA}"/>
              </a:ext>
            </a:extLst>
          </p:cNvPr>
          <p:cNvSpPr/>
          <p:nvPr/>
        </p:nvSpPr>
        <p:spPr bwMode="auto">
          <a:xfrm>
            <a:off x="3183887" y="3866982"/>
            <a:ext cx="674029" cy="71916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4E758C5-A958-48B9-853C-C939B3746681}"/>
              </a:ext>
            </a:extLst>
          </p:cNvPr>
          <p:cNvSpPr/>
          <p:nvPr/>
        </p:nvSpPr>
        <p:spPr>
          <a:xfrm>
            <a:off x="3004705" y="3357863"/>
            <a:ext cx="1135247" cy="50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TW" sz="16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523.7</a:t>
            </a:r>
            <a:r>
              <a:rPr lang="zh-TW" altLang="en-US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億元</a:t>
            </a:r>
          </a:p>
        </p:txBody>
      </p:sp>
      <p:graphicFrame>
        <p:nvGraphicFramePr>
          <p:cNvPr id="85" name="表格 84">
            <a:extLst>
              <a:ext uri="{FF2B5EF4-FFF2-40B4-BE49-F238E27FC236}">
                <a16:creationId xmlns:a16="http://schemas.microsoft.com/office/drawing/2014/main" id="{FF863B91-8D98-4325-BB73-918696452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802214"/>
              </p:ext>
            </p:extLst>
          </p:nvPr>
        </p:nvGraphicFramePr>
        <p:xfrm>
          <a:off x="404861" y="4963638"/>
          <a:ext cx="4066224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70">
                  <a:extLst>
                    <a:ext uri="{9D8B030D-6E8A-4147-A177-3AD203B41FA5}">
                      <a16:colId xmlns:a16="http://schemas.microsoft.com/office/drawing/2014/main" val="1431827709"/>
                    </a:ext>
                  </a:extLst>
                </a:gridCol>
                <a:gridCol w="824383">
                  <a:extLst>
                    <a:ext uri="{9D8B030D-6E8A-4147-A177-3AD203B41FA5}">
                      <a16:colId xmlns:a16="http://schemas.microsoft.com/office/drawing/2014/main" val="615663122"/>
                    </a:ext>
                  </a:extLst>
                </a:gridCol>
                <a:gridCol w="928597">
                  <a:extLst>
                    <a:ext uri="{9D8B030D-6E8A-4147-A177-3AD203B41FA5}">
                      <a16:colId xmlns:a16="http://schemas.microsoft.com/office/drawing/2014/main" val="3031336244"/>
                    </a:ext>
                  </a:extLst>
                </a:gridCol>
                <a:gridCol w="927437">
                  <a:extLst>
                    <a:ext uri="{9D8B030D-6E8A-4147-A177-3AD203B41FA5}">
                      <a16:colId xmlns:a16="http://schemas.microsoft.com/office/drawing/2014/main" val="2735745837"/>
                    </a:ext>
                  </a:extLst>
                </a:gridCol>
                <a:gridCol w="927437">
                  <a:extLst>
                    <a:ext uri="{9D8B030D-6E8A-4147-A177-3AD203B41FA5}">
                      <a16:colId xmlns:a16="http://schemas.microsoft.com/office/drawing/2014/main" val="209730290"/>
                    </a:ext>
                  </a:extLst>
                </a:gridCol>
              </a:tblGrid>
              <a:tr h="240472">
                <a:tc>
                  <a:txBody>
                    <a:bodyPr/>
                    <a:lstStyle/>
                    <a:p>
                      <a:pPr algn="l"/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2017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Q2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20970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3.58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192.5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190.14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98.9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240991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淨利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29.8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14.0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73408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0.56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38.69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4.56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4288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股本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2.64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10.31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12.74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12.80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79109"/>
                  </a:ext>
                </a:extLst>
              </a:tr>
            </a:tbl>
          </a:graphicData>
        </a:graphic>
      </p:graphicFrame>
      <p:sp>
        <p:nvSpPr>
          <p:cNvPr id="92" name="文字方塊 91">
            <a:extLst>
              <a:ext uri="{FF2B5EF4-FFF2-40B4-BE49-F238E27FC236}">
                <a16:creationId xmlns:a16="http://schemas.microsoft.com/office/drawing/2014/main" id="{9983EA46-D1DE-42BE-BFE9-4759E4E7D281}"/>
              </a:ext>
            </a:extLst>
          </p:cNvPr>
          <p:cNvSpPr txBox="1"/>
          <p:nvPr/>
        </p:nvSpPr>
        <p:spPr>
          <a:xfrm>
            <a:off x="749351" y="4167474"/>
            <a:ext cx="957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上櫃</a:t>
            </a:r>
            <a:r>
              <a:rPr lang="en-US" altLang="zh-TW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</a:p>
          <a:p>
            <a:pPr algn="ctr"/>
            <a:r>
              <a:rPr lang="en-US" altLang="zh-TW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32.5</a:t>
            </a: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9078A17A-6B43-4AB8-AAF8-391F22D9E710}"/>
              </a:ext>
            </a:extLst>
          </p:cNvPr>
          <p:cNvSpPr txBox="1"/>
          <p:nvPr/>
        </p:nvSpPr>
        <p:spPr>
          <a:xfrm>
            <a:off x="3002441" y="4553039"/>
            <a:ext cx="1219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06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</a:p>
        </p:txBody>
      </p: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D7AFF01A-B187-482D-BA75-84E77B1B89C7}"/>
              </a:ext>
            </a:extLst>
          </p:cNvPr>
          <p:cNvCxnSpPr>
            <a:cxnSpLocks/>
          </p:cNvCxnSpPr>
          <p:nvPr/>
        </p:nvCxnSpPr>
        <p:spPr bwMode="auto">
          <a:xfrm>
            <a:off x="361060" y="4893071"/>
            <a:ext cx="4153828" cy="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CC53304C-5EE4-47C5-B576-ADEFE452DE45}"/>
              </a:ext>
            </a:extLst>
          </p:cNvPr>
          <p:cNvSpPr txBox="1"/>
          <p:nvPr/>
        </p:nvSpPr>
        <p:spPr>
          <a:xfrm>
            <a:off x="864715" y="4542991"/>
            <a:ext cx="792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2017</a:t>
            </a:r>
            <a:r>
              <a:rPr lang="zh-TW" altLang="en-US" sz="1400" b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</a:p>
        </p:txBody>
      </p:sp>
      <p:sp>
        <p:nvSpPr>
          <p:cNvPr id="139" name="箭號: 向右 241">
            <a:extLst>
              <a:ext uri="{FF2B5EF4-FFF2-40B4-BE49-F238E27FC236}">
                <a16:creationId xmlns:a16="http://schemas.microsoft.com/office/drawing/2014/main" id="{7DE9ED5F-B3F9-4881-ABD9-D8DE8D697295}"/>
              </a:ext>
            </a:extLst>
          </p:cNvPr>
          <p:cNvSpPr/>
          <p:nvPr/>
        </p:nvSpPr>
        <p:spPr bwMode="auto">
          <a:xfrm rot="20456268">
            <a:off x="1606194" y="4078180"/>
            <a:ext cx="1590957" cy="255159"/>
          </a:xfrm>
          <a:prstGeom prst="rightArrow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6455D05-7C37-4927-A98A-013B6B265E15}"/>
              </a:ext>
            </a:extLst>
          </p:cNvPr>
          <p:cNvSpPr/>
          <p:nvPr/>
        </p:nvSpPr>
        <p:spPr bwMode="auto">
          <a:xfrm>
            <a:off x="4941335" y="5876837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883AD9-B67B-6BC5-2340-1C1E11073748}"/>
              </a:ext>
            </a:extLst>
          </p:cNvPr>
          <p:cNvSpPr txBox="1"/>
          <p:nvPr/>
        </p:nvSpPr>
        <p:spPr>
          <a:xfrm>
            <a:off x="5223916" y="5931124"/>
            <a:ext cx="3611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響應交易所推動生技指標股櫃轉市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FD81B96-66E6-A3CC-61C4-F01B4E5DBC6E}"/>
              </a:ext>
            </a:extLst>
          </p:cNvPr>
          <p:cNvSpPr/>
          <p:nvPr/>
        </p:nvSpPr>
        <p:spPr bwMode="auto">
          <a:xfrm>
            <a:off x="4941335" y="541830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BC88726C-F830-D4E8-6F43-2883A94AA28F}"/>
              </a:ext>
            </a:extLst>
          </p:cNvPr>
          <p:cNvSpPr txBox="1"/>
          <p:nvPr/>
        </p:nvSpPr>
        <p:spPr>
          <a:xfrm>
            <a:off x="5223917" y="5472591"/>
            <a:ext cx="3559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持續協助集團子公司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業務，建立旗艦艦隊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5306EBFD-5D1D-E6C3-216F-952F3AE8D671}"/>
              </a:ext>
            </a:extLst>
          </p:cNvPr>
          <p:cNvSpPr/>
          <p:nvPr/>
        </p:nvSpPr>
        <p:spPr bwMode="auto">
          <a:xfrm>
            <a:off x="4941335" y="495977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5A0C0DFF-D41A-D9F8-5D9B-E3D4CF897F6A}"/>
              </a:ext>
            </a:extLst>
          </p:cNvPr>
          <p:cNvSpPr txBox="1"/>
          <p:nvPr/>
        </p:nvSpPr>
        <p:spPr>
          <a:xfrm>
            <a:off x="5223917" y="5014061"/>
            <a:ext cx="3347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積極引薦機構法人，提升法人持股比例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7712089D-F657-C167-A407-1B1F8FB82967}"/>
              </a:ext>
            </a:extLst>
          </p:cNvPr>
          <p:cNvSpPr/>
          <p:nvPr/>
        </p:nvSpPr>
        <p:spPr bwMode="auto">
          <a:xfrm>
            <a:off x="4941335" y="450124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D332C383-064D-76D0-9725-18F77B7E1A07}"/>
              </a:ext>
            </a:extLst>
          </p:cNvPr>
          <p:cNvSpPr txBox="1"/>
          <p:nvPr/>
        </p:nvSpPr>
        <p:spPr>
          <a:xfrm>
            <a:off x="5223918" y="4555531"/>
            <a:ext cx="3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共同設立併購基金，增加資金彈性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9F60EDB-C0EB-0AF3-6859-068C50F35D98}"/>
              </a:ext>
            </a:extLst>
          </p:cNvPr>
          <p:cNvSpPr/>
          <p:nvPr/>
        </p:nvSpPr>
        <p:spPr bwMode="auto">
          <a:xfrm>
            <a:off x="4941335" y="404271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195542B2-7DB3-12D5-6004-CA193C26C7C4}"/>
              </a:ext>
            </a:extLst>
          </p:cNvPr>
          <p:cNvSpPr txBox="1"/>
          <p:nvPr/>
        </p:nvSpPr>
        <p:spPr>
          <a:xfrm>
            <a:off x="5223918" y="4097001"/>
            <a:ext cx="3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資本市場募資，提供即時資金支援，以利併購布局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A0FDAAB4-9F19-6E66-34EE-BE04EBA98FB0}"/>
              </a:ext>
            </a:extLst>
          </p:cNvPr>
          <p:cNvSpPr/>
          <p:nvPr/>
        </p:nvSpPr>
        <p:spPr bwMode="auto">
          <a:xfrm>
            <a:off x="4941335" y="358418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B99F4319-2B14-6776-EDD5-9796E1CA30D3}"/>
              </a:ext>
            </a:extLst>
          </p:cNvPr>
          <p:cNvSpPr txBox="1"/>
          <p:nvPr/>
        </p:nvSpPr>
        <p:spPr>
          <a:xfrm>
            <a:off x="5223916" y="3638471"/>
            <a:ext cx="3611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多起潛在併購標的之財務顧問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841B3029-9307-097E-0419-C8EDD8062508}"/>
              </a:ext>
            </a:extLst>
          </p:cNvPr>
          <p:cNvSpPr/>
          <p:nvPr/>
        </p:nvSpPr>
        <p:spPr bwMode="auto">
          <a:xfrm>
            <a:off x="4941335" y="312565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68E66C35-3A2B-CFBF-3885-0A82AC8E8772}"/>
              </a:ext>
            </a:extLst>
          </p:cNvPr>
          <p:cNvSpPr txBox="1"/>
          <p:nvPr/>
        </p:nvSpPr>
        <p:spPr>
          <a:xfrm>
            <a:off x="5223917" y="3179941"/>
            <a:ext cx="3347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協助進行集團組織架構調整規劃諮詢</a:t>
            </a:r>
          </a:p>
        </p:txBody>
      </p:sp>
      <p:pic>
        <p:nvPicPr>
          <p:cNvPr id="72" name="圖片 71">
            <a:extLst>
              <a:ext uri="{FF2B5EF4-FFF2-40B4-BE49-F238E27FC236}">
                <a16:creationId xmlns:a16="http://schemas.microsoft.com/office/drawing/2014/main" id="{C63B9490-69DC-41D1-9238-73303B64E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2885799"/>
            <a:ext cx="512908" cy="425369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DAC3E679-37C3-E138-45B1-EC735C7C8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3348417"/>
            <a:ext cx="512908" cy="425369"/>
          </a:xfrm>
          <a:prstGeom prst="rect">
            <a:avLst/>
          </a:prstGeom>
        </p:spPr>
      </p:pic>
      <p:pic>
        <p:nvPicPr>
          <p:cNvPr id="161" name="圖片 160">
            <a:extLst>
              <a:ext uri="{FF2B5EF4-FFF2-40B4-BE49-F238E27FC236}">
                <a16:creationId xmlns:a16="http://schemas.microsoft.com/office/drawing/2014/main" id="{04E5BA39-152D-9854-D14B-71614ECA5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3811035"/>
            <a:ext cx="512908" cy="425369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A945E302-DED9-0310-3914-F3E483138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4273653"/>
            <a:ext cx="512908" cy="425369"/>
          </a:xfrm>
          <a:prstGeom prst="rect">
            <a:avLst/>
          </a:prstGeom>
        </p:spPr>
      </p:pic>
      <p:pic>
        <p:nvPicPr>
          <p:cNvPr id="163" name="圖片 162">
            <a:extLst>
              <a:ext uri="{FF2B5EF4-FFF2-40B4-BE49-F238E27FC236}">
                <a16:creationId xmlns:a16="http://schemas.microsoft.com/office/drawing/2014/main" id="{9961E077-D157-2D7F-F350-9A67B5004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4736271"/>
            <a:ext cx="512908" cy="425369"/>
          </a:xfrm>
          <a:prstGeom prst="rect">
            <a:avLst/>
          </a:prstGeom>
        </p:spPr>
      </p:pic>
      <p:pic>
        <p:nvPicPr>
          <p:cNvPr id="164" name="圖片 163">
            <a:extLst>
              <a:ext uri="{FF2B5EF4-FFF2-40B4-BE49-F238E27FC236}">
                <a16:creationId xmlns:a16="http://schemas.microsoft.com/office/drawing/2014/main" id="{714640E6-DB85-FBD8-F8E8-D1F676DD2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5198889"/>
            <a:ext cx="512908" cy="425369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B3F40FE1-0BB7-0CBF-834A-9859E35DC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5661508"/>
            <a:ext cx="512908" cy="425369"/>
          </a:xfrm>
          <a:prstGeom prst="rect">
            <a:avLst/>
          </a:prstGeom>
        </p:spPr>
      </p:pic>
      <p:grpSp>
        <p:nvGrpSpPr>
          <p:cNvPr id="2" name="群組 1"/>
          <p:cNvGrpSpPr/>
          <p:nvPr/>
        </p:nvGrpSpPr>
        <p:grpSpPr>
          <a:xfrm>
            <a:off x="1878828" y="3666310"/>
            <a:ext cx="964455" cy="952432"/>
            <a:chOff x="9840761" y="1772816"/>
            <a:chExt cx="964455" cy="952432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3FEC7175-64DD-43FB-88DC-0BBFF6F85433}"/>
                </a:ext>
              </a:extLst>
            </p:cNvPr>
            <p:cNvSpPr/>
            <p:nvPr/>
          </p:nvSpPr>
          <p:spPr bwMode="auto">
            <a:xfrm>
              <a:off x="9852784" y="1772816"/>
              <a:ext cx="952432" cy="952432"/>
            </a:xfrm>
            <a:prstGeom prst="ellipse">
              <a:avLst/>
            </a:prstGeom>
            <a:solidFill>
              <a:srgbClr val="92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eaLnBrk="1" hangingPunct="1">
                <a:lnSpc>
                  <a:spcPct val="200000"/>
                </a:lnSpc>
              </a:pPr>
              <a:endParaRPr lang="zh-TW" alt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994105B2-07F1-4DCA-9625-74E32372EDDB}"/>
                </a:ext>
              </a:extLst>
            </p:cNvPr>
            <p:cNvSpPr/>
            <p:nvPr/>
          </p:nvSpPr>
          <p:spPr>
            <a:xfrm>
              <a:off x="9840761" y="1971832"/>
              <a:ext cx="963725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市值提升</a:t>
              </a:r>
              <a:endPara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60.9</a:t>
              </a:r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倍</a:t>
              </a:r>
            </a:p>
          </p:txBody>
        </p:sp>
      </p:grpSp>
      <p:pic>
        <p:nvPicPr>
          <p:cNvPr id="61" name="Picture 2" descr="Vitruvias Therapeutics Inc.授權保瑞藥業臺灣竹南廠區生產ANDA藥品氯 ...">
            <a:extLst>
              <a:ext uri="{FF2B5EF4-FFF2-40B4-BE49-F238E27FC236}">
                <a16:creationId xmlns:a16="http://schemas.microsoft.com/office/drawing/2014/main" id="{04723898-56BD-483A-B9A2-7294C7787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17" y="345879"/>
            <a:ext cx="690361" cy="64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文字方塊 70">
            <a:extLst>
              <a:ext uri="{FF2B5EF4-FFF2-40B4-BE49-F238E27FC236}">
                <a16:creationId xmlns:a16="http://schemas.microsoft.com/office/drawing/2014/main" id="{9983EA46-D1DE-42BE-BFE9-4759E4E7D281}"/>
              </a:ext>
            </a:extLst>
          </p:cNvPr>
          <p:cNvSpPr txBox="1"/>
          <p:nvPr/>
        </p:nvSpPr>
        <p:spPr>
          <a:xfrm>
            <a:off x="3047628" y="3985373"/>
            <a:ext cx="957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現股價格</a:t>
            </a:r>
            <a:endParaRPr lang="en-US" altLang="zh-TW" sz="1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410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7" name="矩形 6"/>
          <p:cNvSpPr/>
          <p:nvPr/>
        </p:nvSpPr>
        <p:spPr>
          <a:xfrm>
            <a:off x="4803769" y="1233075"/>
            <a:ext cx="394469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“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台新證券協助保瑞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後，持續提供財顧諮詢，共同評估潛在標的及併購可行性，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近</a:t>
            </a:r>
            <a:r>
              <a:rPr lang="en-US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年完成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起併購案，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成為國際級的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CDMO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藥廠，亦持續提供公司強力資金來源，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協助公司自資本市場籌資</a:t>
            </a:r>
            <a:r>
              <a:rPr lang="en-US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次，募資</a:t>
            </a:r>
            <a:r>
              <a:rPr lang="en-US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&gt;150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億元，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更與台新共同成立生技私募基金，創新券商與產業合作模式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文字方塊 3"/>
          <p:cNvSpPr txBox="1">
            <a:spLocks noChangeArrowheads="1"/>
          </p:cNvSpPr>
          <p:nvPr/>
        </p:nvSpPr>
        <p:spPr bwMode="auto">
          <a:xfrm>
            <a:off x="382131" y="1136190"/>
            <a:ext cx="4045853" cy="186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保瑞藥業</a:t>
            </a:r>
            <a:r>
              <a:rPr kumimoji="1" lang="zh-TW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股份有限公司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(6472)</a:t>
            </a: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主要產品：藥品製造、西藥及保健保養品代理及銷售，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現為台灣最大的</a:t>
            </a:r>
            <a:r>
              <a:rPr lang="en-US" altLang="zh-TW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CDMO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製藥廠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目前資本額：新台幣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10.35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掛牌市場：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月轉板至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台灣證券交易所</a:t>
            </a: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承銷價格：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2017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每股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32.5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市值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8.6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119063" marR="0" lvl="0" indent="-1190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掛牌後最高價格：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1030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市值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785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5" name="Rectangle 2">
            <a:extLst>
              <a:ext uri="{FF2B5EF4-FFF2-40B4-BE49-F238E27FC236}">
                <a16:creationId xmlns:a16="http://schemas.microsoft.com/office/drawing/2014/main" id="{EDA1187E-EB8E-401C-820B-B8F19D2BF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95914"/>
            <a:ext cx="9373208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攜手台新善用投行服務、創造倍數的營運績效表現</a:t>
            </a:r>
          </a:p>
        </p:txBody>
      </p:sp>
    </p:spTree>
    <p:extLst>
      <p:ext uri="{BB962C8B-B14F-4D97-AF65-F5344CB8AC3E}">
        <p14:creationId xmlns:p14="http://schemas.microsoft.com/office/powerpoint/2010/main" val="1935051955"/>
      </p:ext>
    </p:extLst>
  </p:cSld>
  <p:clrMapOvr>
    <a:masterClrMapping/>
  </p:clrMapOvr>
  <p:transition>
    <p:spli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圓角矩形 5">
            <a:extLst>
              <a:ext uri="{FF2B5EF4-FFF2-40B4-BE49-F238E27FC236}">
                <a16:creationId xmlns:a16="http://schemas.microsoft.com/office/drawing/2014/main" id="{24468F9D-62E2-4329-BD22-0B483E51B81F}"/>
              </a:ext>
            </a:extLst>
          </p:cNvPr>
          <p:cNvSpPr/>
          <p:nvPr/>
        </p:nvSpPr>
        <p:spPr>
          <a:xfrm>
            <a:off x="4587353" y="1495898"/>
            <a:ext cx="3948447" cy="1757111"/>
          </a:xfrm>
          <a:prstGeom prst="roundRect">
            <a:avLst>
              <a:gd name="adj" fmla="val 6030"/>
            </a:avLst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5" name="圓角矩形 5">
            <a:extLst>
              <a:ext uri="{FF2B5EF4-FFF2-40B4-BE49-F238E27FC236}">
                <a16:creationId xmlns:a16="http://schemas.microsoft.com/office/drawing/2014/main" id="{6137D480-F89F-4D8C-B844-1B2DB633DD44}"/>
              </a:ext>
            </a:extLst>
          </p:cNvPr>
          <p:cNvSpPr/>
          <p:nvPr/>
        </p:nvSpPr>
        <p:spPr>
          <a:xfrm>
            <a:off x="479537" y="1485482"/>
            <a:ext cx="3948447" cy="1757111"/>
          </a:xfrm>
          <a:prstGeom prst="roundRect">
            <a:avLst>
              <a:gd name="adj" fmla="val 6030"/>
            </a:avLst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0" name="Shape 822"/>
          <p:cNvSpPr txBox="1">
            <a:spLocks/>
          </p:cNvSpPr>
          <p:nvPr/>
        </p:nvSpPr>
        <p:spPr bwMode="auto">
          <a:xfrm>
            <a:off x="436563" y="476250"/>
            <a:ext cx="823989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 2" pitchFamily="18" charset="2"/>
              </a:rPr>
              <a:t>公司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Wingdings 2" pitchFamily="18" charset="2"/>
              </a:rPr>
              <a:t>優異經營實績加上台新包裝，成功吸引投資人認同</a:t>
            </a:r>
          </a:p>
        </p:txBody>
      </p:sp>
      <p:sp>
        <p:nvSpPr>
          <p:cNvPr id="22" name="文字方塊 3">
            <a:extLst>
              <a:ext uri="{FF2B5EF4-FFF2-40B4-BE49-F238E27FC236}">
                <a16:creationId xmlns:a16="http://schemas.microsoft.com/office/drawing/2014/main" id="{811C8E85-8F47-44A7-A9B9-5B068F25A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357" y="1561542"/>
            <a:ext cx="4013443" cy="1685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具備機器人、智慧製造、工業</a:t>
            </a: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4.0</a:t>
            </a: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之題材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專注於智慧製造的「大腦」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—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控制器領域，並穩居中系品牌中國市占第一，產品性能媲美日德三大廠</a:t>
            </a: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打造「控制器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機器手臂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雲端方案」的一站式智慧控制平台，實現從單機、單元到整線虛實整合的智慧製造願景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積極擴大全球產能，隨著蘇州二廠與馬來西亞二廠產能陸續開出，將能為未來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至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年業績成長作準備</a:t>
            </a:r>
          </a:p>
        </p:txBody>
      </p:sp>
      <p:sp>
        <p:nvSpPr>
          <p:cNvPr id="23" name="文字方塊 3">
            <a:extLst>
              <a:ext uri="{FF2B5EF4-FFF2-40B4-BE49-F238E27FC236}">
                <a16:creationId xmlns:a16="http://schemas.microsoft.com/office/drawing/2014/main" id="{5A29F4FC-D2EF-4E84-BA8E-A38DF5037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26" y="1650228"/>
            <a:ext cx="3638515" cy="1500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營收集中度高，對中國市場高度依賴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(&gt;95%)</a:t>
            </a: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工具機產業近年受關稅及匯率負面影響，產業經營較為辛苦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產品定位受德日大廠夾擊，亦受到中國本土品牌的價格競爭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產品工具機控制器相較市場主流認識的人型機器人，更需要和投資人介紹</a:t>
            </a:r>
          </a:p>
        </p:txBody>
      </p:sp>
      <p:sp>
        <p:nvSpPr>
          <p:cNvPr id="30" name="Arrow: Pentagon 3">
            <a:extLst>
              <a:ext uri="{FF2B5EF4-FFF2-40B4-BE49-F238E27FC236}">
                <a16:creationId xmlns:a16="http://schemas.microsoft.com/office/drawing/2014/main" id="{2ACBA0DA-C405-4B14-8B4E-6D968134E930}"/>
              </a:ext>
            </a:extLst>
          </p:cNvPr>
          <p:cNvSpPr/>
          <p:nvPr/>
        </p:nvSpPr>
        <p:spPr>
          <a:xfrm>
            <a:off x="5502422" y="223554"/>
            <a:ext cx="2964534" cy="381224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722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客戶經營實績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台新包裝定位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8F9C5D4B-1F62-4C56-8E9C-AC662D1A528E}"/>
              </a:ext>
            </a:extLst>
          </p:cNvPr>
          <p:cNvSpPr/>
          <p:nvPr/>
        </p:nvSpPr>
        <p:spPr>
          <a:xfrm>
            <a:off x="4600764" y="1175288"/>
            <a:ext cx="3935035" cy="340519"/>
          </a:xfrm>
          <a:prstGeom prst="round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台新包裝定位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0B21B072-16AC-4E0E-B06A-8276F522EC67}"/>
              </a:ext>
            </a:extLst>
          </p:cNvPr>
          <p:cNvSpPr/>
          <p:nvPr/>
        </p:nvSpPr>
        <p:spPr>
          <a:xfrm>
            <a:off x="500063" y="1166731"/>
            <a:ext cx="3935035" cy="340519"/>
          </a:xfrm>
          <a:prstGeom prst="roundRect">
            <a:avLst/>
          </a:prstGeom>
          <a:solidFill>
            <a:schemeClr val="accent4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新代營運本質</a:t>
            </a:r>
          </a:p>
        </p:txBody>
      </p:sp>
      <p:graphicFrame>
        <p:nvGraphicFramePr>
          <p:cNvPr id="43" name="圖表 42">
            <a:extLst>
              <a:ext uri="{FF2B5EF4-FFF2-40B4-BE49-F238E27FC236}">
                <a16:creationId xmlns:a16="http://schemas.microsoft.com/office/drawing/2014/main" id="{0BAEACEC-6463-475F-8F35-43657C1851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2564565"/>
              </p:ext>
            </p:extLst>
          </p:nvPr>
        </p:nvGraphicFramePr>
        <p:xfrm>
          <a:off x="1355675" y="3639281"/>
          <a:ext cx="6158846" cy="2924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Line 120">
            <a:extLst>
              <a:ext uri="{FF2B5EF4-FFF2-40B4-BE49-F238E27FC236}">
                <a16:creationId xmlns:a16="http://schemas.microsoft.com/office/drawing/2014/main" id="{CDE7F44A-937D-457D-974D-1403C91F72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0242" y="4986050"/>
            <a:ext cx="0" cy="651051"/>
          </a:xfrm>
          <a:prstGeom prst="line">
            <a:avLst/>
          </a:prstGeom>
          <a:noFill/>
          <a:ln w="9525">
            <a:solidFill>
              <a:srgbClr val="C0C0C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59727B8-2CBD-47A9-92C8-6F09D244D8FA}"/>
              </a:ext>
            </a:extLst>
          </p:cNvPr>
          <p:cNvSpPr txBox="1"/>
          <p:nvPr/>
        </p:nvSpPr>
        <p:spPr>
          <a:xfrm>
            <a:off x="1856226" y="4606994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2024.06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公發</a:t>
            </a:r>
            <a:r>
              <a:rPr kumimoji="1" lang="en-US" altLang="zh-TW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&amp;</a:t>
            </a: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興櫃</a:t>
            </a:r>
          </a:p>
        </p:txBody>
      </p:sp>
      <p:sp>
        <p:nvSpPr>
          <p:cNvPr id="47" name="Line 120">
            <a:extLst>
              <a:ext uri="{FF2B5EF4-FFF2-40B4-BE49-F238E27FC236}">
                <a16:creationId xmlns:a16="http://schemas.microsoft.com/office/drawing/2014/main" id="{8E30F800-C655-4DA4-B36C-8E7854E554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4578" y="4481995"/>
            <a:ext cx="0" cy="651051"/>
          </a:xfrm>
          <a:prstGeom prst="line">
            <a:avLst/>
          </a:prstGeom>
          <a:noFill/>
          <a:ln w="9525">
            <a:solidFill>
              <a:srgbClr val="C0C0C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8342162-0FE8-41B7-9D94-B7192C8A0175}"/>
              </a:ext>
            </a:extLst>
          </p:cNvPr>
          <p:cNvSpPr txBox="1"/>
          <p:nvPr/>
        </p:nvSpPr>
        <p:spPr>
          <a:xfrm>
            <a:off x="4524475" y="4034290"/>
            <a:ext cx="1008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2025.04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證交所</a:t>
            </a:r>
            <a:endParaRPr kumimoji="1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董事會通過</a:t>
            </a:r>
            <a:endParaRPr kumimoji="1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9" name="Line 120">
            <a:extLst>
              <a:ext uri="{FF2B5EF4-FFF2-40B4-BE49-F238E27FC236}">
                <a16:creationId xmlns:a16="http://schemas.microsoft.com/office/drawing/2014/main" id="{B053263C-A413-4EC6-B8C3-3F2474C245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8060" y="4326635"/>
            <a:ext cx="105221" cy="169319"/>
          </a:xfrm>
          <a:prstGeom prst="line">
            <a:avLst/>
          </a:prstGeom>
          <a:noFill/>
          <a:ln w="9525">
            <a:solidFill>
              <a:srgbClr val="C0C0C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14CF2A7-DF2C-4500-B4CF-CDD1B7DAD571}"/>
              </a:ext>
            </a:extLst>
          </p:cNvPr>
          <p:cNvSpPr txBox="1"/>
          <p:nvPr/>
        </p:nvSpPr>
        <p:spPr>
          <a:xfrm>
            <a:off x="5527241" y="3908735"/>
            <a:ext cx="1008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2025.06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取得中國</a:t>
            </a:r>
            <a:endParaRPr kumimoji="1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證監會同意</a:t>
            </a:r>
            <a:endParaRPr kumimoji="1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5248B36-8A4D-4AB3-95B0-3373ECFC1F27}"/>
              </a:ext>
            </a:extLst>
          </p:cNvPr>
          <p:cNvSpPr txBox="1"/>
          <p:nvPr/>
        </p:nvSpPr>
        <p:spPr>
          <a:xfrm>
            <a:off x="6681970" y="3555069"/>
            <a:ext cx="1008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2025.09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上市</a:t>
            </a:r>
            <a:endParaRPr kumimoji="1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2" name="左中括弧 51">
            <a:extLst>
              <a:ext uri="{FF2B5EF4-FFF2-40B4-BE49-F238E27FC236}">
                <a16:creationId xmlns:a16="http://schemas.microsoft.com/office/drawing/2014/main" id="{D4F8A940-C9E2-4448-A234-0CA01B16F167}"/>
              </a:ext>
            </a:extLst>
          </p:cNvPr>
          <p:cNvSpPr/>
          <p:nvPr/>
        </p:nvSpPr>
        <p:spPr bwMode="auto">
          <a:xfrm rot="5400000">
            <a:off x="4371519" y="2535849"/>
            <a:ext cx="115016" cy="2471192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6CC056D-3F79-448B-BFEF-CAB5D556D0B9}"/>
              </a:ext>
            </a:extLst>
          </p:cNvPr>
          <p:cNvSpPr txBox="1"/>
          <p:nvPr/>
        </p:nvSpPr>
        <p:spPr>
          <a:xfrm>
            <a:off x="2932335" y="3333558"/>
            <a:ext cx="299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台新協助新代於興櫃階段價值發現</a:t>
            </a:r>
            <a:endParaRPr kumimoji="1" lang="en-US" altLang="zh-TW" sz="9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興櫃股價已達</a:t>
            </a:r>
            <a:r>
              <a:rPr kumimoji="1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PE 30X (</a:t>
            </a:r>
            <a:r>
              <a:rPr kumimoji="1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表現優於上市電機機械同業</a:t>
            </a:r>
            <a:r>
              <a:rPr kumimoji="1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1" lang="zh-TW" altLang="en-US" sz="9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09D24A6-3AF0-4F2B-9634-6956977A004A}"/>
              </a:ext>
            </a:extLst>
          </p:cNvPr>
          <p:cNvSpPr txBox="1"/>
          <p:nvPr/>
        </p:nvSpPr>
        <p:spPr>
          <a:xfrm>
            <a:off x="6684704" y="4248055"/>
            <a:ext cx="9568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掛牌後</a:t>
            </a:r>
            <a:endParaRPr kumimoji="1" lang="en-US" altLang="zh-TW" sz="9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台新持續協助</a:t>
            </a:r>
            <a:endParaRPr kumimoji="1" lang="en-US" altLang="zh-TW" sz="9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引薦外資法人</a:t>
            </a:r>
          </a:p>
        </p:txBody>
      </p:sp>
      <p:sp>
        <p:nvSpPr>
          <p:cNvPr id="55" name="Line 120">
            <a:extLst>
              <a:ext uri="{FF2B5EF4-FFF2-40B4-BE49-F238E27FC236}">
                <a16:creationId xmlns:a16="http://schemas.microsoft.com/office/drawing/2014/main" id="{68DFCC56-FFF4-41A1-8214-6983E1918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5364" y="3790267"/>
            <a:ext cx="34471" cy="321827"/>
          </a:xfrm>
          <a:prstGeom prst="line">
            <a:avLst/>
          </a:prstGeom>
          <a:noFill/>
          <a:ln w="9525">
            <a:solidFill>
              <a:srgbClr val="C0C0C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" name="Line 120">
            <a:extLst>
              <a:ext uri="{FF2B5EF4-FFF2-40B4-BE49-F238E27FC236}">
                <a16:creationId xmlns:a16="http://schemas.microsoft.com/office/drawing/2014/main" id="{D73DF717-965C-47A0-9E25-93E63217F3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6466" y="4945547"/>
            <a:ext cx="0" cy="403495"/>
          </a:xfrm>
          <a:prstGeom prst="line">
            <a:avLst/>
          </a:prstGeom>
          <a:noFill/>
          <a:ln w="9525">
            <a:solidFill>
              <a:srgbClr val="C0C0C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0B1DB8A4-FDEC-4EC2-8CDF-CB670F936AB8}"/>
              </a:ext>
            </a:extLst>
          </p:cNvPr>
          <p:cNvSpPr txBox="1"/>
          <p:nvPr/>
        </p:nvSpPr>
        <p:spPr>
          <a:xfrm>
            <a:off x="3530451" y="4462581"/>
            <a:ext cx="1008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2024.12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申請台灣</a:t>
            </a:r>
            <a:endParaRPr kumimoji="1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證交所上市</a:t>
            </a:r>
            <a:endParaRPr kumimoji="1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196502"/>
      </p:ext>
    </p:extLst>
  </p:cSld>
  <p:clrMapOvr>
    <a:masterClrMapping/>
  </p:clrMapOvr>
  <p:transition>
    <p:spli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>
            <a:extLst>
              <a:ext uri="{FF2B5EF4-FFF2-40B4-BE49-F238E27FC236}">
                <a16:creationId xmlns:a16="http://schemas.microsoft.com/office/drawing/2014/main" id="{94D7F702-0B38-4E8D-8CC7-324CE99F6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196" y="344364"/>
            <a:ext cx="8221080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IPO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案例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：亞洲投資銀行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-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台灣年度最佳案件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C6F8582-147D-4F2D-A347-F430329C454C}"/>
              </a:ext>
            </a:extLst>
          </p:cNvPr>
          <p:cNvSpPr txBox="1"/>
          <p:nvPr/>
        </p:nvSpPr>
        <p:spPr>
          <a:xfrm>
            <a:off x="988184" y="2334140"/>
            <a:ext cx="79763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marR="0" lvl="0" indent="-1190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00664D"/>
              </a:buClr>
              <a:buSzPts val="1400"/>
              <a:buFontTx/>
              <a:buNone/>
              <a:tabLst/>
              <a:defRPr/>
            </a:pP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思維 </a:t>
            </a:r>
            <a:r>
              <a:rPr kumimoji="1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: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 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獲利表現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與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本益比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將影響公司價值</a:t>
            </a:r>
            <a:endParaRPr kumimoji="1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軟正黑體" pitchFamily="34" charset="-120"/>
              <a:ea typeface="微軟正黑體"/>
              <a:cs typeface="+mn-cs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FE45DE2-2FC0-4338-9A6F-1111FC38B41C}"/>
              </a:ext>
            </a:extLst>
          </p:cNvPr>
          <p:cNvCxnSpPr>
            <a:cxnSpLocks/>
          </p:cNvCxnSpPr>
          <p:nvPr/>
        </p:nvCxnSpPr>
        <p:spPr bwMode="auto">
          <a:xfrm>
            <a:off x="3101559" y="4716285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3" name="群組 14">
            <a:extLst>
              <a:ext uri="{FF2B5EF4-FFF2-40B4-BE49-F238E27FC236}">
                <a16:creationId xmlns:a16="http://schemas.microsoft.com/office/drawing/2014/main" id="{0990C287-87DB-460F-8343-9EF20C21E141}"/>
              </a:ext>
            </a:extLst>
          </p:cNvPr>
          <p:cNvGrpSpPr>
            <a:grpSpLocks/>
          </p:cNvGrpSpPr>
          <p:nvPr/>
        </p:nvGrpSpPr>
        <p:grpSpPr bwMode="auto">
          <a:xfrm>
            <a:off x="606213" y="1136306"/>
            <a:ext cx="1950714" cy="348477"/>
            <a:chOff x="2123728" y="1293717"/>
            <a:chExt cx="3026327" cy="368739"/>
          </a:xfrm>
        </p:grpSpPr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BF6919B4-E63B-4047-A567-845B67CD106B}"/>
                </a:ext>
              </a:extLst>
            </p:cNvPr>
            <p:cNvSpPr/>
            <p:nvPr/>
          </p:nvSpPr>
          <p:spPr bwMode="auto">
            <a:xfrm rot="10800000" flipV="1">
              <a:off x="2123728" y="1293717"/>
              <a:ext cx="2890497" cy="312922"/>
            </a:xfrm>
            <a:prstGeom prst="parallelogram">
              <a:avLst>
                <a:gd name="adj" fmla="val 23810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endParaRPr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928D9856-339B-4C91-BB47-BDC98475A491}"/>
                </a:ext>
              </a:extLst>
            </p:cNvPr>
            <p:cNvSpPr/>
            <p:nvPr/>
          </p:nvSpPr>
          <p:spPr bwMode="auto">
            <a:xfrm rot="10800000" flipV="1">
              <a:off x="2259560" y="1349534"/>
              <a:ext cx="2890495" cy="312922"/>
            </a:xfrm>
            <a:prstGeom prst="parallelogram">
              <a:avLst>
                <a:gd name="adj" fmla="val 23810"/>
              </a:avLst>
            </a:prstGeom>
            <a:solidFill>
              <a:srgbClr val="A4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/>
                <a:cs typeface="+mn-cs"/>
              </a:endParaRP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5343E4DC-9D21-4D87-AD7F-8A324E82E333}"/>
              </a:ext>
            </a:extLst>
          </p:cNvPr>
          <p:cNvSpPr/>
          <p:nvPr/>
        </p:nvSpPr>
        <p:spPr>
          <a:xfrm>
            <a:off x="741182" y="1198950"/>
            <a:ext cx="1815745" cy="285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文鼎新細黑"/>
              </a:rPr>
              <a:t>台新本次造勢策略</a:t>
            </a:r>
          </a:p>
        </p:txBody>
      </p:sp>
      <p:sp>
        <p:nvSpPr>
          <p:cNvPr id="17" name="Freeform 108">
            <a:extLst>
              <a:ext uri="{FF2B5EF4-FFF2-40B4-BE49-F238E27FC236}">
                <a16:creationId xmlns:a16="http://schemas.microsoft.com/office/drawing/2014/main" id="{E9EE4D28-A247-4306-AE54-E5D1B934627C}"/>
              </a:ext>
            </a:extLst>
          </p:cNvPr>
          <p:cNvSpPr/>
          <p:nvPr/>
        </p:nvSpPr>
        <p:spPr>
          <a:xfrm>
            <a:off x="643125" y="2204864"/>
            <a:ext cx="341005" cy="376812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굴림" panose="020B0600000101010101" pitchFamily="34" charset="-127"/>
              <a:cs typeface="+mn-cs"/>
            </a:endParaRPr>
          </a:p>
        </p:txBody>
      </p:sp>
      <p:graphicFrame>
        <p:nvGraphicFramePr>
          <p:cNvPr id="19" name="表格 19">
            <a:extLst>
              <a:ext uri="{FF2B5EF4-FFF2-40B4-BE49-F238E27FC236}">
                <a16:creationId xmlns:a16="http://schemas.microsoft.com/office/drawing/2014/main" id="{87F0501F-1913-4DBD-9266-7BD03B076329}"/>
              </a:ext>
            </a:extLst>
          </p:cNvPr>
          <p:cNvGraphicFramePr>
            <a:graphicFrameLocks noGrp="1"/>
          </p:cNvGraphicFramePr>
          <p:nvPr/>
        </p:nvGraphicFramePr>
        <p:xfrm>
          <a:off x="661202" y="2655388"/>
          <a:ext cx="797630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591">
                  <a:extLst>
                    <a:ext uri="{9D8B030D-6E8A-4147-A177-3AD203B41FA5}">
                      <a16:colId xmlns:a16="http://schemas.microsoft.com/office/drawing/2014/main" val="2296632083"/>
                    </a:ext>
                  </a:extLst>
                </a:gridCol>
                <a:gridCol w="2614561">
                  <a:extLst>
                    <a:ext uri="{9D8B030D-6E8A-4147-A177-3AD203B41FA5}">
                      <a16:colId xmlns:a16="http://schemas.microsoft.com/office/drawing/2014/main" val="404413058"/>
                    </a:ext>
                  </a:extLst>
                </a:gridCol>
                <a:gridCol w="1506211">
                  <a:extLst>
                    <a:ext uri="{9D8B030D-6E8A-4147-A177-3AD203B41FA5}">
                      <a16:colId xmlns:a16="http://schemas.microsoft.com/office/drawing/2014/main" val="4268807872"/>
                    </a:ext>
                  </a:extLst>
                </a:gridCol>
                <a:gridCol w="2481941">
                  <a:extLst>
                    <a:ext uri="{9D8B030D-6E8A-4147-A177-3AD203B41FA5}">
                      <a16:colId xmlns:a16="http://schemas.microsoft.com/office/drawing/2014/main" val="628878628"/>
                    </a:ext>
                  </a:extLst>
                </a:gridCol>
              </a:tblGrid>
              <a:tr h="208981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台新為公司塑造專屬故事，將提升投資人對公司之認同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zh-TW" altLang="en-US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51240"/>
                  </a:ext>
                </a:extLst>
              </a:tr>
              <a:tr h="208981">
                <a:tc rowSpan="4">
                  <a:txBody>
                    <a:bodyPr/>
                    <a:lstStyle/>
                    <a:p>
                      <a:pPr algn="ctr"/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台新看到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的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亮點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汽車龍頭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和泰集團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子公司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亮點提升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的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投資價值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集團奧援可享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較同業高的本益比</a:t>
                      </a:r>
                      <a:endParaRPr kumimoji="1" lang="en-US" altLang="zh-TW" sz="1100" b="1" kern="1200" dirty="0">
                        <a:solidFill>
                          <a:srgbClr val="86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5405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獲利能力以及報酬率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表現高於同業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打造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高殖利率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概念股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202569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海外市場與服務多角化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未來前景可期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提升成長性</a:t>
                      </a:r>
                      <a:endParaRPr kumimoji="1" lang="en-US" altLang="zh-TW" sz="1100" b="1" kern="1200" dirty="0">
                        <a:solidFill>
                          <a:srgbClr val="86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60051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股東結構堅強且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籌碼安定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可吸引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大型投資法人進入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23221"/>
                  </a:ext>
                </a:extLst>
              </a:tr>
            </a:tbl>
          </a:graphicData>
        </a:graphic>
      </p:graphicFrame>
      <p:sp>
        <p:nvSpPr>
          <p:cNvPr id="21" name="Donut 24">
            <a:extLst>
              <a:ext uri="{FF2B5EF4-FFF2-40B4-BE49-F238E27FC236}">
                <a16:creationId xmlns:a16="http://schemas.microsoft.com/office/drawing/2014/main" id="{246DBB2F-377A-4BAA-BA02-18EE5447D952}"/>
              </a:ext>
            </a:extLst>
          </p:cNvPr>
          <p:cNvSpPr/>
          <p:nvPr/>
        </p:nvSpPr>
        <p:spPr>
          <a:xfrm>
            <a:off x="643125" y="4039765"/>
            <a:ext cx="411690" cy="37681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3" name="Freeform 141">
            <a:extLst>
              <a:ext uri="{FF2B5EF4-FFF2-40B4-BE49-F238E27FC236}">
                <a16:creationId xmlns:a16="http://schemas.microsoft.com/office/drawing/2014/main" id="{4F622370-10B4-41B7-83B2-04CB5BF2F44A}"/>
              </a:ext>
            </a:extLst>
          </p:cNvPr>
          <p:cNvSpPr/>
          <p:nvPr/>
        </p:nvSpPr>
        <p:spPr>
          <a:xfrm>
            <a:off x="1192971" y="2990918"/>
            <a:ext cx="293808" cy="265564"/>
          </a:xfrm>
          <a:custGeom>
            <a:avLst/>
            <a:gdLst/>
            <a:ahLst/>
            <a:cxnLst/>
            <a:rect l="l" t="t" r="r" b="b"/>
            <a:pathLst>
              <a:path w="432708" h="432707">
                <a:moveTo>
                  <a:pt x="216354" y="0"/>
                </a:moveTo>
                <a:cubicBezTo>
                  <a:pt x="255606" y="0"/>
                  <a:pt x="291806" y="9672"/>
                  <a:pt x="324953" y="29016"/>
                </a:cubicBezTo>
                <a:cubicBezTo>
                  <a:pt x="358101" y="48360"/>
                  <a:pt x="384347" y="74606"/>
                  <a:pt x="403692" y="107754"/>
                </a:cubicBezTo>
                <a:cubicBezTo>
                  <a:pt x="423036" y="140902"/>
                  <a:pt x="432708" y="177102"/>
                  <a:pt x="432708" y="216353"/>
                </a:cubicBezTo>
                <a:cubicBezTo>
                  <a:pt x="432708" y="255605"/>
                  <a:pt x="423036" y="291805"/>
                  <a:pt x="403692" y="324953"/>
                </a:cubicBezTo>
                <a:cubicBezTo>
                  <a:pt x="384347" y="358101"/>
                  <a:pt x="358101" y="384347"/>
                  <a:pt x="324953" y="403691"/>
                </a:cubicBezTo>
                <a:cubicBezTo>
                  <a:pt x="291806" y="423035"/>
                  <a:pt x="255606" y="432707"/>
                  <a:pt x="216354" y="432707"/>
                </a:cubicBezTo>
                <a:cubicBezTo>
                  <a:pt x="177102" y="432707"/>
                  <a:pt x="140903" y="423035"/>
                  <a:pt x="107755" y="403691"/>
                </a:cubicBezTo>
                <a:cubicBezTo>
                  <a:pt x="74607" y="384347"/>
                  <a:pt x="48361" y="358101"/>
                  <a:pt x="29017" y="324953"/>
                </a:cubicBezTo>
                <a:cubicBezTo>
                  <a:pt x="9673" y="291805"/>
                  <a:pt x="0" y="255605"/>
                  <a:pt x="0" y="216353"/>
                </a:cubicBezTo>
                <a:cubicBezTo>
                  <a:pt x="0" y="177102"/>
                  <a:pt x="9673" y="140902"/>
                  <a:pt x="29017" y="107754"/>
                </a:cubicBezTo>
                <a:cubicBezTo>
                  <a:pt x="48361" y="74606"/>
                  <a:pt x="74607" y="48360"/>
                  <a:pt x="107755" y="29016"/>
                </a:cubicBezTo>
                <a:cubicBezTo>
                  <a:pt x="140903" y="9672"/>
                  <a:pt x="177102" y="0"/>
                  <a:pt x="216354" y="0"/>
                </a:cubicBezTo>
                <a:close/>
                <a:moveTo>
                  <a:pt x="318333" y="127051"/>
                </a:moveTo>
                <a:cubicBezTo>
                  <a:pt x="313450" y="127051"/>
                  <a:pt x="309225" y="128836"/>
                  <a:pt x="305656" y="132404"/>
                </a:cubicBezTo>
                <a:lnTo>
                  <a:pt x="190718" y="247060"/>
                </a:lnTo>
                <a:lnTo>
                  <a:pt x="127052" y="183393"/>
                </a:lnTo>
                <a:cubicBezTo>
                  <a:pt x="123483" y="179825"/>
                  <a:pt x="119258" y="178041"/>
                  <a:pt x="114375" y="178041"/>
                </a:cubicBezTo>
                <a:cubicBezTo>
                  <a:pt x="109492" y="178041"/>
                  <a:pt x="105266" y="179825"/>
                  <a:pt x="101698" y="183393"/>
                </a:cubicBezTo>
                <a:lnTo>
                  <a:pt x="76062" y="208747"/>
                </a:lnTo>
                <a:cubicBezTo>
                  <a:pt x="72682" y="212128"/>
                  <a:pt x="70991" y="216447"/>
                  <a:pt x="70991" y="221706"/>
                </a:cubicBezTo>
                <a:cubicBezTo>
                  <a:pt x="70991" y="226777"/>
                  <a:pt x="72682" y="231002"/>
                  <a:pt x="76062" y="234383"/>
                </a:cubicBezTo>
                <a:lnTo>
                  <a:pt x="178041" y="336362"/>
                </a:lnTo>
                <a:cubicBezTo>
                  <a:pt x="181610" y="339931"/>
                  <a:pt x="185835" y="341715"/>
                  <a:pt x="190718" y="341715"/>
                </a:cubicBezTo>
                <a:cubicBezTo>
                  <a:pt x="195789" y="341715"/>
                  <a:pt x="200109" y="339931"/>
                  <a:pt x="203677" y="336362"/>
                </a:cubicBezTo>
                <a:lnTo>
                  <a:pt x="356646" y="183393"/>
                </a:lnTo>
                <a:cubicBezTo>
                  <a:pt x="360026" y="180013"/>
                  <a:pt x="361717" y="175787"/>
                  <a:pt x="361717" y="170716"/>
                </a:cubicBezTo>
                <a:cubicBezTo>
                  <a:pt x="361717" y="165458"/>
                  <a:pt x="360026" y="161138"/>
                  <a:pt x="356646" y="157758"/>
                </a:cubicBezTo>
                <a:lnTo>
                  <a:pt x="331010" y="132404"/>
                </a:lnTo>
                <a:cubicBezTo>
                  <a:pt x="327442" y="128836"/>
                  <a:pt x="323216" y="127051"/>
                  <a:pt x="318333" y="127051"/>
                </a:cubicBezTo>
                <a:close/>
              </a:path>
            </a:pathLst>
          </a:custGeom>
          <a:solidFill>
            <a:srgbClr val="A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Freeform 345">
            <a:extLst>
              <a:ext uri="{FF2B5EF4-FFF2-40B4-BE49-F238E27FC236}">
                <a16:creationId xmlns:a16="http://schemas.microsoft.com/office/drawing/2014/main" id="{BEA0FFEA-E9CC-491F-B111-7C2A06FFEDF6}"/>
              </a:ext>
            </a:extLst>
          </p:cNvPr>
          <p:cNvSpPr/>
          <p:nvPr/>
        </p:nvSpPr>
        <p:spPr>
          <a:xfrm>
            <a:off x="5220072" y="2990918"/>
            <a:ext cx="293808" cy="265564"/>
          </a:xfrm>
          <a:custGeom>
            <a:avLst/>
            <a:gdLst>
              <a:gd name="connsiteX0" fmla="*/ 9015 w 504825"/>
              <a:gd name="connsiteY0" fmla="*/ 360589 h 432707"/>
              <a:gd name="connsiteX1" fmla="*/ 63103 w 504825"/>
              <a:gd name="connsiteY1" fmla="*/ 360589 h 432707"/>
              <a:gd name="connsiteX2" fmla="*/ 69583 w 504825"/>
              <a:gd name="connsiteY2" fmla="*/ 363125 h 432707"/>
              <a:gd name="connsiteX3" fmla="*/ 72118 w 504825"/>
              <a:gd name="connsiteY3" fmla="*/ 369604 h 432707"/>
              <a:gd name="connsiteX4" fmla="*/ 72118 w 504825"/>
              <a:gd name="connsiteY4" fmla="*/ 423692 h 432707"/>
              <a:gd name="connsiteX5" fmla="*/ 69583 w 504825"/>
              <a:gd name="connsiteY5" fmla="*/ 430172 h 432707"/>
              <a:gd name="connsiteX6" fmla="*/ 63103 w 504825"/>
              <a:gd name="connsiteY6" fmla="*/ 432707 h 432707"/>
              <a:gd name="connsiteX7" fmla="*/ 9015 w 504825"/>
              <a:gd name="connsiteY7" fmla="*/ 432707 h 432707"/>
              <a:gd name="connsiteX8" fmla="*/ 2535 w 504825"/>
              <a:gd name="connsiteY8" fmla="*/ 430172 h 432707"/>
              <a:gd name="connsiteX9" fmla="*/ 0 w 504825"/>
              <a:gd name="connsiteY9" fmla="*/ 423692 h 432707"/>
              <a:gd name="connsiteX10" fmla="*/ 0 w 504825"/>
              <a:gd name="connsiteY10" fmla="*/ 369604 h 432707"/>
              <a:gd name="connsiteX11" fmla="*/ 2535 w 504825"/>
              <a:gd name="connsiteY11" fmla="*/ 363125 h 432707"/>
              <a:gd name="connsiteX12" fmla="*/ 9015 w 504825"/>
              <a:gd name="connsiteY12" fmla="*/ 360589 h 432707"/>
              <a:gd name="connsiteX13" fmla="*/ 117192 w 504825"/>
              <a:gd name="connsiteY13" fmla="*/ 324530 h 432707"/>
              <a:gd name="connsiteX14" fmla="*/ 171280 w 504825"/>
              <a:gd name="connsiteY14" fmla="*/ 324530 h 432707"/>
              <a:gd name="connsiteX15" fmla="*/ 177759 w 504825"/>
              <a:gd name="connsiteY15" fmla="*/ 327066 h 432707"/>
              <a:gd name="connsiteX16" fmla="*/ 180295 w 504825"/>
              <a:gd name="connsiteY16" fmla="*/ 333545 h 432707"/>
              <a:gd name="connsiteX17" fmla="*/ 180295 w 504825"/>
              <a:gd name="connsiteY17" fmla="*/ 423692 h 432707"/>
              <a:gd name="connsiteX18" fmla="*/ 177759 w 504825"/>
              <a:gd name="connsiteY18" fmla="*/ 430172 h 432707"/>
              <a:gd name="connsiteX19" fmla="*/ 171280 w 504825"/>
              <a:gd name="connsiteY19" fmla="*/ 432707 h 432707"/>
              <a:gd name="connsiteX20" fmla="*/ 117192 w 504825"/>
              <a:gd name="connsiteY20" fmla="*/ 432707 h 432707"/>
              <a:gd name="connsiteX21" fmla="*/ 110712 w 504825"/>
              <a:gd name="connsiteY21" fmla="*/ 430172 h 432707"/>
              <a:gd name="connsiteX22" fmla="*/ 108177 w 504825"/>
              <a:gd name="connsiteY22" fmla="*/ 423692 h 432707"/>
              <a:gd name="connsiteX23" fmla="*/ 108177 w 504825"/>
              <a:gd name="connsiteY23" fmla="*/ 333545 h 432707"/>
              <a:gd name="connsiteX24" fmla="*/ 110712 w 504825"/>
              <a:gd name="connsiteY24" fmla="*/ 327066 h 432707"/>
              <a:gd name="connsiteX25" fmla="*/ 117192 w 504825"/>
              <a:gd name="connsiteY25" fmla="*/ 324530 h 432707"/>
              <a:gd name="connsiteX26" fmla="*/ 225368 w 504825"/>
              <a:gd name="connsiteY26" fmla="*/ 252412 h 432707"/>
              <a:gd name="connsiteX27" fmla="*/ 279457 w 504825"/>
              <a:gd name="connsiteY27" fmla="*/ 252412 h 432707"/>
              <a:gd name="connsiteX28" fmla="*/ 285936 w 504825"/>
              <a:gd name="connsiteY28" fmla="*/ 254948 h 432707"/>
              <a:gd name="connsiteX29" fmla="*/ 288472 w 504825"/>
              <a:gd name="connsiteY29" fmla="*/ 261427 h 432707"/>
              <a:gd name="connsiteX30" fmla="*/ 288472 w 504825"/>
              <a:gd name="connsiteY30" fmla="*/ 423692 h 432707"/>
              <a:gd name="connsiteX31" fmla="*/ 285936 w 504825"/>
              <a:gd name="connsiteY31" fmla="*/ 430172 h 432707"/>
              <a:gd name="connsiteX32" fmla="*/ 279457 w 504825"/>
              <a:gd name="connsiteY32" fmla="*/ 432707 h 432707"/>
              <a:gd name="connsiteX33" fmla="*/ 225368 w 504825"/>
              <a:gd name="connsiteY33" fmla="*/ 432707 h 432707"/>
              <a:gd name="connsiteX34" fmla="*/ 218889 w 504825"/>
              <a:gd name="connsiteY34" fmla="*/ 430172 h 432707"/>
              <a:gd name="connsiteX35" fmla="*/ 216354 w 504825"/>
              <a:gd name="connsiteY35" fmla="*/ 423692 h 432707"/>
              <a:gd name="connsiteX36" fmla="*/ 216354 w 504825"/>
              <a:gd name="connsiteY36" fmla="*/ 261427 h 432707"/>
              <a:gd name="connsiteX37" fmla="*/ 218889 w 504825"/>
              <a:gd name="connsiteY37" fmla="*/ 254948 h 432707"/>
              <a:gd name="connsiteX38" fmla="*/ 225368 w 504825"/>
              <a:gd name="connsiteY38" fmla="*/ 252412 h 432707"/>
              <a:gd name="connsiteX39" fmla="*/ 333545 w 504825"/>
              <a:gd name="connsiteY39" fmla="*/ 144236 h 432707"/>
              <a:gd name="connsiteX40" fmla="*/ 387633 w 504825"/>
              <a:gd name="connsiteY40" fmla="*/ 144236 h 432707"/>
              <a:gd name="connsiteX41" fmla="*/ 394113 w 504825"/>
              <a:gd name="connsiteY41" fmla="*/ 146771 h 432707"/>
              <a:gd name="connsiteX42" fmla="*/ 396648 w 504825"/>
              <a:gd name="connsiteY42" fmla="*/ 153250 h 432707"/>
              <a:gd name="connsiteX43" fmla="*/ 396648 w 504825"/>
              <a:gd name="connsiteY43" fmla="*/ 423692 h 432707"/>
              <a:gd name="connsiteX44" fmla="*/ 394113 w 504825"/>
              <a:gd name="connsiteY44" fmla="*/ 430172 h 432707"/>
              <a:gd name="connsiteX45" fmla="*/ 387633 w 504825"/>
              <a:gd name="connsiteY45" fmla="*/ 432707 h 432707"/>
              <a:gd name="connsiteX46" fmla="*/ 333545 w 504825"/>
              <a:gd name="connsiteY46" fmla="*/ 432707 h 432707"/>
              <a:gd name="connsiteX47" fmla="*/ 327066 w 504825"/>
              <a:gd name="connsiteY47" fmla="*/ 430172 h 432707"/>
              <a:gd name="connsiteX48" fmla="*/ 324530 w 504825"/>
              <a:gd name="connsiteY48" fmla="*/ 423692 h 432707"/>
              <a:gd name="connsiteX49" fmla="*/ 324530 w 504825"/>
              <a:gd name="connsiteY49" fmla="*/ 153250 h 432707"/>
              <a:gd name="connsiteX50" fmla="*/ 327066 w 504825"/>
              <a:gd name="connsiteY50" fmla="*/ 146771 h 432707"/>
              <a:gd name="connsiteX51" fmla="*/ 333545 w 504825"/>
              <a:gd name="connsiteY51" fmla="*/ 144236 h 432707"/>
              <a:gd name="connsiteX52" fmla="*/ 441722 w 504825"/>
              <a:gd name="connsiteY52" fmla="*/ 0 h 432707"/>
              <a:gd name="connsiteX53" fmla="*/ 495810 w 504825"/>
              <a:gd name="connsiteY53" fmla="*/ 0 h 432707"/>
              <a:gd name="connsiteX54" fmla="*/ 502290 w 504825"/>
              <a:gd name="connsiteY54" fmla="*/ 2535 h 432707"/>
              <a:gd name="connsiteX55" fmla="*/ 504825 w 504825"/>
              <a:gd name="connsiteY55" fmla="*/ 9015 h 432707"/>
              <a:gd name="connsiteX56" fmla="*/ 504825 w 504825"/>
              <a:gd name="connsiteY56" fmla="*/ 423692 h 432707"/>
              <a:gd name="connsiteX57" fmla="*/ 502290 w 504825"/>
              <a:gd name="connsiteY57" fmla="*/ 430172 h 432707"/>
              <a:gd name="connsiteX58" fmla="*/ 495810 w 504825"/>
              <a:gd name="connsiteY58" fmla="*/ 432707 h 432707"/>
              <a:gd name="connsiteX59" fmla="*/ 441722 w 504825"/>
              <a:gd name="connsiteY59" fmla="*/ 432707 h 432707"/>
              <a:gd name="connsiteX60" fmla="*/ 435243 w 504825"/>
              <a:gd name="connsiteY60" fmla="*/ 430172 h 432707"/>
              <a:gd name="connsiteX61" fmla="*/ 432707 w 504825"/>
              <a:gd name="connsiteY61" fmla="*/ 423692 h 432707"/>
              <a:gd name="connsiteX62" fmla="*/ 432707 w 504825"/>
              <a:gd name="connsiteY62" fmla="*/ 9015 h 432707"/>
              <a:gd name="connsiteX63" fmla="*/ 435243 w 504825"/>
              <a:gd name="connsiteY63" fmla="*/ 2535 h 432707"/>
              <a:gd name="connsiteX64" fmla="*/ 441722 w 504825"/>
              <a:gd name="connsiteY64" fmla="*/ 0 h 43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4825" h="432707">
                <a:moveTo>
                  <a:pt x="9015" y="360589"/>
                </a:moveTo>
                <a:lnTo>
                  <a:pt x="63103" y="360589"/>
                </a:lnTo>
                <a:cubicBezTo>
                  <a:pt x="65732" y="360589"/>
                  <a:pt x="67892" y="361434"/>
                  <a:pt x="69583" y="363125"/>
                </a:cubicBezTo>
                <a:cubicBezTo>
                  <a:pt x="71273" y="364815"/>
                  <a:pt x="72118" y="366975"/>
                  <a:pt x="72118" y="369604"/>
                </a:cubicBezTo>
                <a:lnTo>
                  <a:pt x="72118" y="423692"/>
                </a:lnTo>
                <a:cubicBezTo>
                  <a:pt x="72118" y="426322"/>
                  <a:pt x="71273" y="428481"/>
                  <a:pt x="69583" y="430172"/>
                </a:cubicBezTo>
                <a:cubicBezTo>
                  <a:pt x="67892" y="431862"/>
                  <a:pt x="65732" y="432707"/>
                  <a:pt x="63103" y="432707"/>
                </a:cubicBezTo>
                <a:lnTo>
                  <a:pt x="9015" y="432707"/>
                </a:lnTo>
                <a:cubicBezTo>
                  <a:pt x="6385" y="432707"/>
                  <a:pt x="4226" y="431862"/>
                  <a:pt x="2535" y="430172"/>
                </a:cubicBezTo>
                <a:cubicBezTo>
                  <a:pt x="845" y="428481"/>
                  <a:pt x="0" y="426322"/>
                  <a:pt x="0" y="423692"/>
                </a:cubicBezTo>
                <a:lnTo>
                  <a:pt x="0" y="369604"/>
                </a:lnTo>
                <a:cubicBezTo>
                  <a:pt x="0" y="366975"/>
                  <a:pt x="845" y="364815"/>
                  <a:pt x="2535" y="363125"/>
                </a:cubicBezTo>
                <a:cubicBezTo>
                  <a:pt x="4226" y="361434"/>
                  <a:pt x="6385" y="360589"/>
                  <a:pt x="9015" y="360589"/>
                </a:cubicBezTo>
                <a:close/>
                <a:moveTo>
                  <a:pt x="117192" y="324530"/>
                </a:moveTo>
                <a:lnTo>
                  <a:pt x="171280" y="324530"/>
                </a:lnTo>
                <a:cubicBezTo>
                  <a:pt x="173909" y="324530"/>
                  <a:pt x="176069" y="325375"/>
                  <a:pt x="177759" y="327066"/>
                </a:cubicBezTo>
                <a:cubicBezTo>
                  <a:pt x="179450" y="328756"/>
                  <a:pt x="180295" y="330916"/>
                  <a:pt x="180295" y="333545"/>
                </a:cubicBezTo>
                <a:lnTo>
                  <a:pt x="180295" y="423692"/>
                </a:lnTo>
                <a:cubicBezTo>
                  <a:pt x="180295" y="426322"/>
                  <a:pt x="179450" y="428481"/>
                  <a:pt x="177759" y="430172"/>
                </a:cubicBezTo>
                <a:cubicBezTo>
                  <a:pt x="176069" y="431862"/>
                  <a:pt x="173909" y="432707"/>
                  <a:pt x="171280" y="432707"/>
                </a:cubicBezTo>
                <a:lnTo>
                  <a:pt x="117192" y="432707"/>
                </a:lnTo>
                <a:cubicBezTo>
                  <a:pt x="114562" y="432707"/>
                  <a:pt x="112403" y="431862"/>
                  <a:pt x="110712" y="430172"/>
                </a:cubicBezTo>
                <a:cubicBezTo>
                  <a:pt x="109022" y="428481"/>
                  <a:pt x="108177" y="426322"/>
                  <a:pt x="108177" y="423692"/>
                </a:cubicBezTo>
                <a:lnTo>
                  <a:pt x="108177" y="333545"/>
                </a:lnTo>
                <a:cubicBezTo>
                  <a:pt x="108177" y="330916"/>
                  <a:pt x="109022" y="328756"/>
                  <a:pt x="110712" y="327066"/>
                </a:cubicBezTo>
                <a:cubicBezTo>
                  <a:pt x="112403" y="325375"/>
                  <a:pt x="114562" y="324530"/>
                  <a:pt x="117192" y="324530"/>
                </a:cubicBezTo>
                <a:close/>
                <a:moveTo>
                  <a:pt x="225368" y="252412"/>
                </a:moveTo>
                <a:lnTo>
                  <a:pt x="279457" y="252412"/>
                </a:lnTo>
                <a:cubicBezTo>
                  <a:pt x="282086" y="252412"/>
                  <a:pt x="284246" y="253258"/>
                  <a:pt x="285936" y="254948"/>
                </a:cubicBezTo>
                <a:cubicBezTo>
                  <a:pt x="287627" y="256638"/>
                  <a:pt x="288472" y="258798"/>
                  <a:pt x="288472" y="261427"/>
                </a:cubicBezTo>
                <a:lnTo>
                  <a:pt x="288472" y="423692"/>
                </a:lnTo>
                <a:cubicBezTo>
                  <a:pt x="288472" y="426322"/>
                  <a:pt x="287627" y="428481"/>
                  <a:pt x="285936" y="430172"/>
                </a:cubicBezTo>
                <a:cubicBezTo>
                  <a:pt x="284246" y="431862"/>
                  <a:pt x="282086" y="432707"/>
                  <a:pt x="279457" y="432707"/>
                </a:cubicBezTo>
                <a:lnTo>
                  <a:pt x="225368" y="432707"/>
                </a:lnTo>
                <a:cubicBezTo>
                  <a:pt x="222739" y="432707"/>
                  <a:pt x="220579" y="431862"/>
                  <a:pt x="218889" y="430172"/>
                </a:cubicBezTo>
                <a:cubicBezTo>
                  <a:pt x="217199" y="428481"/>
                  <a:pt x="216354" y="426322"/>
                  <a:pt x="216354" y="423692"/>
                </a:cubicBezTo>
                <a:lnTo>
                  <a:pt x="216354" y="261427"/>
                </a:lnTo>
                <a:cubicBezTo>
                  <a:pt x="216354" y="258798"/>
                  <a:pt x="217199" y="256638"/>
                  <a:pt x="218889" y="254948"/>
                </a:cubicBezTo>
                <a:cubicBezTo>
                  <a:pt x="220579" y="253258"/>
                  <a:pt x="222739" y="252412"/>
                  <a:pt x="225368" y="252412"/>
                </a:cubicBezTo>
                <a:close/>
                <a:moveTo>
                  <a:pt x="333545" y="144236"/>
                </a:moveTo>
                <a:lnTo>
                  <a:pt x="387633" y="144236"/>
                </a:lnTo>
                <a:cubicBezTo>
                  <a:pt x="390263" y="144236"/>
                  <a:pt x="392423" y="145081"/>
                  <a:pt x="394113" y="146771"/>
                </a:cubicBezTo>
                <a:cubicBezTo>
                  <a:pt x="395803" y="148461"/>
                  <a:pt x="396648" y="150621"/>
                  <a:pt x="396648" y="153250"/>
                </a:cubicBezTo>
                <a:lnTo>
                  <a:pt x="396648" y="423692"/>
                </a:lnTo>
                <a:cubicBezTo>
                  <a:pt x="396648" y="426322"/>
                  <a:pt x="395803" y="428481"/>
                  <a:pt x="394113" y="430172"/>
                </a:cubicBezTo>
                <a:cubicBezTo>
                  <a:pt x="392423" y="431862"/>
                  <a:pt x="390263" y="432707"/>
                  <a:pt x="387633" y="432707"/>
                </a:cubicBezTo>
                <a:lnTo>
                  <a:pt x="333545" y="432707"/>
                </a:lnTo>
                <a:cubicBezTo>
                  <a:pt x="330916" y="432707"/>
                  <a:pt x="328756" y="431862"/>
                  <a:pt x="327066" y="430172"/>
                </a:cubicBezTo>
                <a:cubicBezTo>
                  <a:pt x="325376" y="428481"/>
                  <a:pt x="324530" y="426322"/>
                  <a:pt x="324530" y="423692"/>
                </a:cubicBezTo>
                <a:lnTo>
                  <a:pt x="324530" y="153250"/>
                </a:lnTo>
                <a:cubicBezTo>
                  <a:pt x="324530" y="150621"/>
                  <a:pt x="325376" y="148461"/>
                  <a:pt x="327066" y="146771"/>
                </a:cubicBezTo>
                <a:cubicBezTo>
                  <a:pt x="328756" y="145081"/>
                  <a:pt x="330916" y="144236"/>
                  <a:pt x="333545" y="144236"/>
                </a:cubicBezTo>
                <a:close/>
                <a:moveTo>
                  <a:pt x="441722" y="0"/>
                </a:moveTo>
                <a:lnTo>
                  <a:pt x="495810" y="0"/>
                </a:lnTo>
                <a:cubicBezTo>
                  <a:pt x="498440" y="0"/>
                  <a:pt x="500600" y="845"/>
                  <a:pt x="502290" y="2535"/>
                </a:cubicBezTo>
                <a:cubicBezTo>
                  <a:pt x="503980" y="4226"/>
                  <a:pt x="504825" y="6385"/>
                  <a:pt x="504825" y="9015"/>
                </a:cubicBezTo>
                <a:lnTo>
                  <a:pt x="504825" y="423692"/>
                </a:lnTo>
                <a:cubicBezTo>
                  <a:pt x="504825" y="426322"/>
                  <a:pt x="503980" y="428481"/>
                  <a:pt x="502290" y="430172"/>
                </a:cubicBezTo>
                <a:cubicBezTo>
                  <a:pt x="500600" y="431862"/>
                  <a:pt x="498440" y="432707"/>
                  <a:pt x="495810" y="432707"/>
                </a:cubicBezTo>
                <a:lnTo>
                  <a:pt x="441722" y="432707"/>
                </a:lnTo>
                <a:cubicBezTo>
                  <a:pt x="439093" y="432707"/>
                  <a:pt x="436933" y="431862"/>
                  <a:pt x="435243" y="430172"/>
                </a:cubicBezTo>
                <a:cubicBezTo>
                  <a:pt x="433552" y="428481"/>
                  <a:pt x="432707" y="426322"/>
                  <a:pt x="432707" y="423692"/>
                </a:cubicBezTo>
                <a:lnTo>
                  <a:pt x="432707" y="9015"/>
                </a:lnTo>
                <a:cubicBezTo>
                  <a:pt x="432707" y="6385"/>
                  <a:pt x="433552" y="4226"/>
                  <a:pt x="435243" y="2535"/>
                </a:cubicBezTo>
                <a:cubicBezTo>
                  <a:pt x="436933" y="845"/>
                  <a:pt x="439093" y="0"/>
                  <a:pt x="441722" y="0"/>
                </a:cubicBezTo>
                <a:close/>
              </a:path>
            </a:pathLst>
          </a:custGeom>
          <a:solidFill>
            <a:srgbClr val="A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16FA64-052B-4010-A34E-504C848AA465}"/>
              </a:ext>
            </a:extLst>
          </p:cNvPr>
          <p:cNvSpPr/>
          <p:nvPr/>
        </p:nvSpPr>
        <p:spPr>
          <a:xfrm>
            <a:off x="988184" y="4081302"/>
            <a:ext cx="509431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思維 </a:t>
            </a:r>
            <a:r>
              <a:rPr kumimoji="1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: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 利用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統計資料鎖定適合投資人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，強化股權結構</a:t>
            </a:r>
            <a:endParaRPr kumimoji="1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軟正黑體" pitchFamily="34" charset="-120"/>
              <a:ea typeface="微軟正黑體"/>
              <a:cs typeface="+mn-cs"/>
            </a:endParaRPr>
          </a:p>
        </p:txBody>
      </p:sp>
      <p:graphicFrame>
        <p:nvGraphicFramePr>
          <p:cNvPr id="27" name="表格 27">
            <a:extLst>
              <a:ext uri="{FF2B5EF4-FFF2-40B4-BE49-F238E27FC236}">
                <a16:creationId xmlns:a16="http://schemas.microsoft.com/office/drawing/2014/main" id="{6A587CE4-8A5E-4ECF-8098-E9A5A07A50BC}"/>
              </a:ext>
            </a:extLst>
          </p:cNvPr>
          <p:cNvGraphicFramePr>
            <a:graphicFrameLocks noGrp="1"/>
          </p:cNvGraphicFramePr>
          <p:nvPr/>
        </p:nvGraphicFramePr>
        <p:xfrm>
          <a:off x="650479" y="4465334"/>
          <a:ext cx="7968778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3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4113387697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1421331387"/>
                    </a:ext>
                  </a:extLst>
                </a:gridCol>
                <a:gridCol w="3096348">
                  <a:extLst>
                    <a:ext uri="{9D8B030D-6E8A-4147-A177-3AD203B41FA5}">
                      <a16:colId xmlns:a16="http://schemas.microsoft.com/office/drawing/2014/main" val="3230660075"/>
                    </a:ext>
                  </a:extLst>
                </a:gridCol>
              </a:tblGrid>
              <a:tr h="13870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台新透過不同階段的曝光，成功募集台灣最大案件</a:t>
                      </a: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000104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市場大眾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興櫃前於媒體圈適度曝光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預期達成效益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增加投資圈對公司營運模式產生好奇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壽險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計畫引進長期穩定籌碼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籌碼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逐步墊高公司市值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  <a:tr h="177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外資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吸引國際級資金進入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外資曝光並為進入</a:t>
                      </a: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MSCI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建立關係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31657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金控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金控認證加持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金融機構投入提升投資人對該公司之信心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54045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專業投資人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創投、上市櫃投資部與中實戶進入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增加具有流動性籌碼，增加市場活絡度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633144"/>
                  </a:ext>
                </a:extLst>
              </a:tr>
              <a:tr h="177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市場大眾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競拍前密集媒體發佈新聞稿與相關資料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提升討論度，讓眾多投資人投入競拍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73610"/>
                  </a:ext>
                </a:extLst>
              </a:tr>
            </a:tbl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4680423C-BB73-44A1-9917-1530A270E044}"/>
              </a:ext>
            </a:extLst>
          </p:cNvPr>
          <p:cNvSpPr txBox="1"/>
          <p:nvPr/>
        </p:nvSpPr>
        <p:spPr>
          <a:xfrm>
            <a:off x="3938587" y="346767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D157D00-2A60-4111-BD80-E3BF77E470E0}"/>
              </a:ext>
            </a:extLst>
          </p:cNvPr>
          <p:cNvSpPr txBox="1"/>
          <p:nvPr/>
        </p:nvSpPr>
        <p:spPr>
          <a:xfrm>
            <a:off x="2693898" y="1168172"/>
            <a:ext cx="5843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成功完成當時台灣史上最大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IPO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案，公開申購期間凍結資金逾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520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億元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422275" y="419100"/>
            <a:ext cx="86868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                   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BE22942-D232-4F46-8BC4-15693C01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47" y="1733153"/>
            <a:ext cx="1487553" cy="402371"/>
          </a:xfrm>
          <a:prstGeom prst="rect">
            <a:avLst/>
          </a:prstGeom>
        </p:spPr>
      </p:pic>
      <p:graphicFrame>
        <p:nvGraphicFramePr>
          <p:cNvPr id="32" name="表格 27">
            <a:extLst>
              <a:ext uri="{FF2B5EF4-FFF2-40B4-BE49-F238E27FC236}">
                <a16:creationId xmlns:a16="http://schemas.microsoft.com/office/drawing/2014/main" id="{84F7B097-9B8F-44B7-B658-99603B24B063}"/>
              </a:ext>
            </a:extLst>
          </p:cNvPr>
          <p:cNvGraphicFramePr>
            <a:graphicFrameLocks noGrp="1"/>
          </p:cNvGraphicFramePr>
          <p:nvPr/>
        </p:nvGraphicFramePr>
        <p:xfrm>
          <a:off x="2655934" y="1730710"/>
          <a:ext cx="5989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354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2267589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8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主要產品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各種車輛設備之分期買賣及租賃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目前資本額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72.3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億元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226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案件特色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深耕兩岸汽車金融、設備分期租賃</a:t>
                      </a:r>
                      <a:endParaRPr lang="en-US" altLang="zh-TW" sz="900" b="0" dirty="0">
                        <a:solidFill>
                          <a:srgbClr val="000000"/>
                        </a:solidFill>
                        <a:latin typeface="+mn-lt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目前股價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每股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59.9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元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市值約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433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億元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  <a:endParaRPr lang="zh-TW" altLang="en-US" sz="900" b="0" dirty="0">
                        <a:solidFill>
                          <a:srgbClr val="000000"/>
                        </a:solidFill>
                        <a:latin typeface="+mn-lt"/>
                        <a:ea typeface="微軟正黑體" pitchFamily="34" charset="-12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11144"/>
      </p:ext>
    </p:extLst>
  </p:cSld>
  <p:clrMapOvr>
    <a:masterClrMapping/>
  </p:clrMapOvr>
  <p:transition>
    <p:spli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1" name="i$liḋê"/>
          <p:cNvGrpSpPr>
            <a:grpSpLocks/>
          </p:cNvGrpSpPr>
          <p:nvPr/>
        </p:nvGrpSpPr>
        <p:grpSpPr bwMode="auto">
          <a:xfrm>
            <a:off x="261640" y="1538288"/>
            <a:ext cx="3374256" cy="4166974"/>
            <a:chOff x="4186071" y="1714500"/>
            <a:chExt cx="3819858" cy="4858959"/>
          </a:xfrm>
        </p:grpSpPr>
        <p:grpSp>
          <p:nvGrpSpPr>
            <p:cNvPr id="48" name="îşľíḑé"/>
            <p:cNvGrpSpPr/>
            <p:nvPr/>
          </p:nvGrpSpPr>
          <p:grpSpPr>
            <a:xfrm>
              <a:off x="4186071" y="1714500"/>
              <a:ext cx="3819858" cy="4858959"/>
              <a:chOff x="4656000" y="2298045"/>
              <a:chExt cx="2880000" cy="3663437"/>
            </a:xfrm>
            <a:solidFill>
              <a:schemeClr val="bg1">
                <a:lumMod val="95000"/>
              </a:schemeClr>
            </a:solidFill>
          </p:grpSpPr>
          <p:sp>
            <p:nvSpPr>
              <p:cNvPr id="62" name="iṧlíḑe"/>
              <p:cNvSpPr/>
              <p:nvPr/>
            </p:nvSpPr>
            <p:spPr>
              <a:xfrm>
                <a:off x="4656000" y="2298045"/>
                <a:ext cx="2880000" cy="2880000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3" name="îsḻiḓê"/>
              <p:cNvSpPr/>
              <p:nvPr/>
            </p:nvSpPr>
            <p:spPr>
              <a:xfrm>
                <a:off x="5164181" y="5548877"/>
                <a:ext cx="1900629" cy="4126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優良的服務品質</a:t>
                </a:r>
                <a:endParaRPr kumimoji="0" lang="zh-CN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4" name="îślïḑè"/>
              <p:cNvSpPr/>
              <p:nvPr/>
            </p:nvSpPr>
            <p:spPr>
              <a:xfrm>
                <a:off x="5929970" y="5178045"/>
                <a:ext cx="324000" cy="36682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49" name="íŝļiḍe"/>
            <p:cNvSpPr/>
            <p:nvPr/>
          </p:nvSpPr>
          <p:spPr bwMode="auto">
            <a:xfrm flipH="1">
              <a:off x="6097747" y="2030359"/>
              <a:ext cx="1801590" cy="1902059"/>
            </a:xfrm>
            <a:custGeom>
              <a:avLst/>
              <a:gdLst>
                <a:gd name="T0" fmla="*/ 1063 w 1063"/>
                <a:gd name="T1" fmla="*/ 360 h 1121"/>
                <a:gd name="T2" fmla="*/ 568 w 1063"/>
                <a:gd name="T3" fmla="*/ 0 h 1121"/>
                <a:gd name="T4" fmla="*/ 0 w 1063"/>
                <a:gd name="T5" fmla="*/ 941 h 1121"/>
                <a:gd name="T6" fmla="*/ 15 w 1063"/>
                <a:gd name="T7" fmla="*/ 1121 h 1121"/>
                <a:gd name="T8" fmla="*/ 510 w 1063"/>
                <a:gd name="T9" fmla="*/ 761 h 1121"/>
                <a:gd name="T10" fmla="*/ 1063 w 1063"/>
                <a:gd name="T11" fmla="*/ 36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3" h="1121">
                  <a:moveTo>
                    <a:pt x="1063" y="360"/>
                  </a:moveTo>
                  <a:cubicBezTo>
                    <a:pt x="568" y="0"/>
                    <a:pt x="568" y="0"/>
                    <a:pt x="568" y="0"/>
                  </a:cubicBezTo>
                  <a:cubicBezTo>
                    <a:pt x="230" y="178"/>
                    <a:pt x="0" y="533"/>
                    <a:pt x="0" y="941"/>
                  </a:cubicBezTo>
                  <a:cubicBezTo>
                    <a:pt x="0" y="1002"/>
                    <a:pt x="5" y="1062"/>
                    <a:pt x="15" y="1121"/>
                  </a:cubicBezTo>
                  <a:cubicBezTo>
                    <a:pt x="510" y="761"/>
                    <a:pt x="510" y="761"/>
                    <a:pt x="510" y="761"/>
                  </a:cubicBezTo>
                  <a:cubicBezTo>
                    <a:pt x="1063" y="360"/>
                    <a:pt x="1063" y="360"/>
                    <a:pt x="1063" y="36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íš1îḍé"/>
            <p:cNvSpPr/>
            <p:nvPr/>
          </p:nvSpPr>
          <p:spPr bwMode="auto">
            <a:xfrm flipH="1">
              <a:off x="4841354" y="1824964"/>
              <a:ext cx="2095155" cy="1496447"/>
            </a:xfrm>
            <a:custGeom>
              <a:avLst/>
              <a:gdLst>
                <a:gd name="T0" fmla="*/ 1048 w 1236"/>
                <a:gd name="T1" fmla="*/ 883 h 883"/>
                <a:gd name="T2" fmla="*/ 1236 w 1236"/>
                <a:gd name="T3" fmla="*/ 302 h 883"/>
                <a:gd name="T4" fmla="*/ 495 w 1236"/>
                <a:gd name="T5" fmla="*/ 0 h 883"/>
                <a:gd name="T6" fmla="*/ 0 w 1236"/>
                <a:gd name="T7" fmla="*/ 122 h 883"/>
                <a:gd name="T8" fmla="*/ 495 w 1236"/>
                <a:gd name="T9" fmla="*/ 482 h 883"/>
                <a:gd name="T10" fmla="*/ 1048 w 1236"/>
                <a:gd name="T11" fmla="*/ 883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6" h="883">
                  <a:moveTo>
                    <a:pt x="1048" y="883"/>
                  </a:moveTo>
                  <a:cubicBezTo>
                    <a:pt x="1236" y="302"/>
                    <a:pt x="1236" y="302"/>
                    <a:pt x="1236" y="302"/>
                  </a:cubicBezTo>
                  <a:cubicBezTo>
                    <a:pt x="1045" y="115"/>
                    <a:pt x="783" y="0"/>
                    <a:pt x="495" y="0"/>
                  </a:cubicBezTo>
                  <a:cubicBezTo>
                    <a:pt x="316" y="0"/>
                    <a:pt x="148" y="45"/>
                    <a:pt x="0" y="122"/>
                  </a:cubicBezTo>
                  <a:cubicBezTo>
                    <a:pt x="495" y="482"/>
                    <a:pt x="495" y="482"/>
                    <a:pt x="495" y="482"/>
                  </a:cubicBezTo>
                  <a:cubicBezTo>
                    <a:pt x="1048" y="883"/>
                    <a:pt x="1048" y="883"/>
                    <a:pt x="1048" y="88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í$lïḑê"/>
            <p:cNvSpPr/>
            <p:nvPr/>
          </p:nvSpPr>
          <p:spPr bwMode="auto">
            <a:xfrm flipH="1">
              <a:off x="4296159" y="2335862"/>
              <a:ext cx="1223193" cy="2088468"/>
            </a:xfrm>
            <a:custGeom>
              <a:avLst/>
              <a:gdLst>
                <a:gd name="T0" fmla="*/ 400 w 721"/>
                <a:gd name="T1" fmla="*/ 0 h 1231"/>
                <a:gd name="T2" fmla="*/ 212 w 721"/>
                <a:gd name="T3" fmla="*/ 581 h 1231"/>
                <a:gd name="T4" fmla="*/ 0 w 721"/>
                <a:gd name="T5" fmla="*/ 1231 h 1231"/>
                <a:gd name="T6" fmla="*/ 612 w 721"/>
                <a:gd name="T7" fmla="*/ 1231 h 1231"/>
                <a:gd name="T8" fmla="*/ 721 w 721"/>
                <a:gd name="T9" fmla="*/ 761 h 1231"/>
                <a:gd name="T10" fmla="*/ 400 w 721"/>
                <a:gd name="T11" fmla="*/ 0 h 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1" h="1231">
                  <a:moveTo>
                    <a:pt x="400" y="0"/>
                  </a:moveTo>
                  <a:cubicBezTo>
                    <a:pt x="212" y="581"/>
                    <a:pt x="212" y="581"/>
                    <a:pt x="212" y="581"/>
                  </a:cubicBezTo>
                  <a:cubicBezTo>
                    <a:pt x="0" y="1231"/>
                    <a:pt x="0" y="1231"/>
                    <a:pt x="0" y="1231"/>
                  </a:cubicBezTo>
                  <a:cubicBezTo>
                    <a:pt x="612" y="1231"/>
                    <a:pt x="612" y="1231"/>
                    <a:pt x="612" y="1231"/>
                  </a:cubicBezTo>
                  <a:cubicBezTo>
                    <a:pt x="682" y="1090"/>
                    <a:pt x="721" y="930"/>
                    <a:pt x="721" y="761"/>
                  </a:cubicBezTo>
                  <a:cubicBezTo>
                    <a:pt x="721" y="463"/>
                    <a:pt x="598" y="193"/>
                    <a:pt x="400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íṩḻîḋé"/>
            <p:cNvSpPr/>
            <p:nvPr/>
          </p:nvSpPr>
          <p:spPr bwMode="auto">
            <a:xfrm flipH="1">
              <a:off x="6356365" y="3321412"/>
              <a:ext cx="1518508" cy="2088468"/>
            </a:xfrm>
            <a:custGeom>
              <a:avLst/>
              <a:gdLst>
                <a:gd name="T0" fmla="*/ 706 w 895"/>
                <a:gd name="T1" fmla="*/ 650 h 1232"/>
                <a:gd name="T2" fmla="*/ 495 w 895"/>
                <a:gd name="T3" fmla="*/ 0 h 1232"/>
                <a:gd name="T4" fmla="*/ 0 w 895"/>
                <a:gd name="T5" fmla="*/ 360 h 1232"/>
                <a:gd name="T6" fmla="*/ 895 w 895"/>
                <a:gd name="T7" fmla="*/ 1232 h 1232"/>
                <a:gd name="T8" fmla="*/ 706 w 895"/>
                <a:gd name="T9" fmla="*/ 650 h 1232"/>
                <a:gd name="T10" fmla="*/ 706 w 895"/>
                <a:gd name="T11" fmla="*/ 650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5" h="1232">
                  <a:moveTo>
                    <a:pt x="706" y="650"/>
                  </a:moveTo>
                  <a:cubicBezTo>
                    <a:pt x="495" y="0"/>
                    <a:pt x="495" y="0"/>
                    <a:pt x="495" y="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77" y="812"/>
                    <a:pt x="439" y="1166"/>
                    <a:pt x="895" y="1232"/>
                  </a:cubicBezTo>
                  <a:cubicBezTo>
                    <a:pt x="706" y="650"/>
                    <a:pt x="706" y="650"/>
                    <a:pt x="706" y="650"/>
                  </a:cubicBezTo>
                  <a:cubicBezTo>
                    <a:pt x="706" y="650"/>
                    <a:pt x="706" y="650"/>
                    <a:pt x="706" y="650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3" name="îśľíḑe"/>
            <p:cNvSpPr/>
            <p:nvPr/>
          </p:nvSpPr>
          <p:spPr bwMode="auto">
            <a:xfrm flipH="1">
              <a:off x="4481385" y="4424331"/>
              <a:ext cx="2196505" cy="1004536"/>
            </a:xfrm>
            <a:custGeom>
              <a:avLst/>
              <a:gdLst>
                <a:gd name="T0" fmla="*/ 0 w 1295"/>
                <a:gd name="T1" fmla="*/ 0 h 593"/>
                <a:gd name="T2" fmla="*/ 0 w 1295"/>
                <a:gd name="T3" fmla="*/ 0 h 593"/>
                <a:gd name="T4" fmla="*/ 189 w 1295"/>
                <a:gd name="T5" fmla="*/ 582 h 593"/>
                <a:gd name="T6" fmla="*/ 342 w 1295"/>
                <a:gd name="T7" fmla="*/ 593 h 593"/>
                <a:gd name="T8" fmla="*/ 1295 w 1295"/>
                <a:gd name="T9" fmla="*/ 0 h 593"/>
                <a:gd name="T10" fmla="*/ 683 w 1295"/>
                <a:gd name="T11" fmla="*/ 0 h 593"/>
                <a:gd name="T12" fmla="*/ 0 w 1295"/>
                <a:gd name="T13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5" h="59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89" y="582"/>
                    <a:pt x="189" y="582"/>
                    <a:pt x="189" y="582"/>
                  </a:cubicBezTo>
                  <a:cubicBezTo>
                    <a:pt x="239" y="589"/>
                    <a:pt x="290" y="593"/>
                    <a:pt x="342" y="593"/>
                  </a:cubicBezTo>
                  <a:cubicBezTo>
                    <a:pt x="760" y="593"/>
                    <a:pt x="1121" y="351"/>
                    <a:pt x="1295" y="0"/>
                  </a:cubicBezTo>
                  <a:cubicBezTo>
                    <a:pt x="683" y="0"/>
                    <a:pt x="683" y="0"/>
                    <a:pt x="68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3" name="îş1iḑé"/>
            <p:cNvSpPr>
              <a:spLocks/>
            </p:cNvSpPr>
            <p:nvPr/>
          </p:nvSpPr>
          <p:spPr bwMode="auto">
            <a:xfrm>
              <a:off x="5165399" y="2134068"/>
              <a:ext cx="604909" cy="611725"/>
            </a:xfrm>
            <a:custGeom>
              <a:avLst/>
              <a:gdLst>
                <a:gd name="T0" fmla="*/ 2147483647 w 150"/>
                <a:gd name="T1" fmla="*/ 2147483647 h 151"/>
                <a:gd name="T2" fmla="*/ 2147483647 w 150"/>
                <a:gd name="T3" fmla="*/ 2147483647 h 151"/>
                <a:gd name="T4" fmla="*/ 2147483647 w 150"/>
                <a:gd name="T5" fmla="*/ 2147483647 h 151"/>
                <a:gd name="T6" fmla="*/ 2147483647 w 150"/>
                <a:gd name="T7" fmla="*/ 2147483647 h 151"/>
                <a:gd name="T8" fmla="*/ 2147483647 w 150"/>
                <a:gd name="T9" fmla="*/ 2147483647 h 151"/>
                <a:gd name="T10" fmla="*/ 2147483647 w 150"/>
                <a:gd name="T11" fmla="*/ 2147483647 h 151"/>
                <a:gd name="T12" fmla="*/ 2147483647 w 150"/>
                <a:gd name="T13" fmla="*/ 2147483647 h 151"/>
                <a:gd name="T14" fmla="*/ 2147483647 w 150"/>
                <a:gd name="T15" fmla="*/ 2147483647 h 151"/>
                <a:gd name="T16" fmla="*/ 2147483647 w 150"/>
                <a:gd name="T17" fmla="*/ 2147483647 h 151"/>
                <a:gd name="T18" fmla="*/ 2147483647 w 150"/>
                <a:gd name="T19" fmla="*/ 2147483647 h 151"/>
                <a:gd name="T20" fmla="*/ 2147483647 w 150"/>
                <a:gd name="T21" fmla="*/ 2147483647 h 151"/>
                <a:gd name="T22" fmla="*/ 2147483647 w 150"/>
                <a:gd name="T23" fmla="*/ 2147483647 h 151"/>
                <a:gd name="T24" fmla="*/ 2147483647 w 150"/>
                <a:gd name="T25" fmla="*/ 2147483647 h 151"/>
                <a:gd name="T26" fmla="*/ 2147483647 w 150"/>
                <a:gd name="T27" fmla="*/ 2147483647 h 151"/>
                <a:gd name="T28" fmla="*/ 2147483647 w 150"/>
                <a:gd name="T29" fmla="*/ 2147483647 h 151"/>
                <a:gd name="T30" fmla="*/ 2147483647 w 150"/>
                <a:gd name="T31" fmla="*/ 2147483647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0" h="151">
                  <a:moveTo>
                    <a:pt x="102" y="22"/>
                  </a:moveTo>
                  <a:cubicBezTo>
                    <a:pt x="80" y="0"/>
                    <a:pt x="44" y="0"/>
                    <a:pt x="22" y="22"/>
                  </a:cubicBezTo>
                  <a:cubicBezTo>
                    <a:pt x="0" y="44"/>
                    <a:pt x="0" y="79"/>
                    <a:pt x="22" y="101"/>
                  </a:cubicBezTo>
                  <a:cubicBezTo>
                    <a:pt x="41" y="121"/>
                    <a:pt x="71" y="123"/>
                    <a:pt x="93" y="108"/>
                  </a:cubicBezTo>
                  <a:cubicBezTo>
                    <a:pt x="94" y="110"/>
                    <a:pt x="95" y="112"/>
                    <a:pt x="97" y="114"/>
                  </a:cubicBezTo>
                  <a:cubicBezTo>
                    <a:pt x="128" y="146"/>
                    <a:pt x="128" y="146"/>
                    <a:pt x="128" y="146"/>
                  </a:cubicBezTo>
                  <a:cubicBezTo>
                    <a:pt x="133" y="151"/>
                    <a:pt x="141" y="151"/>
                    <a:pt x="145" y="146"/>
                  </a:cubicBezTo>
                  <a:cubicBezTo>
                    <a:pt x="150" y="142"/>
                    <a:pt x="150" y="134"/>
                    <a:pt x="145" y="129"/>
                  </a:cubicBezTo>
                  <a:cubicBezTo>
                    <a:pt x="114" y="97"/>
                    <a:pt x="114" y="97"/>
                    <a:pt x="114" y="97"/>
                  </a:cubicBezTo>
                  <a:cubicBezTo>
                    <a:pt x="112" y="96"/>
                    <a:pt x="110" y="94"/>
                    <a:pt x="108" y="94"/>
                  </a:cubicBezTo>
                  <a:cubicBezTo>
                    <a:pt x="123" y="72"/>
                    <a:pt x="121" y="42"/>
                    <a:pt x="102" y="22"/>
                  </a:cubicBezTo>
                  <a:close/>
                  <a:moveTo>
                    <a:pt x="91" y="92"/>
                  </a:moveTo>
                  <a:cubicBezTo>
                    <a:pt x="75" y="108"/>
                    <a:pt x="48" y="108"/>
                    <a:pt x="32" y="91"/>
                  </a:cubicBezTo>
                  <a:cubicBezTo>
                    <a:pt x="15" y="75"/>
                    <a:pt x="16" y="48"/>
                    <a:pt x="32" y="32"/>
                  </a:cubicBezTo>
                  <a:cubicBezTo>
                    <a:pt x="48" y="16"/>
                    <a:pt x="75" y="16"/>
                    <a:pt x="91" y="32"/>
                  </a:cubicBezTo>
                  <a:cubicBezTo>
                    <a:pt x="108" y="49"/>
                    <a:pt x="108" y="75"/>
                    <a:pt x="91" y="9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55" name="íṣliḍe"/>
            <p:cNvGrpSpPr/>
            <p:nvPr/>
          </p:nvGrpSpPr>
          <p:grpSpPr>
            <a:xfrm>
              <a:off x="7007808" y="3932250"/>
              <a:ext cx="613430" cy="620244"/>
              <a:chOff x="9349366" y="2935970"/>
              <a:chExt cx="857717" cy="867246"/>
            </a:xfrm>
            <a:solidFill>
              <a:schemeClr val="bg1"/>
            </a:solidFill>
          </p:grpSpPr>
          <p:sp>
            <p:nvSpPr>
              <p:cNvPr id="59" name="íSľiďé"/>
              <p:cNvSpPr/>
              <p:nvPr/>
            </p:nvSpPr>
            <p:spPr bwMode="auto">
              <a:xfrm>
                <a:off x="9349366" y="2935970"/>
                <a:ext cx="857717" cy="867246"/>
              </a:xfrm>
              <a:custGeom>
                <a:avLst/>
                <a:gdLst>
                  <a:gd name="T0" fmla="*/ 76 w 152"/>
                  <a:gd name="T1" fmla="*/ 0 h 153"/>
                  <a:gd name="T2" fmla="*/ 0 w 152"/>
                  <a:gd name="T3" fmla="*/ 77 h 153"/>
                  <a:gd name="T4" fmla="*/ 76 w 152"/>
                  <a:gd name="T5" fmla="*/ 153 h 153"/>
                  <a:gd name="T6" fmla="*/ 152 w 152"/>
                  <a:gd name="T7" fmla="*/ 77 h 153"/>
                  <a:gd name="T8" fmla="*/ 76 w 152"/>
                  <a:gd name="T9" fmla="*/ 0 h 153"/>
                  <a:gd name="T10" fmla="*/ 76 w 152"/>
                  <a:gd name="T11" fmla="*/ 137 h 153"/>
                  <a:gd name="T12" fmla="*/ 16 w 152"/>
                  <a:gd name="T13" fmla="*/ 77 h 153"/>
                  <a:gd name="T14" fmla="*/ 76 w 152"/>
                  <a:gd name="T15" fmla="*/ 16 h 153"/>
                  <a:gd name="T16" fmla="*/ 136 w 152"/>
                  <a:gd name="T17" fmla="*/ 77 h 153"/>
                  <a:gd name="T18" fmla="*/ 76 w 152"/>
                  <a:gd name="T19" fmla="*/ 137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53">
                    <a:moveTo>
                      <a:pt x="76" y="0"/>
                    </a:moveTo>
                    <a:cubicBezTo>
                      <a:pt x="34" y="0"/>
                      <a:pt x="0" y="34"/>
                      <a:pt x="0" y="77"/>
                    </a:cubicBezTo>
                    <a:cubicBezTo>
                      <a:pt x="0" y="119"/>
                      <a:pt x="34" y="153"/>
                      <a:pt x="76" y="153"/>
                    </a:cubicBezTo>
                    <a:cubicBezTo>
                      <a:pt x="118" y="153"/>
                      <a:pt x="152" y="119"/>
                      <a:pt x="152" y="77"/>
                    </a:cubicBezTo>
                    <a:cubicBezTo>
                      <a:pt x="152" y="34"/>
                      <a:pt x="118" y="0"/>
                      <a:pt x="76" y="0"/>
                    </a:cubicBezTo>
                    <a:close/>
                    <a:moveTo>
                      <a:pt x="76" y="137"/>
                    </a:moveTo>
                    <a:cubicBezTo>
                      <a:pt x="43" y="137"/>
                      <a:pt x="16" y="110"/>
                      <a:pt x="16" y="77"/>
                    </a:cubicBezTo>
                    <a:cubicBezTo>
                      <a:pt x="16" y="43"/>
                      <a:pt x="43" y="16"/>
                      <a:pt x="76" y="16"/>
                    </a:cubicBezTo>
                    <a:cubicBezTo>
                      <a:pt x="109" y="16"/>
                      <a:pt x="136" y="43"/>
                      <a:pt x="136" y="77"/>
                    </a:cubicBezTo>
                    <a:cubicBezTo>
                      <a:pt x="136" y="110"/>
                      <a:pt x="109" y="137"/>
                      <a:pt x="76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68580" tIns="34290" rIns="68580" bIns="34290">
                <a:normAutofit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0" name="ïşḷíḓé"/>
              <p:cNvSpPr/>
              <p:nvPr/>
            </p:nvSpPr>
            <p:spPr bwMode="auto">
              <a:xfrm>
                <a:off x="9704367" y="3326705"/>
                <a:ext cx="140569" cy="312113"/>
              </a:xfrm>
              <a:custGeom>
                <a:avLst/>
                <a:gdLst>
                  <a:gd name="T0" fmla="*/ 21 w 25"/>
                  <a:gd name="T1" fmla="*/ 0 h 55"/>
                  <a:gd name="T2" fmla="*/ 5 w 25"/>
                  <a:gd name="T3" fmla="*/ 0 h 55"/>
                  <a:gd name="T4" fmla="*/ 0 w 25"/>
                  <a:gd name="T5" fmla="*/ 5 h 55"/>
                  <a:gd name="T6" fmla="*/ 0 w 25"/>
                  <a:gd name="T7" fmla="*/ 51 h 55"/>
                  <a:gd name="T8" fmla="*/ 5 w 25"/>
                  <a:gd name="T9" fmla="*/ 55 h 55"/>
                  <a:gd name="T10" fmla="*/ 21 w 25"/>
                  <a:gd name="T11" fmla="*/ 55 h 55"/>
                  <a:gd name="T12" fmla="*/ 25 w 25"/>
                  <a:gd name="T13" fmla="*/ 51 h 55"/>
                  <a:gd name="T14" fmla="*/ 25 w 25"/>
                  <a:gd name="T15" fmla="*/ 5 h 55"/>
                  <a:gd name="T16" fmla="*/ 21 w 25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55">
                    <a:moveTo>
                      <a:pt x="21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3"/>
                      <a:pt x="2" y="55"/>
                      <a:pt x="5" y="55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3" y="55"/>
                      <a:pt x="25" y="53"/>
                      <a:pt x="25" y="51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2"/>
                      <a:pt x="23" y="0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68580" tIns="34290" rIns="68580" bIns="34290">
                <a:normAutofit fontScale="62500" lnSpcReduction="20000"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1" name="ïšḷíḑe"/>
              <p:cNvSpPr/>
              <p:nvPr/>
            </p:nvSpPr>
            <p:spPr bwMode="auto">
              <a:xfrm>
                <a:off x="9699604" y="3100367"/>
                <a:ext cx="157248" cy="152483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lIns="68580" tIns="34290" rIns="68580" bIns="34290">
                <a:normAutofit fontScale="25000" lnSpcReduction="20000"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94225" name="íṧľïḍe"/>
            <p:cNvSpPr>
              <a:spLocks/>
            </p:cNvSpPr>
            <p:nvPr/>
          </p:nvSpPr>
          <p:spPr bwMode="auto">
            <a:xfrm>
              <a:off x="4481589" y="3499441"/>
              <a:ext cx="746338" cy="742930"/>
            </a:xfrm>
            <a:custGeom>
              <a:avLst/>
              <a:gdLst>
                <a:gd name="T0" fmla="*/ 370471 w 738457"/>
                <a:gd name="T1" fmla="*/ 823954 h 735085"/>
                <a:gd name="T2" fmla="*/ 365316 w 738457"/>
                <a:gd name="T3" fmla="*/ 569904 h 735085"/>
                <a:gd name="T4" fmla="*/ 416862 w 738457"/>
                <a:gd name="T5" fmla="*/ 611382 h 735085"/>
                <a:gd name="T6" fmla="*/ 499344 w 738457"/>
                <a:gd name="T7" fmla="*/ 616566 h 735085"/>
                <a:gd name="T8" fmla="*/ 509654 w 738457"/>
                <a:gd name="T9" fmla="*/ 683965 h 735085"/>
                <a:gd name="T10" fmla="*/ 561202 w 738457"/>
                <a:gd name="T11" fmla="*/ 746182 h 735085"/>
                <a:gd name="T12" fmla="*/ 519962 w 738457"/>
                <a:gd name="T13" fmla="*/ 798030 h 735085"/>
                <a:gd name="T14" fmla="*/ 514809 w 738457"/>
                <a:gd name="T15" fmla="*/ 886171 h 735085"/>
                <a:gd name="T16" fmla="*/ 447795 w 738457"/>
                <a:gd name="T17" fmla="*/ 891353 h 735085"/>
                <a:gd name="T18" fmla="*/ 380779 w 738457"/>
                <a:gd name="T19" fmla="*/ 948388 h 735085"/>
                <a:gd name="T20" fmla="*/ 329227 w 738457"/>
                <a:gd name="T21" fmla="*/ 906910 h 735085"/>
                <a:gd name="T22" fmla="*/ 246751 w 738457"/>
                <a:gd name="T23" fmla="*/ 901726 h 735085"/>
                <a:gd name="T24" fmla="*/ 236441 w 738457"/>
                <a:gd name="T25" fmla="*/ 834322 h 735085"/>
                <a:gd name="T26" fmla="*/ 184891 w 738457"/>
                <a:gd name="T27" fmla="*/ 772108 h 735085"/>
                <a:gd name="T28" fmla="*/ 226134 w 738457"/>
                <a:gd name="T29" fmla="*/ 715074 h 735085"/>
                <a:gd name="T30" fmla="*/ 231285 w 738457"/>
                <a:gd name="T31" fmla="*/ 632120 h 735085"/>
                <a:gd name="T32" fmla="*/ 298302 w 738457"/>
                <a:gd name="T33" fmla="*/ 621746 h 735085"/>
                <a:gd name="T34" fmla="*/ 365316 w 738457"/>
                <a:gd name="T35" fmla="*/ 569904 h 735085"/>
                <a:gd name="T36" fmla="*/ 725565 w 738457"/>
                <a:gd name="T37" fmla="*/ 606428 h 735085"/>
                <a:gd name="T38" fmla="*/ 720401 w 738457"/>
                <a:gd name="T39" fmla="*/ 291478 h 735085"/>
                <a:gd name="T40" fmla="*/ 803006 w 738457"/>
                <a:gd name="T41" fmla="*/ 353435 h 735085"/>
                <a:gd name="T42" fmla="*/ 885619 w 738457"/>
                <a:gd name="T43" fmla="*/ 363761 h 735085"/>
                <a:gd name="T44" fmla="*/ 895943 w 738457"/>
                <a:gd name="T45" fmla="*/ 461860 h 735085"/>
                <a:gd name="T46" fmla="*/ 952737 w 738457"/>
                <a:gd name="T47" fmla="*/ 523815 h 735085"/>
                <a:gd name="T48" fmla="*/ 890781 w 738457"/>
                <a:gd name="T49" fmla="*/ 606428 h 735085"/>
                <a:gd name="T50" fmla="*/ 880455 w 738457"/>
                <a:gd name="T51" fmla="*/ 689039 h 735085"/>
                <a:gd name="T52" fmla="*/ 782354 w 738457"/>
                <a:gd name="T53" fmla="*/ 699363 h 735085"/>
                <a:gd name="T54" fmla="*/ 715237 w 738457"/>
                <a:gd name="T55" fmla="*/ 756157 h 735085"/>
                <a:gd name="T56" fmla="*/ 637789 w 738457"/>
                <a:gd name="T57" fmla="*/ 694198 h 735085"/>
                <a:gd name="T58" fmla="*/ 550017 w 738457"/>
                <a:gd name="T59" fmla="*/ 689039 h 735085"/>
                <a:gd name="T60" fmla="*/ 544851 w 738457"/>
                <a:gd name="T61" fmla="*/ 590936 h 735085"/>
                <a:gd name="T62" fmla="*/ 482894 w 738457"/>
                <a:gd name="T63" fmla="*/ 523815 h 735085"/>
                <a:gd name="T64" fmla="*/ 544851 w 738457"/>
                <a:gd name="T65" fmla="*/ 446375 h 735085"/>
                <a:gd name="T66" fmla="*/ 555178 w 738457"/>
                <a:gd name="T67" fmla="*/ 358596 h 735085"/>
                <a:gd name="T68" fmla="*/ 653278 w 738457"/>
                <a:gd name="T69" fmla="*/ 343110 h 735085"/>
                <a:gd name="T70" fmla="*/ 720401 w 738457"/>
                <a:gd name="T71" fmla="*/ 291478 h 735085"/>
                <a:gd name="T72" fmla="*/ 283176 w 738457"/>
                <a:gd name="T73" fmla="*/ 383385 h 735085"/>
                <a:gd name="T74" fmla="*/ 252283 w 738457"/>
                <a:gd name="T75" fmla="*/ 0 h 735085"/>
                <a:gd name="T76" fmla="*/ 339812 w 738457"/>
                <a:gd name="T77" fmla="*/ 56990 h 735085"/>
                <a:gd name="T78" fmla="*/ 458230 w 738457"/>
                <a:gd name="T79" fmla="*/ 62172 h 735085"/>
                <a:gd name="T80" fmla="*/ 483972 w 738457"/>
                <a:gd name="T81" fmla="*/ 165790 h 735085"/>
                <a:gd name="T82" fmla="*/ 561203 w 738457"/>
                <a:gd name="T83" fmla="*/ 253862 h 735085"/>
                <a:gd name="T84" fmla="*/ 504568 w 738457"/>
                <a:gd name="T85" fmla="*/ 341944 h 735085"/>
                <a:gd name="T86" fmla="*/ 504568 w 738457"/>
                <a:gd name="T87" fmla="*/ 461103 h 735085"/>
                <a:gd name="T88" fmla="*/ 396444 w 738457"/>
                <a:gd name="T89" fmla="*/ 481825 h 735085"/>
                <a:gd name="T90" fmla="*/ 308920 w 738457"/>
                <a:gd name="T91" fmla="*/ 569904 h 735085"/>
                <a:gd name="T92" fmla="*/ 216241 w 738457"/>
                <a:gd name="T93" fmla="*/ 502550 h 735085"/>
                <a:gd name="T94" fmla="*/ 102969 w 738457"/>
                <a:gd name="T95" fmla="*/ 507731 h 735085"/>
                <a:gd name="T96" fmla="*/ 82380 w 738457"/>
                <a:gd name="T97" fmla="*/ 393750 h 735085"/>
                <a:gd name="T98" fmla="*/ 0 w 738457"/>
                <a:gd name="T99" fmla="*/ 316034 h 735085"/>
                <a:gd name="T100" fmla="*/ 56634 w 738457"/>
                <a:gd name="T101" fmla="*/ 222779 h 735085"/>
                <a:gd name="T102" fmla="*/ 56634 w 738457"/>
                <a:gd name="T103" fmla="*/ 103620 h 735085"/>
                <a:gd name="T104" fmla="*/ 164754 w 738457"/>
                <a:gd name="T105" fmla="*/ 82894 h 735085"/>
                <a:gd name="T106" fmla="*/ 252283 w 738457"/>
                <a:gd name="T107" fmla="*/ 0 h 73508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738457" h="735085">
                  <a:moveTo>
                    <a:pt x="291143" y="534154"/>
                  </a:moveTo>
                  <a:cubicBezTo>
                    <a:pt x="263174" y="534154"/>
                    <a:pt x="239201" y="558265"/>
                    <a:pt x="239201" y="586396"/>
                  </a:cubicBezTo>
                  <a:cubicBezTo>
                    <a:pt x="235205" y="614526"/>
                    <a:pt x="259178" y="638638"/>
                    <a:pt x="287147" y="638638"/>
                  </a:cubicBezTo>
                  <a:cubicBezTo>
                    <a:pt x="319111" y="638638"/>
                    <a:pt x="343084" y="618545"/>
                    <a:pt x="343084" y="586396"/>
                  </a:cubicBezTo>
                  <a:cubicBezTo>
                    <a:pt x="343084" y="558265"/>
                    <a:pt x="319111" y="534154"/>
                    <a:pt x="291143" y="534154"/>
                  </a:cubicBezTo>
                  <a:close/>
                  <a:moveTo>
                    <a:pt x="283151" y="441725"/>
                  </a:moveTo>
                  <a:cubicBezTo>
                    <a:pt x="283151" y="441725"/>
                    <a:pt x="283151" y="441725"/>
                    <a:pt x="303129" y="441725"/>
                  </a:cubicBezTo>
                  <a:cubicBezTo>
                    <a:pt x="311120" y="441725"/>
                    <a:pt x="319111" y="449762"/>
                    <a:pt x="319111" y="457800"/>
                  </a:cubicBezTo>
                  <a:cubicBezTo>
                    <a:pt x="319111" y="457800"/>
                    <a:pt x="319111" y="457800"/>
                    <a:pt x="323107" y="473874"/>
                  </a:cubicBezTo>
                  <a:cubicBezTo>
                    <a:pt x="331098" y="473874"/>
                    <a:pt x="343084" y="477893"/>
                    <a:pt x="351075" y="485930"/>
                  </a:cubicBezTo>
                  <a:cubicBezTo>
                    <a:pt x="351075" y="485930"/>
                    <a:pt x="351075" y="485930"/>
                    <a:pt x="359066" y="477893"/>
                  </a:cubicBezTo>
                  <a:cubicBezTo>
                    <a:pt x="367057" y="469856"/>
                    <a:pt x="379044" y="469856"/>
                    <a:pt x="387035" y="477893"/>
                  </a:cubicBezTo>
                  <a:cubicBezTo>
                    <a:pt x="387035" y="477893"/>
                    <a:pt x="387035" y="477893"/>
                    <a:pt x="399022" y="493967"/>
                  </a:cubicBezTo>
                  <a:cubicBezTo>
                    <a:pt x="407013" y="502005"/>
                    <a:pt x="407013" y="510042"/>
                    <a:pt x="403017" y="518079"/>
                  </a:cubicBezTo>
                  <a:cubicBezTo>
                    <a:pt x="403017" y="518079"/>
                    <a:pt x="403017" y="518079"/>
                    <a:pt x="395026" y="530135"/>
                  </a:cubicBezTo>
                  <a:cubicBezTo>
                    <a:pt x="399022" y="538172"/>
                    <a:pt x="403017" y="546210"/>
                    <a:pt x="403017" y="558265"/>
                  </a:cubicBezTo>
                  <a:cubicBezTo>
                    <a:pt x="403017" y="558265"/>
                    <a:pt x="403017" y="558265"/>
                    <a:pt x="418999" y="558265"/>
                  </a:cubicBezTo>
                  <a:cubicBezTo>
                    <a:pt x="426990" y="562284"/>
                    <a:pt x="434981" y="570321"/>
                    <a:pt x="434981" y="578359"/>
                  </a:cubicBezTo>
                  <a:cubicBezTo>
                    <a:pt x="434981" y="578359"/>
                    <a:pt x="434981" y="578359"/>
                    <a:pt x="434981" y="598452"/>
                  </a:cubicBezTo>
                  <a:cubicBezTo>
                    <a:pt x="434981" y="610508"/>
                    <a:pt x="426990" y="618545"/>
                    <a:pt x="415004" y="618545"/>
                  </a:cubicBezTo>
                  <a:cubicBezTo>
                    <a:pt x="415004" y="618545"/>
                    <a:pt x="415004" y="618545"/>
                    <a:pt x="403017" y="618545"/>
                  </a:cubicBezTo>
                  <a:cubicBezTo>
                    <a:pt x="403017" y="630601"/>
                    <a:pt x="399022" y="638638"/>
                    <a:pt x="391031" y="646675"/>
                  </a:cubicBezTo>
                  <a:cubicBezTo>
                    <a:pt x="391031" y="646675"/>
                    <a:pt x="391031" y="646675"/>
                    <a:pt x="399022" y="658731"/>
                  </a:cubicBezTo>
                  <a:cubicBezTo>
                    <a:pt x="407013" y="666769"/>
                    <a:pt x="407013" y="678824"/>
                    <a:pt x="399022" y="686862"/>
                  </a:cubicBezTo>
                  <a:cubicBezTo>
                    <a:pt x="399022" y="686862"/>
                    <a:pt x="399022" y="686862"/>
                    <a:pt x="383039" y="698918"/>
                  </a:cubicBezTo>
                  <a:cubicBezTo>
                    <a:pt x="375048" y="706955"/>
                    <a:pt x="367057" y="706955"/>
                    <a:pt x="359066" y="702936"/>
                  </a:cubicBezTo>
                  <a:cubicBezTo>
                    <a:pt x="359066" y="702936"/>
                    <a:pt x="359066" y="702936"/>
                    <a:pt x="347080" y="690880"/>
                  </a:cubicBezTo>
                  <a:cubicBezTo>
                    <a:pt x="339089" y="698918"/>
                    <a:pt x="327102" y="698918"/>
                    <a:pt x="319111" y="702936"/>
                  </a:cubicBezTo>
                  <a:cubicBezTo>
                    <a:pt x="319111" y="702936"/>
                    <a:pt x="319111" y="702936"/>
                    <a:pt x="315116" y="719011"/>
                  </a:cubicBezTo>
                  <a:cubicBezTo>
                    <a:pt x="315116" y="727048"/>
                    <a:pt x="307125" y="735085"/>
                    <a:pt x="295138" y="735085"/>
                  </a:cubicBezTo>
                  <a:cubicBezTo>
                    <a:pt x="295138" y="735085"/>
                    <a:pt x="295138" y="735085"/>
                    <a:pt x="275160" y="735085"/>
                  </a:cubicBezTo>
                  <a:cubicBezTo>
                    <a:pt x="267169" y="735085"/>
                    <a:pt x="259178" y="727048"/>
                    <a:pt x="255183" y="719011"/>
                  </a:cubicBezTo>
                  <a:cubicBezTo>
                    <a:pt x="255183" y="719011"/>
                    <a:pt x="255183" y="719011"/>
                    <a:pt x="255183" y="702936"/>
                  </a:cubicBezTo>
                  <a:cubicBezTo>
                    <a:pt x="247192" y="698918"/>
                    <a:pt x="239201" y="694899"/>
                    <a:pt x="227214" y="690880"/>
                  </a:cubicBezTo>
                  <a:cubicBezTo>
                    <a:pt x="227214" y="690880"/>
                    <a:pt x="227214" y="690880"/>
                    <a:pt x="215228" y="698918"/>
                  </a:cubicBezTo>
                  <a:cubicBezTo>
                    <a:pt x="207237" y="706955"/>
                    <a:pt x="199246" y="702936"/>
                    <a:pt x="191254" y="698918"/>
                  </a:cubicBezTo>
                  <a:cubicBezTo>
                    <a:pt x="191254" y="698918"/>
                    <a:pt x="191254" y="698918"/>
                    <a:pt x="175272" y="682843"/>
                  </a:cubicBezTo>
                  <a:cubicBezTo>
                    <a:pt x="171277" y="674806"/>
                    <a:pt x="171277" y="662750"/>
                    <a:pt x="175272" y="654713"/>
                  </a:cubicBezTo>
                  <a:cubicBezTo>
                    <a:pt x="175272" y="654713"/>
                    <a:pt x="175272" y="654713"/>
                    <a:pt x="183263" y="646675"/>
                  </a:cubicBezTo>
                  <a:cubicBezTo>
                    <a:pt x="179268" y="638638"/>
                    <a:pt x="175272" y="626582"/>
                    <a:pt x="175272" y="618545"/>
                  </a:cubicBezTo>
                  <a:cubicBezTo>
                    <a:pt x="175272" y="618545"/>
                    <a:pt x="175272" y="618545"/>
                    <a:pt x="159290" y="618545"/>
                  </a:cubicBezTo>
                  <a:cubicBezTo>
                    <a:pt x="151299" y="614526"/>
                    <a:pt x="143308" y="606489"/>
                    <a:pt x="143308" y="598452"/>
                  </a:cubicBezTo>
                  <a:cubicBezTo>
                    <a:pt x="143308" y="598452"/>
                    <a:pt x="143308" y="598452"/>
                    <a:pt x="143308" y="578359"/>
                  </a:cubicBezTo>
                  <a:cubicBezTo>
                    <a:pt x="143308" y="566303"/>
                    <a:pt x="151299" y="558265"/>
                    <a:pt x="159290" y="558265"/>
                  </a:cubicBezTo>
                  <a:lnTo>
                    <a:pt x="175272" y="554247"/>
                  </a:lnTo>
                  <a:cubicBezTo>
                    <a:pt x="175272" y="546210"/>
                    <a:pt x="179268" y="538172"/>
                    <a:pt x="187259" y="526116"/>
                  </a:cubicBezTo>
                  <a:cubicBezTo>
                    <a:pt x="187259" y="526116"/>
                    <a:pt x="187259" y="526116"/>
                    <a:pt x="179268" y="518079"/>
                  </a:cubicBezTo>
                  <a:cubicBezTo>
                    <a:pt x="171277" y="510042"/>
                    <a:pt x="171277" y="497986"/>
                    <a:pt x="179268" y="489949"/>
                  </a:cubicBezTo>
                  <a:cubicBezTo>
                    <a:pt x="179268" y="489949"/>
                    <a:pt x="179268" y="489949"/>
                    <a:pt x="195250" y="477893"/>
                  </a:cubicBezTo>
                  <a:cubicBezTo>
                    <a:pt x="199246" y="469856"/>
                    <a:pt x="211232" y="469856"/>
                    <a:pt x="219223" y="473874"/>
                  </a:cubicBezTo>
                  <a:cubicBezTo>
                    <a:pt x="219223" y="473874"/>
                    <a:pt x="219223" y="473874"/>
                    <a:pt x="231210" y="481911"/>
                  </a:cubicBezTo>
                  <a:cubicBezTo>
                    <a:pt x="239201" y="477893"/>
                    <a:pt x="251187" y="473874"/>
                    <a:pt x="259178" y="469856"/>
                  </a:cubicBezTo>
                  <a:cubicBezTo>
                    <a:pt x="259178" y="469856"/>
                    <a:pt x="259178" y="469856"/>
                    <a:pt x="263174" y="457800"/>
                  </a:cubicBezTo>
                  <a:cubicBezTo>
                    <a:pt x="263174" y="449762"/>
                    <a:pt x="271165" y="441725"/>
                    <a:pt x="283151" y="441725"/>
                  </a:cubicBezTo>
                  <a:close/>
                  <a:moveTo>
                    <a:pt x="550369" y="341975"/>
                  </a:moveTo>
                  <a:cubicBezTo>
                    <a:pt x="518354" y="345977"/>
                    <a:pt x="490341" y="373990"/>
                    <a:pt x="494343" y="410007"/>
                  </a:cubicBezTo>
                  <a:cubicBezTo>
                    <a:pt x="494343" y="446024"/>
                    <a:pt x="526358" y="474038"/>
                    <a:pt x="562375" y="470036"/>
                  </a:cubicBezTo>
                  <a:cubicBezTo>
                    <a:pt x="598391" y="466034"/>
                    <a:pt x="622403" y="434019"/>
                    <a:pt x="622403" y="402004"/>
                  </a:cubicBezTo>
                  <a:cubicBezTo>
                    <a:pt x="618401" y="365987"/>
                    <a:pt x="586386" y="337973"/>
                    <a:pt x="550369" y="341975"/>
                  </a:cubicBezTo>
                  <a:close/>
                  <a:moveTo>
                    <a:pt x="558373" y="225921"/>
                  </a:moveTo>
                  <a:cubicBezTo>
                    <a:pt x="570378" y="225921"/>
                    <a:pt x="578382" y="233925"/>
                    <a:pt x="578382" y="241928"/>
                  </a:cubicBezTo>
                  <a:cubicBezTo>
                    <a:pt x="578382" y="241928"/>
                    <a:pt x="578382" y="241928"/>
                    <a:pt x="582384" y="261938"/>
                  </a:cubicBezTo>
                  <a:cubicBezTo>
                    <a:pt x="598391" y="261938"/>
                    <a:pt x="610397" y="265940"/>
                    <a:pt x="622403" y="273943"/>
                  </a:cubicBezTo>
                  <a:cubicBezTo>
                    <a:pt x="622403" y="273943"/>
                    <a:pt x="622403" y="273943"/>
                    <a:pt x="634408" y="261938"/>
                  </a:cubicBezTo>
                  <a:cubicBezTo>
                    <a:pt x="642412" y="253934"/>
                    <a:pt x="654418" y="253934"/>
                    <a:pt x="662422" y="257936"/>
                  </a:cubicBezTo>
                  <a:cubicBezTo>
                    <a:pt x="662422" y="257936"/>
                    <a:pt x="662422" y="257936"/>
                    <a:pt x="686433" y="281947"/>
                  </a:cubicBezTo>
                  <a:cubicBezTo>
                    <a:pt x="694437" y="285949"/>
                    <a:pt x="694437" y="297955"/>
                    <a:pt x="690435" y="305958"/>
                  </a:cubicBezTo>
                  <a:cubicBezTo>
                    <a:pt x="690435" y="305958"/>
                    <a:pt x="690435" y="305958"/>
                    <a:pt x="678429" y="321966"/>
                  </a:cubicBezTo>
                  <a:cubicBezTo>
                    <a:pt x="686433" y="333972"/>
                    <a:pt x="690435" y="345977"/>
                    <a:pt x="694437" y="357983"/>
                  </a:cubicBezTo>
                  <a:cubicBezTo>
                    <a:pt x="694437" y="357983"/>
                    <a:pt x="694437" y="357983"/>
                    <a:pt x="714446" y="357983"/>
                  </a:cubicBezTo>
                  <a:cubicBezTo>
                    <a:pt x="726452" y="357983"/>
                    <a:pt x="734455" y="365987"/>
                    <a:pt x="734455" y="373990"/>
                  </a:cubicBezTo>
                  <a:cubicBezTo>
                    <a:pt x="734455" y="373990"/>
                    <a:pt x="734455" y="373990"/>
                    <a:pt x="738457" y="406005"/>
                  </a:cubicBezTo>
                  <a:cubicBezTo>
                    <a:pt x="738457" y="418011"/>
                    <a:pt x="730453" y="426015"/>
                    <a:pt x="722450" y="430017"/>
                  </a:cubicBezTo>
                  <a:cubicBezTo>
                    <a:pt x="722450" y="430017"/>
                    <a:pt x="722450" y="430017"/>
                    <a:pt x="702440" y="434019"/>
                  </a:cubicBezTo>
                  <a:cubicBezTo>
                    <a:pt x="698438" y="446024"/>
                    <a:pt x="694437" y="458030"/>
                    <a:pt x="690435" y="470036"/>
                  </a:cubicBezTo>
                  <a:cubicBezTo>
                    <a:pt x="690435" y="470036"/>
                    <a:pt x="690435" y="470036"/>
                    <a:pt x="702440" y="482041"/>
                  </a:cubicBezTo>
                  <a:cubicBezTo>
                    <a:pt x="710444" y="490045"/>
                    <a:pt x="710444" y="502051"/>
                    <a:pt x="706442" y="510055"/>
                  </a:cubicBezTo>
                  <a:cubicBezTo>
                    <a:pt x="706442" y="510055"/>
                    <a:pt x="706442" y="510055"/>
                    <a:pt x="682431" y="534066"/>
                  </a:cubicBezTo>
                  <a:cubicBezTo>
                    <a:pt x="678429" y="542070"/>
                    <a:pt x="666423" y="546071"/>
                    <a:pt x="658420" y="538068"/>
                  </a:cubicBezTo>
                  <a:cubicBezTo>
                    <a:pt x="658420" y="538068"/>
                    <a:pt x="658420" y="538068"/>
                    <a:pt x="638410" y="526062"/>
                  </a:cubicBezTo>
                  <a:cubicBezTo>
                    <a:pt x="630407" y="534066"/>
                    <a:pt x="618401" y="538068"/>
                    <a:pt x="606395" y="542070"/>
                  </a:cubicBezTo>
                  <a:cubicBezTo>
                    <a:pt x="606395" y="542070"/>
                    <a:pt x="606395" y="542070"/>
                    <a:pt x="606395" y="566081"/>
                  </a:cubicBezTo>
                  <a:cubicBezTo>
                    <a:pt x="606395" y="574085"/>
                    <a:pt x="598391" y="582088"/>
                    <a:pt x="586386" y="586090"/>
                  </a:cubicBezTo>
                  <a:cubicBezTo>
                    <a:pt x="586386" y="586090"/>
                    <a:pt x="586386" y="586090"/>
                    <a:pt x="554371" y="586090"/>
                  </a:cubicBezTo>
                  <a:cubicBezTo>
                    <a:pt x="546367" y="590092"/>
                    <a:pt x="534361" y="582088"/>
                    <a:pt x="534361" y="570083"/>
                  </a:cubicBezTo>
                  <a:cubicBezTo>
                    <a:pt x="534361" y="570083"/>
                    <a:pt x="534361" y="570083"/>
                    <a:pt x="530360" y="550073"/>
                  </a:cubicBezTo>
                  <a:cubicBezTo>
                    <a:pt x="518354" y="546071"/>
                    <a:pt x="506348" y="542070"/>
                    <a:pt x="494343" y="538068"/>
                  </a:cubicBezTo>
                  <a:cubicBezTo>
                    <a:pt x="494343" y="538068"/>
                    <a:pt x="494343" y="538068"/>
                    <a:pt x="478335" y="554075"/>
                  </a:cubicBezTo>
                  <a:cubicBezTo>
                    <a:pt x="470331" y="562079"/>
                    <a:pt x="458326" y="562079"/>
                    <a:pt x="454324" y="554075"/>
                  </a:cubicBezTo>
                  <a:cubicBezTo>
                    <a:pt x="454324" y="554075"/>
                    <a:pt x="454324" y="554075"/>
                    <a:pt x="426311" y="534066"/>
                  </a:cubicBezTo>
                  <a:cubicBezTo>
                    <a:pt x="418307" y="526062"/>
                    <a:pt x="418307" y="514056"/>
                    <a:pt x="422309" y="506053"/>
                  </a:cubicBezTo>
                  <a:cubicBezTo>
                    <a:pt x="422309" y="506053"/>
                    <a:pt x="422309" y="506053"/>
                    <a:pt x="438316" y="490045"/>
                  </a:cubicBezTo>
                  <a:cubicBezTo>
                    <a:pt x="430313" y="478040"/>
                    <a:pt x="426311" y="470036"/>
                    <a:pt x="422309" y="458030"/>
                  </a:cubicBezTo>
                  <a:cubicBezTo>
                    <a:pt x="422309" y="458030"/>
                    <a:pt x="422309" y="458030"/>
                    <a:pt x="398298" y="458030"/>
                  </a:cubicBezTo>
                  <a:cubicBezTo>
                    <a:pt x="386292" y="458030"/>
                    <a:pt x="378288" y="450026"/>
                    <a:pt x="378288" y="438020"/>
                  </a:cubicBezTo>
                  <a:cubicBezTo>
                    <a:pt x="378288" y="438020"/>
                    <a:pt x="378288" y="438020"/>
                    <a:pt x="374286" y="406005"/>
                  </a:cubicBezTo>
                  <a:cubicBezTo>
                    <a:pt x="374286" y="398002"/>
                    <a:pt x="382290" y="385996"/>
                    <a:pt x="390294" y="385996"/>
                  </a:cubicBezTo>
                  <a:cubicBezTo>
                    <a:pt x="390294" y="385996"/>
                    <a:pt x="390294" y="385996"/>
                    <a:pt x="414305" y="381994"/>
                  </a:cubicBezTo>
                  <a:cubicBezTo>
                    <a:pt x="414305" y="369989"/>
                    <a:pt x="418307" y="357983"/>
                    <a:pt x="422309" y="345977"/>
                  </a:cubicBezTo>
                  <a:cubicBezTo>
                    <a:pt x="422309" y="345977"/>
                    <a:pt x="422309" y="345977"/>
                    <a:pt x="410303" y="329970"/>
                  </a:cubicBezTo>
                  <a:cubicBezTo>
                    <a:pt x="402299" y="321966"/>
                    <a:pt x="402299" y="309960"/>
                    <a:pt x="410303" y="305958"/>
                  </a:cubicBezTo>
                  <a:cubicBezTo>
                    <a:pt x="410303" y="305958"/>
                    <a:pt x="410303" y="305958"/>
                    <a:pt x="430313" y="277945"/>
                  </a:cubicBezTo>
                  <a:cubicBezTo>
                    <a:pt x="434314" y="269942"/>
                    <a:pt x="446320" y="269942"/>
                    <a:pt x="454324" y="273943"/>
                  </a:cubicBezTo>
                  <a:cubicBezTo>
                    <a:pt x="454324" y="273943"/>
                    <a:pt x="454324" y="273943"/>
                    <a:pt x="470331" y="285949"/>
                  </a:cubicBezTo>
                  <a:cubicBezTo>
                    <a:pt x="482337" y="277945"/>
                    <a:pt x="494343" y="273943"/>
                    <a:pt x="506348" y="265940"/>
                  </a:cubicBezTo>
                  <a:cubicBezTo>
                    <a:pt x="506348" y="265940"/>
                    <a:pt x="506348" y="265940"/>
                    <a:pt x="506348" y="249932"/>
                  </a:cubicBezTo>
                  <a:cubicBezTo>
                    <a:pt x="506348" y="237927"/>
                    <a:pt x="514352" y="229923"/>
                    <a:pt x="526358" y="229923"/>
                  </a:cubicBezTo>
                  <a:cubicBezTo>
                    <a:pt x="526358" y="229923"/>
                    <a:pt x="526358" y="229923"/>
                    <a:pt x="558373" y="225921"/>
                  </a:cubicBezTo>
                  <a:close/>
                  <a:moveTo>
                    <a:pt x="219487" y="140549"/>
                  </a:moveTo>
                  <a:cubicBezTo>
                    <a:pt x="175589" y="140549"/>
                    <a:pt x="139673" y="176690"/>
                    <a:pt x="139673" y="216847"/>
                  </a:cubicBezTo>
                  <a:cubicBezTo>
                    <a:pt x="139673" y="261019"/>
                    <a:pt x="175589" y="297160"/>
                    <a:pt x="219487" y="297160"/>
                  </a:cubicBezTo>
                  <a:cubicBezTo>
                    <a:pt x="263384" y="297160"/>
                    <a:pt x="295309" y="261019"/>
                    <a:pt x="295309" y="216847"/>
                  </a:cubicBezTo>
                  <a:cubicBezTo>
                    <a:pt x="295309" y="176690"/>
                    <a:pt x="263384" y="140549"/>
                    <a:pt x="219487" y="140549"/>
                  </a:cubicBezTo>
                  <a:close/>
                  <a:moveTo>
                    <a:pt x="195543" y="0"/>
                  </a:moveTo>
                  <a:cubicBezTo>
                    <a:pt x="195543" y="0"/>
                    <a:pt x="195543" y="0"/>
                    <a:pt x="243431" y="0"/>
                  </a:cubicBezTo>
                  <a:cubicBezTo>
                    <a:pt x="251412" y="0"/>
                    <a:pt x="259393" y="8031"/>
                    <a:pt x="263384" y="16063"/>
                  </a:cubicBezTo>
                  <a:cubicBezTo>
                    <a:pt x="263384" y="16063"/>
                    <a:pt x="263384" y="16063"/>
                    <a:pt x="263384" y="44172"/>
                  </a:cubicBezTo>
                  <a:cubicBezTo>
                    <a:pt x="279346" y="48188"/>
                    <a:pt x="295309" y="56219"/>
                    <a:pt x="307281" y="64251"/>
                  </a:cubicBezTo>
                  <a:cubicBezTo>
                    <a:pt x="307281" y="64251"/>
                    <a:pt x="307281" y="64251"/>
                    <a:pt x="331225" y="48188"/>
                  </a:cubicBezTo>
                  <a:cubicBezTo>
                    <a:pt x="339206" y="40157"/>
                    <a:pt x="347188" y="40157"/>
                    <a:pt x="355169" y="48188"/>
                  </a:cubicBezTo>
                  <a:cubicBezTo>
                    <a:pt x="355169" y="48188"/>
                    <a:pt x="355169" y="48188"/>
                    <a:pt x="391085" y="80314"/>
                  </a:cubicBezTo>
                  <a:cubicBezTo>
                    <a:pt x="395076" y="88345"/>
                    <a:pt x="399066" y="100392"/>
                    <a:pt x="391085" y="108423"/>
                  </a:cubicBezTo>
                  <a:cubicBezTo>
                    <a:pt x="391085" y="108423"/>
                    <a:pt x="391085" y="108423"/>
                    <a:pt x="375122" y="128502"/>
                  </a:cubicBezTo>
                  <a:cubicBezTo>
                    <a:pt x="379113" y="144564"/>
                    <a:pt x="387094" y="156611"/>
                    <a:pt x="391085" y="172674"/>
                  </a:cubicBezTo>
                  <a:cubicBezTo>
                    <a:pt x="391085" y="172674"/>
                    <a:pt x="391085" y="172674"/>
                    <a:pt x="419020" y="176690"/>
                  </a:cubicBezTo>
                  <a:cubicBezTo>
                    <a:pt x="427001" y="176690"/>
                    <a:pt x="434982" y="184721"/>
                    <a:pt x="434982" y="196768"/>
                  </a:cubicBezTo>
                  <a:cubicBezTo>
                    <a:pt x="434982" y="196768"/>
                    <a:pt x="434982" y="196768"/>
                    <a:pt x="434982" y="240941"/>
                  </a:cubicBezTo>
                  <a:cubicBezTo>
                    <a:pt x="434982" y="252988"/>
                    <a:pt x="427001" y="261019"/>
                    <a:pt x="419020" y="261019"/>
                  </a:cubicBezTo>
                  <a:cubicBezTo>
                    <a:pt x="419020" y="261019"/>
                    <a:pt x="419020" y="261019"/>
                    <a:pt x="391085" y="265035"/>
                  </a:cubicBezTo>
                  <a:cubicBezTo>
                    <a:pt x="387094" y="281098"/>
                    <a:pt x="379113" y="293145"/>
                    <a:pt x="371132" y="309207"/>
                  </a:cubicBezTo>
                  <a:cubicBezTo>
                    <a:pt x="371132" y="309207"/>
                    <a:pt x="371132" y="309207"/>
                    <a:pt x="391085" y="333301"/>
                  </a:cubicBezTo>
                  <a:cubicBezTo>
                    <a:pt x="399066" y="341333"/>
                    <a:pt x="395076" y="349364"/>
                    <a:pt x="391085" y="357396"/>
                  </a:cubicBezTo>
                  <a:cubicBezTo>
                    <a:pt x="391085" y="357396"/>
                    <a:pt x="391085" y="357396"/>
                    <a:pt x="355169" y="393537"/>
                  </a:cubicBezTo>
                  <a:cubicBezTo>
                    <a:pt x="347188" y="397552"/>
                    <a:pt x="339206" y="401568"/>
                    <a:pt x="331225" y="393537"/>
                  </a:cubicBezTo>
                  <a:cubicBezTo>
                    <a:pt x="331225" y="393537"/>
                    <a:pt x="331225" y="393537"/>
                    <a:pt x="307281" y="373458"/>
                  </a:cubicBezTo>
                  <a:cubicBezTo>
                    <a:pt x="291318" y="381490"/>
                    <a:pt x="279346" y="389521"/>
                    <a:pt x="263384" y="393537"/>
                  </a:cubicBezTo>
                  <a:cubicBezTo>
                    <a:pt x="263384" y="393537"/>
                    <a:pt x="263384" y="393537"/>
                    <a:pt x="259393" y="421646"/>
                  </a:cubicBezTo>
                  <a:cubicBezTo>
                    <a:pt x="259393" y="433693"/>
                    <a:pt x="251412" y="441725"/>
                    <a:pt x="239440" y="441725"/>
                  </a:cubicBezTo>
                  <a:cubicBezTo>
                    <a:pt x="239440" y="441725"/>
                    <a:pt x="239440" y="441725"/>
                    <a:pt x="191552" y="441725"/>
                  </a:cubicBezTo>
                  <a:cubicBezTo>
                    <a:pt x="183571" y="441725"/>
                    <a:pt x="175589" y="433693"/>
                    <a:pt x="171599" y="421646"/>
                  </a:cubicBezTo>
                  <a:cubicBezTo>
                    <a:pt x="171599" y="421646"/>
                    <a:pt x="171599" y="421646"/>
                    <a:pt x="167608" y="389521"/>
                  </a:cubicBezTo>
                  <a:cubicBezTo>
                    <a:pt x="155636" y="385505"/>
                    <a:pt x="143664" y="381490"/>
                    <a:pt x="127701" y="373458"/>
                  </a:cubicBezTo>
                  <a:cubicBezTo>
                    <a:pt x="127701" y="373458"/>
                    <a:pt x="127701" y="373458"/>
                    <a:pt x="103757" y="393537"/>
                  </a:cubicBezTo>
                  <a:cubicBezTo>
                    <a:pt x="95776" y="397552"/>
                    <a:pt x="87794" y="397552"/>
                    <a:pt x="79813" y="393537"/>
                  </a:cubicBezTo>
                  <a:cubicBezTo>
                    <a:pt x="79813" y="393537"/>
                    <a:pt x="79813" y="393537"/>
                    <a:pt x="43897" y="357396"/>
                  </a:cubicBezTo>
                  <a:cubicBezTo>
                    <a:pt x="39906" y="349364"/>
                    <a:pt x="35916" y="337317"/>
                    <a:pt x="43897" y="329286"/>
                  </a:cubicBezTo>
                  <a:cubicBezTo>
                    <a:pt x="43897" y="329286"/>
                    <a:pt x="43897" y="329286"/>
                    <a:pt x="63850" y="305192"/>
                  </a:cubicBezTo>
                  <a:cubicBezTo>
                    <a:pt x="55869" y="293145"/>
                    <a:pt x="51878" y="281098"/>
                    <a:pt x="47888" y="269051"/>
                  </a:cubicBezTo>
                  <a:lnTo>
                    <a:pt x="15962" y="265035"/>
                  </a:lnTo>
                  <a:cubicBezTo>
                    <a:pt x="7981" y="265035"/>
                    <a:pt x="0" y="252988"/>
                    <a:pt x="0" y="244956"/>
                  </a:cubicBezTo>
                  <a:cubicBezTo>
                    <a:pt x="0" y="244956"/>
                    <a:pt x="0" y="244956"/>
                    <a:pt x="0" y="196768"/>
                  </a:cubicBezTo>
                  <a:cubicBezTo>
                    <a:pt x="0" y="188737"/>
                    <a:pt x="7981" y="176690"/>
                    <a:pt x="15962" y="176690"/>
                  </a:cubicBezTo>
                  <a:cubicBezTo>
                    <a:pt x="15962" y="176690"/>
                    <a:pt x="15962" y="176690"/>
                    <a:pt x="43897" y="172674"/>
                  </a:cubicBezTo>
                  <a:cubicBezTo>
                    <a:pt x="47888" y="160627"/>
                    <a:pt x="55869" y="144564"/>
                    <a:pt x="63850" y="132517"/>
                  </a:cubicBezTo>
                  <a:cubicBezTo>
                    <a:pt x="63850" y="132517"/>
                    <a:pt x="63850" y="132517"/>
                    <a:pt x="43897" y="108423"/>
                  </a:cubicBezTo>
                  <a:cubicBezTo>
                    <a:pt x="35916" y="100392"/>
                    <a:pt x="39906" y="88345"/>
                    <a:pt x="43897" y="80314"/>
                  </a:cubicBezTo>
                  <a:cubicBezTo>
                    <a:pt x="43897" y="80314"/>
                    <a:pt x="43897" y="80314"/>
                    <a:pt x="79813" y="48188"/>
                  </a:cubicBezTo>
                  <a:cubicBezTo>
                    <a:pt x="87794" y="40157"/>
                    <a:pt x="95776" y="40157"/>
                    <a:pt x="103757" y="48188"/>
                  </a:cubicBezTo>
                  <a:cubicBezTo>
                    <a:pt x="103757" y="48188"/>
                    <a:pt x="103757" y="48188"/>
                    <a:pt x="127701" y="64251"/>
                  </a:cubicBezTo>
                  <a:cubicBezTo>
                    <a:pt x="139673" y="56219"/>
                    <a:pt x="155636" y="48188"/>
                    <a:pt x="171599" y="44172"/>
                  </a:cubicBezTo>
                  <a:cubicBezTo>
                    <a:pt x="171599" y="44172"/>
                    <a:pt x="171599" y="44172"/>
                    <a:pt x="175589" y="16063"/>
                  </a:cubicBezTo>
                  <a:cubicBezTo>
                    <a:pt x="175589" y="8031"/>
                    <a:pt x="183571" y="0"/>
                    <a:pt x="1955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6" name="îslidè"/>
            <p:cNvSpPr>
              <a:spLocks/>
            </p:cNvSpPr>
            <p:nvPr/>
          </p:nvSpPr>
          <p:spPr bwMode="auto">
            <a:xfrm>
              <a:off x="6751645" y="2336245"/>
              <a:ext cx="451552" cy="661141"/>
            </a:xfrm>
            <a:custGeom>
              <a:avLst/>
              <a:gdLst>
                <a:gd name="T0" fmla="*/ 2147483647 w 112"/>
                <a:gd name="T1" fmla="*/ 2147483647 h 163"/>
                <a:gd name="T2" fmla="*/ 2147483647 w 112"/>
                <a:gd name="T3" fmla="*/ 2147483647 h 163"/>
                <a:gd name="T4" fmla="*/ 2147483647 w 112"/>
                <a:gd name="T5" fmla="*/ 0 h 163"/>
                <a:gd name="T6" fmla="*/ 0 w 112"/>
                <a:gd name="T7" fmla="*/ 2147483647 h 163"/>
                <a:gd name="T8" fmla="*/ 0 w 112"/>
                <a:gd name="T9" fmla="*/ 2147483647 h 163"/>
                <a:gd name="T10" fmla="*/ 0 w 112"/>
                <a:gd name="T11" fmla="*/ 2147483647 h 163"/>
                <a:gd name="T12" fmla="*/ 2147483647 w 112"/>
                <a:gd name="T13" fmla="*/ 2147483647 h 163"/>
                <a:gd name="T14" fmla="*/ 2147483647 w 112"/>
                <a:gd name="T15" fmla="*/ 2147483647 h 163"/>
                <a:gd name="T16" fmla="*/ 2147483647 w 112"/>
                <a:gd name="T17" fmla="*/ 2147483647 h 163"/>
                <a:gd name="T18" fmla="*/ 2147483647 w 112"/>
                <a:gd name="T19" fmla="*/ 2147483647 h 163"/>
                <a:gd name="T20" fmla="*/ 2147483647 w 112"/>
                <a:gd name="T21" fmla="*/ 2147483647 h 163"/>
                <a:gd name="T22" fmla="*/ 2147483647 w 112"/>
                <a:gd name="T23" fmla="*/ 2147483647 h 163"/>
                <a:gd name="T24" fmla="*/ 2147483647 w 112"/>
                <a:gd name="T25" fmla="*/ 2147483647 h 163"/>
                <a:gd name="T26" fmla="*/ 2147483647 w 112"/>
                <a:gd name="T27" fmla="*/ 2147483647 h 163"/>
                <a:gd name="T28" fmla="*/ 2147483647 w 112"/>
                <a:gd name="T29" fmla="*/ 2147483647 h 163"/>
                <a:gd name="T30" fmla="*/ 2147483647 w 112"/>
                <a:gd name="T31" fmla="*/ 2147483647 h 163"/>
                <a:gd name="T32" fmla="*/ 2147483647 w 112"/>
                <a:gd name="T33" fmla="*/ 2147483647 h 163"/>
                <a:gd name="T34" fmla="*/ 2147483647 w 112"/>
                <a:gd name="T35" fmla="*/ 2147483647 h 163"/>
                <a:gd name="T36" fmla="*/ 2147483647 w 112"/>
                <a:gd name="T37" fmla="*/ 2147483647 h 163"/>
                <a:gd name="T38" fmla="*/ 2147483647 w 112"/>
                <a:gd name="T39" fmla="*/ 2147483647 h 163"/>
                <a:gd name="T40" fmla="*/ 2147483647 w 112"/>
                <a:gd name="T41" fmla="*/ 2147483647 h 16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2" h="163">
                  <a:moveTo>
                    <a:pt x="109" y="41"/>
                  </a:moveTo>
                  <a:cubicBezTo>
                    <a:pt x="109" y="38"/>
                    <a:pt x="108" y="36"/>
                    <a:pt x="107" y="34"/>
                  </a:cubicBezTo>
                  <a:cubicBezTo>
                    <a:pt x="96" y="9"/>
                    <a:pt x="74" y="0"/>
                    <a:pt x="55" y="0"/>
                  </a:cubicBezTo>
                  <a:cubicBezTo>
                    <a:pt x="30" y="0"/>
                    <a:pt x="3" y="16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8"/>
                    <a:pt x="0" y="60"/>
                    <a:pt x="0" y="62"/>
                  </a:cubicBezTo>
                  <a:cubicBezTo>
                    <a:pt x="2" y="78"/>
                    <a:pt x="15" y="95"/>
                    <a:pt x="24" y="111"/>
                  </a:cubicBezTo>
                  <a:cubicBezTo>
                    <a:pt x="35" y="129"/>
                    <a:pt x="45" y="146"/>
                    <a:pt x="56" y="163"/>
                  </a:cubicBezTo>
                  <a:cubicBezTo>
                    <a:pt x="62" y="152"/>
                    <a:pt x="69" y="141"/>
                    <a:pt x="75" y="130"/>
                  </a:cubicBezTo>
                  <a:cubicBezTo>
                    <a:pt x="77" y="127"/>
                    <a:pt x="79" y="123"/>
                    <a:pt x="81" y="120"/>
                  </a:cubicBezTo>
                  <a:cubicBezTo>
                    <a:pt x="82" y="118"/>
                    <a:pt x="84" y="116"/>
                    <a:pt x="85" y="114"/>
                  </a:cubicBezTo>
                  <a:cubicBezTo>
                    <a:pt x="96" y="96"/>
                    <a:pt x="112" y="76"/>
                    <a:pt x="112" y="58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48"/>
                    <a:pt x="110" y="41"/>
                    <a:pt x="109" y="41"/>
                  </a:cubicBezTo>
                  <a:close/>
                  <a:moveTo>
                    <a:pt x="56" y="75"/>
                  </a:moveTo>
                  <a:cubicBezTo>
                    <a:pt x="48" y="75"/>
                    <a:pt x="40" y="72"/>
                    <a:pt x="36" y="62"/>
                  </a:cubicBezTo>
                  <a:cubicBezTo>
                    <a:pt x="36" y="60"/>
                    <a:pt x="36" y="57"/>
                    <a:pt x="36" y="57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40"/>
                    <a:pt x="47" y="34"/>
                    <a:pt x="56" y="34"/>
                  </a:cubicBezTo>
                  <a:cubicBezTo>
                    <a:pt x="68" y="34"/>
                    <a:pt x="77" y="43"/>
                    <a:pt x="77" y="55"/>
                  </a:cubicBezTo>
                  <a:cubicBezTo>
                    <a:pt x="77" y="66"/>
                    <a:pt x="67" y="75"/>
                    <a:pt x="56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7" name="îsļîḍé"/>
            <p:cNvSpPr>
              <a:spLocks/>
            </p:cNvSpPr>
            <p:nvPr/>
          </p:nvSpPr>
          <p:spPr bwMode="auto">
            <a:xfrm>
              <a:off x="5519062" y="4599684"/>
              <a:ext cx="557199" cy="564015"/>
            </a:xfrm>
            <a:custGeom>
              <a:avLst/>
              <a:gdLst>
                <a:gd name="T0" fmla="*/ 243094 w 551315"/>
                <a:gd name="T1" fmla="*/ 495485 h 558059"/>
                <a:gd name="T2" fmla="*/ 483467 w 551315"/>
                <a:gd name="T3" fmla="*/ 495485 h 558059"/>
                <a:gd name="T4" fmla="*/ 504373 w 551315"/>
                <a:gd name="T5" fmla="*/ 517213 h 558059"/>
                <a:gd name="T6" fmla="*/ 483467 w 551315"/>
                <a:gd name="T7" fmla="*/ 544370 h 558059"/>
                <a:gd name="T8" fmla="*/ 243094 w 551315"/>
                <a:gd name="T9" fmla="*/ 544370 h 558059"/>
                <a:gd name="T10" fmla="*/ 222192 w 551315"/>
                <a:gd name="T11" fmla="*/ 517213 h 558059"/>
                <a:gd name="T12" fmla="*/ 243094 w 551315"/>
                <a:gd name="T13" fmla="*/ 495485 h 558059"/>
                <a:gd name="T14" fmla="*/ 194415 w 551315"/>
                <a:gd name="T15" fmla="*/ 395503 h 558059"/>
                <a:gd name="T16" fmla="*/ 532145 w 551315"/>
                <a:gd name="T17" fmla="*/ 395503 h 558059"/>
                <a:gd name="T18" fmla="*/ 553254 w 551315"/>
                <a:gd name="T19" fmla="*/ 422163 h 558059"/>
                <a:gd name="T20" fmla="*/ 532145 w 551315"/>
                <a:gd name="T21" fmla="*/ 448827 h 558059"/>
                <a:gd name="T22" fmla="*/ 194415 w 551315"/>
                <a:gd name="T23" fmla="*/ 448827 h 558059"/>
                <a:gd name="T24" fmla="*/ 173310 w 551315"/>
                <a:gd name="T25" fmla="*/ 422163 h 558059"/>
                <a:gd name="T26" fmla="*/ 194415 w 551315"/>
                <a:gd name="T27" fmla="*/ 395503 h 558059"/>
                <a:gd name="T28" fmla="*/ 152682 w 551315"/>
                <a:gd name="T29" fmla="*/ 338625 h 558059"/>
                <a:gd name="T30" fmla="*/ 110562 w 551315"/>
                <a:gd name="T31" fmla="*/ 375663 h 558059"/>
                <a:gd name="T32" fmla="*/ 110562 w 551315"/>
                <a:gd name="T33" fmla="*/ 582013 h 558059"/>
                <a:gd name="T34" fmla="*/ 152682 w 551315"/>
                <a:gd name="T35" fmla="*/ 619049 h 558059"/>
                <a:gd name="T36" fmla="*/ 573878 w 551315"/>
                <a:gd name="T37" fmla="*/ 619049 h 558059"/>
                <a:gd name="T38" fmla="*/ 616001 w 551315"/>
                <a:gd name="T39" fmla="*/ 582013 h 558059"/>
                <a:gd name="T40" fmla="*/ 616001 w 551315"/>
                <a:gd name="T41" fmla="*/ 375663 h 558059"/>
                <a:gd name="T42" fmla="*/ 573878 w 551315"/>
                <a:gd name="T43" fmla="*/ 338625 h 558059"/>
                <a:gd name="T44" fmla="*/ 152682 w 551315"/>
                <a:gd name="T45" fmla="*/ 338625 h 558059"/>
                <a:gd name="T46" fmla="*/ 211081 w 551315"/>
                <a:gd name="T47" fmla="*/ 0 h 558059"/>
                <a:gd name="T48" fmla="*/ 515483 w 551315"/>
                <a:gd name="T49" fmla="*/ 0 h 558059"/>
                <a:gd name="T50" fmla="*/ 515483 w 551315"/>
                <a:gd name="T51" fmla="*/ 121863 h 558059"/>
                <a:gd name="T52" fmla="*/ 499737 w 551315"/>
                <a:gd name="T53" fmla="*/ 137761 h 558059"/>
                <a:gd name="T54" fmla="*/ 226826 w 551315"/>
                <a:gd name="T55" fmla="*/ 137761 h 558059"/>
                <a:gd name="T56" fmla="*/ 211081 w 551315"/>
                <a:gd name="T57" fmla="*/ 121863 h 558059"/>
                <a:gd name="T58" fmla="*/ 211081 w 551315"/>
                <a:gd name="T59" fmla="*/ 0 h 558059"/>
                <a:gd name="T60" fmla="*/ 68442 w 551315"/>
                <a:gd name="T61" fmla="*/ 0 h 558059"/>
                <a:gd name="T62" fmla="*/ 163214 w 551315"/>
                <a:gd name="T63" fmla="*/ 0 h 558059"/>
                <a:gd name="T64" fmla="*/ 163214 w 551315"/>
                <a:gd name="T65" fmla="*/ 121694 h 558059"/>
                <a:gd name="T66" fmla="*/ 226393 w 551315"/>
                <a:gd name="T67" fmla="*/ 185185 h 558059"/>
                <a:gd name="T68" fmla="*/ 500174 w 551315"/>
                <a:gd name="T69" fmla="*/ 185185 h 558059"/>
                <a:gd name="T70" fmla="*/ 563349 w 551315"/>
                <a:gd name="T71" fmla="*/ 121694 h 558059"/>
                <a:gd name="T72" fmla="*/ 563349 w 551315"/>
                <a:gd name="T73" fmla="*/ 31746 h 558059"/>
                <a:gd name="T74" fmla="*/ 716033 w 551315"/>
                <a:gd name="T75" fmla="*/ 185185 h 558059"/>
                <a:gd name="T76" fmla="*/ 726562 w 551315"/>
                <a:gd name="T77" fmla="*/ 211641 h 558059"/>
                <a:gd name="T78" fmla="*/ 726562 w 551315"/>
                <a:gd name="T79" fmla="*/ 666671 h 558059"/>
                <a:gd name="T80" fmla="*/ 658120 w 551315"/>
                <a:gd name="T81" fmla="*/ 735450 h 558059"/>
                <a:gd name="T82" fmla="*/ 68442 w 551315"/>
                <a:gd name="T83" fmla="*/ 735450 h 558059"/>
                <a:gd name="T84" fmla="*/ 0 w 551315"/>
                <a:gd name="T85" fmla="*/ 666671 h 558059"/>
                <a:gd name="T86" fmla="*/ 0 w 551315"/>
                <a:gd name="T87" fmla="*/ 68782 h 558059"/>
                <a:gd name="T88" fmla="*/ 68442 w 551315"/>
                <a:gd name="T89" fmla="*/ 0 h 5580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51315" h="558059">
                  <a:moveTo>
                    <a:pt x="184459" y="375973"/>
                  </a:moveTo>
                  <a:cubicBezTo>
                    <a:pt x="184459" y="375973"/>
                    <a:pt x="184459" y="375973"/>
                    <a:pt x="366857" y="375973"/>
                  </a:cubicBezTo>
                  <a:cubicBezTo>
                    <a:pt x="374787" y="375973"/>
                    <a:pt x="382717" y="384216"/>
                    <a:pt x="382717" y="392459"/>
                  </a:cubicBezTo>
                  <a:cubicBezTo>
                    <a:pt x="382717" y="404823"/>
                    <a:pt x="374787" y="413065"/>
                    <a:pt x="366857" y="413065"/>
                  </a:cubicBezTo>
                  <a:cubicBezTo>
                    <a:pt x="366857" y="413065"/>
                    <a:pt x="366857" y="413065"/>
                    <a:pt x="184459" y="413065"/>
                  </a:cubicBezTo>
                  <a:cubicBezTo>
                    <a:pt x="176529" y="413065"/>
                    <a:pt x="168598" y="404823"/>
                    <a:pt x="168598" y="392459"/>
                  </a:cubicBezTo>
                  <a:cubicBezTo>
                    <a:pt x="168598" y="384216"/>
                    <a:pt x="176529" y="375973"/>
                    <a:pt x="184459" y="375973"/>
                  </a:cubicBezTo>
                  <a:close/>
                  <a:moveTo>
                    <a:pt x="147524" y="300104"/>
                  </a:moveTo>
                  <a:cubicBezTo>
                    <a:pt x="147524" y="300104"/>
                    <a:pt x="147524" y="300104"/>
                    <a:pt x="403792" y="300104"/>
                  </a:cubicBezTo>
                  <a:cubicBezTo>
                    <a:pt x="411801" y="300104"/>
                    <a:pt x="419809" y="308197"/>
                    <a:pt x="419809" y="320336"/>
                  </a:cubicBezTo>
                  <a:cubicBezTo>
                    <a:pt x="419809" y="332475"/>
                    <a:pt x="411801" y="340567"/>
                    <a:pt x="403792" y="340567"/>
                  </a:cubicBezTo>
                  <a:cubicBezTo>
                    <a:pt x="403792" y="340567"/>
                    <a:pt x="403792" y="340567"/>
                    <a:pt x="147524" y="340567"/>
                  </a:cubicBezTo>
                  <a:cubicBezTo>
                    <a:pt x="139515" y="340567"/>
                    <a:pt x="131507" y="332475"/>
                    <a:pt x="131507" y="320336"/>
                  </a:cubicBezTo>
                  <a:cubicBezTo>
                    <a:pt x="131507" y="308197"/>
                    <a:pt x="139515" y="300104"/>
                    <a:pt x="147524" y="300104"/>
                  </a:cubicBezTo>
                  <a:close/>
                  <a:moveTo>
                    <a:pt x="115856" y="256948"/>
                  </a:moveTo>
                  <a:cubicBezTo>
                    <a:pt x="99876" y="256948"/>
                    <a:pt x="83896" y="268993"/>
                    <a:pt x="83896" y="285052"/>
                  </a:cubicBezTo>
                  <a:cubicBezTo>
                    <a:pt x="83896" y="285052"/>
                    <a:pt x="83896" y="285052"/>
                    <a:pt x="83896" y="441630"/>
                  </a:cubicBezTo>
                  <a:cubicBezTo>
                    <a:pt x="83896" y="457689"/>
                    <a:pt x="99876" y="469733"/>
                    <a:pt x="115856" y="469733"/>
                  </a:cubicBezTo>
                  <a:cubicBezTo>
                    <a:pt x="115856" y="469733"/>
                    <a:pt x="115856" y="469733"/>
                    <a:pt x="435459" y="469733"/>
                  </a:cubicBezTo>
                  <a:cubicBezTo>
                    <a:pt x="451439" y="469733"/>
                    <a:pt x="467419" y="457689"/>
                    <a:pt x="467419" y="441630"/>
                  </a:cubicBezTo>
                  <a:lnTo>
                    <a:pt x="467419" y="285052"/>
                  </a:lnTo>
                  <a:cubicBezTo>
                    <a:pt x="467419" y="268993"/>
                    <a:pt x="451439" y="256948"/>
                    <a:pt x="435459" y="256948"/>
                  </a:cubicBezTo>
                  <a:cubicBezTo>
                    <a:pt x="435459" y="256948"/>
                    <a:pt x="435459" y="256948"/>
                    <a:pt x="115856" y="256948"/>
                  </a:cubicBezTo>
                  <a:close/>
                  <a:moveTo>
                    <a:pt x="160168" y="0"/>
                  </a:moveTo>
                  <a:cubicBezTo>
                    <a:pt x="160168" y="0"/>
                    <a:pt x="160168" y="0"/>
                    <a:pt x="391147" y="0"/>
                  </a:cubicBezTo>
                  <a:cubicBezTo>
                    <a:pt x="391147" y="0"/>
                    <a:pt x="391147" y="0"/>
                    <a:pt x="391147" y="92470"/>
                  </a:cubicBezTo>
                  <a:cubicBezTo>
                    <a:pt x="391147" y="100511"/>
                    <a:pt x="383182" y="104531"/>
                    <a:pt x="379200" y="104531"/>
                  </a:cubicBezTo>
                  <a:cubicBezTo>
                    <a:pt x="379200" y="104531"/>
                    <a:pt x="379200" y="104531"/>
                    <a:pt x="172115" y="104531"/>
                  </a:cubicBezTo>
                  <a:cubicBezTo>
                    <a:pt x="168133" y="104531"/>
                    <a:pt x="160168" y="100511"/>
                    <a:pt x="160168" y="92470"/>
                  </a:cubicBezTo>
                  <a:cubicBezTo>
                    <a:pt x="160168" y="92470"/>
                    <a:pt x="160168" y="92470"/>
                    <a:pt x="160168" y="0"/>
                  </a:cubicBezTo>
                  <a:close/>
                  <a:moveTo>
                    <a:pt x="51935" y="0"/>
                  </a:moveTo>
                  <a:cubicBezTo>
                    <a:pt x="51935" y="0"/>
                    <a:pt x="51935" y="0"/>
                    <a:pt x="123846" y="0"/>
                  </a:cubicBezTo>
                  <a:cubicBezTo>
                    <a:pt x="123846" y="0"/>
                    <a:pt x="123846" y="0"/>
                    <a:pt x="123846" y="92341"/>
                  </a:cubicBezTo>
                  <a:cubicBezTo>
                    <a:pt x="123846" y="120445"/>
                    <a:pt x="147816" y="140519"/>
                    <a:pt x="171787" y="140519"/>
                  </a:cubicBezTo>
                  <a:cubicBezTo>
                    <a:pt x="171787" y="140519"/>
                    <a:pt x="171787" y="140519"/>
                    <a:pt x="379529" y="140519"/>
                  </a:cubicBezTo>
                  <a:cubicBezTo>
                    <a:pt x="403499" y="140519"/>
                    <a:pt x="427469" y="120445"/>
                    <a:pt x="427469" y="92341"/>
                  </a:cubicBezTo>
                  <a:cubicBezTo>
                    <a:pt x="427469" y="92341"/>
                    <a:pt x="427469" y="92341"/>
                    <a:pt x="427469" y="24089"/>
                  </a:cubicBezTo>
                  <a:cubicBezTo>
                    <a:pt x="427469" y="24089"/>
                    <a:pt x="427469" y="24089"/>
                    <a:pt x="543325" y="140519"/>
                  </a:cubicBezTo>
                  <a:cubicBezTo>
                    <a:pt x="547320" y="148548"/>
                    <a:pt x="551315" y="152563"/>
                    <a:pt x="551315" y="160593"/>
                  </a:cubicBezTo>
                  <a:cubicBezTo>
                    <a:pt x="551315" y="160593"/>
                    <a:pt x="551315" y="160593"/>
                    <a:pt x="551315" y="505867"/>
                  </a:cubicBezTo>
                  <a:cubicBezTo>
                    <a:pt x="551315" y="533970"/>
                    <a:pt x="527345" y="558059"/>
                    <a:pt x="499380" y="558059"/>
                  </a:cubicBezTo>
                  <a:cubicBezTo>
                    <a:pt x="499380" y="558059"/>
                    <a:pt x="499380" y="558059"/>
                    <a:pt x="51935" y="558059"/>
                  </a:cubicBezTo>
                  <a:cubicBezTo>
                    <a:pt x="23970" y="558059"/>
                    <a:pt x="0" y="533970"/>
                    <a:pt x="0" y="505867"/>
                  </a:cubicBezTo>
                  <a:cubicBezTo>
                    <a:pt x="0" y="505867"/>
                    <a:pt x="0" y="505867"/>
                    <a:pt x="0" y="52193"/>
                  </a:cubicBezTo>
                  <a:cubicBezTo>
                    <a:pt x="0" y="24089"/>
                    <a:pt x="23970" y="0"/>
                    <a:pt x="5193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94212" name="Picture 4" descr="ç¸éåç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792" y="2852936"/>
            <a:ext cx="6635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" name="文字方塊 3"/>
          <p:cNvSpPr txBox="1">
            <a:spLocks noChangeArrowheads="1"/>
          </p:cNvSpPr>
          <p:nvPr/>
        </p:nvSpPr>
        <p:spPr bwMode="auto">
          <a:xfrm>
            <a:off x="3799695" y="1556792"/>
            <a:ext cx="494876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marR="0" lvl="0" indent="-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每年成功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主辦承銷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件案子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，近年主辦案件數業界領先，豐富經驗可提供最專業且具品質的服務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1950" marR="0" lvl="0" indent="-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承作多件產業第一家</a:t>
            </a:r>
            <a:r>
              <a:rPr lang="en-US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案件、集團子公司</a:t>
            </a:r>
            <a:r>
              <a:rPr lang="en-US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案件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文字方塊 8"/>
          <p:cNvSpPr txBox="1">
            <a:spLocks noChangeArrowheads="1"/>
          </p:cNvSpPr>
          <p:nvPr/>
        </p:nvSpPr>
        <p:spPr bwMode="auto">
          <a:xfrm>
            <a:off x="3799695" y="2761764"/>
            <a:ext cx="494876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資本市場處與主管機關保持良好合作關係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TW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新金控吳光雄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顧問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曾任台灣證券交易所總經理，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台新證券郭嘉宏董事長為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現任櫃買中心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董事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文字方塊 11"/>
          <p:cNvSpPr txBox="1">
            <a:spLocks noChangeArrowheads="1"/>
          </p:cNvSpPr>
          <p:nvPr/>
        </p:nvSpPr>
        <p:spPr bwMode="auto">
          <a:xfrm>
            <a:off x="3808158" y="4058488"/>
            <a:ext cx="494030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marR="0" lvl="0" indent="-18415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台新金控法人金融與個人金融業務均居</a:t>
            </a:r>
            <a:r>
              <a:rPr lang="zh-TW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業界前三名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，具備直接投資、融資服務、現金管理、承銷輔導、財務顧問等服務</a:t>
            </a:r>
          </a:p>
        </p:txBody>
      </p:sp>
      <p:sp>
        <p:nvSpPr>
          <p:cNvPr id="134" name="文字方塊 12"/>
          <p:cNvSpPr txBox="1">
            <a:spLocks noChangeArrowheads="1"/>
          </p:cNvSpPr>
          <p:nvPr/>
        </p:nvSpPr>
        <p:spPr bwMode="auto">
          <a:xfrm>
            <a:off x="3779514" y="5282624"/>
            <a:ext cx="49689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與國內外投資法人與投資銀行具良好合作關係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，透過精準定位、專業造勢與媒體公關活動，彰顯公司投資價值，造就公司、台新與投資人三贏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467544" y="308198"/>
            <a:ext cx="73120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808080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 pitchFamily="34" charset="-120"/>
                <a:cs typeface="+mj-cs"/>
              </a:rPr>
              <a:t>首選台新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itchFamily="34" charset="-120"/>
                <a:cs typeface="+mj-cs"/>
              </a:rPr>
              <a:t>-</a:t>
            </a:r>
            <a:r>
              <a:rPr lang="zh-TW" altLang="en-US" dirty="0">
                <a:solidFill>
                  <a:schemeClr val="tx1"/>
                </a:solidFill>
              </a:rPr>
              <a:t>資本市場最佳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軟正黑體" pitchFamily="34" charset="-120"/>
                <a:cs typeface="+mj-cs"/>
              </a:rPr>
              <a:t>合作夥伴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微軟正黑體" pitchFamily="34" charset="-120"/>
              <a:cs typeface="+mj-cs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3934954" y="1210484"/>
            <a:ext cx="4813510" cy="327804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defTabSz="457200">
              <a:spcBef>
                <a:spcPts val="300"/>
              </a:spcBef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具各產業</a:t>
            </a:r>
            <a:r>
              <a: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先行者經驗、承作多起集團子公司</a:t>
            </a:r>
            <a:r>
              <a: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endParaRPr lang="zh-TW" altLang="en-US" sz="14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圓角矩形 28"/>
          <p:cNvSpPr/>
          <p:nvPr/>
        </p:nvSpPr>
        <p:spPr>
          <a:xfrm>
            <a:off x="3934954" y="2420888"/>
            <a:ext cx="4813510" cy="322874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457200">
              <a:spcBef>
                <a:spcPts val="300"/>
              </a:spcBef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主管機關關係佳</a:t>
            </a:r>
            <a:r>
              <a:rPr lang="zh-TW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，確保申請案件順利過關</a:t>
            </a:r>
          </a:p>
        </p:txBody>
      </p:sp>
      <p:sp>
        <p:nvSpPr>
          <p:cNvPr id="30" name="圓角矩形 29"/>
          <p:cNvSpPr/>
          <p:nvPr/>
        </p:nvSpPr>
        <p:spPr>
          <a:xfrm>
            <a:off x="3923927" y="3731400"/>
            <a:ext cx="4824537" cy="327088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投行架構提供全方位金融服務，滿足客戶各階段需求</a:t>
            </a:r>
            <a:endParaRPr kumimoji="1"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圓角矩形 30"/>
          <p:cNvSpPr/>
          <p:nvPr/>
        </p:nvSpPr>
        <p:spPr>
          <a:xfrm>
            <a:off x="3923928" y="4935735"/>
            <a:ext cx="4824536" cy="328885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配售通路與造勢能力優異，協助公司創造價值極大化</a:t>
            </a:r>
          </a:p>
        </p:txBody>
      </p:sp>
    </p:spTree>
    <p:extLst>
      <p:ext uri="{BB962C8B-B14F-4D97-AF65-F5344CB8AC3E}">
        <p14:creationId xmlns:p14="http://schemas.microsoft.com/office/powerpoint/2010/main" val="1836471495"/>
      </p:ext>
    </p:extLst>
  </p:cSld>
  <p:clrMapOvr>
    <a:masterClrMapping/>
  </p:clrMapOvr>
  <p:transition>
    <p:spli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2951956" y="1556792"/>
            <a:ext cx="3240087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6600" dirty="0">
                <a:solidFill>
                  <a:srgbClr val="656565"/>
                </a:solidFill>
              </a:rPr>
              <a:t>Q &amp; A</a:t>
            </a:r>
          </a:p>
        </p:txBody>
      </p:sp>
      <p:pic>
        <p:nvPicPr>
          <p:cNvPr id="4" name="Picture 4" descr="ç¸éåç">
            <a:extLst>
              <a:ext uri="{FF2B5EF4-FFF2-40B4-BE49-F238E27FC236}">
                <a16:creationId xmlns:a16="http://schemas.microsoft.com/office/drawing/2014/main" id="{1944D6C9-5A6B-4F3E-818C-60CCA038D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501008"/>
            <a:ext cx="922312" cy="8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spli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字方塊 30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Revenue Growth % + Profitability Margin %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40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，為經驗法則指數，非上市條件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5376" y="1700808"/>
            <a:ext cx="8185702" cy="514350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6860" y="1828157"/>
            <a:ext cx="7908220" cy="30469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800" b="1">
                <a:solidFill>
                  <a:srgbClr val="D20000"/>
                </a:solidFill>
                <a:latin typeface="Arial"/>
              </a:defRPr>
            </a:pPr>
            <a:r>
              <a:rPr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of 40 Score = YoY Revenue Growth (%) + Profitability Margin (%)</a:t>
            </a:r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of 40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：檢驗成長效率</a:t>
            </a:r>
          </a:p>
        </p:txBody>
      </p:sp>
      <p:sp>
        <p:nvSpPr>
          <p:cNvPr id="34" name="Text 5"/>
          <p:cNvSpPr/>
          <p:nvPr/>
        </p:nvSpPr>
        <p:spPr>
          <a:xfrm>
            <a:off x="594360" y="2648295"/>
            <a:ext cx="3282696" cy="20807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3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分界線：Growth + Margin = 40%</a:t>
            </a:r>
            <a:endParaRPr lang="en-US" sz="1200" dirty="0"/>
          </a:p>
        </p:txBody>
      </p:sp>
      <p:sp>
        <p:nvSpPr>
          <p:cNvPr id="35" name="Shape 6"/>
          <p:cNvSpPr/>
          <p:nvPr/>
        </p:nvSpPr>
        <p:spPr>
          <a:xfrm>
            <a:off x="731520" y="5620096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7"/>
          <p:cNvSpPr/>
          <p:nvPr/>
        </p:nvSpPr>
        <p:spPr>
          <a:xfrm>
            <a:off x="731520" y="2968336"/>
            <a:ext cx="0" cy="2651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8"/>
          <p:cNvSpPr/>
          <p:nvPr/>
        </p:nvSpPr>
        <p:spPr>
          <a:xfrm>
            <a:off x="179451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9"/>
          <p:cNvSpPr/>
          <p:nvPr/>
        </p:nvSpPr>
        <p:spPr>
          <a:xfrm>
            <a:off x="731520" y="363127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10"/>
          <p:cNvSpPr/>
          <p:nvPr/>
        </p:nvSpPr>
        <p:spPr>
          <a:xfrm>
            <a:off x="285750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11"/>
          <p:cNvSpPr/>
          <p:nvPr/>
        </p:nvSpPr>
        <p:spPr>
          <a:xfrm>
            <a:off x="731520" y="429421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12"/>
          <p:cNvSpPr/>
          <p:nvPr/>
        </p:nvSpPr>
        <p:spPr>
          <a:xfrm>
            <a:off x="392049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13"/>
          <p:cNvSpPr/>
          <p:nvPr/>
        </p:nvSpPr>
        <p:spPr>
          <a:xfrm>
            <a:off x="731520" y="495715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14"/>
          <p:cNvSpPr/>
          <p:nvPr/>
        </p:nvSpPr>
        <p:spPr>
          <a:xfrm>
            <a:off x="731520" y="2968336"/>
            <a:ext cx="4251960" cy="2651760"/>
          </a:xfrm>
          <a:prstGeom prst="line">
            <a:avLst/>
          </a:prstGeom>
          <a:noFill/>
          <a:ln w="26670">
            <a:solidFill>
              <a:srgbClr val="B40000"/>
            </a:solidFill>
            <a:prstDash val="solid"/>
          </a:ln>
        </p:spPr>
      </p:sp>
      <p:sp>
        <p:nvSpPr>
          <p:cNvPr id="44" name="Text 15"/>
          <p:cNvSpPr/>
          <p:nvPr/>
        </p:nvSpPr>
        <p:spPr>
          <a:xfrm>
            <a:off x="3547872" y="2931800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≥ 40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1115616" y="4842856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&lt; 40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1264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-40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167563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-20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273862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380161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486460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320040" y="555608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320040" y="489314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200" dirty="0"/>
          </a:p>
        </p:txBody>
      </p:sp>
      <p:sp>
        <p:nvSpPr>
          <p:cNvPr id="53" name="Text 24"/>
          <p:cNvSpPr/>
          <p:nvPr/>
        </p:nvSpPr>
        <p:spPr>
          <a:xfrm>
            <a:off x="320040" y="423020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320040" y="356726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endParaRPr lang="en-US" sz="1200" dirty="0"/>
          </a:p>
        </p:txBody>
      </p:sp>
      <p:sp>
        <p:nvSpPr>
          <p:cNvPr id="55" name="Text 26"/>
          <p:cNvSpPr/>
          <p:nvPr/>
        </p:nvSpPr>
        <p:spPr>
          <a:xfrm>
            <a:off x="320040" y="290432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</a:t>
            </a:r>
            <a:endParaRPr lang="en-US" sz="1200" dirty="0"/>
          </a:p>
        </p:txBody>
      </p:sp>
      <p:sp>
        <p:nvSpPr>
          <p:cNvPr id="56" name="Text 27"/>
          <p:cNvSpPr/>
          <p:nvPr/>
        </p:nvSpPr>
        <p:spPr>
          <a:xfrm>
            <a:off x="2148840" y="5830408"/>
            <a:ext cx="164592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獲利率／Margin</a:t>
            </a:r>
            <a:r>
              <a:rPr lang="en-US" sz="12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（%）</a:t>
            </a:r>
            <a:endParaRPr lang="en-US" sz="1200" dirty="0"/>
          </a:p>
        </p:txBody>
      </p:sp>
      <p:sp>
        <p:nvSpPr>
          <p:cNvPr id="57" name="Shape 28"/>
          <p:cNvSpPr/>
          <p:nvPr/>
        </p:nvSpPr>
        <p:spPr>
          <a:xfrm>
            <a:off x="3268981" y="4328506"/>
            <a:ext cx="219456" cy="219456"/>
          </a:xfrm>
          <a:prstGeom prst="ellipse">
            <a:avLst/>
          </a:prstGeom>
          <a:solidFill>
            <a:srgbClr val="C00000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29"/>
          <p:cNvSpPr/>
          <p:nvPr/>
        </p:nvSpPr>
        <p:spPr>
          <a:xfrm>
            <a:off x="3334131" y="439137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200" dirty="0"/>
          </a:p>
        </p:txBody>
      </p:sp>
      <p:sp>
        <p:nvSpPr>
          <p:cNvPr id="59" name="Shape 30"/>
          <p:cNvSpPr/>
          <p:nvPr/>
        </p:nvSpPr>
        <p:spPr>
          <a:xfrm>
            <a:off x="1153288" y="3654136"/>
            <a:ext cx="219456" cy="219456"/>
          </a:xfrm>
          <a:prstGeom prst="ellipse">
            <a:avLst/>
          </a:prstGeom>
          <a:solidFill>
            <a:srgbClr val="D95A5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0" name="Text 31"/>
          <p:cNvSpPr/>
          <p:nvPr/>
        </p:nvSpPr>
        <p:spPr>
          <a:xfrm>
            <a:off x="1208151" y="372843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200" dirty="0"/>
          </a:p>
        </p:txBody>
      </p:sp>
      <p:sp>
        <p:nvSpPr>
          <p:cNvPr id="61" name="Shape 32"/>
          <p:cNvSpPr/>
          <p:nvPr/>
        </p:nvSpPr>
        <p:spPr>
          <a:xfrm>
            <a:off x="4071367" y="4825736"/>
            <a:ext cx="219456" cy="219456"/>
          </a:xfrm>
          <a:prstGeom prst="ellipse">
            <a:avLst/>
          </a:prstGeom>
          <a:solidFill>
            <a:srgbClr val="A67C45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2" name="Text 33"/>
          <p:cNvSpPr/>
          <p:nvPr/>
        </p:nvSpPr>
        <p:spPr>
          <a:xfrm>
            <a:off x="4131374" y="4888576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200" dirty="0"/>
          </a:p>
        </p:txBody>
      </p:sp>
      <p:sp>
        <p:nvSpPr>
          <p:cNvPr id="63" name="Shape 34"/>
          <p:cNvSpPr/>
          <p:nvPr/>
        </p:nvSpPr>
        <p:spPr>
          <a:xfrm>
            <a:off x="2205991" y="5009744"/>
            <a:ext cx="219456" cy="219456"/>
          </a:xfrm>
          <a:prstGeom prst="ellipse">
            <a:avLst/>
          </a:prstGeom>
          <a:solidFill>
            <a:srgbClr val="999999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35"/>
          <p:cNvSpPr/>
          <p:nvPr/>
        </p:nvSpPr>
        <p:spPr>
          <a:xfrm>
            <a:off x="2271141" y="505431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200" dirty="0"/>
          </a:p>
        </p:txBody>
      </p:sp>
      <p:sp>
        <p:nvSpPr>
          <p:cNvPr id="66" name="Text 37"/>
          <p:cNvSpPr/>
          <p:nvPr/>
        </p:nvSpPr>
        <p:spPr>
          <a:xfrm>
            <a:off x="3657600" y="3156968"/>
            <a:ext cx="9144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4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高品質成長</a:t>
            </a:r>
            <a:endParaRPr lang="en-US" sz="1200" dirty="0"/>
          </a:p>
        </p:txBody>
      </p:sp>
      <p:sp>
        <p:nvSpPr>
          <p:cNvPr id="67" name="Text 38"/>
          <p:cNvSpPr/>
          <p:nvPr/>
        </p:nvSpPr>
        <p:spPr>
          <a:xfrm>
            <a:off x="3877056" y="5464648"/>
            <a:ext cx="7132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B7A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成熟獲利</a:t>
            </a:r>
            <a:endParaRPr lang="en-US" sz="1200" dirty="0"/>
          </a:p>
        </p:txBody>
      </p:sp>
      <p:sp>
        <p:nvSpPr>
          <p:cNvPr id="68" name="Text 39"/>
          <p:cNvSpPr/>
          <p:nvPr/>
        </p:nvSpPr>
        <p:spPr>
          <a:xfrm>
            <a:off x="914400" y="5464648"/>
            <a:ext cx="10972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低成長／低獲利</a:t>
            </a:r>
            <a:endParaRPr lang="en-US" sz="1200" dirty="0"/>
          </a:p>
        </p:txBody>
      </p:sp>
      <p:sp>
        <p:nvSpPr>
          <p:cNvPr id="69" name="Text 40"/>
          <p:cNvSpPr/>
          <p:nvPr/>
        </p:nvSpPr>
        <p:spPr>
          <a:xfrm>
            <a:off x="5724128" y="2651768"/>
            <a:ext cx="2194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3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四種情境怎麼看？</a:t>
            </a:r>
            <a:endParaRPr lang="en-US" sz="1400" dirty="0"/>
          </a:p>
        </p:txBody>
      </p:sp>
      <p:sp>
        <p:nvSpPr>
          <p:cNvPr id="70" name="Shape 41"/>
          <p:cNvSpPr/>
          <p:nvPr/>
        </p:nvSpPr>
        <p:spPr>
          <a:xfrm>
            <a:off x="5724144" y="3096352"/>
            <a:ext cx="164592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B4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42"/>
          <p:cNvSpPr/>
          <p:nvPr/>
        </p:nvSpPr>
        <p:spPr>
          <a:xfrm>
            <a:off x="5961888" y="3078064"/>
            <a:ext cx="293059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A：35% 成長 + 10% Margin = 45</a:t>
            </a:r>
            <a:endParaRPr lang="en-US" sz="1200" dirty="0"/>
          </a:p>
        </p:txBody>
      </p:sp>
      <p:sp>
        <p:nvSpPr>
          <p:cNvPr id="72" name="Text 43"/>
          <p:cNvSpPr/>
          <p:nvPr/>
        </p:nvSpPr>
        <p:spPr>
          <a:xfrm>
            <a:off x="5961888" y="3316984"/>
            <a:ext cx="25420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成長與現金流較平衡，較容易</a:t>
            </a:r>
            <a:r>
              <a:rPr lang="zh-TW" alt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</a:t>
            </a: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市場信任</a:t>
            </a:r>
            <a:endParaRPr lang="en-US" sz="1200" dirty="0"/>
          </a:p>
        </p:txBody>
      </p:sp>
      <p:sp>
        <p:nvSpPr>
          <p:cNvPr id="73" name="Shape 44"/>
          <p:cNvSpPr/>
          <p:nvPr/>
        </p:nvSpPr>
        <p:spPr>
          <a:xfrm>
            <a:off x="5724144" y="3782152"/>
            <a:ext cx="164592" cy="411480"/>
          </a:xfrm>
          <a:prstGeom prst="rect">
            <a:avLst/>
          </a:prstGeom>
          <a:solidFill>
            <a:srgbClr val="D95A5A"/>
          </a:solidFill>
          <a:ln w="12700">
            <a:solidFill>
              <a:srgbClr val="D95A5A"/>
            </a:solidFill>
            <a:prstDash val="solid"/>
          </a:ln>
        </p:spPr>
      </p:sp>
      <p:sp>
        <p:nvSpPr>
          <p:cNvPr id="74" name="Text 45"/>
          <p:cNvSpPr/>
          <p:nvPr/>
        </p:nvSpPr>
        <p:spPr>
          <a:xfrm>
            <a:off x="5961888" y="3840472"/>
            <a:ext cx="278657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B：55% 成長 − 30% Margin = 25</a:t>
            </a:r>
            <a:endParaRPr lang="en-US" sz="1200" dirty="0"/>
          </a:p>
        </p:txBody>
      </p:sp>
      <p:sp>
        <p:nvSpPr>
          <p:cNvPr id="75" name="Text 46"/>
          <p:cNvSpPr/>
          <p:nvPr/>
        </p:nvSpPr>
        <p:spPr>
          <a:xfrm>
            <a:off x="5961888" y="4005064"/>
            <a:ext cx="25420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高成長但現金消耗大，需證明未來效率可改善</a:t>
            </a:r>
            <a:endParaRPr lang="en-US" sz="1200" dirty="0"/>
          </a:p>
        </p:txBody>
      </p:sp>
      <p:sp>
        <p:nvSpPr>
          <p:cNvPr id="76" name="Shape 47"/>
          <p:cNvSpPr/>
          <p:nvPr/>
        </p:nvSpPr>
        <p:spPr>
          <a:xfrm>
            <a:off x="5724144" y="4467952"/>
            <a:ext cx="164592" cy="411480"/>
          </a:xfrm>
          <a:prstGeom prst="rect">
            <a:avLst/>
          </a:prstGeom>
          <a:solidFill>
            <a:srgbClr val="9B7A45"/>
          </a:solidFill>
          <a:ln w="12700">
            <a:solidFill>
              <a:srgbClr val="9B7A45"/>
            </a:solidFill>
            <a:prstDash val="solid"/>
          </a:ln>
        </p:spPr>
      </p:sp>
      <p:sp>
        <p:nvSpPr>
          <p:cNvPr id="77" name="Text 48"/>
          <p:cNvSpPr/>
          <p:nvPr/>
        </p:nvSpPr>
        <p:spPr>
          <a:xfrm>
            <a:off x="5961887" y="4488544"/>
            <a:ext cx="2732459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C：20% 成長 + 25% Margin = 45</a:t>
            </a:r>
            <a:endParaRPr lang="en-US" sz="1200" dirty="0"/>
          </a:p>
        </p:txBody>
      </p:sp>
      <p:sp>
        <p:nvSpPr>
          <p:cNvPr id="78" name="Text 49"/>
          <p:cNvSpPr/>
          <p:nvPr/>
        </p:nvSpPr>
        <p:spPr>
          <a:xfrm>
            <a:off x="5961888" y="4619992"/>
            <a:ext cx="3074608" cy="360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成長較成熟但獲利／現金流強，適合用</a:t>
            </a:r>
            <a:r>
              <a:rPr lang="zh-TW" alt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</a:t>
            </a: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成熟同業比較</a:t>
            </a:r>
            <a:endParaRPr lang="en-US" sz="1000" dirty="0"/>
          </a:p>
        </p:txBody>
      </p:sp>
      <p:sp>
        <p:nvSpPr>
          <p:cNvPr id="79" name="Shape 50"/>
          <p:cNvSpPr/>
          <p:nvPr/>
        </p:nvSpPr>
        <p:spPr>
          <a:xfrm>
            <a:off x="5724144" y="5153752"/>
            <a:ext cx="164592" cy="41148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0" name="Text 51"/>
          <p:cNvSpPr/>
          <p:nvPr/>
        </p:nvSpPr>
        <p:spPr>
          <a:xfrm>
            <a:off x="5961888" y="5190336"/>
            <a:ext cx="2786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D：15% 成長 − 10% Margin = 5</a:t>
            </a:r>
            <a:endParaRPr lang="en-US" sz="1200" dirty="0"/>
          </a:p>
        </p:txBody>
      </p:sp>
      <p:sp>
        <p:nvSpPr>
          <p:cNvPr id="81" name="Text 52"/>
          <p:cNvSpPr/>
          <p:nvPr/>
        </p:nvSpPr>
        <p:spPr>
          <a:xfrm>
            <a:off x="5961887" y="5318344"/>
            <a:ext cx="2679191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成長速度與獲利表現皆弱，通常難以</a:t>
            </a:r>
            <a:r>
              <a:rPr lang="zh-TW" alt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給予</a:t>
            </a: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高倍數</a:t>
            </a:r>
            <a:endParaRPr lang="en-US" sz="1000" dirty="0"/>
          </a:p>
        </p:txBody>
      </p:sp>
      <p:sp>
        <p:nvSpPr>
          <p:cNvPr id="65" name="Text 36"/>
          <p:cNvSpPr/>
          <p:nvPr/>
        </p:nvSpPr>
        <p:spPr>
          <a:xfrm>
            <a:off x="914400" y="3105496"/>
            <a:ext cx="10972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高成長／低獲利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841700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8077064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ARR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NRR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：市場不只看今年營收，更看收入持續性</a:t>
            </a:r>
          </a:p>
        </p:txBody>
      </p:sp>
      <p:sp>
        <p:nvSpPr>
          <p:cNvPr id="42" name="Text 2"/>
          <p:cNvSpPr/>
          <p:nvPr/>
        </p:nvSpPr>
        <p:spPr>
          <a:xfrm>
            <a:off x="457200" y="136134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3"/>
          <p:cNvSpPr/>
          <p:nvPr/>
        </p:nvSpPr>
        <p:spPr>
          <a:xfrm>
            <a:off x="457200" y="1772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ARR Bridge｜年度經常性收入如何變動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457200" y="2120296"/>
            <a:ext cx="123444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5" name="Text 5"/>
          <p:cNvSpPr/>
          <p:nvPr/>
        </p:nvSpPr>
        <p:spPr>
          <a:xfrm>
            <a:off x="512064" y="2166016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項目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1691640" y="2120296"/>
            <a:ext cx="64008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7" name="Text 7"/>
          <p:cNvSpPr/>
          <p:nvPr/>
        </p:nvSpPr>
        <p:spPr>
          <a:xfrm>
            <a:off x="1746504" y="2166016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金額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2331720" y="2120296"/>
            <a:ext cx="205740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9" name="Text 9"/>
          <p:cNvSpPr/>
          <p:nvPr/>
        </p:nvSpPr>
        <p:spPr>
          <a:xfrm>
            <a:off x="2386584" y="2166016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意義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457200" y="2330608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1" name="Text 11"/>
          <p:cNvSpPr/>
          <p:nvPr/>
        </p:nvSpPr>
        <p:spPr>
          <a:xfrm>
            <a:off x="512064" y="2376328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1691640" y="2330608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3" name="Text 13"/>
          <p:cNvSpPr/>
          <p:nvPr/>
        </p:nvSpPr>
        <p:spPr>
          <a:xfrm>
            <a:off x="1746504" y="2376328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2331720" y="2330608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5" name="Text 15"/>
          <p:cNvSpPr/>
          <p:nvPr/>
        </p:nvSpPr>
        <p:spPr>
          <a:xfrm>
            <a:off x="2386584" y="2376328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期初已鎖定的年度經常性收入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457200" y="2540920"/>
            <a:ext cx="12344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7" name="Text 17"/>
          <p:cNvSpPr/>
          <p:nvPr/>
        </p:nvSpPr>
        <p:spPr>
          <a:xfrm>
            <a:off x="512064" y="2586640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新增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1691640" y="2540920"/>
            <a:ext cx="64008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9" name="Text 19"/>
          <p:cNvSpPr/>
          <p:nvPr/>
        </p:nvSpPr>
        <p:spPr>
          <a:xfrm>
            <a:off x="1746504" y="2586640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+30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2331720" y="2540920"/>
            <a:ext cx="205740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1" name="Text 21"/>
          <p:cNvSpPr/>
          <p:nvPr/>
        </p:nvSpPr>
        <p:spPr>
          <a:xfrm>
            <a:off x="2386584" y="2586640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新客戶或新合約帶來的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457200" y="2751232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3" name="Text 23"/>
          <p:cNvSpPr/>
          <p:nvPr/>
        </p:nvSpPr>
        <p:spPr>
          <a:xfrm>
            <a:off x="512064" y="2796952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1691640" y="2751232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5" name="Text 25"/>
          <p:cNvSpPr/>
          <p:nvPr/>
        </p:nvSpPr>
        <p:spPr>
          <a:xfrm>
            <a:off x="1746504" y="2796952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+20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Shape 26"/>
          <p:cNvSpPr/>
          <p:nvPr/>
        </p:nvSpPr>
        <p:spPr>
          <a:xfrm>
            <a:off x="2331720" y="2751232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7" name="Text 27"/>
          <p:cNvSpPr/>
          <p:nvPr/>
        </p:nvSpPr>
        <p:spPr>
          <a:xfrm>
            <a:off x="2386584" y="2796952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既有客戶加購、升級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457200" y="2961544"/>
            <a:ext cx="12344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9" name="Text 29"/>
          <p:cNvSpPr/>
          <p:nvPr/>
        </p:nvSpPr>
        <p:spPr>
          <a:xfrm>
            <a:off x="512064" y="3007264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縮減</a:t>
            </a:r>
            <a:r>
              <a:rPr lang="en-US" altLang="zh-TW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Shape 30"/>
          <p:cNvSpPr/>
          <p:nvPr/>
        </p:nvSpPr>
        <p:spPr>
          <a:xfrm>
            <a:off x="1691640" y="2961544"/>
            <a:ext cx="64008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1" name="Text 31"/>
          <p:cNvSpPr/>
          <p:nvPr/>
        </p:nvSpPr>
        <p:spPr>
          <a:xfrm>
            <a:off x="1746504" y="3007264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−15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Shape 32"/>
          <p:cNvSpPr/>
          <p:nvPr/>
        </p:nvSpPr>
        <p:spPr>
          <a:xfrm>
            <a:off x="2331720" y="2961544"/>
            <a:ext cx="205740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3" name="Text 33"/>
          <p:cNvSpPr/>
          <p:nvPr/>
        </p:nvSpPr>
        <p:spPr>
          <a:xfrm>
            <a:off x="2386584" y="3007264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客戶降級或流失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Shape 34"/>
          <p:cNvSpPr/>
          <p:nvPr/>
        </p:nvSpPr>
        <p:spPr>
          <a:xfrm>
            <a:off x="457200" y="3171856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5" name="Text 35"/>
          <p:cNvSpPr/>
          <p:nvPr/>
        </p:nvSpPr>
        <p:spPr>
          <a:xfrm>
            <a:off x="512064" y="3217576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Shape 36"/>
          <p:cNvSpPr/>
          <p:nvPr/>
        </p:nvSpPr>
        <p:spPr>
          <a:xfrm>
            <a:off x="1691640" y="3171856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7" name="Text 37"/>
          <p:cNvSpPr/>
          <p:nvPr/>
        </p:nvSpPr>
        <p:spPr>
          <a:xfrm>
            <a:off x="1746504" y="3217576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135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Shape 38"/>
          <p:cNvSpPr/>
          <p:nvPr/>
        </p:nvSpPr>
        <p:spPr>
          <a:xfrm>
            <a:off x="2331720" y="3171856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9" name="Text 39"/>
          <p:cNvSpPr/>
          <p:nvPr/>
        </p:nvSpPr>
        <p:spPr>
          <a:xfrm>
            <a:off x="2386584" y="3217576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期末年度經常性收入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Shape 40"/>
          <p:cNvSpPr/>
          <p:nvPr/>
        </p:nvSpPr>
        <p:spPr>
          <a:xfrm>
            <a:off x="502920" y="3446176"/>
            <a:ext cx="3749040" cy="384048"/>
          </a:xfrm>
          <a:prstGeom prst="roundRect">
            <a:avLst>
              <a:gd name="adj" fmla="val 14286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B40000"/>
            </a:solidFill>
            <a:prstDash val="solid"/>
          </a:ln>
        </p:spPr>
      </p:sp>
      <p:sp>
        <p:nvSpPr>
          <p:cNvPr id="81" name="Text 41"/>
          <p:cNvSpPr/>
          <p:nvPr/>
        </p:nvSpPr>
        <p:spPr>
          <a:xfrm>
            <a:off x="621792" y="3561584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期末 ARR = 100 + 30 + 20 − 15 = 135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Shape 42"/>
          <p:cNvSpPr/>
          <p:nvPr/>
        </p:nvSpPr>
        <p:spPr>
          <a:xfrm>
            <a:off x="548640" y="5220112"/>
            <a:ext cx="3657600" cy="0"/>
          </a:xfrm>
          <a:prstGeom prst="line">
            <a:avLst/>
          </a:prstGeom>
          <a:noFill/>
          <a:ln w="7620">
            <a:solidFill>
              <a:srgbClr val="999999"/>
            </a:solidFill>
            <a:prstDash val="solid"/>
          </a:ln>
        </p:spPr>
      </p:sp>
      <p:sp>
        <p:nvSpPr>
          <p:cNvPr id="83" name="Shape 43"/>
          <p:cNvSpPr/>
          <p:nvPr/>
        </p:nvSpPr>
        <p:spPr>
          <a:xfrm>
            <a:off x="594360" y="4508912"/>
            <a:ext cx="384048" cy="711200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84" name="Text 44"/>
          <p:cNvSpPr/>
          <p:nvPr/>
        </p:nvSpPr>
        <p:spPr>
          <a:xfrm>
            <a:off x="521208" y="432603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C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 45"/>
          <p:cNvSpPr/>
          <p:nvPr/>
        </p:nvSpPr>
        <p:spPr>
          <a:xfrm>
            <a:off x="46634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Shape 46"/>
          <p:cNvSpPr/>
          <p:nvPr/>
        </p:nvSpPr>
        <p:spPr>
          <a:xfrm>
            <a:off x="1371600" y="5006752"/>
            <a:ext cx="384048" cy="213360"/>
          </a:xfrm>
          <a:prstGeom prst="rect">
            <a:avLst/>
          </a:prstGeom>
          <a:solidFill>
            <a:srgbClr val="D0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87" name="Text 47"/>
          <p:cNvSpPr/>
          <p:nvPr/>
        </p:nvSpPr>
        <p:spPr>
          <a:xfrm>
            <a:off x="1298448" y="482387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30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 48"/>
          <p:cNvSpPr/>
          <p:nvPr/>
        </p:nvSpPr>
        <p:spPr>
          <a:xfrm>
            <a:off x="124358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新增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Shape 49"/>
          <p:cNvSpPr/>
          <p:nvPr/>
        </p:nvSpPr>
        <p:spPr>
          <a:xfrm>
            <a:off x="2148840" y="5077872"/>
            <a:ext cx="384048" cy="14224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90" name="Text 50"/>
          <p:cNvSpPr/>
          <p:nvPr/>
        </p:nvSpPr>
        <p:spPr>
          <a:xfrm>
            <a:off x="2075688" y="48949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84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 51"/>
          <p:cNvSpPr/>
          <p:nvPr/>
        </p:nvSpPr>
        <p:spPr>
          <a:xfrm>
            <a:off x="202082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Shape 52"/>
          <p:cNvSpPr/>
          <p:nvPr/>
        </p:nvSpPr>
        <p:spPr>
          <a:xfrm>
            <a:off x="2926080" y="5229200"/>
            <a:ext cx="384048" cy="106680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93" name="Text 53"/>
          <p:cNvSpPr/>
          <p:nvPr/>
        </p:nvSpPr>
        <p:spPr>
          <a:xfrm>
            <a:off x="2852928" y="508289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−15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Text 54"/>
          <p:cNvSpPr/>
          <p:nvPr/>
        </p:nvSpPr>
        <p:spPr>
          <a:xfrm>
            <a:off x="279806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Shape 55"/>
          <p:cNvSpPr/>
          <p:nvPr/>
        </p:nvSpPr>
        <p:spPr>
          <a:xfrm>
            <a:off x="3703320" y="4259992"/>
            <a:ext cx="384048" cy="960120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Text 56"/>
          <p:cNvSpPr/>
          <p:nvPr/>
        </p:nvSpPr>
        <p:spPr>
          <a:xfrm>
            <a:off x="3630168" y="407711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135</a:t>
            </a:r>
            <a:endParaRPr lang="en-US"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Text 57"/>
          <p:cNvSpPr/>
          <p:nvPr/>
        </p:nvSpPr>
        <p:spPr>
          <a:xfrm>
            <a:off x="357530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Text 58"/>
          <p:cNvSpPr/>
          <p:nvPr/>
        </p:nvSpPr>
        <p:spPr>
          <a:xfrm>
            <a:off x="4828032" y="176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NRR｜既有客戶是否持續擴張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Shape 59"/>
          <p:cNvSpPr/>
          <p:nvPr/>
        </p:nvSpPr>
        <p:spPr>
          <a:xfrm>
            <a:off x="4846319" y="2120296"/>
            <a:ext cx="379475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00" name="Text 60"/>
          <p:cNvSpPr/>
          <p:nvPr/>
        </p:nvSpPr>
        <p:spPr>
          <a:xfrm>
            <a:off x="5010912" y="22574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期初既有客戶 ARR 100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Expansion +</a:t>
            </a:r>
            <a:r>
              <a:rPr lang="en-US" sz="11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20、Downgrade</a:t>
            </a: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−5、Churn −10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→ </a:t>
            </a:r>
            <a:r>
              <a:rPr lang="en-US" sz="11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= 105%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Shape 61"/>
          <p:cNvSpPr/>
          <p:nvPr/>
        </p:nvSpPr>
        <p:spPr>
          <a:xfrm>
            <a:off x="4896552" y="3446176"/>
            <a:ext cx="475488" cy="548640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102" name="Text 62"/>
          <p:cNvSpPr/>
          <p:nvPr/>
        </p:nvSpPr>
        <p:spPr>
          <a:xfrm>
            <a:off x="4850832" y="322672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C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Text 63"/>
          <p:cNvSpPr/>
          <p:nvPr/>
        </p:nvSpPr>
        <p:spPr>
          <a:xfrm>
            <a:off x="4759392" y="40771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期初既有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Shape 64"/>
          <p:cNvSpPr/>
          <p:nvPr/>
        </p:nvSpPr>
        <p:spPr>
          <a:xfrm>
            <a:off x="5518344" y="3757072"/>
            <a:ext cx="4114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  <a:headEnd type="none"/>
            <a:tailEnd type="triangle"/>
          </a:ln>
        </p:spPr>
      </p:sp>
      <p:sp>
        <p:nvSpPr>
          <p:cNvPr id="105" name="Shape 65"/>
          <p:cNvSpPr/>
          <p:nvPr/>
        </p:nvSpPr>
        <p:spPr>
          <a:xfrm>
            <a:off x="6039552" y="3555904"/>
            <a:ext cx="347472" cy="438912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06" name="Text 66"/>
          <p:cNvSpPr/>
          <p:nvPr/>
        </p:nvSpPr>
        <p:spPr>
          <a:xfrm>
            <a:off x="5975544" y="333644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84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+20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Text 67"/>
          <p:cNvSpPr/>
          <p:nvPr/>
        </p:nvSpPr>
        <p:spPr>
          <a:xfrm>
            <a:off x="5938968" y="40771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Shape 68"/>
          <p:cNvSpPr/>
          <p:nvPr/>
        </p:nvSpPr>
        <p:spPr>
          <a:xfrm>
            <a:off x="6679632" y="3875944"/>
            <a:ext cx="301752" cy="118872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109" name="Text 69"/>
          <p:cNvSpPr/>
          <p:nvPr/>
        </p:nvSpPr>
        <p:spPr>
          <a:xfrm>
            <a:off x="6615624" y="366563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Text 70"/>
          <p:cNvSpPr/>
          <p:nvPr/>
        </p:nvSpPr>
        <p:spPr>
          <a:xfrm>
            <a:off x="6560760" y="40771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降級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Shape 71"/>
          <p:cNvSpPr/>
          <p:nvPr/>
        </p:nvSpPr>
        <p:spPr>
          <a:xfrm>
            <a:off x="7319712" y="3766216"/>
            <a:ext cx="301752" cy="228600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112" name="Text 72"/>
          <p:cNvSpPr/>
          <p:nvPr/>
        </p:nvSpPr>
        <p:spPr>
          <a:xfrm>
            <a:off x="7228272" y="3537616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−10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 73"/>
          <p:cNvSpPr/>
          <p:nvPr/>
        </p:nvSpPr>
        <p:spPr>
          <a:xfrm>
            <a:off x="7173408" y="407711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Shape 74"/>
          <p:cNvSpPr/>
          <p:nvPr/>
        </p:nvSpPr>
        <p:spPr>
          <a:xfrm>
            <a:off x="7758624" y="3757072"/>
            <a:ext cx="4114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5" name="Shape 75"/>
          <p:cNvSpPr/>
          <p:nvPr/>
        </p:nvSpPr>
        <p:spPr>
          <a:xfrm>
            <a:off x="8279832" y="3363880"/>
            <a:ext cx="475488" cy="630936"/>
          </a:xfrm>
          <a:prstGeom prst="rect">
            <a:avLst/>
          </a:prstGeom>
          <a:solidFill>
            <a:srgbClr val="920000"/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Text 76"/>
          <p:cNvSpPr/>
          <p:nvPr/>
        </p:nvSpPr>
        <p:spPr>
          <a:xfrm>
            <a:off x="8215824" y="313528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105</a:t>
            </a:r>
            <a:endParaRPr lang="en-US"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7" name="Text 77"/>
          <p:cNvSpPr/>
          <p:nvPr/>
        </p:nvSpPr>
        <p:spPr>
          <a:xfrm>
            <a:off x="8142672" y="40771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期末既有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Shape 78"/>
          <p:cNvSpPr/>
          <p:nvPr/>
        </p:nvSpPr>
        <p:spPr>
          <a:xfrm>
            <a:off x="4939928" y="4424584"/>
            <a:ext cx="3749040" cy="411480"/>
          </a:xfrm>
          <a:prstGeom prst="roundRect">
            <a:avLst>
              <a:gd name="adj" fmla="val 13333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B40000"/>
            </a:solidFill>
            <a:prstDash val="solid"/>
          </a:ln>
        </p:spPr>
      </p:sp>
      <p:sp>
        <p:nvSpPr>
          <p:cNvPr id="119" name="Text 79"/>
          <p:cNvSpPr/>
          <p:nvPr/>
        </p:nvSpPr>
        <p:spPr>
          <a:xfrm>
            <a:off x="5115952" y="45434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 = 期末既有客戶收入 ÷ 期初既有客戶收入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Text 80"/>
          <p:cNvSpPr/>
          <p:nvPr/>
        </p:nvSpPr>
        <p:spPr>
          <a:xfrm>
            <a:off x="4951416" y="5000656"/>
            <a:ext cx="37375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&gt; 100%：既有客戶扣除流失與降級後，收入仍成長
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不包含期間新增客戶收入，應搭配新增 ARR 一起看
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越高，通常代表客戶擴張能力與營收韌性較強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Text 83"/>
          <p:cNvSpPr/>
          <p:nvPr/>
        </p:nvSpPr>
        <p:spPr>
          <a:xfrm>
            <a:off x="676656" y="60613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Text 84"/>
          <p:cNvSpPr/>
          <p:nvPr/>
        </p:nvSpPr>
        <p:spPr>
          <a:xfrm>
            <a:off x="1234440" y="6024784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414195" y="1139183"/>
            <a:ext cx="82268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SaaS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與經常性收入模式而言，投資人會拆解今年營收中有多少能延續到明年、有多少來自既有的客戶</a:t>
            </a:r>
          </a:p>
        </p:txBody>
      </p:sp>
      <p:sp>
        <p:nvSpPr>
          <p:cNvPr id="126" name="TextBox 7"/>
          <p:cNvSpPr txBox="1"/>
          <p:nvPr/>
        </p:nvSpPr>
        <p:spPr>
          <a:xfrm>
            <a:off x="455377" y="5877272"/>
            <a:ext cx="8185702" cy="248096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marL="0" indent="0" algn="ctr">
              <a:buNone/>
            </a:pP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營收規模不等於營收品質；ARR</a:t>
            </a:r>
            <a:r>
              <a:rPr lang="en-US" altLang="zh-TW" sz="14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與 </a:t>
            </a: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altLang="zh-TW" sz="14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用來判斷經常性收入是否可持續、既有客戶是否具備擴張能力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4561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57200" y="957868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Unit Economics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：成長很快，不代表成長很便宜</a:t>
            </a:r>
          </a:p>
        </p:txBody>
      </p:sp>
      <p:sp>
        <p:nvSpPr>
          <p:cNvPr id="22" name="Shape 5"/>
          <p:cNvSpPr/>
          <p:nvPr/>
        </p:nvSpPr>
        <p:spPr>
          <a:xfrm>
            <a:off x="455376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6"/>
          <p:cNvSpPr/>
          <p:nvPr/>
        </p:nvSpPr>
        <p:spPr>
          <a:xfrm>
            <a:off x="455376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24" name="Text 7"/>
          <p:cNvSpPr/>
          <p:nvPr/>
        </p:nvSpPr>
        <p:spPr>
          <a:xfrm>
            <a:off x="600738" y="1461186"/>
            <a:ext cx="2334879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01｜SaaS：CAC 回收期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00738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取得一個客戶，要多久回本？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600738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600738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CAC 回收期 = 客戶取得成本 ÷ 每月客戶毛利貢獻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00738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例：取得成本 12 萬元；每月毛利貢獻 1 萬元 → 約 12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個月回收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600738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30" name="Text 13"/>
          <p:cNvSpPr/>
          <p:nvPr/>
        </p:nvSpPr>
        <p:spPr>
          <a:xfrm>
            <a:off x="70067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回收期越短，代表新增客戶的經濟效率通常越好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3253596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15"/>
          <p:cNvSpPr/>
          <p:nvPr/>
        </p:nvSpPr>
        <p:spPr>
          <a:xfrm>
            <a:off x="3253596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3" name="Text 16"/>
          <p:cNvSpPr/>
          <p:nvPr/>
        </p:nvSpPr>
        <p:spPr>
          <a:xfrm>
            <a:off x="3347864" y="1461186"/>
            <a:ext cx="2443900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02｜經常性收入：Burn Multiple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3398958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每增加 1 元 ARR，要消耗多少現金？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3398958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19"/>
          <p:cNvSpPr/>
          <p:nvPr/>
        </p:nvSpPr>
        <p:spPr>
          <a:xfrm>
            <a:off x="3398958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Burn Multiple = 淨現金消耗 ÷ Net New ARR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3398958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例：淨現金消耗 1 億元、Net New ARR 1 億元 → 1.0x；若消耗 3 億元 →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3.0x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3398958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39" name="Text 22"/>
          <p:cNvSpPr/>
          <p:nvPr/>
        </p:nvSpPr>
        <p:spPr>
          <a:xfrm>
            <a:off x="349889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主要適用於高成長、仍在燒現金的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SaaS／經常性收入公司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6051817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24"/>
          <p:cNvSpPr/>
          <p:nvPr/>
        </p:nvSpPr>
        <p:spPr>
          <a:xfrm>
            <a:off x="6051817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42" name="Text 25"/>
          <p:cNvSpPr/>
          <p:nvPr/>
        </p:nvSpPr>
        <p:spPr>
          <a:xfrm>
            <a:off x="6197179" y="1461186"/>
            <a:ext cx="2334879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03｜平台經濟：貢獻利益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6197179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每 1 元交易額，最後能留下多少？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6197179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6197179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GMV × 抽成率 = 平台營收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平台營收 − 變動成本 = 貢獻利益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29"/>
          <p:cNvSpPr/>
          <p:nvPr/>
        </p:nvSpPr>
        <p:spPr>
          <a:xfrm>
            <a:off x="6197179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變動成本包含支付、履約、補貼、客服或其他與交易量連動的成本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30"/>
          <p:cNvSpPr/>
          <p:nvPr/>
        </p:nvSpPr>
        <p:spPr>
          <a:xfrm>
            <a:off x="6197179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629711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交易規模大不一定等於經濟效益高，仍要看抽成率與貢獻利益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455377" y="5661248"/>
            <a:ext cx="8185702" cy="2431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marL="0" indent="0" algn="ctr">
              <a:buNone/>
            </a:pPr>
            <a:r>
              <a:rPr lang="en-US" altLang="zh-TW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Economics </a:t>
            </a:r>
            <a:r>
              <a:rPr lang="en-US" altLang="zh-TW" sz="1400" dirty="0" err="1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的重點不是單看成長，而是判斷成長是否能以合理成本轉化為可持續的經濟價值</a:t>
            </a:r>
            <a:endParaRPr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36293354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9373208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Business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Financial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Valuation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438912" y="1102960"/>
            <a:ext cx="8266176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016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6"/>
          <p:cNvSpPr/>
          <p:nvPr/>
        </p:nvSpPr>
        <p:spPr>
          <a:xfrm>
            <a:off x="566928" y="1194400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01  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營運 </a:t>
            </a:r>
            <a:r>
              <a:rPr lang="en-US" altLang="zh-TW" sz="1400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KPI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  <a:sym typeface="Wingdings" panose="05000000000000000000" pitchFamily="2" charset="2"/>
              </a:rPr>
              <a:t> 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市場估值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7"/>
          <p:cNvSpPr/>
          <p:nvPr/>
        </p:nvSpPr>
        <p:spPr>
          <a:xfrm>
            <a:off x="5166360" y="1212688"/>
            <a:ext cx="3200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endParaRPr lang="en-US" sz="8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-1404664" y="2129408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3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-1404664" y="2696336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3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 32"/>
          <p:cNvSpPr/>
          <p:nvPr/>
        </p:nvSpPr>
        <p:spPr>
          <a:xfrm>
            <a:off x="-1404664" y="3089528"/>
            <a:ext cx="160934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91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9"/>
          <p:cNvSpPr/>
          <p:nvPr/>
        </p:nvSpPr>
        <p:spPr>
          <a:xfrm>
            <a:off x="661880" y="1556792"/>
            <a:ext cx="2458075" cy="2168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核心 KPI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3666194" y="1556792"/>
            <a:ext cx="2209785" cy="2168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財務轉換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6459462" y="1556792"/>
            <a:ext cx="1800106" cy="2168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常見估值參考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12"/>
          <p:cNvSpPr/>
          <p:nvPr/>
        </p:nvSpPr>
        <p:spPr>
          <a:xfrm>
            <a:off x="661880" y="1855995"/>
            <a:ext cx="7796320" cy="547333"/>
          </a:xfrm>
          <a:prstGeom prst="rect">
            <a:avLst/>
          </a:prstGeom>
          <a:solidFill>
            <a:srgbClr val="FAFAFA"/>
          </a:solidFill>
          <a:ln w="635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16"/>
          <p:cNvSpPr/>
          <p:nvPr/>
        </p:nvSpPr>
        <p:spPr>
          <a:xfrm>
            <a:off x="761196" y="1938611"/>
            <a:ext cx="2259443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ARR、NRR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使用量／運算成本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3244101" y="2134825"/>
            <a:ext cx="322778" cy="0"/>
          </a:xfrm>
          <a:prstGeom prst="line">
            <a:avLst/>
          </a:prstGeom>
          <a:noFill/>
          <a:ln w="12700">
            <a:solidFill>
              <a:srgbClr val="B58B4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18"/>
          <p:cNvSpPr/>
          <p:nvPr/>
        </p:nvSpPr>
        <p:spPr>
          <a:xfrm>
            <a:off x="3728267" y="1938611"/>
            <a:ext cx="2085640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營收成長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毛利率／FCF 路徑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Shape 19"/>
          <p:cNvSpPr/>
          <p:nvPr/>
        </p:nvSpPr>
        <p:spPr>
          <a:xfrm>
            <a:off x="6000125" y="2134825"/>
            <a:ext cx="360021" cy="0"/>
          </a:xfrm>
          <a:prstGeom prst="line">
            <a:avLst/>
          </a:prstGeom>
          <a:noFill/>
          <a:ln w="12700">
            <a:solidFill>
              <a:srgbClr val="B58B4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20"/>
          <p:cNvSpPr/>
          <p:nvPr/>
        </p:nvSpPr>
        <p:spPr>
          <a:xfrm>
            <a:off x="6496705" y="1938611"/>
            <a:ext cx="1725619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EV/Revenue</a:t>
            </a:r>
            <a:endParaRPr lang="en-US" sz="11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EV/ARR</a:t>
            </a:r>
            <a:endParaRPr lang="en-US" sz="11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Shape 21"/>
          <p:cNvSpPr/>
          <p:nvPr/>
        </p:nvSpPr>
        <p:spPr>
          <a:xfrm>
            <a:off x="661880" y="2492896"/>
            <a:ext cx="7796320" cy="547333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67" name="Text 25"/>
          <p:cNvSpPr/>
          <p:nvPr/>
        </p:nvSpPr>
        <p:spPr>
          <a:xfrm>
            <a:off x="761196" y="2578887"/>
            <a:ext cx="2259443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GMV、抽成率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重複交易率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Shape 26"/>
          <p:cNvSpPr/>
          <p:nvPr/>
        </p:nvSpPr>
        <p:spPr>
          <a:xfrm>
            <a:off x="3244101" y="2775101"/>
            <a:ext cx="322778" cy="0"/>
          </a:xfrm>
          <a:prstGeom prst="line">
            <a:avLst/>
          </a:prstGeom>
          <a:noFill/>
          <a:ln w="12700">
            <a:solidFill>
              <a:srgbClr val="B58B4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27"/>
          <p:cNvSpPr/>
          <p:nvPr/>
        </p:nvSpPr>
        <p:spPr>
          <a:xfrm>
            <a:off x="3728267" y="2578887"/>
            <a:ext cx="2085640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平台營收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貢獻利益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Shape 28"/>
          <p:cNvSpPr/>
          <p:nvPr/>
        </p:nvSpPr>
        <p:spPr>
          <a:xfrm>
            <a:off x="6000125" y="2775101"/>
            <a:ext cx="360021" cy="0"/>
          </a:xfrm>
          <a:prstGeom prst="line">
            <a:avLst/>
          </a:prstGeom>
          <a:noFill/>
          <a:ln w="12700">
            <a:solidFill>
              <a:srgbClr val="B58B4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29"/>
          <p:cNvSpPr/>
          <p:nvPr/>
        </p:nvSpPr>
        <p:spPr>
          <a:xfrm>
            <a:off x="6496705" y="2578887"/>
            <a:ext cx="1725619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EV/Revenue</a:t>
            </a:r>
            <a:endParaRPr lang="en-US" sz="11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EV/GMV</a:t>
            </a:r>
            <a:endParaRPr lang="en-US" sz="11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Shape 30"/>
          <p:cNvSpPr/>
          <p:nvPr/>
        </p:nvSpPr>
        <p:spPr>
          <a:xfrm>
            <a:off x="661880" y="3136547"/>
            <a:ext cx="7796320" cy="547333"/>
          </a:xfrm>
          <a:prstGeom prst="rect">
            <a:avLst/>
          </a:prstGeom>
          <a:solidFill>
            <a:srgbClr val="FAFAFA"/>
          </a:solidFill>
          <a:ln w="635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Text 34"/>
          <p:cNvSpPr/>
          <p:nvPr/>
        </p:nvSpPr>
        <p:spPr>
          <a:xfrm>
            <a:off x="761196" y="3219163"/>
            <a:ext cx="2259443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TPV／AUM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損失率／留存率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Shape 35"/>
          <p:cNvSpPr/>
          <p:nvPr/>
        </p:nvSpPr>
        <p:spPr>
          <a:xfrm>
            <a:off x="3244101" y="3415377"/>
            <a:ext cx="322778" cy="0"/>
          </a:xfrm>
          <a:prstGeom prst="line">
            <a:avLst/>
          </a:prstGeom>
          <a:noFill/>
          <a:ln w="12700">
            <a:solidFill>
              <a:srgbClr val="B58B4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Text 36"/>
          <p:cNvSpPr/>
          <p:nvPr/>
        </p:nvSpPr>
        <p:spPr>
          <a:xfrm>
            <a:off x="3728267" y="3219163"/>
            <a:ext cx="2085640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營收／獲利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風險成本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Shape 37"/>
          <p:cNvSpPr/>
          <p:nvPr/>
        </p:nvSpPr>
        <p:spPr>
          <a:xfrm>
            <a:off x="6000125" y="3415377"/>
            <a:ext cx="360021" cy="0"/>
          </a:xfrm>
          <a:prstGeom prst="line">
            <a:avLst/>
          </a:prstGeom>
          <a:noFill/>
          <a:ln w="12700">
            <a:solidFill>
              <a:srgbClr val="B58B4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Text 38"/>
          <p:cNvSpPr/>
          <p:nvPr/>
        </p:nvSpPr>
        <p:spPr>
          <a:xfrm>
            <a:off x="6496705" y="3219163"/>
            <a:ext cx="1725619" cy="392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依模式而異</a:t>
            </a:r>
            <a:endParaRPr lang="en-US" sz="11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P/B、P/E等</a:t>
            </a:r>
            <a:endParaRPr lang="en-US" sz="11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Shape 39"/>
          <p:cNvSpPr/>
          <p:nvPr/>
        </p:nvSpPr>
        <p:spPr>
          <a:xfrm>
            <a:off x="438912" y="4019896"/>
            <a:ext cx="8266176" cy="960120"/>
          </a:xfrm>
          <a:prstGeom prst="roundRect">
            <a:avLst>
              <a:gd name="adj" fmla="val 7619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E1C8CC"/>
            </a:solidFill>
            <a:prstDash val="solid"/>
          </a:ln>
        </p:spPr>
      </p:sp>
      <p:sp>
        <p:nvSpPr>
          <p:cNvPr id="82" name="Text 40"/>
          <p:cNvSpPr/>
          <p:nvPr/>
        </p:nvSpPr>
        <p:spPr>
          <a:xfrm>
            <a:off x="566928" y="4093048"/>
            <a:ext cx="399592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02  同樣營收，為什麼估值倍數可以不同？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Text 41"/>
          <p:cNvSpPr/>
          <p:nvPr/>
        </p:nvSpPr>
        <p:spPr>
          <a:xfrm>
            <a:off x="3886200" y="420393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endParaRPr lang="en-US" sz="8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Shape 42"/>
          <p:cNvSpPr/>
          <p:nvPr/>
        </p:nvSpPr>
        <p:spPr>
          <a:xfrm>
            <a:off x="667512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85" name="Text 43"/>
          <p:cNvSpPr/>
          <p:nvPr/>
        </p:nvSpPr>
        <p:spPr>
          <a:xfrm>
            <a:off x="713232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成長性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Text 44"/>
          <p:cNvSpPr/>
          <p:nvPr/>
        </p:nvSpPr>
        <p:spPr>
          <a:xfrm>
            <a:off x="713232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成長速度與市場空間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Shape 45"/>
          <p:cNvSpPr/>
          <p:nvPr/>
        </p:nvSpPr>
        <p:spPr>
          <a:xfrm>
            <a:off x="2615184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88" name="Text 46"/>
          <p:cNvSpPr/>
          <p:nvPr/>
        </p:nvSpPr>
        <p:spPr>
          <a:xfrm>
            <a:off x="2660904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營收品質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Text 47"/>
          <p:cNvSpPr/>
          <p:nvPr/>
        </p:nvSpPr>
        <p:spPr>
          <a:xfrm>
            <a:off x="2660904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留存、重複收入、客戶結構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Shape 48"/>
          <p:cNvSpPr/>
          <p:nvPr/>
        </p:nvSpPr>
        <p:spPr>
          <a:xfrm>
            <a:off x="4562856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91" name="Text 49"/>
          <p:cNvSpPr/>
          <p:nvPr/>
        </p:nvSpPr>
        <p:spPr>
          <a:xfrm>
            <a:off x="4608576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獲利／現金流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Text 50"/>
          <p:cNvSpPr/>
          <p:nvPr/>
        </p:nvSpPr>
        <p:spPr>
          <a:xfrm>
            <a:off x="4608576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毛利率、貢獻利益、FCF</a:t>
            </a: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Shape 51"/>
          <p:cNvSpPr/>
          <p:nvPr/>
        </p:nvSpPr>
        <p:spPr>
          <a:xfrm>
            <a:off x="6510528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94" name="Text 52"/>
          <p:cNvSpPr/>
          <p:nvPr/>
        </p:nvSpPr>
        <p:spPr>
          <a:xfrm>
            <a:off x="6556248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風險與可預測性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 53"/>
          <p:cNvSpPr/>
          <p:nvPr/>
        </p:nvSpPr>
        <p:spPr>
          <a:xfrm>
            <a:off x="6556248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客戶集中、波動性、可信度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 55"/>
          <p:cNvSpPr/>
          <p:nvPr/>
        </p:nvSpPr>
        <p:spPr>
          <a:xfrm>
            <a:off x="566928" y="5229200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03  IPO 前建立，上市後持續驗證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661880" y="5517232"/>
            <a:ext cx="7549432" cy="792088"/>
            <a:chOff x="899592" y="5700104"/>
            <a:chExt cx="6675120" cy="393192"/>
          </a:xfrm>
        </p:grpSpPr>
        <p:sp>
          <p:nvSpPr>
            <p:cNvPr id="97" name="Shape 56"/>
            <p:cNvSpPr/>
            <p:nvPr/>
          </p:nvSpPr>
          <p:spPr>
            <a:xfrm>
              <a:off x="8995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rgbClr val="F7F1E7"/>
            </a:solidFill>
            <a:ln w="10160">
              <a:solidFill>
                <a:srgbClr val="D7D7D7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8" name="Text 57"/>
            <p:cNvSpPr/>
            <p:nvPr/>
          </p:nvSpPr>
          <p:spPr>
            <a:xfrm>
              <a:off x="9727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IPO 前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Text 58"/>
            <p:cNvSpPr/>
            <p:nvPr/>
          </p:nvSpPr>
          <p:spPr>
            <a:xfrm>
              <a:off x="9727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建立可追蹤 KPI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與揭露口徑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Shape 59"/>
            <p:cNvSpPr/>
            <p:nvPr/>
          </p:nvSpPr>
          <p:spPr>
            <a:xfrm>
              <a:off x="2618664" y="5901272"/>
              <a:ext cx="676656" cy="0"/>
            </a:xfrm>
            <a:prstGeom prst="line">
              <a:avLst/>
            </a:prstGeom>
            <a:noFill/>
            <a:ln w="15240">
              <a:solidFill>
                <a:srgbClr val="B58B4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1" name="Shape 60"/>
            <p:cNvSpPr/>
            <p:nvPr/>
          </p:nvSpPr>
          <p:spPr>
            <a:xfrm>
              <a:off x="34141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chemeClr val="accent3">
                <a:lumMod val="95000"/>
              </a:schemeClr>
            </a:solidFill>
            <a:ln w="10160">
              <a:solidFill>
                <a:srgbClr val="D7D7D7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2" name="Text 61"/>
            <p:cNvSpPr/>
            <p:nvPr/>
          </p:nvSpPr>
          <p:spPr>
            <a:xfrm>
              <a:off x="34873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IPO/Roadshow</a:t>
              </a:r>
              <a:endPara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3" name="Text 62"/>
            <p:cNvSpPr/>
            <p:nvPr/>
          </p:nvSpPr>
          <p:spPr>
            <a:xfrm>
              <a:off x="34873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建立市場理解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與比較基準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Shape 63"/>
            <p:cNvSpPr/>
            <p:nvPr/>
          </p:nvSpPr>
          <p:spPr>
            <a:xfrm>
              <a:off x="5133264" y="5901272"/>
              <a:ext cx="676656" cy="0"/>
            </a:xfrm>
            <a:prstGeom prst="line">
              <a:avLst/>
            </a:prstGeom>
            <a:noFill/>
            <a:ln w="15240">
              <a:solidFill>
                <a:srgbClr val="B58B4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5" name="Shape 64"/>
            <p:cNvSpPr/>
            <p:nvPr/>
          </p:nvSpPr>
          <p:spPr>
            <a:xfrm>
              <a:off x="59287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rgbClr val="EDF2F7"/>
            </a:solidFill>
            <a:ln w="10160">
              <a:solidFill>
                <a:srgbClr val="D7D7D7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" name="Text 65"/>
            <p:cNvSpPr/>
            <p:nvPr/>
          </p:nvSpPr>
          <p:spPr>
            <a:xfrm>
              <a:off x="60019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上市後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Text 66"/>
            <p:cNvSpPr/>
            <p:nvPr/>
          </p:nvSpPr>
          <p:spPr>
            <a:xfrm>
              <a:off x="60019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每季以營運與財務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結果持續驗證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640041"/>
      </p:ext>
    </p:extLst>
  </p:cSld>
  <p:clrMapOvr>
    <a:masterClrMapping/>
  </p:clrMapOvr>
</p:sld>
</file>

<file path=ppt/theme/theme1.xml><?xml version="1.0" encoding="utf-8"?>
<a:theme xmlns:a="http://schemas.openxmlformats.org/drawingml/2006/main" name="6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2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3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9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0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4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5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6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48000"/>
          </a:schemeClr>
        </a:solidFill>
        <a:ln w="38100">
          <a:solidFill>
            <a:schemeClr val="bg1">
              <a:lumMod val="95000"/>
            </a:schemeClr>
          </a:solidFill>
        </a:ln>
      </a:spPr>
      <a:bodyPr rtlCol="0" anchor="ctr"/>
      <a:lstStyle>
        <a:defPPr algn="ctr" fontAlgn="base">
          <a:spcBef>
            <a:spcPct val="0"/>
          </a:spcBef>
          <a:spcAft>
            <a:spcPct val="0"/>
          </a:spcAft>
          <a:defRPr kumimoji="1" b="1" dirty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7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40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78928</TotalTime>
  <Words>6635</Words>
  <Application>Microsoft Office PowerPoint</Application>
  <PresentationFormat>如螢幕大小 (4:3)</PresentationFormat>
  <Paragraphs>1232</Paragraphs>
  <Slides>39</Slides>
  <Notes>24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13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63" baseType="lpstr">
      <vt:lpstr>Microsoft JhengHei Light</vt:lpstr>
      <vt:lpstr>華康圓體 Std W3</vt:lpstr>
      <vt:lpstr>微軟正黑體</vt:lpstr>
      <vt:lpstr>微軟正黑體</vt:lpstr>
      <vt:lpstr>標楷體</vt:lpstr>
      <vt:lpstr>標楷體</vt:lpstr>
      <vt:lpstr>Arial</vt:lpstr>
      <vt:lpstr>Calibri</vt:lpstr>
      <vt:lpstr>Times New Roman</vt:lpstr>
      <vt:lpstr>Wingdings</vt:lpstr>
      <vt:lpstr>6_自訂設計</vt:lpstr>
      <vt:lpstr>7_自訂設計</vt:lpstr>
      <vt:lpstr>32_自訂設計</vt:lpstr>
      <vt:lpstr>8_自訂設計</vt:lpstr>
      <vt:lpstr>33_自訂設計</vt:lpstr>
      <vt:lpstr>9_自訂設計</vt:lpstr>
      <vt:lpstr>10_自訂設計</vt:lpstr>
      <vt:lpstr>11_自訂設計</vt:lpstr>
      <vt:lpstr>14_自訂設計</vt:lpstr>
      <vt:lpstr>15_自訂設計</vt:lpstr>
      <vt:lpstr>16_自訂設計</vt:lpstr>
      <vt:lpstr>17_自訂設計</vt:lpstr>
      <vt:lpstr>40_自訂設計</vt:lpstr>
      <vt:lpstr>Image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近3年台灣IPO件數評析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tsb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J1040069@tssco.com.tw;ks454@hotmail.com</dc:creator>
  <cp:lastModifiedBy>黃脩雅</cp:lastModifiedBy>
  <cp:revision>3070</cp:revision>
  <cp:lastPrinted>2024-01-04T07:09:44Z</cp:lastPrinted>
  <dcterms:created xsi:type="dcterms:W3CDTF">2004-04-09T03:27:04Z</dcterms:created>
  <dcterms:modified xsi:type="dcterms:W3CDTF">2026-09-10T08:20:44Z</dcterms:modified>
</cp:coreProperties>
</file>