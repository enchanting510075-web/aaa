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5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6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7.xml" ContentType="application/vnd.openxmlformats-officedocument.theme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8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9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10.xml" ContentType="application/vnd.openxmlformats-officedocument.theme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11.xml" ContentType="application/vnd.openxmlformats-officedocument.theme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12.xml" ContentType="application/vnd.openxmlformats-officedocument.theme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  <p:sldMasterId id="2147485821" r:id="rId2"/>
    <p:sldMasterId id="2147485839" r:id="rId3"/>
    <p:sldMasterId id="2147485847" r:id="rId4"/>
    <p:sldMasterId id="2147485851" r:id="rId5"/>
    <p:sldMasterId id="2147485872" r:id="rId6"/>
    <p:sldMasterId id="2147485880" r:id="rId7"/>
    <p:sldMasterId id="2147485898" r:id="rId8"/>
    <p:sldMasterId id="2147485913" r:id="rId9"/>
    <p:sldMasterId id="2147485917" r:id="rId10"/>
    <p:sldMasterId id="2147485922" r:id="rId11"/>
    <p:sldMasterId id="2147485928" r:id="rId12"/>
    <p:sldMasterId id="2147485944" r:id="rId13"/>
  </p:sldMasterIdLst>
  <p:notesMasterIdLst>
    <p:notesMasterId r:id="rId54"/>
  </p:notesMasterIdLst>
  <p:handoutMasterIdLst>
    <p:handoutMasterId r:id="rId55"/>
  </p:handoutMasterIdLst>
  <p:sldIdLst>
    <p:sldId id="2766" r:id="rId14"/>
    <p:sldId id="1738" r:id="rId15"/>
    <p:sldId id="2147483645" r:id="rId16"/>
    <p:sldId id="262" r:id="rId17"/>
    <p:sldId id="263" r:id="rId18"/>
    <p:sldId id="2147483647" r:id="rId19"/>
    <p:sldId id="2147483635" r:id="rId20"/>
    <p:sldId id="259" r:id="rId21"/>
    <p:sldId id="2147483637" r:id="rId22"/>
    <p:sldId id="257" r:id="rId23"/>
    <p:sldId id="258" r:id="rId24"/>
    <p:sldId id="2147483640" r:id="rId25"/>
    <p:sldId id="256" r:id="rId26"/>
    <p:sldId id="2147483612" r:id="rId27"/>
    <p:sldId id="2147483614" r:id="rId28"/>
    <p:sldId id="2147483613" r:id="rId29"/>
    <p:sldId id="2147483615" r:id="rId30"/>
    <p:sldId id="2147483644" r:id="rId31"/>
    <p:sldId id="2147483616" r:id="rId32"/>
    <p:sldId id="2147483617" r:id="rId33"/>
    <p:sldId id="2147483619" r:id="rId34"/>
    <p:sldId id="2147483620" r:id="rId35"/>
    <p:sldId id="2147483621" r:id="rId36"/>
    <p:sldId id="2147483622" r:id="rId37"/>
    <p:sldId id="2147483626" r:id="rId38"/>
    <p:sldId id="2147483627" r:id="rId39"/>
    <p:sldId id="2147483628" r:id="rId40"/>
    <p:sldId id="2147483643" r:id="rId41"/>
    <p:sldId id="2147483633" r:id="rId42"/>
    <p:sldId id="2797" r:id="rId43"/>
    <p:sldId id="2785" r:id="rId44"/>
    <p:sldId id="2147483547" r:id="rId45"/>
    <p:sldId id="2147483610" r:id="rId46"/>
    <p:sldId id="2613" r:id="rId47"/>
    <p:sldId id="812" r:id="rId48"/>
    <p:sldId id="2760" r:id="rId49"/>
    <p:sldId id="738" r:id="rId50"/>
    <p:sldId id="2674" r:id="rId51"/>
    <p:sldId id="2589" r:id="rId52"/>
    <p:sldId id="1749" r:id="rId53"/>
  </p:sldIdLst>
  <p:sldSz cx="9144000" cy="6858000" type="screen4x3"/>
  <p:notesSz cx="9926638" cy="6797675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5pPr>
    <a:lvl6pPr marL="2286000" algn="l" defTabSz="914400" rtl="0" eaLnBrk="1" latinLnBrk="0" hangingPunct="1">
      <a:defRPr kumimoji="1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6pPr>
    <a:lvl7pPr marL="2743200" algn="l" defTabSz="914400" rtl="0" eaLnBrk="1" latinLnBrk="0" hangingPunct="1">
      <a:defRPr kumimoji="1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7pPr>
    <a:lvl8pPr marL="3200400" algn="l" defTabSz="914400" rtl="0" eaLnBrk="1" latinLnBrk="0" hangingPunct="1">
      <a:defRPr kumimoji="1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8pPr>
    <a:lvl9pPr marL="3657600" algn="l" defTabSz="914400" rtl="0" eaLnBrk="1" latinLnBrk="0" hangingPunct="1">
      <a:defRPr kumimoji="1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9D3C56AE-0084-4410-B930-96063C548167}">
          <p14:sldIdLst>
            <p14:sldId id="2766"/>
            <p14:sldId id="1738"/>
            <p14:sldId id="2147483645"/>
            <p14:sldId id="262"/>
            <p14:sldId id="263"/>
            <p14:sldId id="2147483647"/>
            <p14:sldId id="2147483635"/>
            <p14:sldId id="259"/>
            <p14:sldId id="2147483637"/>
            <p14:sldId id="257"/>
            <p14:sldId id="258"/>
            <p14:sldId id="2147483640"/>
            <p14:sldId id="256"/>
            <p14:sldId id="2147483612"/>
            <p14:sldId id="2147483614"/>
            <p14:sldId id="2147483613"/>
            <p14:sldId id="2147483615"/>
            <p14:sldId id="2147483644"/>
            <p14:sldId id="2147483616"/>
            <p14:sldId id="2147483617"/>
            <p14:sldId id="2147483619"/>
            <p14:sldId id="2147483620"/>
            <p14:sldId id="2147483621"/>
            <p14:sldId id="2147483622"/>
            <p14:sldId id="2147483626"/>
            <p14:sldId id="2147483627"/>
            <p14:sldId id="2147483628"/>
            <p14:sldId id="2147483643"/>
            <p14:sldId id="2147483633"/>
            <p14:sldId id="2797"/>
            <p14:sldId id="2785"/>
            <p14:sldId id="2147483547"/>
            <p14:sldId id="2147483610"/>
            <p14:sldId id="2613"/>
            <p14:sldId id="812"/>
            <p14:sldId id="2760"/>
            <p14:sldId id="738"/>
          </p14:sldIdLst>
        </p14:section>
        <p14:section name="附件" id="{34690987-2254-4E69-9FA1-A02029A5B419}">
          <p14:sldIdLst>
            <p14:sldId id="2674"/>
            <p14:sldId id="2589"/>
            <p14:sldId id="17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41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pos="2336" userDrawn="1">
          <p15:clr>
            <a:srgbClr val="A4A3A4"/>
          </p15:clr>
        </p15:guide>
        <p15:guide id="4" pos="5465" userDrawn="1">
          <p15:clr>
            <a:srgbClr val="A4A3A4"/>
          </p15:clr>
        </p15:guide>
        <p15:guide id="6" orient="horz" pos="3702" userDrawn="1">
          <p15:clr>
            <a:srgbClr val="A4A3A4"/>
          </p15:clr>
        </p15:guide>
        <p15:guide id="7" orient="horz" pos="3929" userDrawn="1">
          <p15:clr>
            <a:srgbClr val="A4A3A4"/>
          </p15:clr>
        </p15:guide>
        <p15:guide id="9" orient="horz" pos="1570" userDrawn="1">
          <p15:clr>
            <a:srgbClr val="A4A3A4"/>
          </p15:clr>
        </p15:guide>
        <p15:guide id="10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 userDrawn="1">
          <p15:clr>
            <a:srgbClr val="A4A3A4"/>
          </p15:clr>
        </p15:guide>
        <p15:guide id="2" pos="3131" userDrawn="1">
          <p15:clr>
            <a:srgbClr val="A4A3A4"/>
          </p15:clr>
        </p15:guide>
        <p15:guide id="3" orient="horz" pos="2141" userDrawn="1">
          <p15:clr>
            <a:srgbClr val="A4A3A4"/>
          </p15:clr>
        </p15:guide>
        <p15:guide id="4" pos="312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沈家維" initials="沈家維" lastIdx="9" clrIdx="0">
    <p:extLst>
      <p:ext uri="{19B8F6BF-5375-455C-9EA6-DF929625EA0E}">
        <p15:presenceInfo xmlns:p15="http://schemas.microsoft.com/office/powerpoint/2012/main" userId="S-1-5-21-2744940397-1624504133-3266513053-9110" providerId="AD"/>
      </p:ext>
    </p:extLst>
  </p:cmAuthor>
  <p:cmAuthor id="2" name="蘇逸廷" initials="蘇逸廷" lastIdx="1" clrIdx="1">
    <p:extLst>
      <p:ext uri="{19B8F6BF-5375-455C-9EA6-DF929625EA0E}">
        <p15:presenceInfo xmlns:p15="http://schemas.microsoft.com/office/powerpoint/2012/main" userId="S-1-5-21-2744940397-1624504133-3266513053-9806" providerId="AD"/>
      </p:ext>
    </p:extLst>
  </p:cmAuthor>
  <p:cmAuthor id="3" name="鄭淨慈" initials="鄭淨慈" lastIdx="5" clrIdx="2">
    <p:extLst>
      <p:ext uri="{19B8F6BF-5375-455C-9EA6-DF929625EA0E}">
        <p15:presenceInfo xmlns:p15="http://schemas.microsoft.com/office/powerpoint/2012/main" userId="S-1-5-21-2744940397-1624504133-3266513053-1382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0000"/>
    <a:srgbClr val="D7CCB2"/>
    <a:srgbClr val="7F7F7F"/>
    <a:srgbClr val="BFBFBF"/>
    <a:srgbClr val="E6E6E6"/>
    <a:srgbClr val="F8E8E8"/>
    <a:srgbClr val="DE3524"/>
    <a:srgbClr val="C4C4C4"/>
    <a:srgbClr val="595959"/>
    <a:srgbClr val="A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31" autoAdjust="0"/>
    <p:restoredTop sz="93875" autoAdjust="0"/>
  </p:normalViewPr>
  <p:slideViewPr>
    <p:cSldViewPr>
      <p:cViewPr>
        <p:scale>
          <a:sx n="60" d="100"/>
          <a:sy n="60" d="100"/>
        </p:scale>
        <p:origin x="1304" y="144"/>
      </p:cViewPr>
      <p:guideLst>
        <p:guide orient="horz" pos="2341"/>
        <p:guide pos="2880"/>
        <p:guide pos="2336"/>
        <p:guide pos="5465"/>
        <p:guide orient="horz" pos="3702"/>
        <p:guide orient="horz" pos="3929"/>
        <p:guide orient="horz" pos="1570"/>
        <p:guide orient="horz" pos="2160"/>
      </p:guideLst>
    </p:cSldViewPr>
  </p:slideViewPr>
  <p:outlineViewPr>
    <p:cViewPr>
      <p:scale>
        <a:sx n="33" d="100"/>
        <a:sy n="33" d="100"/>
      </p:scale>
      <p:origin x="0" y="124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19" d="100"/>
          <a:sy n="119" d="100"/>
        </p:scale>
        <p:origin x="1996" y="60"/>
      </p:cViewPr>
      <p:guideLst>
        <p:guide orient="horz" pos="2144"/>
        <p:guide pos="3131"/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slide" Target="slides/slide34.xml"/><Relationship Id="rId50" Type="http://schemas.openxmlformats.org/officeDocument/2006/relationships/slide" Target="slides/slide37.xml"/><Relationship Id="rId55" Type="http://schemas.openxmlformats.org/officeDocument/2006/relationships/handoutMaster" Target="handoutMasters/handoutMaster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53" Type="http://schemas.openxmlformats.org/officeDocument/2006/relationships/slide" Target="slides/slide40.xml"/><Relationship Id="rId58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slide" Target="slides/slide35.xml"/><Relationship Id="rId56" Type="http://schemas.openxmlformats.org/officeDocument/2006/relationships/commentAuthors" Target="commentAuthor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slide" Target="slides/slide33.xml"/><Relationship Id="rId59" Type="http://schemas.openxmlformats.org/officeDocument/2006/relationships/theme" Target="theme/theme1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slide" Target="slides/slide36.xml"/><Relationship Id="rId57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openxmlformats.org/officeDocument/2006/relationships/slide" Target="slides/slide39.xml"/><Relationship Id="rId6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1120105\Desktop\&#36039;&#26412;&#24066;&#22580;\&#36039;&#26412;&#19968;&#37096;\0.%20&#26696;&#20214;\IPO\2.&#25308;&#35370;&#36942;\&#38463;&#37324;&#24052;&#24052;&#21109;&#25237;&#22522;&#37329;\&#26696;&#20214;&#24409;&#25972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1120105\Desktop\&#36039;&#26412;&#24066;&#22580;\&#36039;&#26412;&#19968;&#37096;\0.%20&#26696;&#20214;\IPO\2.&#25308;&#35370;&#36942;\&#38463;&#37324;&#24052;&#24052;&#21109;&#25237;&#22522;&#37329;\&#26696;&#20214;&#24409;&#25972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1120105\Desktop\&#36039;&#26412;&#24066;&#22580;\&#36039;&#26412;&#19968;&#37096;\0.%20&#26696;&#20214;\IPO\2.&#25308;&#35370;&#36942;\&#38463;&#37324;&#24052;&#24052;&#21109;&#25237;&#22522;&#37329;\&#26696;&#20214;&#24409;&#25972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271494016349241E-2"/>
          <c:y val="0.15888773903262093"/>
          <c:w val="0.93145701196730146"/>
          <c:h val="0.66355995500562426"/>
        </c:manualLayout>
      </c:layout>
      <c:barChart>
        <c:barDir val="col"/>
        <c:grouping val="stacked"/>
        <c:varyColors val="0"/>
        <c:ser>
          <c:idx val="1"/>
          <c:order val="0"/>
          <c:tx>
            <c:strRef>
              <c:f>工作表7!$I$3</c:f>
              <c:strCache>
                <c:ptCount val="1"/>
                <c:pt idx="0">
                  <c:v>TSE</c:v>
                </c:pt>
              </c:strCache>
            </c:strRef>
          </c:tx>
          <c:spPr>
            <a:solidFill>
              <a:srgbClr val="92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工作表7!$G$4:$G$6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工作表7!$I$4:$I$6</c:f>
              <c:numCache>
                <c:formatCode>General</c:formatCode>
                <c:ptCount val="3"/>
                <c:pt idx="0">
                  <c:v>26</c:v>
                </c:pt>
                <c:pt idx="1">
                  <c:v>30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03-4006-8CEB-09C5950BACC2}"/>
            </c:ext>
          </c:extLst>
        </c:ser>
        <c:ser>
          <c:idx val="0"/>
          <c:order val="1"/>
          <c:tx>
            <c:strRef>
              <c:f>工作表7!$H$3</c:f>
              <c:strCache>
                <c:ptCount val="1"/>
                <c:pt idx="0">
                  <c:v>OTC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工作表7!$G$4:$G$6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工作表7!$H$4:$H$6</c:f>
              <c:numCache>
                <c:formatCode>General</c:formatCode>
                <c:ptCount val="3"/>
                <c:pt idx="0">
                  <c:v>30</c:v>
                </c:pt>
                <c:pt idx="1">
                  <c:v>42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03-4006-8CEB-09C5950BACC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449856879"/>
        <c:axId val="449855631"/>
      </c:barChart>
      <c:catAx>
        <c:axId val="449856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449855631"/>
        <c:crosses val="autoZero"/>
        <c:auto val="1"/>
        <c:lblAlgn val="ctr"/>
        <c:lblOffset val="100"/>
        <c:noMultiLvlLbl val="0"/>
      </c:catAx>
      <c:valAx>
        <c:axId val="44985563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498568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微軟正黑體" panose="020B0604030504040204" pitchFamily="34" charset="-120"/>
          <a:ea typeface="微軟正黑體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0684115874404591E-2"/>
          <c:y val="0.22495489245930586"/>
          <c:w val="0.88536526684164485"/>
          <c:h val="0.641076875608152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圖表!$G$15</c:f>
              <c:strCache>
                <c:ptCount val="1"/>
                <c:pt idx="0">
                  <c:v>3~6億</c:v>
                </c:pt>
              </c:strCache>
            </c:strRef>
          </c:tx>
          <c:spPr>
            <a:solidFill>
              <a:srgbClr val="92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圖表!$H$14:$J$14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圖表!$H$15:$J$15</c:f>
              <c:numCache>
                <c:formatCode>General</c:formatCode>
                <c:ptCount val="3"/>
                <c:pt idx="0">
                  <c:v>20</c:v>
                </c:pt>
                <c:pt idx="1">
                  <c:v>19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3D-48EB-8AE6-7B21E1CDFB30}"/>
            </c:ext>
          </c:extLst>
        </c:ser>
        <c:ser>
          <c:idx val="1"/>
          <c:order val="1"/>
          <c:tx>
            <c:strRef>
              <c:f>圖表!$G$16</c:f>
              <c:strCache>
                <c:ptCount val="1"/>
                <c:pt idx="0">
                  <c:v>6~10億</c:v>
                </c:pt>
              </c:strCache>
            </c:strRef>
          </c:tx>
          <c:spPr>
            <a:solidFill>
              <a:srgbClr val="D7CCB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圖表!$H$14:$J$14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圖表!$H$16:$J$16</c:f>
              <c:numCache>
                <c:formatCode>General</c:formatCode>
                <c:ptCount val="3"/>
                <c:pt idx="0">
                  <c:v>10</c:v>
                </c:pt>
                <c:pt idx="1">
                  <c:v>21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3D-48EB-8AE6-7B21E1CDFB30}"/>
            </c:ext>
          </c:extLst>
        </c:ser>
        <c:ser>
          <c:idx val="2"/>
          <c:order val="2"/>
          <c:tx>
            <c:strRef>
              <c:f>圖表!$G$17</c:f>
              <c:strCache>
                <c:ptCount val="1"/>
                <c:pt idx="0">
                  <c:v>3億以下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圖表!$H$14:$J$14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圖表!$H$17:$J$17</c:f>
              <c:numCache>
                <c:formatCode>General</c:formatCode>
                <c:ptCount val="3"/>
                <c:pt idx="0">
                  <c:v>14</c:v>
                </c:pt>
                <c:pt idx="1">
                  <c:v>25</c:v>
                </c:pt>
                <c:pt idx="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C3D-48EB-8AE6-7B21E1CDFB30}"/>
            </c:ext>
          </c:extLst>
        </c:ser>
        <c:ser>
          <c:idx val="3"/>
          <c:order val="3"/>
          <c:tx>
            <c:strRef>
              <c:f>圖表!$G$18</c:f>
              <c:strCache>
                <c:ptCount val="1"/>
                <c:pt idx="0">
                  <c:v>10億以上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圖表!$H$14:$J$14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圖表!$H$18:$J$18</c:f>
              <c:numCache>
                <c:formatCode>General</c:formatCode>
                <c:ptCount val="3"/>
                <c:pt idx="0">
                  <c:v>12</c:v>
                </c:pt>
                <c:pt idx="1">
                  <c:v>7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C3D-48EB-8AE6-7B21E1CDFB3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882026719"/>
        <c:axId val="882040031"/>
      </c:barChart>
      <c:catAx>
        <c:axId val="882026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882040031"/>
        <c:crosses val="autoZero"/>
        <c:auto val="1"/>
        <c:lblAlgn val="ctr"/>
        <c:lblOffset val="100"/>
        <c:noMultiLvlLbl val="0"/>
      </c:catAx>
      <c:valAx>
        <c:axId val="88204003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820267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3.6885146301156788E-2"/>
          <c:y val="4.8149559525677531E-2"/>
          <c:w val="0.92005686789151353"/>
          <c:h val="0.1009880472927703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微軟正黑體" panose="020B0604030504040204" pitchFamily="34" charset="-120"/>
          <a:ea typeface="微軟正黑體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圖表!$R$64</c:f>
              <c:strCache>
                <c:ptCount val="1"/>
                <c:pt idx="0">
                  <c:v>市佔率</c:v>
                </c:pt>
              </c:strCache>
            </c:strRef>
          </c:tx>
          <c:dPt>
            <c:idx val="0"/>
            <c:bubble3D val="0"/>
            <c:spPr>
              <a:solidFill>
                <a:srgbClr val="92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B26-4E91-8275-33E992387FCF}"/>
              </c:ext>
            </c:extLst>
          </c:dPt>
          <c:dPt>
            <c:idx val="1"/>
            <c:bubble3D val="0"/>
            <c:spPr>
              <a:solidFill>
                <a:srgbClr val="A682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B26-4E91-8275-33E992387FCF}"/>
              </c:ext>
            </c:extLst>
          </c:dPt>
          <c:dPt>
            <c:idx val="2"/>
            <c:bubble3D val="0"/>
            <c:spPr>
              <a:solidFill>
                <a:srgbClr val="59595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B26-4E91-8275-33E992387FCF}"/>
              </c:ext>
            </c:extLst>
          </c:dPt>
          <c:dPt>
            <c:idx val="3"/>
            <c:bubble3D val="0"/>
            <c:spPr>
              <a:solidFill>
                <a:srgbClr val="7F7F7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B26-4E91-8275-33E992387FCF}"/>
              </c:ext>
            </c:extLst>
          </c:dPt>
          <c:dPt>
            <c:idx val="4"/>
            <c:bubble3D val="0"/>
            <c:spPr>
              <a:solidFill>
                <a:srgbClr val="B7472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B26-4E91-8275-33E992387FCF}"/>
              </c:ext>
            </c:extLst>
          </c:dPt>
          <c:dPt>
            <c:idx val="5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0B26-4E91-8275-33E992387FCF}"/>
              </c:ext>
            </c:extLst>
          </c:dPt>
          <c:dLbls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+mn-cs"/>
                    </a:defRPr>
                  </a:pPr>
                  <a:endParaRPr lang="zh-TW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0B26-4E91-8275-33E992387FC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圖表!$Q$65:$Q$70</c:f>
              <c:strCache>
                <c:ptCount val="6"/>
                <c:pt idx="0">
                  <c:v>台新</c:v>
                </c:pt>
                <c:pt idx="1">
                  <c:v>元大</c:v>
                </c:pt>
                <c:pt idx="2">
                  <c:v>凱基</c:v>
                </c:pt>
                <c:pt idx="3">
                  <c:v>富邦</c:v>
                </c:pt>
                <c:pt idx="4">
                  <c:v>元富</c:v>
                </c:pt>
                <c:pt idx="5">
                  <c:v>其他</c:v>
                </c:pt>
              </c:strCache>
            </c:strRef>
          </c:cat>
          <c:val>
            <c:numRef>
              <c:f>圖表!$R$65:$R$70</c:f>
              <c:numCache>
                <c:formatCode>0.0%</c:formatCode>
                <c:ptCount val="6"/>
                <c:pt idx="0">
                  <c:v>0.15625</c:v>
                </c:pt>
                <c:pt idx="1">
                  <c:v>0.16250000000000001</c:v>
                </c:pt>
                <c:pt idx="2">
                  <c:v>0.1125</c:v>
                </c:pt>
                <c:pt idx="3">
                  <c:v>9.375E-2</c:v>
                </c:pt>
                <c:pt idx="4">
                  <c:v>4.3749999999999997E-2</c:v>
                </c:pt>
                <c:pt idx="5">
                  <c:v>0.43124999999999997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B26-4E91-8275-33E992387F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微軟正黑體" panose="020B0604030504040204" pitchFamily="34" charset="-120"/>
          <a:ea typeface="微軟正黑體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4299799" cy="337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79" tIns="45539" rIns="91079" bIns="45539" numCol="1" anchor="t" anchorCtr="0" compatLnSpc="1">
            <a:prstTxWarp prst="textNoShape">
              <a:avLst/>
            </a:prstTxWarp>
          </a:bodyPr>
          <a:lstStyle>
            <a:lvl1pPr defTabSz="910947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5253" y="2"/>
            <a:ext cx="4299799" cy="337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79" tIns="45539" rIns="91079" bIns="45539" numCol="1" anchor="t" anchorCtr="0" compatLnSpc="1">
            <a:prstTxWarp prst="textNoShape">
              <a:avLst/>
            </a:prstTxWarp>
          </a:bodyPr>
          <a:lstStyle>
            <a:lvl1pPr algn="r" defTabSz="910947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6456843"/>
            <a:ext cx="4299799" cy="33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79" tIns="45539" rIns="91079" bIns="45539" numCol="1" anchor="b" anchorCtr="0" compatLnSpc="1">
            <a:prstTxWarp prst="textNoShape">
              <a:avLst/>
            </a:prstTxWarp>
          </a:bodyPr>
          <a:lstStyle>
            <a:lvl1pPr defTabSz="910947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5253" y="6456843"/>
            <a:ext cx="4299799" cy="33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79" tIns="45539" rIns="91079" bIns="45539" numCol="1" anchor="b" anchorCtr="0" compatLnSpc="1">
            <a:prstTxWarp prst="textNoShape">
              <a:avLst/>
            </a:prstTxWarp>
          </a:bodyPr>
          <a:lstStyle>
            <a:lvl1pPr algn="r" defTabSz="910947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F065E98F-E7D5-4E0C-9E89-0BE65911436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209527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4299799" cy="337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79" tIns="45539" rIns="91079" bIns="45539" numCol="1" anchor="t" anchorCtr="0" compatLnSpc="1">
            <a:prstTxWarp prst="textNoShape">
              <a:avLst/>
            </a:prstTxWarp>
          </a:bodyPr>
          <a:lstStyle>
            <a:lvl1pPr defTabSz="910947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5253" y="2"/>
            <a:ext cx="4299799" cy="337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79" tIns="45539" rIns="91079" bIns="45539" numCol="1" anchor="t" anchorCtr="0" compatLnSpc="1">
            <a:prstTxWarp prst="textNoShape">
              <a:avLst/>
            </a:prstTxWarp>
          </a:bodyPr>
          <a:lstStyle>
            <a:lvl1pPr algn="r" defTabSz="910947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0250" y="509588"/>
            <a:ext cx="3400425" cy="25511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505" y="3229216"/>
            <a:ext cx="7941628" cy="30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79" tIns="45539" rIns="91079" bIns="455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456843"/>
            <a:ext cx="4299799" cy="33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79" tIns="45539" rIns="91079" bIns="45539" numCol="1" anchor="b" anchorCtr="0" compatLnSpc="1">
            <a:prstTxWarp prst="textNoShape">
              <a:avLst/>
            </a:prstTxWarp>
          </a:bodyPr>
          <a:lstStyle>
            <a:lvl1pPr defTabSz="910947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5253" y="6456843"/>
            <a:ext cx="4299799" cy="33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79" tIns="45539" rIns="91079" bIns="45539" numCol="1" anchor="b" anchorCtr="0" compatLnSpc="1">
            <a:prstTxWarp prst="textNoShape">
              <a:avLst/>
            </a:prstTxWarp>
          </a:bodyPr>
          <a:lstStyle>
            <a:lvl1pPr algn="r" defTabSz="910947">
              <a:defRPr sz="12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43FB88EE-223F-48CB-A0E2-A5DCCD370B4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6370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71838" y="511175"/>
            <a:ext cx="3397250" cy="2547938"/>
          </a:xfrm>
          <a:ln/>
        </p:spPr>
      </p:sp>
      <p:sp>
        <p:nvSpPr>
          <p:cNvPr id="8294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1" tIns="45360" rIns="90731" bIns="45360"/>
          <a:lstStyle/>
          <a:p>
            <a:pPr defTabSz="909764" eaLnBrk="1" hangingPunct="1"/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270531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en-US" altLang="zh-TW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0320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en-US" altLang="zh-TW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866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 smtClean="0"/>
              <a:pPr>
                <a:defRPr/>
              </a:pPr>
              <a:t>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8715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71838" y="511175"/>
            <a:ext cx="3397250" cy="2547938"/>
          </a:xfrm>
          <a:ln/>
        </p:spPr>
      </p:sp>
      <p:sp>
        <p:nvSpPr>
          <p:cNvPr id="8294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1" tIns="45360" rIns="90731" bIns="45360"/>
          <a:lstStyle/>
          <a:p>
            <a:pPr defTabSz="909764" eaLnBrk="1" hangingPunct="1"/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0061851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en-US" altLang="zh-TW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47631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>
                <a:solidFill>
                  <a:prstClr val="black"/>
                </a:solidFill>
              </a:rPr>
              <a:pPr>
                <a:defRPr/>
              </a:pPr>
              <a:t>9</a:t>
            </a:fld>
            <a:endParaRPr lang="en-US" altLang="zh-TW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676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>
                <a:solidFill>
                  <a:prstClr val="black"/>
                </a:solidFill>
              </a:rPr>
              <a:pPr>
                <a:defRPr/>
              </a:pPr>
              <a:t>10</a:t>
            </a:fld>
            <a:endParaRPr lang="en-US" altLang="zh-TW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338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>
                <a:solidFill>
                  <a:prstClr val="black"/>
                </a:solidFill>
              </a:rPr>
              <a:pPr>
                <a:defRPr/>
              </a:pPr>
              <a:t>11</a:t>
            </a:fld>
            <a:endParaRPr lang="en-US" altLang="zh-TW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1907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zh-TW" altLang="en-US" dirty="0"/>
              <a:t>一共分為</a:t>
            </a:r>
            <a:r>
              <a:rPr lang="en-US" altLang="zh-TW" dirty="0"/>
              <a:t>4-5</a:t>
            </a:r>
            <a:r>
              <a:rPr lang="zh-TW" altLang="en-US" dirty="0"/>
              <a:t>個階段</a:t>
            </a:r>
            <a:endParaRPr lang="en-US" altLang="zh-TW" dirty="0"/>
          </a:p>
          <a:p>
            <a:r>
              <a:rPr lang="zh-TW" altLang="en-US" dirty="0"/>
              <a:t>股權規劃、資本形成</a:t>
            </a:r>
            <a:endParaRPr lang="en-US" altLang="zh-TW" dirty="0"/>
          </a:p>
          <a:p>
            <a:r>
              <a:rPr lang="zh-TW" altLang="en-US" dirty="0"/>
              <a:t>公開發行前內部人股權移轉、活動較不受規定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登錄興櫃</a:t>
            </a:r>
            <a:r>
              <a:rPr lang="en-US" altLang="zh-TW" dirty="0"/>
              <a:t>-</a:t>
            </a:r>
            <a:r>
              <a:rPr lang="zh-TW" altLang="en-US" dirty="0"/>
              <a:t>協助價格發現</a:t>
            </a:r>
            <a:endParaRPr lang="en-US" altLang="zh-TW" dirty="0"/>
          </a:p>
          <a:p>
            <a:r>
              <a:rPr lang="zh-TW" altLang="en-US" dirty="0"/>
              <a:t>公司提撥股票給券商</a:t>
            </a:r>
            <a:endParaRPr lang="en-US" altLang="zh-TW" dirty="0"/>
          </a:p>
          <a:p>
            <a:r>
              <a:rPr lang="zh-TW" altLang="en-US" dirty="0"/>
              <a:t>多少呢</a:t>
            </a:r>
            <a:r>
              <a:rPr lang="en-US" altLang="zh-TW" dirty="0"/>
              <a:t>?</a:t>
            </a:r>
          </a:p>
          <a:p>
            <a:endParaRPr lang="en-US" altLang="zh-TW" dirty="0"/>
          </a:p>
          <a:p>
            <a:r>
              <a:rPr lang="zh-TW" altLang="en-US" dirty="0"/>
              <a:t>不宜</a:t>
            </a:r>
            <a:r>
              <a:rPr lang="en-US" altLang="zh-TW" dirty="0"/>
              <a:t>(</a:t>
            </a:r>
            <a:r>
              <a:rPr lang="zh-TW" altLang="en-US" dirty="0"/>
              <a:t>興櫃時不得私轉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申請上市櫃 </a:t>
            </a:r>
            <a:endParaRPr lang="en-US" altLang="zh-TW" dirty="0"/>
          </a:p>
          <a:p>
            <a:r>
              <a:rPr lang="zh-TW" altLang="en-US" dirty="0"/>
              <a:t>有審議會與問答</a:t>
            </a:r>
            <a:r>
              <a:rPr lang="en-US" altLang="zh-TW" dirty="0"/>
              <a:t>(</a:t>
            </a:r>
            <a:r>
              <a:rPr lang="zh-TW" altLang="en-US" dirty="0"/>
              <a:t>承銷商會協助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pPr defTabSz="915402">
              <a:defRPr/>
            </a:pPr>
            <a:r>
              <a:rPr lang="zh-TW" altLang="en-US" dirty="0"/>
              <a:t>掛牌後，是另一門考驗，我們將透過資本計畫以永續經營，位公司達成更佳的表現</a:t>
            </a:r>
            <a:endParaRPr lang="en-US" altLang="zh-TW" dirty="0"/>
          </a:p>
          <a:p>
            <a:r>
              <a:rPr lang="en-US" altLang="zh-TW" dirty="0"/>
              <a:t>(</a:t>
            </a:r>
            <a:r>
              <a:rPr lang="zh-TW" altLang="en-US" dirty="0"/>
              <a:t>包含各產品、各目的</a:t>
            </a:r>
            <a:r>
              <a:rPr lang="en-US" altLang="zh-TW" dirty="0"/>
              <a:t>)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 smtClean="0"/>
              <a:pPr>
                <a:defRPr/>
              </a:pPr>
              <a:t>12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283070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71838" y="511175"/>
            <a:ext cx="3397250" cy="2547938"/>
          </a:xfrm>
          <a:ln/>
        </p:spPr>
      </p:sp>
      <p:sp>
        <p:nvSpPr>
          <p:cNvPr id="8294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1" tIns="45360" rIns="90731" bIns="45360"/>
          <a:lstStyle/>
          <a:p>
            <a:pPr defTabSz="909764" eaLnBrk="1" hangingPunct="1"/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6357953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71838" y="511175"/>
            <a:ext cx="3397250" cy="2547938"/>
          </a:xfrm>
          <a:ln/>
        </p:spPr>
      </p:sp>
      <p:sp>
        <p:nvSpPr>
          <p:cNvPr id="8294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1" tIns="45360" rIns="90731" bIns="45360"/>
          <a:lstStyle/>
          <a:p>
            <a:pPr defTabSz="909764" eaLnBrk="1" hangingPunct="1"/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7866764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 smtClean="0"/>
              <a:pPr>
                <a:defRPr/>
              </a:pPr>
              <a:t>20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562248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 smtClean="0"/>
              <a:pPr>
                <a:defRPr/>
              </a:pPr>
              <a:t>21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866852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71838" y="511175"/>
            <a:ext cx="3397250" cy="2547938"/>
          </a:xfrm>
          <a:ln/>
        </p:spPr>
      </p:sp>
      <p:sp>
        <p:nvSpPr>
          <p:cNvPr id="8294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1" tIns="45360" rIns="90731" bIns="45360"/>
          <a:lstStyle/>
          <a:p>
            <a:pPr defTabSz="909764" eaLnBrk="1" hangingPunct="1"/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6839017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保瑞是目前台灣最大的</a:t>
            </a:r>
            <a:r>
              <a:rPr lang="en-US" altLang="zh-TW" dirty="0"/>
              <a:t>CDOM</a:t>
            </a:r>
            <a:r>
              <a:rPr lang="zh-TW" altLang="en-US" dirty="0"/>
              <a:t>藥廠，這個案例非常經典的是</a:t>
            </a:r>
            <a:endParaRPr lang="en-US" altLang="zh-TW" dirty="0"/>
          </a:p>
          <a:p>
            <a:r>
              <a:rPr lang="zh-TW" altLang="en-US" dirty="0"/>
              <a:t>台新證券是從保瑞</a:t>
            </a:r>
            <a:r>
              <a:rPr lang="en-US" altLang="zh-TW" dirty="0"/>
              <a:t>IPO</a:t>
            </a:r>
            <a:r>
              <a:rPr lang="zh-TW" altLang="en-US" dirty="0"/>
              <a:t>市值</a:t>
            </a:r>
            <a:r>
              <a:rPr lang="en-US" altLang="zh-TW" dirty="0"/>
              <a:t>8.6</a:t>
            </a:r>
            <a:r>
              <a:rPr lang="zh-TW" altLang="en-US" dirty="0"/>
              <a:t>億元一路陪伴協助保瑞，至今市值已達</a:t>
            </a:r>
            <a:r>
              <a:rPr lang="en-US" altLang="zh-TW" dirty="0"/>
              <a:t>650</a:t>
            </a:r>
            <a:r>
              <a:rPr lang="zh-TW" altLang="en-US" dirty="0"/>
              <a:t>億元，最高市值到</a:t>
            </a:r>
            <a:r>
              <a:rPr lang="en-US" altLang="zh-TW" dirty="0"/>
              <a:t>783</a:t>
            </a:r>
            <a:r>
              <a:rPr lang="zh-TW" altLang="en-US" dirty="0"/>
              <a:t>億元，整體市值成長了近</a:t>
            </a:r>
            <a:r>
              <a:rPr lang="en-US" altLang="zh-TW" dirty="0"/>
              <a:t>100</a:t>
            </a:r>
            <a:r>
              <a:rPr lang="zh-TW" altLang="en-US" dirty="0"/>
              <a:t>倍</a:t>
            </a:r>
            <a:endParaRPr lang="en-US" altLang="zh-TW" dirty="0"/>
          </a:p>
          <a:p>
            <a:r>
              <a:rPr lang="zh-TW" altLang="en-US" dirty="0"/>
              <a:t>這幾年台新也與保瑞共同規畫完成</a:t>
            </a:r>
            <a:r>
              <a:rPr lang="en-US" altLang="zh-TW" dirty="0"/>
              <a:t>7</a:t>
            </a:r>
            <a:r>
              <a:rPr lang="zh-TW" altLang="en-US" dirty="0"/>
              <a:t>起國內外併購案，使保瑞成為國際級的</a:t>
            </a:r>
            <a:r>
              <a:rPr lang="en-US" altLang="zh-TW" dirty="0"/>
              <a:t>CDMO</a:t>
            </a:r>
            <a:r>
              <a:rPr lang="zh-TW" altLang="en-US" dirty="0"/>
              <a:t>藥廠，更協助保瑞在資本市場募集資金超過</a:t>
            </a:r>
            <a:r>
              <a:rPr lang="en-US" altLang="zh-TW" dirty="0"/>
              <a:t>35</a:t>
            </a:r>
            <a:r>
              <a:rPr lang="zh-TW" altLang="en-US" dirty="0"/>
              <a:t>億元，提供強力資金來源</a:t>
            </a:r>
            <a:endParaRPr lang="en-US" altLang="zh-TW" dirty="0"/>
          </a:p>
          <a:p>
            <a:r>
              <a:rPr lang="zh-TW" altLang="en-US" dirty="0"/>
              <a:t>除了併購、募資，保瑞無論在組織架構、私募基金及法人溝通、櫃轉市等全面規劃，都與台新攜手合作，創造極大的公司價值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A0A4C3-B8FA-41E9-8D9C-3D02F3EFA857}" type="slidenum">
              <a:rPr lang="en-US" altLang="zh-TW" smtClean="0">
                <a:solidFill>
                  <a:prstClr val="black"/>
                </a:solidFill>
              </a:rPr>
              <a:pPr>
                <a:defRPr/>
              </a:pPr>
              <a:t>30</a:t>
            </a:fld>
            <a:endParaRPr lang="en-US" altLang="zh-TW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9018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71B571-1069-4CBE-9BFF-4437867319A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6488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00"/>
                </a:solidFill>
                <a:ea typeface="微軟正黑體" panose="020B0604030504040204" pitchFamily="34" charset="-120"/>
              </a:rPr>
              <a:t>維熹科技</a:t>
            </a:r>
            <a:r>
              <a:rPr lang="en-US" altLang="zh-TW" dirty="0">
                <a:solidFill>
                  <a:srgbClr val="000000"/>
                </a:solidFill>
                <a:ea typeface="微軟正黑體" panose="020B0604030504040204" pitchFamily="34" charset="-120"/>
              </a:rPr>
              <a:t>96</a:t>
            </a:r>
          </a:p>
          <a:p>
            <a:r>
              <a:rPr lang="zh-TW" altLang="en-US" dirty="0">
                <a:solidFill>
                  <a:srgbClr val="000000"/>
                </a:solidFill>
                <a:ea typeface="微軟正黑體" panose="020B0604030504040204" pitchFamily="34" charset="-120"/>
              </a:rPr>
              <a:t>台灣類比 </a:t>
            </a:r>
            <a:r>
              <a:rPr lang="en-US" altLang="zh-TW" dirty="0">
                <a:solidFill>
                  <a:srgbClr val="000000"/>
                </a:solidFill>
                <a:ea typeface="微軟正黑體" panose="020B0604030504040204" pitchFamily="34" charset="-120"/>
              </a:rPr>
              <a:t>95</a:t>
            </a:r>
          </a:p>
          <a:p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</a:rPr>
              <a:t>通嘉科技</a:t>
            </a: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</a:rPr>
              <a:t>98</a:t>
            </a:r>
          </a:p>
          <a:p>
            <a:r>
              <a:rPr lang="zh-TW" altLang="en-US" dirty="0">
                <a:solidFill>
                  <a:srgbClr val="000000"/>
                </a:solidFill>
                <a:ea typeface="微軟正黑體" panose="020B0604030504040204" pitchFamily="34" charset="-120"/>
              </a:rPr>
              <a:t>揚明光學</a:t>
            </a:r>
            <a:r>
              <a:rPr lang="en-US" altLang="zh-TW" dirty="0">
                <a:solidFill>
                  <a:srgbClr val="000000"/>
                </a:solidFill>
                <a:ea typeface="微軟正黑體" panose="020B0604030504040204" pitchFamily="34" charset="-120"/>
              </a:rPr>
              <a:t>96</a:t>
            </a:r>
          </a:p>
          <a:p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</a:rPr>
              <a:t>精聯</a:t>
            </a: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</a:rPr>
              <a:t>98</a:t>
            </a:r>
          </a:p>
          <a:p>
            <a:r>
              <a:rPr lang="zh-TW" altLang="en-US" b="1" dirty="0">
                <a:solidFill>
                  <a:srgbClr val="000000"/>
                </a:solidFill>
                <a:ea typeface="微軟正黑體" panose="020B0604030504040204" pitchFamily="34" charset="-120"/>
              </a:rPr>
              <a:t>安可</a:t>
            </a:r>
            <a:r>
              <a:rPr lang="en-US" altLang="zh-TW" b="1" dirty="0">
                <a:solidFill>
                  <a:srgbClr val="000000"/>
                </a:solidFill>
                <a:ea typeface="微軟正黑體" panose="020B0604030504040204" pitchFamily="34" charset="-120"/>
              </a:rPr>
              <a:t>98</a:t>
            </a:r>
          </a:p>
          <a:p>
            <a:r>
              <a:rPr lang="zh-TW" altLang="en-US" dirty="0">
                <a:solidFill>
                  <a:srgbClr val="000000"/>
                </a:solidFill>
                <a:ea typeface="微軟正黑體" panose="020B0604030504040204" pitchFamily="34" charset="-120"/>
              </a:rPr>
              <a:t>彩富</a:t>
            </a:r>
            <a:r>
              <a:rPr lang="en-US" altLang="zh-TW" dirty="0">
                <a:solidFill>
                  <a:srgbClr val="000000"/>
                </a:solidFill>
                <a:ea typeface="微軟正黑體" panose="020B0604030504040204" pitchFamily="34" charset="-120"/>
              </a:rPr>
              <a:t>90</a:t>
            </a:r>
          </a:p>
          <a:p>
            <a:r>
              <a:rPr lang="zh-TW" altLang="en-US" dirty="0">
                <a:solidFill>
                  <a:srgbClr val="000000"/>
                </a:solidFill>
                <a:ea typeface="微軟正黑體" panose="020B0604030504040204" pitchFamily="34" charset="-120"/>
              </a:rPr>
              <a:t>凌華</a:t>
            </a:r>
            <a:r>
              <a:rPr lang="en-US" altLang="zh-TW" dirty="0">
                <a:solidFill>
                  <a:srgbClr val="000000"/>
                </a:solidFill>
                <a:ea typeface="微軟正黑體" panose="020B0604030504040204" pitchFamily="34" charset="-120"/>
              </a:rPr>
              <a:t>93</a:t>
            </a:r>
          </a:p>
          <a:p>
            <a:r>
              <a:rPr lang="zh-TW" altLang="en-US" dirty="0">
                <a:solidFill>
                  <a:srgbClr val="000000"/>
                </a:solidFill>
                <a:ea typeface="微軟正黑體" panose="020B0604030504040204" pitchFamily="34" charset="-120"/>
              </a:rPr>
              <a:t>廣穎</a:t>
            </a:r>
            <a:r>
              <a:rPr lang="en-US" altLang="zh-TW" dirty="0">
                <a:solidFill>
                  <a:srgbClr val="000000"/>
                </a:solidFill>
                <a:ea typeface="微軟正黑體" panose="020B0604030504040204" pitchFamily="34" charset="-120"/>
              </a:rPr>
              <a:t>101</a:t>
            </a:r>
          </a:p>
          <a:p>
            <a:r>
              <a:rPr lang="zh-TW" altLang="en-US" dirty="0">
                <a:solidFill>
                  <a:srgbClr val="000000"/>
                </a:solidFill>
                <a:ea typeface="微軟正黑體" panose="020B0604030504040204" pitchFamily="34" charset="-120"/>
              </a:rPr>
              <a:t>明揚</a:t>
            </a:r>
            <a:r>
              <a:rPr lang="en-US" altLang="zh-TW" dirty="0">
                <a:solidFill>
                  <a:srgbClr val="000000"/>
                </a:solidFill>
                <a:ea typeface="微軟正黑體" panose="020B0604030504040204" pitchFamily="34" charset="-120"/>
              </a:rPr>
              <a:t>103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 smtClean="0"/>
              <a:pPr>
                <a:defRPr/>
              </a:pPr>
              <a:t>35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438008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FB88EE-223F-48CB-A0E2-A5DCCD370B47}" type="slidenum">
              <a:rPr lang="en-US" altLang="zh-TW" smtClean="0"/>
              <a:pPr>
                <a:defRPr/>
              </a:pPr>
              <a:t>36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269338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71838" y="511175"/>
            <a:ext cx="3397250" cy="2547938"/>
          </a:xfrm>
          <a:ln/>
        </p:spPr>
      </p:sp>
      <p:sp>
        <p:nvSpPr>
          <p:cNvPr id="8294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1" tIns="45360" rIns="90731" bIns="45360"/>
          <a:lstStyle/>
          <a:p>
            <a:pPr defTabSz="909764" eaLnBrk="1" hangingPunct="1"/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10017702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71838" y="511175"/>
            <a:ext cx="3397250" cy="2547938"/>
          </a:xfrm>
          <a:ln/>
        </p:spPr>
      </p:sp>
      <p:sp>
        <p:nvSpPr>
          <p:cNvPr id="8294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1" tIns="45360" rIns="90731" bIns="45360"/>
          <a:lstStyle/>
          <a:p>
            <a:pPr defTabSz="909764" eaLnBrk="1" hangingPunct="1"/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8454842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71838" y="511175"/>
            <a:ext cx="3397250" cy="2547938"/>
          </a:xfrm>
          <a:ln/>
        </p:spPr>
      </p:sp>
      <p:sp>
        <p:nvSpPr>
          <p:cNvPr id="8294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1" tIns="45360" rIns="90731" bIns="45360"/>
          <a:lstStyle/>
          <a:p>
            <a:pPr defTabSz="909764" eaLnBrk="1" hangingPunct="1"/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845484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6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6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6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png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6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.png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8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.png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9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2.png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0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2.png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1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2.png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ea typeface="新細明體" pitchFamily="18" charset="-12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latin typeface="標楷體" pitchFamily="65" charset="-12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C52E9FD9-FB24-4F1C-85A9-4A09488286B4}" type="slidenum">
              <a:rPr lang="en-US" altLang="zh-TW" sz="1200" b="0">
                <a:latin typeface="Arial" pitchFamily="34" charset="0"/>
                <a:ea typeface="新細明體" pitchFamily="18" charset="-12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417796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7797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graphicFrame>
        <p:nvGraphicFramePr>
          <p:cNvPr id="3" name="物件 2"/>
          <p:cNvGraphicFramePr>
            <a:graphicFrameLocks noChangeAspect="1"/>
          </p:cNvGraphicFramePr>
          <p:nvPr userDrawn="1"/>
        </p:nvGraphicFramePr>
        <p:xfrm>
          <a:off x="0" y="5807075"/>
          <a:ext cx="91440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9" name="Image" r:id="rId3" imgW="10158730" imgH="1168254" progId="">
                  <p:embed/>
                </p:oleObj>
              </mc:Choice>
              <mc:Fallback>
                <p:oleObj name="Image" r:id="rId3" imgW="10158730" imgH="1168254" progId="">
                  <p:embed/>
                  <p:pic>
                    <p:nvPicPr>
                      <p:cNvPr id="0" name="物件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807075"/>
                        <a:ext cx="91440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5934245"/>
      </p:ext>
    </p:extLst>
  </p:cSld>
  <p:clrMapOvr>
    <a:masterClrMapping/>
  </p:clrMapOvr>
  <p:transition>
    <p:split/>
  </p:transition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Line 6"/>
          <p:cNvSpPr>
            <a:spLocks noChangeShapeType="1"/>
          </p:cNvSpPr>
          <p:nvPr userDrawn="1"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3940308"/>
      </p:ext>
    </p:extLst>
  </p:cSld>
  <p:clrMapOvr>
    <a:masterClrMapping/>
  </p:clrMapOvr>
  <p:transition>
    <p:spli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210170"/>
      </p:ext>
    </p:extLst>
  </p:cSld>
  <p:clrMapOvr>
    <a:masterClrMapping/>
  </p:clrMapOvr>
  <p:transition>
    <p:split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43432083"/>
      </p:ext>
    </p:extLst>
  </p:cSld>
  <p:clrMapOvr>
    <a:masterClrMapping/>
  </p:clrMapOvr>
  <p:transition>
    <p:split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5" name="Line 6"/>
          <p:cNvSpPr>
            <a:spLocks noChangeShapeType="1"/>
          </p:cNvSpPr>
          <p:nvPr userDrawn="1"/>
        </p:nvSpPr>
        <p:spPr bwMode="auto">
          <a:xfrm>
            <a:off x="468313" y="1989138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TW" altLang="en-US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85D2756B-D4C7-4403-A977-FB65D6ADDCB5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pic>
        <p:nvPicPr>
          <p:cNvPr id="8" name="Picture 3" descr="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88013"/>
            <a:ext cx="9144000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3284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3285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567232078"/>
      </p:ext>
    </p:extLst>
  </p:cSld>
  <p:clrMapOvr>
    <a:masterClrMapping/>
  </p:clrMapOvr>
  <p:transition>
    <p:split/>
  </p:transition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276279900"/>
      </p:ext>
    </p:extLst>
  </p:cSld>
  <p:clrMapOvr>
    <a:masterClrMapping/>
  </p:clrMapOvr>
  <p:transition>
    <p:split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912595061"/>
      </p:ext>
    </p:extLst>
  </p:cSld>
  <p:clrMapOvr>
    <a:masterClrMapping/>
  </p:clrMapOvr>
  <p:transition>
    <p:split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854647860"/>
      </p:ext>
    </p:extLst>
  </p:cSld>
  <p:clrMapOvr>
    <a:masterClrMapping/>
  </p:clrMapOvr>
  <p:transition>
    <p:split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549680753"/>
      </p:ext>
    </p:extLst>
  </p:cSld>
  <p:clrMapOvr>
    <a:masterClrMapping/>
  </p:clrMapOvr>
  <p:transition>
    <p:split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528083275"/>
      </p:ext>
    </p:extLst>
  </p:cSld>
  <p:clrMapOvr>
    <a:masterClrMapping/>
  </p:clrMapOvr>
  <p:transition>
    <p:split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132677"/>
      </p:ext>
    </p:extLst>
  </p:cSld>
  <p:clrMapOvr>
    <a:masterClrMapping/>
  </p:clrMapOvr>
  <p:transition>
    <p:split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659870670"/>
      </p:ext>
    </p:extLst>
  </p:cSld>
  <p:clrMapOvr>
    <a:masterClrMapping/>
  </p:clrMapOvr>
  <p:transition>
    <p:split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26791788"/>
      </p:ext>
    </p:extLst>
  </p:cSld>
  <p:clrMapOvr>
    <a:masterClrMapping/>
  </p:clrMapOvr>
  <p:transition>
    <p:split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64165642"/>
      </p:ext>
    </p:extLst>
  </p:cSld>
  <p:clrMapOvr>
    <a:masterClrMapping/>
  </p:clrMapOvr>
  <p:transition>
    <p:split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15100" y="274638"/>
            <a:ext cx="2017713" cy="5664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5905500" cy="5664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248050696"/>
      </p:ext>
    </p:extLst>
  </p:cSld>
  <p:clrMapOvr>
    <a:masterClrMapping/>
  </p:clrMapOvr>
  <p:transition>
    <p:split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11688" y="1196975"/>
            <a:ext cx="3921125" cy="22939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11688" y="3643313"/>
            <a:ext cx="3921125" cy="2295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233415240"/>
      </p:ext>
    </p:extLst>
  </p:cSld>
  <p:clrMapOvr>
    <a:masterClrMapping/>
  </p:clrMapOvr>
  <p:transition>
    <p:split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539750" y="1196975"/>
            <a:ext cx="7993063" cy="4741863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639332045"/>
      </p:ext>
    </p:extLst>
  </p:cSld>
  <p:clrMapOvr>
    <a:masterClrMapping/>
  </p:clrMapOvr>
  <p:transition>
    <p:split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584883519"/>
      </p:ext>
    </p:extLst>
  </p:cSld>
  <p:clrMapOvr>
    <a:masterClrMapping/>
  </p:clrMapOvr>
  <p:transition>
    <p:split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075613" cy="5664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543284996"/>
      </p:ext>
    </p:extLst>
  </p:cSld>
  <p:clrMapOvr>
    <a:masterClrMapping/>
  </p:clrMapOvr>
  <p:transition>
    <p:split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標題及圖表或組織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SmartArt 版面配置區 2"/>
          <p:cNvSpPr>
            <a:spLocks noGrp="1"/>
          </p:cNvSpPr>
          <p:nvPr>
            <p:ph type="dgm" idx="1"/>
          </p:nvPr>
        </p:nvSpPr>
        <p:spPr>
          <a:xfrm>
            <a:off x="539750" y="1196975"/>
            <a:ext cx="7993063" cy="4741863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107735902"/>
      </p:ext>
    </p:extLst>
  </p:cSld>
  <p:clrMapOvr>
    <a:masterClrMapping/>
  </p:clrMapOvr>
  <p:transition>
    <p:split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014308859"/>
      </p:ext>
    </p:extLst>
  </p:cSld>
  <p:clrMapOvr>
    <a:masterClrMapping/>
  </p:clrMapOvr>
  <p:transition>
    <p:split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1800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0A2A26FF-4EEE-4CDE-A4DE-379B88829009}" type="slidenum">
              <a:rPr lang="en-US" altLang="zh-TW" sz="1200" b="0">
                <a:solidFill>
                  <a:srgbClr val="000000"/>
                </a:solidFill>
                <a:latin typeface="Arial"/>
                <a:ea typeface="新細明體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/>
              <a:ea typeface="新細明體"/>
            </a:endParaRPr>
          </a:p>
        </p:txBody>
      </p:sp>
      <p:graphicFrame>
        <p:nvGraphicFramePr>
          <p:cNvPr id="7" name="物件 13"/>
          <p:cNvGraphicFramePr>
            <a:graphicFrameLocks noChangeAspect="1"/>
          </p:cNvGraphicFramePr>
          <p:nvPr userDrawn="1"/>
        </p:nvGraphicFramePr>
        <p:xfrm>
          <a:off x="0" y="5807075"/>
          <a:ext cx="91440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61" name="Image" r:id="rId3" imgW="10158730" imgH="1168254" progId="">
                  <p:embed/>
                </p:oleObj>
              </mc:Choice>
              <mc:Fallback>
                <p:oleObj name="Image" r:id="rId3" imgW="10158730" imgH="1168254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807075"/>
                        <a:ext cx="91440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3284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3285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019189693"/>
      </p:ext>
    </p:extLst>
  </p:cSld>
  <p:clrMapOvr>
    <a:masterClrMapping/>
  </p:clrMapOvr>
  <p:transition>
    <p:split/>
  </p:transition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267711783"/>
      </p:ext>
    </p:extLst>
  </p:cSld>
  <p:clrMapOvr>
    <a:masterClrMapping/>
  </p:clrMapOvr>
  <p:transition>
    <p:split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44707299"/>
      </p:ext>
    </p:extLst>
  </p:cSld>
  <p:clrMapOvr>
    <a:masterClrMapping/>
  </p:clrMapOvr>
  <p:transition>
    <p:split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202084343"/>
      </p:ext>
    </p:extLst>
  </p:cSld>
  <p:clrMapOvr>
    <a:masterClrMapping/>
  </p:clrMapOvr>
  <p:transition>
    <p:split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537288"/>
      </p:ext>
    </p:extLst>
  </p:cSld>
  <p:clrMapOvr>
    <a:masterClrMapping/>
  </p:clrMapOvr>
  <p:transition>
    <p:split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539750" y="1196975"/>
            <a:ext cx="7993063" cy="4741863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958037704"/>
      </p:ext>
    </p:extLst>
  </p:cSld>
  <p:clrMapOvr>
    <a:masterClrMapping/>
  </p:clrMapOvr>
  <p:transition>
    <p:split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C52E9FD9-FB24-4F1C-85A9-4A09488286B4}" type="slidenum">
              <a:rPr lang="en-US" altLang="zh-TW" sz="1200" b="0">
                <a:solidFill>
                  <a:srgbClr val="000000"/>
                </a:solidFill>
                <a:latin typeface="Arial"/>
                <a:ea typeface="新細明體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/>
              <a:ea typeface="新細明體"/>
            </a:endParaRPr>
          </a:p>
        </p:txBody>
      </p:sp>
      <p:sp>
        <p:nvSpPr>
          <p:cNvPr id="417796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7797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graphicFrame>
        <p:nvGraphicFramePr>
          <p:cNvPr id="3" name="物件 2"/>
          <p:cNvGraphicFramePr>
            <a:graphicFrameLocks noChangeAspect="1"/>
          </p:cNvGraphicFramePr>
          <p:nvPr userDrawn="1"/>
        </p:nvGraphicFramePr>
        <p:xfrm>
          <a:off x="0" y="5807075"/>
          <a:ext cx="91440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9" name="Image" r:id="rId3" imgW="10158730" imgH="1168254" progId="">
                  <p:embed/>
                </p:oleObj>
              </mc:Choice>
              <mc:Fallback>
                <p:oleObj name="Image" r:id="rId3" imgW="10158730" imgH="1168254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807075"/>
                        <a:ext cx="91440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17371013"/>
      </p:ext>
    </p:extLst>
  </p:cSld>
  <p:clrMapOvr>
    <a:masterClrMapping/>
  </p:clrMapOvr>
  <p:transition>
    <p:split/>
  </p:transition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Line 6"/>
          <p:cNvSpPr>
            <a:spLocks noChangeShapeType="1"/>
          </p:cNvSpPr>
          <p:nvPr userDrawn="1"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69143026"/>
      </p:ext>
    </p:extLst>
  </p:cSld>
  <p:clrMapOvr>
    <a:masterClrMapping/>
  </p:clrMapOvr>
  <p:transition>
    <p:split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0407932"/>
      </p:ext>
    </p:extLst>
  </p:cSld>
  <p:clrMapOvr>
    <a:masterClrMapping/>
  </p:clrMapOvr>
  <p:transition>
    <p:split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67C150D6-889D-4B47-9F52-79F89B41574A}" type="slidenum">
              <a:rPr lang="en-US" altLang="zh-TW" sz="1200" b="0">
                <a:solidFill>
                  <a:srgbClr val="000000"/>
                </a:solidFill>
                <a:latin typeface="Arial"/>
                <a:ea typeface="新細明體" panose="02020500000000000000" pitchFamily="18" charset="-12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/>
              <a:ea typeface="新細明體" panose="02020500000000000000" pitchFamily="18" charset="-120"/>
            </a:endParaRPr>
          </a:p>
        </p:txBody>
      </p:sp>
      <p:sp>
        <p:nvSpPr>
          <p:cNvPr id="417796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7797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840995098"/>
      </p:ext>
    </p:extLst>
  </p:cSld>
  <p:clrMapOvr>
    <a:masterClrMapping/>
  </p:clrMapOvr>
  <p:transition>
    <p:split/>
  </p:transition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885160916"/>
      </p:ext>
    </p:extLst>
  </p:cSld>
  <p:clrMapOvr>
    <a:masterClrMapping/>
  </p:clrMapOvr>
  <p:transition>
    <p:split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11627"/>
      </p:ext>
    </p:extLst>
  </p:cSld>
  <p:clrMapOvr>
    <a:masterClrMapping/>
  </p:clrMapOvr>
  <p:transition>
    <p:split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362052864"/>
      </p:ext>
    </p:extLst>
  </p:cSld>
  <p:clrMapOvr>
    <a:masterClrMapping/>
  </p:clrMapOvr>
  <p:transition>
    <p:split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654578273"/>
      </p:ext>
    </p:extLst>
  </p:cSld>
  <p:clrMapOvr>
    <a:masterClrMapping/>
  </p:clrMapOvr>
  <p:transition>
    <p:split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053593725"/>
      </p:ext>
    </p:extLst>
  </p:cSld>
  <p:clrMapOvr>
    <a:masterClrMapping/>
  </p:clrMapOvr>
  <p:transition>
    <p:split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1779866"/>
      </p:ext>
    </p:extLst>
  </p:cSld>
  <p:clrMapOvr>
    <a:masterClrMapping/>
  </p:clrMapOvr>
  <p:transition>
    <p:split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317163090"/>
      </p:ext>
    </p:extLst>
  </p:cSld>
  <p:clrMapOvr>
    <a:masterClrMapping/>
  </p:clrMapOvr>
  <p:transition>
    <p:split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036622287"/>
      </p:ext>
    </p:extLst>
  </p:cSld>
  <p:clrMapOvr>
    <a:masterClrMapping/>
  </p:clrMapOvr>
  <p:transition>
    <p:split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689430330"/>
      </p:ext>
    </p:extLst>
  </p:cSld>
  <p:clrMapOvr>
    <a:masterClrMapping/>
  </p:clrMapOvr>
  <p:transition>
    <p:split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15100" y="274638"/>
            <a:ext cx="2017713" cy="5664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5905500" cy="5664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786386614"/>
      </p:ext>
    </p:extLst>
  </p:cSld>
  <p:clrMapOvr>
    <a:masterClrMapping/>
  </p:clrMapOvr>
  <p:transition>
    <p:split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1177" y="417612"/>
            <a:ext cx="7098323" cy="4191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41439549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標題，四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sz="quarter"/>
          </p:nvPr>
        </p:nvSpPr>
        <p:spPr>
          <a:xfrm>
            <a:off x="1427285" y="395289"/>
            <a:ext cx="7365023" cy="40163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1427285" y="1619250"/>
            <a:ext cx="3577004" cy="71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5144966" y="1619250"/>
            <a:ext cx="3577003" cy="71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1427285" y="1843089"/>
            <a:ext cx="3577004" cy="73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144966" y="1843089"/>
            <a:ext cx="3577003" cy="73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7504873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標題及圖表或組織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SmartArt 版面配置區 2"/>
          <p:cNvSpPr>
            <a:spLocks noGrp="1"/>
          </p:cNvSpPr>
          <p:nvPr>
            <p:ph type="dgm" idx="1"/>
          </p:nvPr>
        </p:nvSpPr>
        <p:spPr>
          <a:xfrm>
            <a:off x="539750" y="1196975"/>
            <a:ext cx="7993063" cy="4741863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349549441"/>
      </p:ext>
    </p:extLst>
  </p:cSld>
  <p:clrMapOvr>
    <a:masterClrMapping/>
  </p:clrMapOvr>
  <p:transition>
    <p:split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960508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963255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075613" cy="5664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448315888"/>
      </p:ext>
    </p:extLst>
  </p:cSld>
  <p:clrMapOvr>
    <a:masterClrMapping/>
  </p:clrMapOvr>
  <p:transition>
    <p:split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539750" y="1196975"/>
            <a:ext cx="7993063" cy="4741863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50689885"/>
      </p:ext>
    </p:extLst>
  </p:cSld>
  <p:clrMapOvr>
    <a:masterClrMapping/>
  </p:clrMapOvr>
  <p:transition>
    <p:split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11688" y="1196975"/>
            <a:ext cx="3921125" cy="22939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11688" y="3643313"/>
            <a:ext cx="3921125" cy="2295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841521206"/>
      </p:ext>
    </p:extLst>
  </p:cSld>
  <p:clrMapOvr>
    <a:masterClrMapping/>
  </p:clrMapOvr>
  <p:transition>
    <p:split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內文頁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>
            <a:spLocks noGrp="1"/>
          </p:cNvSpPr>
          <p:nvPr>
            <p:ph type="body" sz="quarter" idx="13"/>
          </p:nvPr>
        </p:nvSpPr>
        <p:spPr>
          <a:xfrm>
            <a:off x="478299" y="765995"/>
            <a:ext cx="1723549" cy="569387"/>
          </a:xfrm>
          <a:prstGeom prst="rect">
            <a:avLst/>
          </a:prstGeom>
        </p:spPr>
        <p:txBody>
          <a:bodyPr wrap="none">
            <a:spAutoFit/>
          </a:bodyPr>
          <a:lstStyle>
            <a:lvl1pPr algn="r">
              <a:spcBef>
                <a:spcPts val="0"/>
              </a:spcBef>
              <a:defRPr sz="3100" b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華康圓體 Std W3"/>
              </a:defRPr>
            </a:lvl1pPr>
          </a:lstStyle>
          <a:p>
            <a:r>
              <a:t>大標題</a:t>
            </a:r>
          </a:p>
        </p:txBody>
      </p:sp>
      <p:sp>
        <p:nvSpPr>
          <p:cNvPr id="17" name="Shape 17"/>
          <p:cNvSpPr>
            <a:spLocks noGrp="1"/>
          </p:cNvSpPr>
          <p:nvPr>
            <p:ph type="body" sz="quarter" idx="14"/>
          </p:nvPr>
        </p:nvSpPr>
        <p:spPr>
          <a:xfrm>
            <a:off x="831601" y="1423431"/>
            <a:ext cx="1370246" cy="2677656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lnSpc>
                <a:spcPct val="140000"/>
              </a:lnSpc>
              <a:spcBef>
                <a:spcPts val="0"/>
              </a:spcBef>
              <a:defRPr sz="3000" b="0">
                <a:latin typeface="華康圓體 Std W3"/>
                <a:ea typeface="微軟正黑體" panose="020B0604030504040204" pitchFamily="34" charset="-120"/>
                <a:sym typeface="華康圓體 Std W3"/>
              </a:defRPr>
            </a:lvl1pPr>
          </a:lstStyle>
          <a:p>
            <a:pPr algn="r">
              <a:lnSpc>
                <a:spcPct val="140000"/>
              </a:lnSpc>
              <a:spcBef>
                <a:spcPts val="0"/>
              </a:spcBef>
              <a:defRPr sz="3000" b="0">
                <a:latin typeface="華康圓體 Std W3"/>
                <a:ea typeface="華康圓體 Std W3"/>
                <a:cs typeface="華康圓體 Std W3"/>
                <a:sym typeface="華康圓體 Std W3"/>
              </a:defRPr>
            </a:pPr>
            <a:r>
              <a:t>副標題</a:t>
            </a:r>
          </a:p>
          <a:p>
            <a:pPr algn="r">
              <a:lnSpc>
                <a:spcPct val="140000"/>
              </a:lnSpc>
              <a:spcBef>
                <a:spcPts val="0"/>
              </a:spcBef>
              <a:defRPr sz="3000" b="0">
                <a:latin typeface="華康圓體 Std W3"/>
                <a:ea typeface="華康圓體 Std W3"/>
                <a:cs typeface="華康圓體 Std W3"/>
                <a:sym typeface="華康圓體 Std W3"/>
              </a:defRPr>
            </a:pPr>
            <a:r>
              <a:t>副標題</a:t>
            </a:r>
          </a:p>
        </p:txBody>
      </p:sp>
      <p:sp>
        <p:nvSpPr>
          <p:cNvPr id="18" name="Shape 18"/>
          <p:cNvSpPr>
            <a:spLocks noGrp="1"/>
          </p:cNvSpPr>
          <p:nvPr>
            <p:ph type="body" sz="quarter" idx="15"/>
          </p:nvPr>
        </p:nvSpPr>
        <p:spPr>
          <a:xfrm>
            <a:off x="7522378" y="-179437"/>
            <a:ext cx="1171127" cy="738664"/>
          </a:xfrm>
          <a:prstGeom prst="rect">
            <a:avLst/>
          </a:prstGeom>
        </p:spPr>
        <p:txBody>
          <a:bodyPr anchor="ctr">
            <a:spAutoFit/>
          </a:bodyPr>
          <a:lstStyle>
            <a:lvl1pPr algn="r">
              <a:lnSpc>
                <a:spcPct val="140000"/>
              </a:lnSpc>
              <a:spcBef>
                <a:spcPts val="0"/>
              </a:spcBef>
              <a:defRPr sz="1500" b="0">
                <a:solidFill>
                  <a:srgbClr val="53535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華康圓體 Std W5"/>
              </a:defRPr>
            </a:lvl1pPr>
          </a:lstStyle>
          <a:p>
            <a:r>
              <a:t>章節進度</a:t>
            </a:r>
          </a:p>
        </p:txBody>
      </p:sp>
      <p:sp>
        <p:nvSpPr>
          <p:cNvPr id="19" name="Shape 19"/>
          <p:cNvSpPr>
            <a:spLocks noGrp="1"/>
          </p:cNvSpPr>
          <p:nvPr>
            <p:ph type="sldNum" sz="quarter" idx="2"/>
          </p:nvPr>
        </p:nvSpPr>
        <p:spPr>
          <a:xfrm>
            <a:off x="8734813" y="6538221"/>
            <a:ext cx="276408" cy="280330"/>
          </a:xfrm>
          <a:prstGeom prst="rect">
            <a:avLst/>
          </a:prstGeom>
        </p:spPr>
        <p:txBody>
          <a:bodyPr lIns="45446" tIns="22723" rIns="45446" bIns="22723"/>
          <a:lstStyle/>
          <a:p>
            <a:pPr eaLnBrk="0" hangingPunct="0"/>
            <a:fld id="{86CB4B4D-7CA3-9044-876B-883B54F8677D}" type="slidenum">
              <a:rPr>
                <a:solidFill>
                  <a:srgbClr val="000000"/>
                </a:solidFill>
                <a:latin typeface="Arial"/>
                <a:ea typeface="新細明體" panose="02020500000000000000" pitchFamily="18" charset="-120"/>
              </a:rPr>
              <a:pPr eaLnBrk="0" hangingPunct="0"/>
              <a:t>‹#›</a:t>
            </a:fld>
            <a:endParaRPr>
              <a:solidFill>
                <a:srgbClr val="000000"/>
              </a:solidFill>
              <a:latin typeface="Arial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14040099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18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DFKai-SB" pitchFamily="65" charset="-120"/>
              <a:cs typeface="Arial" pitchFamily="34" charset="0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61D354A4-EBEF-4690-AD3C-DD2B3ACFD102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353284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3285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4241023610"/>
      </p:ext>
    </p:extLst>
  </p:cSld>
  <p:clrMapOvr>
    <a:masterClrMapping/>
  </p:clrMapOvr>
  <p:transition>
    <p:split/>
  </p:transition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18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5" name="Line 7"/>
          <p:cNvSpPr>
            <a:spLocks noChangeShapeType="1"/>
          </p:cNvSpPr>
          <p:nvPr userDrawn="1"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DFKai-SB" pitchFamily="65" charset="-120"/>
              <a:cs typeface="Arial" pitchFamily="34" charset="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DFKai-SB" pitchFamily="65" charset="-120"/>
              <a:cs typeface="Arial" pitchFamily="34" charset="0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99118B25-01A8-4756-9F74-9E276F46CD7C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graphicFrame>
        <p:nvGraphicFramePr>
          <p:cNvPr id="8" name="Object 9"/>
          <p:cNvGraphicFramePr>
            <a:graphicFrameLocks noChangeAspect="1"/>
          </p:cNvGraphicFramePr>
          <p:nvPr userDrawn="1"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1" name="Image" r:id="rId3" imgW="2547917" imgH="749492" progId="Photoshop.Image.7">
                  <p:embed/>
                </p:oleObj>
              </mc:Choice>
              <mc:Fallback>
                <p:oleObj name="Image" r:id="rId3" imgW="2547917" imgH="749492" progId="Photoshop.Image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0"/>
          <p:cNvSpPr txBox="1">
            <a:spLocks noChangeArrowheads="1"/>
          </p:cNvSpPr>
          <p:nvPr userDrawn="1"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>
                <a:solidFill>
                  <a:srgbClr val="808080"/>
                </a:solidFill>
                <a:latin typeface="DFKai-SB" pitchFamily="65" charset="-120"/>
                <a:cs typeface="Arial" pitchFamily="34" charset="0"/>
              </a:rPr>
              <a:t>誠信  承諾  創新  合作</a:t>
            </a:r>
          </a:p>
        </p:txBody>
      </p:sp>
      <p:sp>
        <p:nvSpPr>
          <p:cNvPr id="10" name="Line 6"/>
          <p:cNvSpPr>
            <a:spLocks noChangeShapeType="1"/>
          </p:cNvSpPr>
          <p:nvPr userDrawn="1"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DFKai-SB" pitchFamily="65" charset="-120"/>
              <a:cs typeface="Arial" pitchFamily="34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147384223"/>
      </p:ext>
    </p:extLst>
  </p:cSld>
  <p:clrMapOvr>
    <a:masterClrMapping/>
  </p:clrMapOvr>
  <p:transition>
    <p:split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18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3" name="Line 7"/>
          <p:cNvSpPr>
            <a:spLocks noChangeShapeType="1"/>
          </p:cNvSpPr>
          <p:nvPr userDrawn="1"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DFKai-SB" pitchFamily="65" charset="-120"/>
              <a:cs typeface="Arial" pitchFamily="34" charset="0"/>
            </a:endParaRPr>
          </a:p>
        </p:txBody>
      </p:sp>
      <p:sp>
        <p:nvSpPr>
          <p:cNvPr id="4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DFKai-SB" pitchFamily="65" charset="-120"/>
              <a:cs typeface="Arial" pitchFamily="34" charset="0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7B47CB65-2849-4A76-935A-BE8C6B7312DC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graphicFrame>
        <p:nvGraphicFramePr>
          <p:cNvPr id="6" name="Object 9"/>
          <p:cNvGraphicFramePr>
            <a:graphicFrameLocks noChangeAspect="1"/>
          </p:cNvGraphicFramePr>
          <p:nvPr userDrawn="1"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05" name="Image" r:id="rId3" imgW="2547917" imgH="749492" progId="Photoshop.Image.7">
                  <p:embed/>
                </p:oleObj>
              </mc:Choice>
              <mc:Fallback>
                <p:oleObj name="Image" r:id="rId3" imgW="2547917" imgH="749492" progId="Photoshop.Image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0"/>
          <p:cNvSpPr txBox="1">
            <a:spLocks noChangeArrowheads="1"/>
          </p:cNvSpPr>
          <p:nvPr userDrawn="1"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>
                <a:solidFill>
                  <a:srgbClr val="808080"/>
                </a:solidFill>
                <a:latin typeface="DFKai-SB" pitchFamily="65" charset="-120"/>
                <a:cs typeface="Arial" pitchFamily="34" charset="0"/>
              </a:rPr>
              <a:t>誠信  承諾  創新  合作</a:t>
            </a:r>
          </a:p>
        </p:txBody>
      </p:sp>
      <p:sp>
        <p:nvSpPr>
          <p:cNvPr id="8" name="Line 6"/>
          <p:cNvSpPr>
            <a:spLocks noChangeShapeType="1"/>
          </p:cNvSpPr>
          <p:nvPr userDrawn="1"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DFKai-SB" pitchFamily="65" charset="-12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65563"/>
      </p:ext>
    </p:extLst>
  </p:cSld>
  <p:clrMapOvr>
    <a:masterClrMapping/>
  </p:clrMapOvr>
  <p:transition>
    <p:split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18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5" name="Line 7"/>
          <p:cNvSpPr>
            <a:spLocks noChangeShapeType="1"/>
          </p:cNvSpPr>
          <p:nvPr userDrawn="1"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DFKai-SB" pitchFamily="65" charset="-120"/>
              <a:cs typeface="Arial" pitchFamily="34" charset="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DFKai-SB" pitchFamily="65" charset="-120"/>
              <a:cs typeface="Arial" pitchFamily="34" charset="0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CCF194CD-781D-4274-8530-3F0CFF85CC5E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graphicFrame>
        <p:nvGraphicFramePr>
          <p:cNvPr id="8" name="Object 9"/>
          <p:cNvGraphicFramePr>
            <a:graphicFrameLocks noChangeAspect="1"/>
          </p:cNvGraphicFramePr>
          <p:nvPr userDrawn="1"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68" name="Image" r:id="rId3" imgW="2547917" imgH="749492" progId="Photoshop.Image.7">
                  <p:embed/>
                </p:oleObj>
              </mc:Choice>
              <mc:Fallback>
                <p:oleObj name="Image" r:id="rId3" imgW="2547917" imgH="749492" progId="Photoshop.Image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0"/>
          <p:cNvSpPr txBox="1">
            <a:spLocks noChangeArrowheads="1"/>
          </p:cNvSpPr>
          <p:nvPr userDrawn="1"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>
                <a:solidFill>
                  <a:srgbClr val="808080"/>
                </a:solidFill>
                <a:latin typeface="DFKai-SB" pitchFamily="65" charset="-120"/>
                <a:cs typeface="Arial" pitchFamily="34" charset="0"/>
              </a:rPr>
              <a:t>誠信  承諾  創新  合作</a:t>
            </a:r>
          </a:p>
        </p:txBody>
      </p:sp>
      <p:graphicFrame>
        <p:nvGraphicFramePr>
          <p:cNvPr id="10" name="物件 15"/>
          <p:cNvGraphicFramePr>
            <a:graphicFrameLocks noChangeAspect="1"/>
          </p:cNvGraphicFramePr>
          <p:nvPr userDrawn="1"/>
        </p:nvGraphicFramePr>
        <p:xfrm>
          <a:off x="0" y="5748338"/>
          <a:ext cx="91440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69" name="Image" r:id="rId5" imgW="10158730" imgH="1168254" progId="">
                  <p:embed/>
                </p:oleObj>
              </mc:Choice>
              <mc:Fallback>
                <p:oleObj name="Image" r:id="rId5" imgW="10158730" imgH="1168254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748338"/>
                        <a:ext cx="91440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539750" y="1196975"/>
            <a:ext cx="7993063" cy="4741863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597207497"/>
      </p:ext>
    </p:extLst>
  </p:cSld>
  <p:clrMapOvr>
    <a:masterClrMapping/>
  </p:clrMapOvr>
  <p:transition>
    <p:split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內文頁3 拷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19"/>
          <p:cNvSpPr>
            <a:spLocks noChangeShapeType="1"/>
          </p:cNvSpPr>
          <p:nvPr userDrawn="1"/>
        </p:nvSpPr>
        <p:spPr bwMode="auto">
          <a:xfrm>
            <a:off x="831850" y="6423025"/>
            <a:ext cx="7464425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44722" tIns="23256" rIns="44722" bIns="23256" anchor="ctr"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DFKai-SB" pitchFamily="65" charset="-120"/>
              <a:cs typeface="Arial" pitchFamily="34" charset="0"/>
            </a:endParaRPr>
          </a:p>
        </p:txBody>
      </p:sp>
      <p:pic>
        <p:nvPicPr>
          <p:cNvPr id="6" name="Picture 9" descr="中文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0475" y="6540500"/>
            <a:ext cx="1071563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3" name="Shape 113"/>
          <p:cNvSpPr>
            <a:spLocks noGrp="1"/>
          </p:cNvSpPr>
          <p:nvPr>
            <p:ph type="pic" sz="half" idx="13"/>
          </p:nvPr>
        </p:nvSpPr>
        <p:spPr>
          <a:xfrm>
            <a:off x="0" y="0"/>
            <a:ext cx="9144000" cy="2540522"/>
          </a:xfrm>
          <a:prstGeom prst="rect">
            <a:avLst/>
          </a:prstGeom>
        </p:spPr>
        <p:txBody>
          <a:bodyPr lIns="45437" tIns="22718" rIns="45437" bIns="22718">
            <a:noAutofit/>
          </a:bodyPr>
          <a:lstStyle/>
          <a:p>
            <a:pPr lvl="0"/>
            <a:endParaRPr noProof="0"/>
          </a:p>
        </p:txBody>
      </p:sp>
      <p:sp>
        <p:nvSpPr>
          <p:cNvPr id="114" name="Shape 114"/>
          <p:cNvSpPr>
            <a:spLocks noGrp="1"/>
          </p:cNvSpPr>
          <p:nvPr>
            <p:ph type="body" sz="quarter" idx="14"/>
          </p:nvPr>
        </p:nvSpPr>
        <p:spPr>
          <a:xfrm>
            <a:off x="3732614" y="956752"/>
            <a:ext cx="2057902" cy="917590"/>
          </a:xfrm>
          <a:prstGeom prst="rect">
            <a:avLst/>
          </a:prstGeom>
        </p:spPr>
        <p:txBody>
          <a:bodyPr wrap="none" lIns="28400" tIns="28400" rIns="28400" bIns="28400">
            <a:spAutoFit/>
          </a:bodyPr>
          <a:lstStyle>
            <a:lvl1pPr defTabSz="567973">
              <a:lnSpc>
                <a:spcPct val="130000"/>
              </a:lnSpc>
              <a:spcBef>
                <a:spcPts val="0"/>
              </a:spcBef>
              <a:defRPr sz="4300" b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華康圓體 Std W3"/>
              </a:defRPr>
            </a:lvl1pPr>
          </a:lstStyle>
          <a:p>
            <a:r>
              <a:t>大標題</a:t>
            </a:r>
          </a:p>
        </p:txBody>
      </p:sp>
      <p:sp>
        <p:nvSpPr>
          <p:cNvPr id="115" name="Shape 115"/>
          <p:cNvSpPr>
            <a:spLocks noGrp="1"/>
          </p:cNvSpPr>
          <p:nvPr>
            <p:ph type="body" sz="quarter" idx="15"/>
          </p:nvPr>
        </p:nvSpPr>
        <p:spPr>
          <a:xfrm>
            <a:off x="4264228" y="1649086"/>
            <a:ext cx="980684" cy="357437"/>
          </a:xfrm>
          <a:prstGeom prst="rect">
            <a:avLst/>
          </a:prstGeom>
        </p:spPr>
        <p:txBody>
          <a:bodyPr wrap="none" lIns="28400" tIns="28400" rIns="28400" bIns="28400">
            <a:spAutoFit/>
          </a:bodyPr>
          <a:lstStyle>
            <a:lvl1pPr defTabSz="567973">
              <a:lnSpc>
                <a:spcPct val="130000"/>
              </a:lnSpc>
              <a:spcBef>
                <a:spcPts val="0"/>
              </a:spcBef>
              <a:defRPr sz="1500" b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華康圓體 Std W5"/>
              </a:defRPr>
            </a:lvl1pPr>
          </a:lstStyle>
          <a:p>
            <a:r>
              <a:t>副標題</a:t>
            </a:r>
          </a:p>
        </p:txBody>
      </p:sp>
      <p:sp>
        <p:nvSpPr>
          <p:cNvPr id="7" name="Shape 116"/>
          <p:cNvSpPr>
            <a:spLocks noGrp="1"/>
          </p:cNvSpPr>
          <p:nvPr>
            <p:ph type="sldNum" sz="quarter" idx="16"/>
          </p:nvPr>
        </p:nvSpPr>
        <p:spPr>
          <a:xfrm>
            <a:off x="8734425" y="6538913"/>
            <a:ext cx="276225" cy="279400"/>
          </a:xfrm>
          <a:prstGeom prst="rect">
            <a:avLst/>
          </a:prstGeom>
        </p:spPr>
        <p:txBody>
          <a:bodyPr vert="horz" wrap="square" lIns="45446" tIns="22723" rIns="45446" bIns="22723" numCol="1" anchor="t" anchorCtr="0" compatLnSpc="1">
            <a:prstTxWarp prst="textNoShape">
              <a:avLst/>
            </a:prstTxWarp>
          </a:bodyPr>
          <a:lstStyle>
            <a:lvl1pPr>
              <a:defRPr smtClean="0">
                <a:cs typeface="+mn-cs"/>
              </a:defRPr>
            </a:lvl1pPr>
          </a:lstStyle>
          <a:p>
            <a:pPr>
              <a:defRPr/>
            </a:pPr>
            <a:fld id="{5800096B-74E0-4542-8279-CEA5DE74E8C8}" type="slidenum">
              <a:rPr lang="zh-TW" altLang="zh-TW" sz="1300" b="0">
                <a:solidFill>
                  <a:srgbClr val="000000"/>
                </a:solidFill>
                <a:latin typeface="Times New Roman" pitchFamily="18" charset="0"/>
                <a:ea typeface="DFKai-SB" pitchFamily="65" charset="-120"/>
              </a:rPr>
              <a:pPr>
                <a:defRPr/>
              </a:pPr>
              <a:t>‹#›</a:t>
            </a:fld>
            <a:endParaRPr lang="zh-TW" altLang="zh-TW" sz="1300" b="0">
              <a:solidFill>
                <a:srgbClr val="000000"/>
              </a:solidFill>
              <a:latin typeface="Times New Roman" pitchFamily="18" charset="0"/>
              <a:ea typeface="DFKai-SB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47973982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內文頁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18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6" name="Line 7"/>
          <p:cNvSpPr>
            <a:spLocks noChangeShapeType="1"/>
          </p:cNvSpPr>
          <p:nvPr userDrawn="1"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DFKai-SB" pitchFamily="65" charset="-120"/>
              <a:cs typeface="Arial" pitchFamily="34" charset="0"/>
            </a:endParaRPr>
          </a:p>
        </p:txBody>
      </p:sp>
      <p:sp>
        <p:nvSpPr>
          <p:cNvPr id="7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DFKai-SB" pitchFamily="65" charset="-120"/>
              <a:cs typeface="Arial" pitchFamily="34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2FDEF266-8442-440C-B31F-F8517D500BFC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 userDrawn="1"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53" name="Image" r:id="rId3" imgW="2547917" imgH="749492" progId="Photoshop.Image.7">
                  <p:embed/>
                </p:oleObj>
              </mc:Choice>
              <mc:Fallback>
                <p:oleObj name="Image" r:id="rId3" imgW="2547917" imgH="749492" progId="Photoshop.Image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/>
          <p:cNvSpPr txBox="1">
            <a:spLocks noChangeArrowheads="1"/>
          </p:cNvSpPr>
          <p:nvPr userDrawn="1"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>
                <a:solidFill>
                  <a:srgbClr val="808080"/>
                </a:solidFill>
                <a:latin typeface="DFKai-SB" pitchFamily="65" charset="-120"/>
                <a:cs typeface="Arial" pitchFamily="34" charset="0"/>
              </a:rPr>
              <a:t>誠信  承諾  創新  合作</a:t>
            </a:r>
          </a:p>
        </p:txBody>
      </p:sp>
      <p:sp>
        <p:nvSpPr>
          <p:cNvPr id="16" name="Shape 16"/>
          <p:cNvSpPr>
            <a:spLocks noGrp="1"/>
          </p:cNvSpPr>
          <p:nvPr>
            <p:ph type="body" sz="quarter" idx="13"/>
          </p:nvPr>
        </p:nvSpPr>
        <p:spPr>
          <a:xfrm>
            <a:off x="478299" y="765995"/>
            <a:ext cx="1723549" cy="569387"/>
          </a:xfrm>
          <a:prstGeom prst="rect">
            <a:avLst/>
          </a:prstGeom>
        </p:spPr>
        <p:txBody>
          <a:bodyPr wrap="none">
            <a:spAutoFit/>
          </a:bodyPr>
          <a:lstStyle>
            <a:lvl1pPr algn="r">
              <a:spcBef>
                <a:spcPts val="0"/>
              </a:spcBef>
              <a:defRPr sz="3100" b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華康圓體 Std W3"/>
              </a:defRPr>
            </a:lvl1pPr>
          </a:lstStyle>
          <a:p>
            <a:r>
              <a:t>大標題</a:t>
            </a:r>
          </a:p>
        </p:txBody>
      </p:sp>
      <p:sp>
        <p:nvSpPr>
          <p:cNvPr id="17" name="Shape 17"/>
          <p:cNvSpPr>
            <a:spLocks noGrp="1"/>
          </p:cNvSpPr>
          <p:nvPr>
            <p:ph type="body" sz="quarter" idx="14"/>
          </p:nvPr>
        </p:nvSpPr>
        <p:spPr>
          <a:xfrm>
            <a:off x="831601" y="1423431"/>
            <a:ext cx="1370246" cy="2677656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lnSpc>
                <a:spcPct val="140000"/>
              </a:lnSpc>
              <a:spcBef>
                <a:spcPts val="0"/>
              </a:spcBef>
              <a:defRPr sz="3000" b="0">
                <a:latin typeface="華康圓體 Std W3"/>
                <a:ea typeface="微軟正黑體" panose="020B0604030504040204" pitchFamily="34" charset="-120"/>
                <a:sym typeface="華康圓體 Std W3"/>
              </a:defRPr>
            </a:lvl1pPr>
          </a:lstStyle>
          <a:p>
            <a:r>
              <a:t>副標題</a:t>
            </a:r>
          </a:p>
          <a:p>
            <a:r>
              <a:t>副標題</a:t>
            </a:r>
          </a:p>
        </p:txBody>
      </p:sp>
      <p:sp>
        <p:nvSpPr>
          <p:cNvPr id="18" name="Shape 18"/>
          <p:cNvSpPr>
            <a:spLocks noGrp="1"/>
          </p:cNvSpPr>
          <p:nvPr>
            <p:ph type="body" sz="quarter" idx="15"/>
          </p:nvPr>
        </p:nvSpPr>
        <p:spPr>
          <a:xfrm>
            <a:off x="7522378" y="-179437"/>
            <a:ext cx="1171127" cy="738664"/>
          </a:xfrm>
          <a:prstGeom prst="rect">
            <a:avLst/>
          </a:prstGeom>
        </p:spPr>
        <p:txBody>
          <a:bodyPr anchor="ctr">
            <a:spAutoFit/>
          </a:bodyPr>
          <a:lstStyle>
            <a:lvl1pPr algn="r">
              <a:lnSpc>
                <a:spcPct val="140000"/>
              </a:lnSpc>
              <a:spcBef>
                <a:spcPts val="0"/>
              </a:spcBef>
              <a:defRPr sz="1500" b="0">
                <a:solidFill>
                  <a:srgbClr val="53535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華康圓體 Std W5"/>
              </a:defRPr>
            </a:lvl1pPr>
          </a:lstStyle>
          <a:p>
            <a:r>
              <a:t>章節進度</a:t>
            </a:r>
          </a:p>
        </p:txBody>
      </p:sp>
      <p:sp>
        <p:nvSpPr>
          <p:cNvPr id="11" name="Shape 19"/>
          <p:cNvSpPr>
            <a:spLocks noGrp="1"/>
          </p:cNvSpPr>
          <p:nvPr>
            <p:ph type="sldNum" sz="quarter" idx="16"/>
          </p:nvPr>
        </p:nvSpPr>
        <p:spPr>
          <a:xfrm>
            <a:off x="8734425" y="6538913"/>
            <a:ext cx="276225" cy="279400"/>
          </a:xfrm>
          <a:prstGeom prst="rect">
            <a:avLst/>
          </a:prstGeom>
        </p:spPr>
        <p:txBody>
          <a:bodyPr vert="horz" wrap="square" lIns="45446" tIns="22723" rIns="45446" bIns="22723" numCol="1" anchor="t" anchorCtr="0" compatLnSpc="1">
            <a:prstTxWarp prst="textNoShape">
              <a:avLst/>
            </a:prstTxWarp>
          </a:bodyPr>
          <a:lstStyle>
            <a:lvl1pPr>
              <a:defRPr smtClean="0">
                <a:cs typeface="+mn-cs"/>
              </a:defRPr>
            </a:lvl1pPr>
          </a:lstStyle>
          <a:p>
            <a:pPr>
              <a:defRPr/>
            </a:pPr>
            <a:fld id="{3EA20846-A86E-4C7C-80D1-C108CBE3752A}" type="slidenum">
              <a:rPr lang="zh-TW" altLang="zh-TW" sz="1300" b="0">
                <a:solidFill>
                  <a:srgbClr val="000000"/>
                </a:solidFill>
                <a:latin typeface="Times New Roman" pitchFamily="18" charset="0"/>
                <a:ea typeface="DFKai-SB" pitchFamily="65" charset="-120"/>
              </a:rPr>
              <a:pPr>
                <a:defRPr/>
              </a:pPr>
              <a:t>‹#›</a:t>
            </a:fld>
            <a:endParaRPr lang="zh-TW" altLang="zh-TW" sz="1300" b="0">
              <a:solidFill>
                <a:srgbClr val="000000"/>
              </a:solidFill>
              <a:latin typeface="Times New Roman" pitchFamily="18" charset="0"/>
              <a:ea typeface="DFKai-SB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75936416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1177" y="417612"/>
            <a:ext cx="7098323" cy="4191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37365211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5" name="Line 6"/>
          <p:cNvSpPr>
            <a:spLocks noChangeShapeType="1"/>
          </p:cNvSpPr>
          <p:nvPr userDrawn="1"/>
        </p:nvSpPr>
        <p:spPr bwMode="auto">
          <a:xfrm>
            <a:off x="468313" y="1989138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TW" altLang="en-US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85D2756B-D4C7-4403-A977-FB65D6ADDCB5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pic>
        <p:nvPicPr>
          <p:cNvPr id="8" name="Picture 3" descr="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88013"/>
            <a:ext cx="9144000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3284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3285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6249556"/>
      </p:ext>
    </p:extLst>
  </p:cSld>
  <p:clrMapOvr>
    <a:masterClrMapping/>
  </p:clrMapOvr>
  <p:transition>
    <p:split/>
  </p:transition>
  <p:hf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08144" cy="633412"/>
          </a:xfr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124744"/>
            <a:ext cx="8208144" cy="482520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08756561"/>
      </p:ext>
    </p:extLst>
  </p:cSld>
  <p:clrMapOvr>
    <a:masterClrMapping/>
  </p:clrMapOvr>
  <p:transition>
    <p:split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794326093"/>
      </p:ext>
    </p:extLst>
  </p:cSld>
  <p:clrMapOvr>
    <a:masterClrMapping/>
  </p:clrMapOvr>
  <p:transition>
    <p:split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889462263"/>
      </p:ext>
    </p:extLst>
  </p:cSld>
  <p:clrMapOvr>
    <a:masterClrMapping/>
  </p:clrMapOvr>
  <p:transition>
    <p:split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371049033"/>
      </p:ext>
    </p:extLst>
  </p:cSld>
  <p:clrMapOvr>
    <a:masterClrMapping/>
  </p:clrMapOvr>
  <p:transition>
    <p:split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368175090"/>
      </p:ext>
    </p:extLst>
  </p:cSld>
  <p:clrMapOvr>
    <a:masterClrMapping/>
  </p:clrMapOvr>
  <p:transition>
    <p:split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1950325"/>
      </p:ext>
    </p:extLst>
  </p:cSld>
  <p:clrMapOvr>
    <a:masterClrMapping/>
  </p:clrMapOvr>
  <p:transition>
    <p:split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930317135"/>
      </p:ext>
    </p:extLst>
  </p:cSld>
  <p:clrMapOvr>
    <a:masterClrMapping/>
  </p:clrMapOvr>
  <p:transition>
    <p:split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859101457"/>
      </p:ext>
    </p:extLst>
  </p:cSld>
  <p:clrMapOvr>
    <a:masterClrMapping/>
  </p:clrMapOvr>
  <p:transition>
    <p:split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275041143"/>
      </p:ext>
    </p:extLst>
  </p:cSld>
  <p:clrMapOvr>
    <a:masterClrMapping/>
  </p:clrMapOvr>
  <p:transition>
    <p:split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15100" y="274638"/>
            <a:ext cx="2017713" cy="5664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5905500" cy="5664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177862152"/>
      </p:ext>
    </p:extLst>
  </p:cSld>
  <p:clrMapOvr>
    <a:masterClrMapping/>
  </p:clrMapOvr>
  <p:transition>
    <p:split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11688" y="1196975"/>
            <a:ext cx="3921125" cy="22939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11688" y="3643313"/>
            <a:ext cx="3921125" cy="2295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332600837"/>
      </p:ext>
    </p:extLst>
  </p:cSld>
  <p:clrMapOvr>
    <a:masterClrMapping/>
  </p:clrMapOvr>
  <p:transition>
    <p:split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04812"/>
            <a:ext cx="6491288" cy="64770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539750" y="1196975"/>
            <a:ext cx="7993063" cy="4741863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336727540"/>
      </p:ext>
    </p:extLst>
  </p:cSld>
  <p:clrMapOvr>
    <a:masterClrMapping/>
  </p:clrMapOvr>
  <p:transition>
    <p:split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79539528"/>
      </p:ext>
    </p:extLst>
  </p:cSld>
  <p:clrMapOvr>
    <a:masterClrMapping/>
  </p:clrMapOvr>
  <p:transition>
    <p:split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638"/>
            <a:ext cx="8075613" cy="5664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151650602"/>
      </p:ext>
    </p:extLst>
  </p:cSld>
  <p:clrMapOvr>
    <a:masterClrMapping/>
  </p:clrMapOvr>
  <p:transition>
    <p:split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標題及圖表或組織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SmartArt 版面配置區 2"/>
          <p:cNvSpPr>
            <a:spLocks noGrp="1"/>
          </p:cNvSpPr>
          <p:nvPr>
            <p:ph type="dgm" idx="1"/>
          </p:nvPr>
        </p:nvSpPr>
        <p:spPr>
          <a:xfrm>
            <a:off x="539750" y="1196975"/>
            <a:ext cx="7993063" cy="4741863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771624335"/>
      </p:ext>
    </p:extLst>
  </p:cSld>
  <p:clrMapOvr>
    <a:masterClrMapping/>
  </p:clrMapOvr>
  <p:transition>
    <p:split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941905757"/>
      </p:ext>
    </p:extLst>
  </p:cSld>
  <p:clrMapOvr>
    <a:masterClrMapping/>
  </p:clrMapOvr>
  <p:transition>
    <p:split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C52E9FD9-FB24-4F1C-85A9-4A09488286B4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417796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7797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graphicFrame>
        <p:nvGraphicFramePr>
          <p:cNvPr id="3" name="物件 2"/>
          <p:cNvGraphicFramePr>
            <a:graphicFrameLocks noChangeAspect="1"/>
          </p:cNvGraphicFramePr>
          <p:nvPr userDrawn="1"/>
        </p:nvGraphicFramePr>
        <p:xfrm>
          <a:off x="0" y="5807075"/>
          <a:ext cx="91440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25" name="Image" r:id="rId3" imgW="10158730" imgH="1168254" progId="">
                  <p:embed/>
                </p:oleObj>
              </mc:Choice>
              <mc:Fallback>
                <p:oleObj name="Image" r:id="rId3" imgW="10158730" imgH="1168254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807075"/>
                        <a:ext cx="91440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27585237"/>
      </p:ext>
    </p:extLst>
  </p:cSld>
  <p:clrMapOvr>
    <a:masterClrMapping/>
  </p:clrMapOvr>
  <p:transition>
    <p:split/>
  </p:transition>
  <p:hf hdr="0" ftr="0" dt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Line 6"/>
          <p:cNvSpPr>
            <a:spLocks noChangeShapeType="1"/>
          </p:cNvSpPr>
          <p:nvPr userDrawn="1"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46198"/>
      </p:ext>
    </p:extLst>
  </p:cSld>
  <p:clrMapOvr>
    <a:masterClrMapping/>
  </p:clrMapOvr>
  <p:transition>
    <p:split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0011486"/>
      </p:ext>
    </p:extLst>
  </p:cSld>
  <p:clrMapOvr>
    <a:masterClrMapping/>
  </p:clrMapOvr>
  <p:transition>
    <p:split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547986878"/>
      </p:ext>
    </p:extLst>
  </p:cSld>
  <p:clrMapOvr>
    <a:masterClrMapping/>
  </p:clrMapOvr>
  <p:transition>
    <p:split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fld id="{C52E9FD9-FB24-4F1C-85A9-4A09488286B4}" type="slidenum">
              <a:rPr kumimoji="1" lang="en-US" altLang="zh-TW" sz="1200">
                <a:solidFill>
                  <a:srgbClr val="000000"/>
                </a:solidFill>
              </a:rPr>
              <a:pPr algn="r"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 sz="1200">
              <a:solidFill>
                <a:srgbClr val="000000"/>
              </a:solidFill>
            </a:endParaRPr>
          </a:p>
        </p:txBody>
      </p:sp>
      <p:sp>
        <p:nvSpPr>
          <p:cNvPr id="417796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7797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graphicFrame>
        <p:nvGraphicFramePr>
          <p:cNvPr id="3" name="物件 2"/>
          <p:cNvGraphicFramePr>
            <a:graphicFrameLocks noChangeAspect="1"/>
          </p:cNvGraphicFramePr>
          <p:nvPr userDrawn="1"/>
        </p:nvGraphicFramePr>
        <p:xfrm>
          <a:off x="0" y="5807075"/>
          <a:ext cx="91440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3" name="Image" r:id="rId3" imgW="10158730" imgH="1168254" progId="">
                  <p:embed/>
                </p:oleObj>
              </mc:Choice>
              <mc:Fallback>
                <p:oleObj name="Image" r:id="rId3" imgW="10158730" imgH="1168254" progId="">
                  <p:embed/>
                  <p:pic>
                    <p:nvPicPr>
                      <p:cNvPr id="3" name="物件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807075"/>
                        <a:ext cx="91440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97404879"/>
      </p:ext>
    </p:extLst>
  </p:cSld>
  <p:clrMapOvr>
    <a:masterClrMapping/>
  </p:clrMapOvr>
  <p:transition>
    <p:split/>
  </p:transition>
  <p:hf hdr="0" ftr="0" dt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Line 6"/>
          <p:cNvSpPr>
            <a:spLocks noChangeShapeType="1"/>
          </p:cNvSpPr>
          <p:nvPr userDrawn="1"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b="1">
              <a:solidFill>
                <a:srgbClr val="000000"/>
              </a:solidFill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64274235"/>
      </p:ext>
    </p:extLst>
  </p:cSld>
  <p:clrMapOvr>
    <a:masterClrMapping/>
  </p:clrMapOvr>
  <p:transition>
    <p:split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292408"/>
      </p:ext>
    </p:extLst>
  </p:cSld>
  <p:clrMapOvr>
    <a:masterClrMapping/>
  </p:clrMapOvr>
  <p:transition>
    <p:split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fld id="{C52E9FD9-FB24-4F1C-85A9-4A09488286B4}" type="slidenum">
              <a:rPr kumimoji="1" lang="en-US" altLang="zh-TW" sz="1200">
                <a:solidFill>
                  <a:srgbClr val="000000"/>
                </a:solidFill>
              </a:rPr>
              <a:pPr algn="r"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 sz="1200">
              <a:solidFill>
                <a:srgbClr val="000000"/>
              </a:solidFill>
            </a:endParaRPr>
          </a:p>
        </p:txBody>
      </p:sp>
      <p:sp>
        <p:nvSpPr>
          <p:cNvPr id="417796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7797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graphicFrame>
        <p:nvGraphicFramePr>
          <p:cNvPr id="3" name="物件 2"/>
          <p:cNvGraphicFramePr>
            <a:graphicFrameLocks noChangeAspect="1"/>
          </p:cNvGraphicFramePr>
          <p:nvPr userDrawn="1"/>
        </p:nvGraphicFramePr>
        <p:xfrm>
          <a:off x="0" y="5807075"/>
          <a:ext cx="91440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21" name="Image" r:id="rId3" imgW="10158730" imgH="1168254" progId="">
                  <p:embed/>
                </p:oleObj>
              </mc:Choice>
              <mc:Fallback>
                <p:oleObj name="Image" r:id="rId3" imgW="10158730" imgH="1168254" progId="">
                  <p:embed/>
                  <p:pic>
                    <p:nvPicPr>
                      <p:cNvPr id="3" name="物件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807075"/>
                        <a:ext cx="91440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30165568"/>
      </p:ext>
    </p:extLst>
  </p:cSld>
  <p:clrMapOvr>
    <a:masterClrMapping/>
  </p:clrMapOvr>
  <p:transition>
    <p:split/>
  </p:transition>
  <p:hf hdr="0" ftr="0" dt="0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Line 6"/>
          <p:cNvSpPr>
            <a:spLocks noChangeShapeType="1"/>
          </p:cNvSpPr>
          <p:nvPr userDrawn="1"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b="1">
              <a:solidFill>
                <a:srgbClr val="000000"/>
              </a:solidFill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13937026"/>
      </p:ext>
    </p:extLst>
  </p:cSld>
  <p:clrMapOvr>
    <a:masterClrMapping/>
  </p:clrMapOvr>
  <p:transition>
    <p:split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8619175"/>
      </p:ext>
    </p:extLst>
  </p:cSld>
  <p:clrMapOvr>
    <a:masterClrMapping/>
  </p:clrMapOvr>
  <p:transition>
    <p:split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371390153"/>
      </p:ext>
    </p:extLst>
  </p:cSld>
  <p:clrMapOvr>
    <a:masterClrMapping/>
  </p:clrMapOvr>
  <p:transition>
    <p:split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9" y="186848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zh-TW" sz="1800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 userDrawn="1"/>
        </p:nvSpPr>
        <p:spPr bwMode="auto">
          <a:xfrm>
            <a:off x="8172451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fld id="{C52E9FD9-FB24-4F1C-85A9-4A09488286B4}" type="slidenum">
              <a:rPr kumimoji="1" lang="en-US" altLang="zh-TW" sz="1200">
                <a:solidFill>
                  <a:srgbClr val="000000"/>
                </a:solidFill>
              </a:rPr>
              <a:pPr algn="r"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 sz="1200">
              <a:solidFill>
                <a:srgbClr val="000000"/>
              </a:solidFill>
            </a:endParaRPr>
          </a:p>
        </p:txBody>
      </p:sp>
      <p:sp>
        <p:nvSpPr>
          <p:cNvPr id="417796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7797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graphicFrame>
        <p:nvGraphicFramePr>
          <p:cNvPr id="3" name="物件 2"/>
          <p:cNvGraphicFramePr>
            <a:graphicFrameLocks noChangeAspect="1"/>
          </p:cNvGraphicFramePr>
          <p:nvPr userDrawn="1"/>
        </p:nvGraphicFramePr>
        <p:xfrm>
          <a:off x="0" y="5807077"/>
          <a:ext cx="91440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69" name="Image" r:id="rId3" imgW="10158730" imgH="1168254" progId="">
                  <p:embed/>
                </p:oleObj>
              </mc:Choice>
              <mc:Fallback>
                <p:oleObj name="Image" r:id="rId3" imgW="10158730" imgH="1168254" progId="">
                  <p:embed/>
                  <p:pic>
                    <p:nvPicPr>
                      <p:cNvPr id="3" name="物件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807077"/>
                        <a:ext cx="91440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6524591"/>
      </p:ext>
    </p:extLst>
  </p:cSld>
  <p:clrMapOvr>
    <a:masterClrMapping/>
  </p:clrMapOvr>
  <p:transition>
    <p:split/>
  </p:transition>
  <p:hf hdr="0" ftr="0" dt="0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Line 6"/>
          <p:cNvSpPr>
            <a:spLocks noChangeShapeType="1"/>
          </p:cNvSpPr>
          <p:nvPr userDrawn="1"/>
        </p:nvSpPr>
        <p:spPr bwMode="auto">
          <a:xfrm>
            <a:off x="468314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sz="1800" b="1">
              <a:solidFill>
                <a:srgbClr val="000000"/>
              </a:solidFill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36874266"/>
      </p:ext>
    </p:extLst>
  </p:cSld>
  <p:clrMapOvr>
    <a:masterClrMapping/>
  </p:clrMapOvr>
  <p:transition>
    <p:split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434853"/>
      </p:ext>
    </p:extLst>
  </p:cSld>
  <p:clrMapOvr>
    <a:masterClrMapping/>
  </p:clrMapOvr>
  <p:transition>
    <p:split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內文頁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>
            <a:spLocks noGrp="1"/>
          </p:cNvSpPr>
          <p:nvPr>
            <p:ph type="body" sz="quarter" idx="13"/>
          </p:nvPr>
        </p:nvSpPr>
        <p:spPr>
          <a:xfrm>
            <a:off x="478299" y="765997"/>
            <a:ext cx="1723550" cy="569387"/>
          </a:xfrm>
          <a:prstGeom prst="rect">
            <a:avLst/>
          </a:prstGeom>
        </p:spPr>
        <p:txBody>
          <a:bodyPr wrap="none">
            <a:spAutoFit/>
          </a:bodyPr>
          <a:lstStyle>
            <a:lvl1pPr algn="r">
              <a:spcBef>
                <a:spcPts val="0"/>
              </a:spcBef>
              <a:defRPr sz="3100" b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華康圓體 Std W3"/>
              </a:defRPr>
            </a:lvl1pPr>
          </a:lstStyle>
          <a:p>
            <a:r>
              <a:t>大標題</a:t>
            </a:r>
          </a:p>
        </p:txBody>
      </p:sp>
      <p:sp>
        <p:nvSpPr>
          <p:cNvPr id="17" name="Shape 17"/>
          <p:cNvSpPr>
            <a:spLocks noGrp="1"/>
          </p:cNvSpPr>
          <p:nvPr>
            <p:ph type="body" sz="quarter" idx="14"/>
          </p:nvPr>
        </p:nvSpPr>
        <p:spPr>
          <a:xfrm>
            <a:off x="831601" y="1423432"/>
            <a:ext cx="1370246" cy="2677656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lnSpc>
                <a:spcPct val="140000"/>
              </a:lnSpc>
              <a:spcBef>
                <a:spcPts val="0"/>
              </a:spcBef>
              <a:defRPr sz="3000" b="0">
                <a:latin typeface="華康圓體 Std W3"/>
                <a:ea typeface="微軟正黑體" panose="020B0604030504040204" pitchFamily="34" charset="-120"/>
                <a:sym typeface="華康圓體 Std W3"/>
              </a:defRPr>
            </a:lvl1pPr>
          </a:lstStyle>
          <a:p>
            <a:pPr algn="r">
              <a:lnSpc>
                <a:spcPct val="140000"/>
              </a:lnSpc>
              <a:spcBef>
                <a:spcPts val="0"/>
              </a:spcBef>
              <a:defRPr sz="3000" b="0">
                <a:latin typeface="華康圓體 Std W3"/>
                <a:ea typeface="華康圓體 Std W3"/>
                <a:cs typeface="華康圓體 Std W3"/>
                <a:sym typeface="華康圓體 Std W3"/>
              </a:defRPr>
            </a:pPr>
            <a:r>
              <a:t>副標題</a:t>
            </a:r>
          </a:p>
          <a:p>
            <a:pPr algn="r">
              <a:lnSpc>
                <a:spcPct val="140000"/>
              </a:lnSpc>
              <a:spcBef>
                <a:spcPts val="0"/>
              </a:spcBef>
              <a:defRPr sz="3000" b="0">
                <a:latin typeface="華康圓體 Std W3"/>
                <a:ea typeface="華康圓體 Std W3"/>
                <a:cs typeface="華康圓體 Std W3"/>
                <a:sym typeface="華康圓體 Std W3"/>
              </a:defRPr>
            </a:pPr>
            <a:r>
              <a:t>副標題</a:t>
            </a:r>
          </a:p>
        </p:txBody>
      </p:sp>
      <p:sp>
        <p:nvSpPr>
          <p:cNvPr id="18" name="Shape 18"/>
          <p:cNvSpPr>
            <a:spLocks noGrp="1"/>
          </p:cNvSpPr>
          <p:nvPr>
            <p:ph type="body" sz="quarter" idx="15"/>
          </p:nvPr>
        </p:nvSpPr>
        <p:spPr>
          <a:xfrm>
            <a:off x="7522379" y="-179437"/>
            <a:ext cx="1171127" cy="738664"/>
          </a:xfrm>
          <a:prstGeom prst="rect">
            <a:avLst/>
          </a:prstGeom>
        </p:spPr>
        <p:txBody>
          <a:bodyPr anchor="ctr">
            <a:spAutoFit/>
          </a:bodyPr>
          <a:lstStyle>
            <a:lvl1pPr algn="r">
              <a:lnSpc>
                <a:spcPct val="140000"/>
              </a:lnSpc>
              <a:spcBef>
                <a:spcPts val="0"/>
              </a:spcBef>
              <a:defRPr sz="1500" b="0">
                <a:solidFill>
                  <a:srgbClr val="53535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華康圓體 Std W5"/>
              </a:defRPr>
            </a:lvl1pPr>
          </a:lstStyle>
          <a:p>
            <a:r>
              <a:t>章節進度</a:t>
            </a:r>
          </a:p>
        </p:txBody>
      </p:sp>
      <p:sp>
        <p:nvSpPr>
          <p:cNvPr id="19" name="Shape 19"/>
          <p:cNvSpPr>
            <a:spLocks noGrp="1"/>
          </p:cNvSpPr>
          <p:nvPr>
            <p:ph type="sldNum" sz="quarter" idx="2"/>
          </p:nvPr>
        </p:nvSpPr>
        <p:spPr>
          <a:xfrm>
            <a:off x="8734813" y="6538221"/>
            <a:ext cx="276408" cy="280330"/>
          </a:xfrm>
          <a:prstGeom prst="rect">
            <a:avLst/>
          </a:prstGeom>
        </p:spPr>
        <p:txBody>
          <a:bodyPr lIns="45446" tIns="22723" rIns="45446" bIns="22723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6CB4B4D-7CA3-9044-876B-883B54F8677D}" type="slidenum">
              <a:rPr kumimoji="1" b="1">
                <a:solidFill>
                  <a:srgbClr val="000000"/>
                </a:solidFill>
                <a:ea typeface="標楷體" pitchFamily="65" charset="-12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b="1">
              <a:solidFill>
                <a:srgbClr val="000000"/>
              </a:solidFill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96958710"/>
      </p:ext>
    </p:extLst>
  </p:cSld>
  <p:clrMapOvr>
    <a:masterClrMapping/>
  </p:clrMapOvr>
  <p:transition spd="med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5" y="332656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859936401"/>
      </p:ext>
    </p:extLst>
  </p:cSld>
  <p:clrMapOvr>
    <a:masterClrMapping/>
  </p:clrMapOvr>
  <p:transition>
    <p:split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5" name="Line 6"/>
          <p:cNvSpPr>
            <a:spLocks noChangeShapeType="1"/>
          </p:cNvSpPr>
          <p:nvPr userDrawn="1"/>
        </p:nvSpPr>
        <p:spPr bwMode="auto">
          <a:xfrm>
            <a:off x="468313" y="1989138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  <a:ea typeface="標楷體" pitchFamily="65" charset="-12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zh-TW" altLang="zh-TW" sz="120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fld id="{CDED95B6-F424-4F92-9EDD-10516A8A7984}" type="slidenum">
              <a:rPr kumimoji="1" lang="en-US" altLang="zh-TW" sz="1200">
                <a:solidFill>
                  <a:srgbClr val="000000"/>
                </a:solidFill>
              </a:rPr>
              <a:pPr algn="r"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 sz="1200">
              <a:solidFill>
                <a:srgbClr val="000000"/>
              </a:solidFill>
            </a:endParaRPr>
          </a:p>
        </p:txBody>
      </p:sp>
      <p:pic>
        <p:nvPicPr>
          <p:cNvPr id="8" name="Picture 3" descr="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88013"/>
            <a:ext cx="9144000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7796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7797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431236558"/>
      </p:ext>
    </p:extLst>
  </p:cSld>
  <p:clrMapOvr>
    <a:masterClrMapping/>
  </p:clrMapOvr>
  <p:transition>
    <p:split/>
  </p:transition>
  <p:hf hdr="0" ftr="0" dt="0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0861570"/>
      </p:ext>
    </p:extLst>
  </p:cSld>
  <p:clrMapOvr>
    <a:masterClrMapping/>
  </p:clrMapOvr>
  <p:transition>
    <p:split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6221586"/>
      </p:ext>
    </p:extLst>
  </p:cSld>
  <p:clrMapOvr>
    <a:masterClrMapping/>
  </p:clrMapOvr>
  <p:transition>
    <p:split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1196975"/>
            <a:ext cx="3921125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0294944"/>
      </p:ext>
    </p:extLst>
  </p:cSld>
  <p:clrMapOvr>
    <a:masterClrMapping/>
  </p:clrMapOvr>
  <p:transition>
    <p:split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03975"/>
      </p:ext>
    </p:extLst>
  </p:cSld>
  <p:clrMapOvr>
    <a:masterClrMapping/>
  </p:clrMapOvr>
  <p:transition>
    <p:split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06490017"/>
      </p:ext>
    </p:extLst>
  </p:cSld>
  <p:clrMapOvr>
    <a:masterClrMapping/>
  </p:clrMapOvr>
  <p:transition>
    <p:split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889876"/>
      </p:ext>
    </p:extLst>
  </p:cSld>
  <p:clrMapOvr>
    <a:masterClrMapping/>
  </p:clrMapOvr>
  <p:transition>
    <p:split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4750148"/>
      </p:ext>
    </p:extLst>
  </p:cSld>
  <p:clrMapOvr>
    <a:masterClrMapping/>
  </p:clrMapOvr>
  <p:transition>
    <p:split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3729151"/>
      </p:ext>
    </p:extLst>
  </p:cSld>
  <p:clrMapOvr>
    <a:masterClrMapping/>
  </p:clrMapOvr>
  <p:transition>
    <p:split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6788881"/>
      </p:ext>
    </p:extLst>
  </p:cSld>
  <p:clrMapOvr>
    <a:masterClrMapping/>
  </p:clrMapOvr>
  <p:transition>
    <p:split/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74638"/>
            <a:ext cx="2017713" cy="5664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5905500" cy="5664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2084026"/>
      </p:ext>
    </p:extLst>
  </p:cSld>
  <p:clrMapOvr>
    <a:masterClrMapping/>
  </p:clrMapOvr>
  <p:transition>
    <p:split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1177" y="417612"/>
            <a:ext cx="7098323" cy="4191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582277176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0" y="1196975"/>
            <a:ext cx="3919538" cy="47418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11688" y="1196975"/>
            <a:ext cx="3921125" cy="22939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11688" y="3643313"/>
            <a:ext cx="3921125" cy="2295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639781248"/>
      </p:ext>
    </p:extLst>
  </p:cSld>
  <p:clrMapOvr>
    <a:masterClrMapping/>
  </p:clrMapOvr>
  <p:transition>
    <p:split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539750" y="1196975"/>
            <a:ext cx="7993063" cy="4741863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13592351"/>
      </p:ext>
    </p:extLst>
  </p:cSld>
  <p:clrMapOvr>
    <a:masterClrMapping/>
  </p:clrMapOvr>
  <p:transition>
    <p:split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2319340" y="186848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 userDrawn="1"/>
        </p:nvSpPr>
        <p:spPr bwMode="auto">
          <a:xfrm>
            <a:off x="8172452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defRPr/>
            </a:pPr>
            <a:fld id="{67C150D6-889D-4B47-9F52-79F89B41574A}" type="slidenum">
              <a:rPr lang="en-US" altLang="zh-TW" sz="1200" b="0">
                <a:solidFill>
                  <a:srgbClr val="000000"/>
                </a:solidFill>
              </a:rPr>
              <a:pPr algn="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</a:endParaRPr>
          </a:p>
        </p:txBody>
      </p:sp>
      <p:sp>
        <p:nvSpPr>
          <p:cNvPr id="417796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17797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826893460"/>
      </p:ext>
    </p:extLst>
  </p:cSld>
  <p:clrMapOvr>
    <a:masterClrMapping/>
  </p:clrMapOvr>
  <p:transition>
    <p:split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54853532"/>
      </p:ext>
    </p:extLst>
  </p:cSld>
  <p:clrMapOvr>
    <a:masterClrMapping/>
  </p:clrMapOvr>
  <p:transition>
    <p:split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385084653"/>
      </p:ext>
    </p:extLst>
  </p:cSld>
  <p:clrMapOvr>
    <a:masterClrMapping/>
  </p:clrMapOvr>
  <p:transition>
    <p:split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9751" y="1196975"/>
            <a:ext cx="3919538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11690" y="1196975"/>
            <a:ext cx="3921125" cy="4741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790388226"/>
      </p:ext>
    </p:extLst>
  </p:cSld>
  <p:clrMapOvr>
    <a:masterClrMapping/>
  </p:clrMapOvr>
  <p:transition>
    <p:split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059082508"/>
      </p:ext>
    </p:extLst>
  </p:cSld>
  <p:clrMapOvr>
    <a:masterClrMapping/>
  </p:clrMapOvr>
  <p:transition>
    <p:split/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4071630655"/>
      </p:ext>
    </p:extLst>
  </p:cSld>
  <p:clrMapOvr>
    <a:masterClrMapping/>
  </p:clrMapOvr>
  <p:transition>
    <p:split/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6609170"/>
      </p:ext>
    </p:extLst>
  </p:cSld>
  <p:clrMapOvr>
    <a:masterClrMapping/>
  </p:clrMapOvr>
  <p:transition>
    <p:split/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34129646"/>
      </p:ext>
    </p:extLst>
  </p:cSld>
  <p:clrMapOvr>
    <a:masterClrMapping/>
  </p:clrMapOvr>
  <p:transition>
    <p:split/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186531668"/>
      </p:ext>
    </p:extLst>
  </p:cSld>
  <p:clrMapOvr>
    <a:masterClrMapping/>
  </p:clrMapOvr>
  <p:transition>
    <p:split/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873698216"/>
      </p:ext>
    </p:extLst>
  </p:cSld>
  <p:clrMapOvr>
    <a:masterClrMapping/>
  </p:clrMapOvr>
  <p:transition>
    <p:split/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15102" y="274638"/>
            <a:ext cx="2017713" cy="5664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5905500" cy="5664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603770047"/>
      </p:ext>
    </p:extLst>
  </p:cSld>
  <p:clrMapOvr>
    <a:masterClrMapping/>
  </p:clrMapOvr>
  <p:transition>
    <p:split/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1179" y="417612"/>
            <a:ext cx="7098323" cy="4191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863590277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標題，四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sz="quarter"/>
          </p:nvPr>
        </p:nvSpPr>
        <p:spPr>
          <a:xfrm>
            <a:off x="1427287" y="395292"/>
            <a:ext cx="7365023" cy="40163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1427287" y="1619250"/>
            <a:ext cx="3577004" cy="71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5144966" y="1619250"/>
            <a:ext cx="3577003" cy="71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1427287" y="1843090"/>
            <a:ext cx="3577004" cy="73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144966" y="1843090"/>
            <a:ext cx="3577003" cy="73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381669972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標題及圖表或組織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6491288" cy="63341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SmartArt 版面配置區 2"/>
          <p:cNvSpPr>
            <a:spLocks noGrp="1"/>
          </p:cNvSpPr>
          <p:nvPr>
            <p:ph type="dgm" idx="1"/>
          </p:nvPr>
        </p:nvSpPr>
        <p:spPr>
          <a:xfrm>
            <a:off x="539752" y="1196975"/>
            <a:ext cx="7993063" cy="4741863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013529852"/>
      </p:ext>
    </p:extLst>
  </p:cSld>
  <p:clrMapOvr>
    <a:masterClrMapping/>
  </p:clrMapOvr>
  <p:transition>
    <p:split/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1886410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6491288" cy="633412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9751" y="1196975"/>
            <a:ext cx="3919538" cy="474186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90" y="1196975"/>
            <a:ext cx="3921125" cy="474186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5227206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2" y="274638"/>
            <a:ext cx="8075613" cy="5664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620991374"/>
      </p:ext>
    </p:extLst>
  </p:cSld>
  <p:clrMapOvr>
    <a:masterClrMapping/>
  </p:clrMapOvr>
  <p:transition>
    <p:split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vmlDrawing" Target="../drawings/vmlDrawing1.v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7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0" Type="http://schemas.openxmlformats.org/officeDocument/2006/relationships/oleObject" Target="../embeddings/oleObject3.bin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4.xml"/><Relationship Id="rId19" Type="http://schemas.openxmlformats.org/officeDocument/2006/relationships/vmlDrawing" Target="../drawings/vmlDrawing3.v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3" Type="http://schemas.openxmlformats.org/officeDocument/2006/relationships/slideLayout" Target="../slideLayouts/slideLayout24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5.xml"/><Relationship Id="rId9" Type="http://schemas.openxmlformats.org/officeDocument/2006/relationships/oleObject" Target="../embeddings/oleObject4.bin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oleObject" Target="../embeddings/oleObject1.bin"/><Relationship Id="rId5" Type="http://schemas.openxmlformats.org/officeDocument/2006/relationships/vmlDrawing" Target="../drawings/vmlDrawing6.v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3.xml"/><Relationship Id="rId21" Type="http://schemas.openxmlformats.org/officeDocument/2006/relationships/theme" Target="../theme/theme5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oleObject" Target="../embeddings/oleObject5.bin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vmlDrawing" Target="../drawings/vmlDrawing8.v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5.xml"/><Relationship Id="rId10" Type="http://schemas.openxmlformats.org/officeDocument/2006/relationships/oleObject" Target="../embeddings/oleObject6.bin"/><Relationship Id="rId4" Type="http://schemas.openxmlformats.org/officeDocument/2006/relationships/slideLayout" Target="../slideLayouts/slideLayout54.xml"/><Relationship Id="rId9" Type="http://schemas.openxmlformats.org/officeDocument/2006/relationships/vmlDrawing" Target="../drawings/vmlDrawing9.v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18" Type="http://schemas.openxmlformats.org/officeDocument/2006/relationships/theme" Target="../theme/theme7.xml"/><Relationship Id="rId3" Type="http://schemas.openxmlformats.org/officeDocument/2006/relationships/slideLayout" Target="../slideLayouts/slideLayout60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20" Type="http://schemas.openxmlformats.org/officeDocument/2006/relationships/oleObject" Target="../embeddings/oleObject3.bin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67.xml"/><Relationship Id="rId19" Type="http://schemas.openxmlformats.org/officeDocument/2006/relationships/vmlDrawing" Target="../drawings/vmlDrawing14.v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77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Relationship Id="rId6" Type="http://schemas.openxmlformats.org/officeDocument/2006/relationships/vmlDrawing" Target="../drawings/vmlDrawing15.vml"/><Relationship Id="rId5" Type="http://schemas.openxmlformats.org/officeDocument/2006/relationships/theme" Target="../theme/theme8.xml"/><Relationship Id="rId4" Type="http://schemas.openxmlformats.org/officeDocument/2006/relationships/slideLayout" Target="../slideLayouts/slideLayout7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1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6" Type="http://schemas.openxmlformats.org/officeDocument/2006/relationships/oleObject" Target="../embeddings/oleObject1.bin"/><Relationship Id="rId5" Type="http://schemas.openxmlformats.org/officeDocument/2006/relationships/vmlDrawing" Target="../drawings/vmlDrawing17.vml"/><Relationship Id="rId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84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vmlDrawing" Target="../drawings/vmlDrawing19.vml"/><Relationship Id="rId5" Type="http://schemas.openxmlformats.org/officeDocument/2006/relationships/theme" Target="../theme/theme10.xml"/><Relationship Id="rId4" Type="http://schemas.openxmlformats.org/officeDocument/2006/relationships/slideLayout" Target="../slideLayouts/slideLayout85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88.xml"/><Relationship Id="rId7" Type="http://schemas.openxmlformats.org/officeDocument/2006/relationships/vmlDrawing" Target="../drawings/vmlDrawing21.vml"/><Relationship Id="rId2" Type="http://schemas.openxmlformats.org/officeDocument/2006/relationships/slideLayout" Target="../slideLayouts/slideLayout87.xml"/><Relationship Id="rId1" Type="http://schemas.openxmlformats.org/officeDocument/2006/relationships/slideLayout" Target="../slideLayouts/slideLayout86.xml"/><Relationship Id="rId6" Type="http://schemas.openxmlformats.org/officeDocument/2006/relationships/theme" Target="../theme/theme11.xml"/><Relationship Id="rId5" Type="http://schemas.openxmlformats.org/officeDocument/2006/relationships/slideLayout" Target="../slideLayouts/slideLayout90.xml"/><Relationship Id="rId4" Type="http://schemas.openxmlformats.org/officeDocument/2006/relationships/slideLayout" Target="../slideLayouts/slideLayout89.xml"/><Relationship Id="rId9" Type="http://schemas.openxmlformats.org/officeDocument/2006/relationships/image" Target="../media/image1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slideLayout" Target="../slideLayouts/slideLayout10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slideLayout" Target="../slideLayouts/slideLayout102.xml"/><Relationship Id="rId17" Type="http://schemas.openxmlformats.org/officeDocument/2006/relationships/oleObject" Target="../embeddings/oleObject7.bin"/><Relationship Id="rId2" Type="http://schemas.openxmlformats.org/officeDocument/2006/relationships/slideLayout" Target="../slideLayouts/slideLayout92.xml"/><Relationship Id="rId16" Type="http://schemas.openxmlformats.org/officeDocument/2006/relationships/vmlDrawing" Target="../drawings/vmlDrawing23.v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5" Type="http://schemas.openxmlformats.org/officeDocument/2006/relationships/theme" Target="../theme/theme12.xml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Relationship Id="rId14" Type="http://schemas.openxmlformats.org/officeDocument/2006/relationships/slideLayout" Target="../slideLayouts/slideLayout104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2.xml"/><Relationship Id="rId13" Type="http://schemas.openxmlformats.org/officeDocument/2006/relationships/slideLayout" Target="../slideLayouts/slideLayout117.xml"/><Relationship Id="rId18" Type="http://schemas.openxmlformats.org/officeDocument/2006/relationships/theme" Target="../theme/theme13.xml"/><Relationship Id="rId3" Type="http://schemas.openxmlformats.org/officeDocument/2006/relationships/slideLayout" Target="../slideLayouts/slideLayout107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111.xml"/><Relationship Id="rId12" Type="http://schemas.openxmlformats.org/officeDocument/2006/relationships/slideLayout" Target="../slideLayouts/slideLayout116.xml"/><Relationship Id="rId17" Type="http://schemas.openxmlformats.org/officeDocument/2006/relationships/slideLayout" Target="../slideLayouts/slideLayout121.xml"/><Relationship Id="rId2" Type="http://schemas.openxmlformats.org/officeDocument/2006/relationships/slideLayout" Target="../slideLayouts/slideLayout106.xml"/><Relationship Id="rId16" Type="http://schemas.openxmlformats.org/officeDocument/2006/relationships/slideLayout" Target="../slideLayouts/slideLayout120.xml"/><Relationship Id="rId20" Type="http://schemas.openxmlformats.org/officeDocument/2006/relationships/oleObject" Target="../embeddings/oleObject5.bin"/><Relationship Id="rId1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10.xml"/><Relationship Id="rId11" Type="http://schemas.openxmlformats.org/officeDocument/2006/relationships/slideLayout" Target="../slideLayouts/slideLayout115.xml"/><Relationship Id="rId5" Type="http://schemas.openxmlformats.org/officeDocument/2006/relationships/slideLayout" Target="../slideLayouts/slideLayout109.xml"/><Relationship Id="rId15" Type="http://schemas.openxmlformats.org/officeDocument/2006/relationships/slideLayout" Target="../slideLayouts/slideLayout119.xml"/><Relationship Id="rId10" Type="http://schemas.openxmlformats.org/officeDocument/2006/relationships/slideLayout" Target="../slideLayouts/slideLayout114.xml"/><Relationship Id="rId19" Type="http://schemas.openxmlformats.org/officeDocument/2006/relationships/vmlDrawing" Target="../drawings/vmlDrawing24.vml"/><Relationship Id="rId4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13.xml"/><Relationship Id="rId14" Type="http://schemas.openxmlformats.org/officeDocument/2006/relationships/slideLayout" Target="../slideLayouts/slideLayout1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ea typeface="新細明體" pitchFamily="18" charset="-120"/>
            </a:endParaRPr>
          </a:p>
        </p:txBody>
      </p:sp>
      <p:sp>
        <p:nvSpPr>
          <p:cNvPr id="1028" name="Line 7"/>
          <p:cNvSpPr>
            <a:spLocks noChangeShapeType="1"/>
          </p:cNvSpPr>
          <p:nvPr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1" name="Text Box 11"/>
          <p:cNvSpPr txBox="1">
            <a:spLocks noChangeArrowheads="1"/>
          </p:cNvSpPr>
          <p:nvPr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latin typeface="標楷體" pitchFamily="65" charset="-120"/>
            </a:endParaRPr>
          </a:p>
        </p:txBody>
      </p:sp>
      <p:sp>
        <p:nvSpPr>
          <p:cNvPr id="416776" name="Text Box 8"/>
          <p:cNvSpPr txBox="1">
            <a:spLocks noChangeArrowheads="1"/>
          </p:cNvSpPr>
          <p:nvPr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2B5FBEF1-5908-43B3-AFF9-4F88F7E61186}" type="slidenum">
              <a:rPr lang="en-US" altLang="zh-TW" sz="1200" b="0">
                <a:latin typeface="Arial" pitchFamily="34" charset="0"/>
                <a:ea typeface="新細明體" pitchFamily="18" charset="-12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latin typeface="Arial" pitchFamily="34" charset="0"/>
              <a:ea typeface="新細明體" pitchFamily="18" charset="-120"/>
            </a:endParaRPr>
          </a:p>
        </p:txBody>
      </p:sp>
      <p:graphicFrame>
        <p:nvGraphicFramePr>
          <p:cNvPr id="1033" name="Object 9"/>
          <p:cNvGraphicFramePr>
            <a:graphicFrameLocks noChangeAspect="1"/>
          </p:cNvGraphicFramePr>
          <p:nvPr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5" name="Image" r:id="rId7" imgW="2547917" imgH="749492" progId="">
                  <p:embed/>
                </p:oleObj>
              </mc:Choice>
              <mc:Fallback>
                <p:oleObj name="Image" r:id="rId7" imgW="2547917" imgH="749492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 dirty="0">
                <a:solidFill>
                  <a:schemeClr val="bg2"/>
                </a:solidFill>
                <a:latin typeface="標楷體" pitchFamily="65" charset="-120"/>
              </a:rPr>
              <a:t>誠信  承諾  創新  合作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20" r:id="rId1"/>
    <p:sldLayoutId id="2147485778" r:id="rId2"/>
    <p:sldLayoutId id="2147485783" r:id="rId3"/>
    <p:sldLayoutId id="2147485846" r:id="rId4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27" name="Line 6"/>
          <p:cNvSpPr>
            <a:spLocks noChangeShapeType="1"/>
          </p:cNvSpPr>
          <p:nvPr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TW" altLang="en-US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28" name="Line 7"/>
          <p:cNvSpPr>
            <a:spLocks noChangeShapeType="1"/>
          </p:cNvSpPr>
          <p:nvPr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TW" altLang="en-US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31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2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" name="Text Box 11"/>
          <p:cNvSpPr txBox="1">
            <a:spLocks noChangeArrowheads="1"/>
          </p:cNvSpPr>
          <p:nvPr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3" name="Object 471"/>
          <p:cNvGraphicFramePr>
            <a:graphicFrameLocks noChangeAspect="1"/>
          </p:cNvGraphicFramePr>
          <p:nvPr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3" name="Image" r:id="rId20" imgW="2547917" imgH="749492" progId="">
                  <p:embed/>
                </p:oleObj>
              </mc:Choice>
              <mc:Fallback>
                <p:oleObj name="Image" r:id="rId20" imgW="2547917" imgH="749492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>
                <a:solidFill>
                  <a:srgbClr val="808080"/>
                </a:solidFill>
                <a:latin typeface="標楷體" pitchFamily="65" charset="-120"/>
                <a:ea typeface="標楷體" pitchFamily="65" charset="-120"/>
              </a:rPr>
              <a:t>誠信  承諾  創新  合作</a:t>
            </a:r>
          </a:p>
        </p:txBody>
      </p:sp>
      <p:sp>
        <p:nvSpPr>
          <p:cNvPr id="352264" name="Text Box 8"/>
          <p:cNvSpPr txBox="1">
            <a:spLocks noChangeArrowheads="1"/>
          </p:cNvSpPr>
          <p:nvPr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AF13EAEB-A02A-4A31-A718-6EB199877577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 dirty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90305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22" r:id="rId1"/>
    <p:sldLayoutId id="2147485823" r:id="rId2"/>
    <p:sldLayoutId id="2147485824" r:id="rId3"/>
    <p:sldLayoutId id="2147485825" r:id="rId4"/>
    <p:sldLayoutId id="2147485826" r:id="rId5"/>
    <p:sldLayoutId id="2147485827" r:id="rId6"/>
    <p:sldLayoutId id="2147485828" r:id="rId7"/>
    <p:sldLayoutId id="2147485829" r:id="rId8"/>
    <p:sldLayoutId id="2147485830" r:id="rId9"/>
    <p:sldLayoutId id="2147485831" r:id="rId10"/>
    <p:sldLayoutId id="2147485832" r:id="rId11"/>
    <p:sldLayoutId id="2147485833" r:id="rId12"/>
    <p:sldLayoutId id="2147485834" r:id="rId13"/>
    <p:sldLayoutId id="2147485835" r:id="rId14"/>
    <p:sldLayoutId id="2147485836" r:id="rId15"/>
    <p:sldLayoutId id="2147485837" r:id="rId16"/>
    <p:sldLayoutId id="2147485838" r:id="rId17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1800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27" name="Line 6"/>
          <p:cNvSpPr>
            <a:spLocks noChangeShapeType="1"/>
          </p:cNvSpPr>
          <p:nvPr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新細明體"/>
            </a:endParaRPr>
          </a:p>
        </p:txBody>
      </p:sp>
      <p:sp>
        <p:nvSpPr>
          <p:cNvPr id="1028" name="Line 7"/>
          <p:cNvSpPr>
            <a:spLocks noChangeShapeType="1"/>
          </p:cNvSpPr>
          <p:nvPr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新細明體"/>
            </a:endParaRPr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1" name="Text Box 11"/>
          <p:cNvSpPr txBox="1">
            <a:spLocks noChangeArrowheads="1"/>
          </p:cNvSpPr>
          <p:nvPr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352264" name="Text Box 8"/>
          <p:cNvSpPr txBox="1">
            <a:spLocks noChangeArrowheads="1"/>
          </p:cNvSpPr>
          <p:nvPr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E6902999-915F-4B63-B27E-CDD4815E23A6}" type="slidenum">
              <a:rPr lang="en-US" altLang="zh-TW" sz="1200" b="0">
                <a:solidFill>
                  <a:srgbClr val="000000"/>
                </a:solidFill>
                <a:latin typeface="Arial"/>
                <a:ea typeface="新細明體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/>
              <a:ea typeface="新細明體"/>
            </a:endParaRPr>
          </a:p>
        </p:txBody>
      </p:sp>
      <p:graphicFrame>
        <p:nvGraphicFramePr>
          <p:cNvPr id="1033" name="Object 9"/>
          <p:cNvGraphicFramePr>
            <a:graphicFrameLocks noChangeAspect="1"/>
          </p:cNvGraphicFramePr>
          <p:nvPr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7" name="Image" r:id="rId9" imgW="2547917" imgH="749492" progId="Photoshop.Image.7">
                  <p:embed/>
                </p:oleObj>
              </mc:Choice>
              <mc:Fallback>
                <p:oleObj name="Image" r:id="rId9" imgW="2547917" imgH="749492" progId="Photoshop.Image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>
                <a:solidFill>
                  <a:srgbClr val="808080"/>
                </a:solidFill>
                <a:latin typeface="標楷體" pitchFamily="65" charset="-120"/>
              </a:rPr>
              <a:t>誠信  承諾  創新  合作</a:t>
            </a:r>
          </a:p>
        </p:txBody>
      </p:sp>
    </p:spTree>
    <p:extLst>
      <p:ext uri="{BB962C8B-B14F-4D97-AF65-F5344CB8AC3E}">
        <p14:creationId xmlns:p14="http://schemas.microsoft.com/office/powerpoint/2010/main" val="4172490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40" r:id="rId1"/>
    <p:sldLayoutId id="2147485841" r:id="rId2"/>
    <p:sldLayoutId id="2147485842" r:id="rId3"/>
    <p:sldLayoutId id="2147485843" r:id="rId4"/>
    <p:sldLayoutId id="2147485844" r:id="rId5"/>
    <p:sldLayoutId id="2147485845" r:id="rId6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28" name="Line 7"/>
          <p:cNvSpPr>
            <a:spLocks noChangeShapeType="1"/>
          </p:cNvSpPr>
          <p:nvPr userDrawn="1"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1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416776" name="Text Box 8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2B5FBEF1-5908-43B3-AFF9-4F88F7E61186}" type="slidenum">
              <a:rPr lang="en-US" altLang="zh-TW" sz="1200" b="0">
                <a:solidFill>
                  <a:srgbClr val="000000"/>
                </a:solidFill>
                <a:latin typeface="Arial"/>
                <a:ea typeface="新細明體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/>
              <a:ea typeface="新細明體"/>
            </a:endParaRPr>
          </a:p>
        </p:txBody>
      </p:sp>
      <p:graphicFrame>
        <p:nvGraphicFramePr>
          <p:cNvPr id="1033" name="Object 9"/>
          <p:cNvGraphicFramePr>
            <a:graphicFrameLocks noChangeAspect="1"/>
          </p:cNvGraphicFramePr>
          <p:nvPr userDrawn="1"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5" name="Image" r:id="rId6" imgW="2547917" imgH="749492" progId="">
                  <p:embed/>
                </p:oleObj>
              </mc:Choice>
              <mc:Fallback>
                <p:oleObj name="Image" r:id="rId6" imgW="2547917" imgH="749492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 userDrawn="1"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>
                <a:solidFill>
                  <a:srgbClr val="808080"/>
                </a:solidFill>
                <a:latin typeface="標楷體" pitchFamily="65" charset="-120"/>
              </a:rPr>
              <a:t>誠信  承諾  創新  合作</a:t>
            </a:r>
          </a:p>
        </p:txBody>
      </p:sp>
      <p:sp>
        <p:nvSpPr>
          <p:cNvPr id="10" name="Line 6"/>
          <p:cNvSpPr>
            <a:spLocks noChangeShapeType="1"/>
          </p:cNvSpPr>
          <p:nvPr userDrawn="1"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98798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48" r:id="rId1"/>
    <p:sldLayoutId id="2147485849" r:id="rId2"/>
    <p:sldLayoutId id="2147485850" r:id="rId3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27" name="Line 6"/>
          <p:cNvSpPr>
            <a:spLocks noChangeShapeType="1"/>
          </p:cNvSpPr>
          <p:nvPr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  <a:latin typeface="Arial"/>
              <a:ea typeface="新細明體" panose="02020500000000000000" pitchFamily="18" charset="-120"/>
            </a:endParaRPr>
          </a:p>
        </p:txBody>
      </p:sp>
      <p:sp>
        <p:nvSpPr>
          <p:cNvPr id="1028" name="Line 7"/>
          <p:cNvSpPr>
            <a:spLocks noChangeShapeType="1"/>
          </p:cNvSpPr>
          <p:nvPr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  <a:latin typeface="Arial"/>
              <a:ea typeface="新細明體" panose="02020500000000000000" pitchFamily="18" charset="-120"/>
            </a:endParaRPr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" name="Text Box 11"/>
          <p:cNvSpPr txBox="1">
            <a:spLocks noChangeArrowheads="1"/>
          </p:cNvSpPr>
          <p:nvPr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416776" name="Text Box 8"/>
          <p:cNvSpPr txBox="1">
            <a:spLocks noChangeArrowheads="1"/>
          </p:cNvSpPr>
          <p:nvPr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F2BB0796-65FA-4C51-B79F-0D12303BEFD6}" type="slidenum">
              <a:rPr lang="en-US" altLang="zh-TW" sz="1200" b="0">
                <a:solidFill>
                  <a:srgbClr val="000000"/>
                </a:solidFill>
                <a:latin typeface="Arial"/>
                <a:ea typeface="新細明體" panose="02020500000000000000" pitchFamily="18" charset="-12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/>
              <a:ea typeface="新細明體" panose="02020500000000000000" pitchFamily="18" charset="-120"/>
            </a:endParaRPr>
          </a:p>
        </p:txBody>
      </p:sp>
      <p:graphicFrame>
        <p:nvGraphicFramePr>
          <p:cNvPr id="1033" name="Object 455"/>
          <p:cNvGraphicFramePr>
            <a:graphicFrameLocks noChangeAspect="1"/>
          </p:cNvGraphicFramePr>
          <p:nvPr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3" name="Image" r:id="rId23" imgW="2547917" imgH="749492" progId="">
                  <p:embed/>
                </p:oleObj>
              </mc:Choice>
              <mc:Fallback>
                <p:oleObj name="Image" r:id="rId23" imgW="2547917" imgH="749492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 dirty="0">
                <a:solidFill>
                  <a:srgbClr val="80808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誠信  承諾  創新  合作</a:t>
            </a:r>
          </a:p>
        </p:txBody>
      </p:sp>
    </p:spTree>
    <p:extLst>
      <p:ext uri="{BB962C8B-B14F-4D97-AF65-F5344CB8AC3E}">
        <p14:creationId xmlns:p14="http://schemas.microsoft.com/office/powerpoint/2010/main" val="2988424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52" r:id="rId1"/>
    <p:sldLayoutId id="2147485853" r:id="rId2"/>
    <p:sldLayoutId id="2147485854" r:id="rId3"/>
    <p:sldLayoutId id="2147485855" r:id="rId4"/>
    <p:sldLayoutId id="2147485856" r:id="rId5"/>
    <p:sldLayoutId id="2147485857" r:id="rId6"/>
    <p:sldLayoutId id="2147485858" r:id="rId7"/>
    <p:sldLayoutId id="2147485859" r:id="rId8"/>
    <p:sldLayoutId id="2147485860" r:id="rId9"/>
    <p:sldLayoutId id="2147485861" r:id="rId10"/>
    <p:sldLayoutId id="2147485862" r:id="rId11"/>
    <p:sldLayoutId id="2147485863" r:id="rId12"/>
    <p:sldLayoutId id="2147485864" r:id="rId13"/>
    <p:sldLayoutId id="2147485865" r:id="rId14"/>
    <p:sldLayoutId id="2147485866" r:id="rId15"/>
    <p:sldLayoutId id="2147485867" r:id="rId16"/>
    <p:sldLayoutId id="2147485868" r:id="rId17"/>
    <p:sldLayoutId id="2147485869" r:id="rId18"/>
    <p:sldLayoutId id="2147485870" r:id="rId19"/>
    <p:sldLayoutId id="2147485871" r:id="rId20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itchFamily="34" charset="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itchFamily="34" charset="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itchFamily="34" charset="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itchFamily="34" charset="0"/>
          <a:ea typeface="微軟正黑體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1400"/>
              <a:buFont typeface="Arial" pitchFamily="34" charset="0"/>
              <a:buChar char="•"/>
              <a:defRPr kumimoji="1" sz="13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18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1027" name="Line 7"/>
          <p:cNvSpPr>
            <a:spLocks noChangeShapeType="1"/>
          </p:cNvSpPr>
          <p:nvPr userDrawn="1"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300" b="0">
              <a:solidFill>
                <a:srgbClr val="000000"/>
              </a:solidFill>
              <a:latin typeface="Times New Roman" pitchFamily="18" charset="0"/>
              <a:ea typeface="DFKai-SB" pitchFamily="65" charset="-120"/>
              <a:cs typeface="Arial" pitchFamily="34" charset="0"/>
            </a:endParaRPr>
          </a:p>
        </p:txBody>
      </p:sp>
      <p:sp>
        <p:nvSpPr>
          <p:cNvPr id="1028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29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1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DFKai-SB" pitchFamily="65" charset="-120"/>
              <a:cs typeface="Arial" pitchFamily="34" charset="0"/>
            </a:endParaRPr>
          </a:p>
        </p:txBody>
      </p:sp>
      <p:sp>
        <p:nvSpPr>
          <p:cNvPr id="352264" name="Text Box 8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083470FF-33DF-46EE-A722-AC351481CC5C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graphicFrame>
        <p:nvGraphicFramePr>
          <p:cNvPr id="1032" name="Object 9"/>
          <p:cNvGraphicFramePr>
            <a:graphicFrameLocks noChangeAspect="1"/>
          </p:cNvGraphicFramePr>
          <p:nvPr userDrawn="1"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7" name="Image" r:id="rId10" imgW="2547917" imgH="749492" progId="Photoshop.Image.7">
                  <p:embed/>
                </p:oleObj>
              </mc:Choice>
              <mc:Fallback>
                <p:oleObj name="Image" r:id="rId10" imgW="2547917" imgH="749492" progId="Photoshop.Image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 userDrawn="1"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>
                <a:solidFill>
                  <a:srgbClr val="808080"/>
                </a:solidFill>
                <a:latin typeface="DFKai-SB" pitchFamily="65" charset="-120"/>
                <a:cs typeface="Arial" pitchFamily="34" charset="0"/>
              </a:rPr>
              <a:t>誠信  承諾  創新  合作</a:t>
            </a:r>
          </a:p>
        </p:txBody>
      </p:sp>
    </p:spTree>
    <p:extLst>
      <p:ext uri="{BB962C8B-B14F-4D97-AF65-F5344CB8AC3E}">
        <p14:creationId xmlns:p14="http://schemas.microsoft.com/office/powerpoint/2010/main" val="1056060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73" r:id="rId1"/>
    <p:sldLayoutId id="2147485874" r:id="rId2"/>
    <p:sldLayoutId id="2147485875" r:id="rId3"/>
    <p:sldLayoutId id="2147485876" r:id="rId4"/>
    <p:sldLayoutId id="2147485877" r:id="rId5"/>
    <p:sldLayoutId id="2147485878" r:id="rId6"/>
    <p:sldLayoutId id="2147485879" r:id="rId7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DFKai-SB" pitchFamily="65" charset="-12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DFKai-SB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DFKai-SB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DFKai-SB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DFKai-SB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27" name="Line 6"/>
          <p:cNvSpPr>
            <a:spLocks noChangeShapeType="1"/>
          </p:cNvSpPr>
          <p:nvPr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TW" altLang="en-US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28" name="Line 7"/>
          <p:cNvSpPr>
            <a:spLocks noChangeShapeType="1"/>
          </p:cNvSpPr>
          <p:nvPr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TW" altLang="en-US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31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7544" y="1124744"/>
            <a:ext cx="8208144" cy="4825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1032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67544" y="404664"/>
            <a:ext cx="8208144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2" name="Text Box 11"/>
          <p:cNvSpPr txBox="1">
            <a:spLocks noChangeArrowheads="1"/>
          </p:cNvSpPr>
          <p:nvPr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3" name="Object 471"/>
          <p:cNvGraphicFramePr>
            <a:graphicFrameLocks noChangeAspect="1"/>
          </p:cNvGraphicFramePr>
          <p:nvPr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7" name="Image" r:id="rId20" imgW="2547917" imgH="749492" progId="">
                  <p:embed/>
                </p:oleObj>
              </mc:Choice>
              <mc:Fallback>
                <p:oleObj name="Image" r:id="rId20" imgW="2547917" imgH="749492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微軟正黑體" pitchFamily="34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>
                <a:solidFill>
                  <a:srgbClr val="808080"/>
                </a:solidFill>
                <a:latin typeface="標楷體" pitchFamily="65" charset="-120"/>
                <a:ea typeface="標楷體" pitchFamily="65" charset="-120"/>
              </a:rPr>
              <a:t>誠信  承諾  創新  合作</a:t>
            </a:r>
            <a:endParaRPr lang="zh-TW" altLang="en-US" sz="1200" b="0" dirty="0">
              <a:solidFill>
                <a:srgbClr val="80808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52264" name="Text Box 8"/>
          <p:cNvSpPr txBox="1">
            <a:spLocks noChangeArrowheads="1"/>
          </p:cNvSpPr>
          <p:nvPr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AF13EAEB-A02A-4A31-A718-6EB199877577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 dirty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AD9AF69-F6AD-472A-BA36-BDA0AC20A997}"/>
              </a:ext>
            </a:extLst>
          </p:cNvPr>
          <p:cNvSpPr/>
          <p:nvPr userDrawn="1"/>
        </p:nvSpPr>
        <p:spPr>
          <a:xfrm>
            <a:off x="-630487" y="45617"/>
            <a:ext cx="540000" cy="540000"/>
          </a:xfrm>
          <a:prstGeom prst="rect">
            <a:avLst/>
          </a:prstGeom>
          <a:solidFill>
            <a:srgbClr val="AA1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0">
              <a:solidFill>
                <a:srgbClr val="FFFFFF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56901D-8913-42B3-AA3F-4C88FA713E4E}"/>
              </a:ext>
            </a:extLst>
          </p:cNvPr>
          <p:cNvSpPr/>
          <p:nvPr userDrawn="1"/>
        </p:nvSpPr>
        <p:spPr>
          <a:xfrm>
            <a:off x="-630487" y="783627"/>
            <a:ext cx="540000" cy="540000"/>
          </a:xfrm>
          <a:prstGeom prst="rect">
            <a:avLst/>
          </a:prstGeom>
          <a:solidFill>
            <a:srgbClr val="6D09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0">
              <a:solidFill>
                <a:srgbClr val="FFFFFF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27CD2B-967A-4624-BC2D-5E3512708F07}"/>
              </a:ext>
            </a:extLst>
          </p:cNvPr>
          <p:cNvSpPr/>
          <p:nvPr userDrawn="1"/>
        </p:nvSpPr>
        <p:spPr>
          <a:xfrm>
            <a:off x="-630487" y="1521637"/>
            <a:ext cx="540000" cy="540000"/>
          </a:xfrm>
          <a:prstGeom prst="rect">
            <a:avLst/>
          </a:prstGeom>
          <a:solidFill>
            <a:srgbClr val="EE77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0">
              <a:solidFill>
                <a:srgbClr val="FFFFFF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3FCCF9D-0217-47F2-9BAB-5B010555DB60}"/>
              </a:ext>
            </a:extLst>
          </p:cNvPr>
          <p:cNvSpPr/>
          <p:nvPr userDrawn="1"/>
        </p:nvSpPr>
        <p:spPr>
          <a:xfrm>
            <a:off x="-630487" y="2259647"/>
            <a:ext cx="540000" cy="540000"/>
          </a:xfrm>
          <a:prstGeom prst="rect">
            <a:avLst/>
          </a:prstGeom>
          <a:solidFill>
            <a:srgbClr val="F3A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0">
              <a:solidFill>
                <a:srgbClr val="FFFFFF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AFA52F5-BE24-42BA-95D0-69A5D46EF0AB}"/>
              </a:ext>
            </a:extLst>
          </p:cNvPr>
          <p:cNvSpPr/>
          <p:nvPr userDrawn="1"/>
        </p:nvSpPr>
        <p:spPr>
          <a:xfrm>
            <a:off x="-630487" y="2997657"/>
            <a:ext cx="540000" cy="540000"/>
          </a:xfrm>
          <a:prstGeom prst="rect">
            <a:avLst/>
          </a:prstGeom>
          <a:solidFill>
            <a:srgbClr val="B7AD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0">
              <a:solidFill>
                <a:srgbClr val="FFFFFF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FED319F-0BE7-45E1-8B1D-EA33ADD94A86}"/>
              </a:ext>
            </a:extLst>
          </p:cNvPr>
          <p:cNvSpPr/>
          <p:nvPr userDrawn="1"/>
        </p:nvSpPr>
        <p:spPr>
          <a:xfrm>
            <a:off x="-630487" y="3735667"/>
            <a:ext cx="540000" cy="54000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0">
              <a:solidFill>
                <a:srgbClr val="FFFFFF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201A5F7-F7B3-4E3F-BD25-CF4E8D4B6846}"/>
              </a:ext>
            </a:extLst>
          </p:cNvPr>
          <p:cNvSpPr/>
          <p:nvPr userDrawn="1"/>
        </p:nvSpPr>
        <p:spPr>
          <a:xfrm>
            <a:off x="-630487" y="4473677"/>
            <a:ext cx="540000" cy="540000"/>
          </a:xfrm>
          <a:prstGeom prst="rect">
            <a:avLst/>
          </a:prstGeom>
          <a:solidFill>
            <a:srgbClr val="E2EB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0">
              <a:solidFill>
                <a:srgbClr val="FFFFFF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4C3262-49EC-4D09-8676-80A273E0933E}"/>
              </a:ext>
            </a:extLst>
          </p:cNvPr>
          <p:cNvSpPr/>
          <p:nvPr userDrawn="1"/>
        </p:nvSpPr>
        <p:spPr>
          <a:xfrm>
            <a:off x="-630487" y="5211687"/>
            <a:ext cx="540000" cy="540000"/>
          </a:xfrm>
          <a:prstGeom prst="rect">
            <a:avLst/>
          </a:prstGeom>
          <a:solidFill>
            <a:srgbClr val="BEA9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0">
              <a:solidFill>
                <a:srgbClr val="FFFFFF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B4B8D3D-328F-4D7D-AEB5-C39483DFB772}"/>
              </a:ext>
            </a:extLst>
          </p:cNvPr>
          <p:cNvSpPr/>
          <p:nvPr userDrawn="1"/>
        </p:nvSpPr>
        <p:spPr>
          <a:xfrm>
            <a:off x="-630487" y="5949701"/>
            <a:ext cx="540000" cy="540000"/>
          </a:xfrm>
          <a:prstGeom prst="rect">
            <a:avLst/>
          </a:prstGeom>
          <a:solidFill>
            <a:srgbClr val="CAC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1478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81" r:id="rId1"/>
    <p:sldLayoutId id="2147485882" r:id="rId2"/>
    <p:sldLayoutId id="2147485883" r:id="rId3"/>
    <p:sldLayoutId id="2147485884" r:id="rId4"/>
    <p:sldLayoutId id="2147485885" r:id="rId5"/>
    <p:sldLayoutId id="2147485886" r:id="rId6"/>
    <p:sldLayoutId id="2147485887" r:id="rId7"/>
    <p:sldLayoutId id="2147485888" r:id="rId8"/>
    <p:sldLayoutId id="2147485889" r:id="rId9"/>
    <p:sldLayoutId id="2147485890" r:id="rId10"/>
    <p:sldLayoutId id="2147485891" r:id="rId11"/>
    <p:sldLayoutId id="2147485892" r:id="rId12"/>
    <p:sldLayoutId id="2147485893" r:id="rId13"/>
    <p:sldLayoutId id="2147485894" r:id="rId14"/>
    <p:sldLayoutId id="2147485895" r:id="rId15"/>
    <p:sldLayoutId id="2147485896" r:id="rId16"/>
    <p:sldLayoutId id="2147485897" r:id="rId17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微軟正黑體" pitchFamily="34" charset="-120"/>
          <a:ea typeface="微軟正黑體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微軟正黑體" pitchFamily="34" charset="-120"/>
          <a:ea typeface="微軟正黑體" pitchFamily="34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微軟正黑體" pitchFamily="34" charset="-120"/>
          <a:ea typeface="微軟正黑體" pitchFamily="34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28" name="Line 7"/>
          <p:cNvSpPr>
            <a:spLocks noChangeShapeType="1"/>
          </p:cNvSpPr>
          <p:nvPr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1" name="Text Box 11"/>
          <p:cNvSpPr txBox="1">
            <a:spLocks noChangeArrowheads="1"/>
          </p:cNvSpPr>
          <p:nvPr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416776" name="Text Box 8"/>
          <p:cNvSpPr txBox="1">
            <a:spLocks noChangeArrowheads="1"/>
          </p:cNvSpPr>
          <p:nvPr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2B5FBEF1-5908-43B3-AFF9-4F88F7E61186}" type="slidenum">
              <a:rPr lang="en-US" altLang="zh-TW" sz="1200" b="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  <a:latin typeface="Arial" pitchFamily="34" charset="0"/>
              <a:ea typeface="新細明體" pitchFamily="18" charset="-120"/>
            </a:endParaRPr>
          </a:p>
        </p:txBody>
      </p:sp>
      <p:graphicFrame>
        <p:nvGraphicFramePr>
          <p:cNvPr id="1033" name="Object 9"/>
          <p:cNvGraphicFramePr>
            <a:graphicFrameLocks noChangeAspect="1"/>
          </p:cNvGraphicFramePr>
          <p:nvPr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01" name="Image" r:id="rId7" imgW="2547917" imgH="749492" progId="">
                  <p:embed/>
                </p:oleObj>
              </mc:Choice>
              <mc:Fallback>
                <p:oleObj name="Image" r:id="rId7" imgW="2547917" imgH="749492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>
                <a:solidFill>
                  <a:srgbClr val="808080"/>
                </a:solidFill>
                <a:latin typeface="標楷體" pitchFamily="65" charset="-120"/>
              </a:rPr>
              <a:t>誠信  承諾  創新  合作</a:t>
            </a:r>
          </a:p>
        </p:txBody>
      </p:sp>
    </p:spTree>
    <p:extLst>
      <p:ext uri="{BB962C8B-B14F-4D97-AF65-F5344CB8AC3E}">
        <p14:creationId xmlns:p14="http://schemas.microsoft.com/office/powerpoint/2010/main" val="3798942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99" r:id="rId1"/>
    <p:sldLayoutId id="2147485900" r:id="rId2"/>
    <p:sldLayoutId id="2147485901" r:id="rId3"/>
    <p:sldLayoutId id="2147485902" r:id="rId4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 userDrawn="1"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28" name="Line 7"/>
          <p:cNvSpPr>
            <a:spLocks noChangeShapeType="1"/>
          </p:cNvSpPr>
          <p:nvPr userDrawn="1"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b="1">
              <a:solidFill>
                <a:srgbClr val="000000"/>
              </a:solidFill>
              <a:ea typeface="標楷體" pitchFamily="65" charset="-120"/>
            </a:endParaRPr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1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416776" name="Text Box 8"/>
          <p:cNvSpPr txBox="1">
            <a:spLocks noChangeArrowheads="1"/>
          </p:cNvSpPr>
          <p:nvPr userDrawn="1"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fld id="{2B5FBEF1-5908-43B3-AFF9-4F88F7E61186}" type="slidenum">
              <a:rPr kumimoji="1" lang="en-US" altLang="zh-TW" sz="1200">
                <a:solidFill>
                  <a:srgbClr val="000000"/>
                </a:solidFill>
              </a:rPr>
              <a:pPr algn="r"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 sz="1200">
              <a:solidFill>
                <a:srgbClr val="000000"/>
              </a:solidFill>
            </a:endParaRPr>
          </a:p>
        </p:txBody>
      </p:sp>
      <p:graphicFrame>
        <p:nvGraphicFramePr>
          <p:cNvPr id="1033" name="Object 9"/>
          <p:cNvGraphicFramePr>
            <a:graphicFrameLocks noChangeAspect="1"/>
          </p:cNvGraphicFramePr>
          <p:nvPr userDrawn="1"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49" name="Image" r:id="rId6" imgW="2547917" imgH="749492" progId="">
                  <p:embed/>
                </p:oleObj>
              </mc:Choice>
              <mc:Fallback>
                <p:oleObj name="Image" r:id="rId6" imgW="2547917" imgH="749492" progId="">
                  <p:embed/>
                  <p:pic>
                    <p:nvPicPr>
                      <p:cNvPr id="103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 userDrawn="1"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TW" altLang="en-US" sz="1200" b="0">
                <a:solidFill>
                  <a:srgbClr val="808080"/>
                </a:solidFill>
                <a:latin typeface="標楷體" pitchFamily="65" charset="-120"/>
              </a:rPr>
              <a:t>誠信  承諾  創新  合作</a:t>
            </a:r>
          </a:p>
        </p:txBody>
      </p:sp>
    </p:spTree>
    <p:extLst>
      <p:ext uri="{BB962C8B-B14F-4D97-AF65-F5344CB8AC3E}">
        <p14:creationId xmlns:p14="http://schemas.microsoft.com/office/powerpoint/2010/main" val="326122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914" r:id="rId1"/>
    <p:sldLayoutId id="2147485915" r:id="rId2"/>
    <p:sldLayoutId id="2147485916" r:id="rId3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28" name="Line 7"/>
          <p:cNvSpPr>
            <a:spLocks noChangeShapeType="1"/>
          </p:cNvSpPr>
          <p:nvPr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b="1">
              <a:solidFill>
                <a:srgbClr val="000000"/>
              </a:solidFill>
              <a:ea typeface="標楷體" pitchFamily="65" charset="-120"/>
            </a:endParaRPr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1" name="Text Box 11"/>
          <p:cNvSpPr txBox="1">
            <a:spLocks noChangeArrowheads="1"/>
          </p:cNvSpPr>
          <p:nvPr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416776" name="Text Box 8"/>
          <p:cNvSpPr txBox="1">
            <a:spLocks noChangeArrowheads="1"/>
          </p:cNvSpPr>
          <p:nvPr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fld id="{2B5FBEF1-5908-43B3-AFF9-4F88F7E61186}" type="slidenum">
              <a:rPr kumimoji="1" lang="en-US" altLang="zh-TW" sz="1200" b="0">
                <a:solidFill>
                  <a:srgbClr val="000000"/>
                </a:solidFill>
              </a:rPr>
              <a:pPr algn="r"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 sz="1200" b="0">
              <a:solidFill>
                <a:srgbClr val="000000"/>
              </a:solidFill>
            </a:endParaRPr>
          </a:p>
        </p:txBody>
      </p:sp>
      <p:graphicFrame>
        <p:nvGraphicFramePr>
          <p:cNvPr id="1033" name="Object 9"/>
          <p:cNvGraphicFramePr>
            <a:graphicFrameLocks noChangeAspect="1"/>
          </p:cNvGraphicFramePr>
          <p:nvPr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97" name="Image" r:id="rId7" imgW="2547917" imgH="749492" progId="">
                  <p:embed/>
                </p:oleObj>
              </mc:Choice>
              <mc:Fallback>
                <p:oleObj name="Image" r:id="rId7" imgW="2547917" imgH="749492" progId="">
                  <p:embed/>
                  <p:pic>
                    <p:nvPicPr>
                      <p:cNvPr id="103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TW" altLang="en-US" sz="1200" b="0">
                <a:solidFill>
                  <a:srgbClr val="808080"/>
                </a:solidFill>
                <a:latin typeface="標楷體" pitchFamily="65" charset="-120"/>
              </a:rPr>
              <a:t>誠信  承諾  創新  合作</a:t>
            </a:r>
          </a:p>
        </p:txBody>
      </p:sp>
    </p:spTree>
    <p:extLst>
      <p:ext uri="{BB962C8B-B14F-4D97-AF65-F5344CB8AC3E}">
        <p14:creationId xmlns:p14="http://schemas.microsoft.com/office/powerpoint/2010/main" val="3382049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918" r:id="rId1"/>
    <p:sldLayoutId id="2147485919" r:id="rId2"/>
    <p:sldLayoutId id="2147485920" r:id="rId3"/>
    <p:sldLayoutId id="2147485921" r:id="rId4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 userDrawn="1"/>
        </p:nvSpPr>
        <p:spPr bwMode="auto">
          <a:xfrm>
            <a:off x="2319339" y="1868488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zh-TW" sz="1800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28" name="Line 7"/>
          <p:cNvSpPr>
            <a:spLocks noChangeShapeType="1"/>
          </p:cNvSpPr>
          <p:nvPr userDrawn="1"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 sz="1800" b="1">
              <a:solidFill>
                <a:srgbClr val="000000"/>
              </a:solidFill>
              <a:ea typeface="標楷體" pitchFamily="65" charset="-120"/>
            </a:endParaRPr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1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1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1" name="Text Box 11"/>
          <p:cNvSpPr txBox="1">
            <a:spLocks noChangeArrowheads="1"/>
          </p:cNvSpPr>
          <p:nvPr userDrawn="1"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416776" name="Text Box 8"/>
          <p:cNvSpPr txBox="1">
            <a:spLocks noChangeArrowheads="1"/>
          </p:cNvSpPr>
          <p:nvPr userDrawn="1"/>
        </p:nvSpPr>
        <p:spPr bwMode="auto">
          <a:xfrm>
            <a:off x="8172451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fld id="{2B5FBEF1-5908-43B3-AFF9-4F88F7E61186}" type="slidenum">
              <a:rPr kumimoji="1" lang="en-US" altLang="zh-TW" sz="1200">
                <a:solidFill>
                  <a:srgbClr val="000000"/>
                </a:solidFill>
              </a:rPr>
              <a:pPr algn="r"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 sz="1200">
              <a:solidFill>
                <a:srgbClr val="000000"/>
              </a:solidFill>
            </a:endParaRPr>
          </a:p>
        </p:txBody>
      </p:sp>
      <p:graphicFrame>
        <p:nvGraphicFramePr>
          <p:cNvPr id="1033" name="Object 9"/>
          <p:cNvGraphicFramePr>
            <a:graphicFrameLocks noChangeAspect="1"/>
          </p:cNvGraphicFramePr>
          <p:nvPr userDrawn="1"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5" name="Image" r:id="rId8" imgW="2547917" imgH="749492" progId="">
                  <p:embed/>
                </p:oleObj>
              </mc:Choice>
              <mc:Fallback>
                <p:oleObj name="Image" r:id="rId8" imgW="2547917" imgH="749492" progId="">
                  <p:embed/>
                  <p:pic>
                    <p:nvPicPr>
                      <p:cNvPr id="103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 userDrawn="1"/>
        </p:nvSpPr>
        <p:spPr bwMode="auto">
          <a:xfrm>
            <a:off x="250826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TW" altLang="en-US" sz="1200" b="0">
                <a:solidFill>
                  <a:srgbClr val="808080"/>
                </a:solidFill>
                <a:latin typeface="標楷體" pitchFamily="65" charset="-120"/>
              </a:rPr>
              <a:t>誠信  承諾  創新  合作</a:t>
            </a:r>
          </a:p>
        </p:txBody>
      </p:sp>
    </p:spTree>
    <p:extLst>
      <p:ext uri="{BB962C8B-B14F-4D97-AF65-F5344CB8AC3E}">
        <p14:creationId xmlns:p14="http://schemas.microsoft.com/office/powerpoint/2010/main" val="3526256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923" r:id="rId1"/>
    <p:sldLayoutId id="2147485924" r:id="rId2"/>
    <p:sldLayoutId id="2147485925" r:id="rId3"/>
    <p:sldLayoutId id="2147485926" r:id="rId4"/>
    <p:sldLayoutId id="2147485927" r:id="rId5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/>
        </p:nvSpPr>
        <p:spPr bwMode="auto">
          <a:xfrm>
            <a:off x="2319338" y="18684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27" name="Line 6"/>
          <p:cNvSpPr>
            <a:spLocks noChangeShapeType="1"/>
          </p:cNvSpPr>
          <p:nvPr/>
        </p:nvSpPr>
        <p:spPr bwMode="auto">
          <a:xfrm>
            <a:off x="468313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  <a:ea typeface="標楷體" pitchFamily="65" charset="-120"/>
            </a:endParaRPr>
          </a:p>
        </p:txBody>
      </p:sp>
      <p:sp>
        <p:nvSpPr>
          <p:cNvPr id="1028" name="Line 7"/>
          <p:cNvSpPr>
            <a:spLocks noChangeShapeType="1"/>
          </p:cNvSpPr>
          <p:nvPr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TW" altLang="en-US">
              <a:solidFill>
                <a:srgbClr val="000000"/>
              </a:solidFill>
              <a:ea typeface="標楷體" pitchFamily="65" charset="-120"/>
            </a:endParaRPr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1" name="Text Box 11"/>
          <p:cNvSpPr txBox="1">
            <a:spLocks noChangeArrowheads="1"/>
          </p:cNvSpPr>
          <p:nvPr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zh-TW" altLang="zh-TW" sz="120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416776" name="Text Box 8"/>
          <p:cNvSpPr txBox="1">
            <a:spLocks noChangeArrowheads="1"/>
          </p:cNvSpPr>
          <p:nvPr/>
        </p:nvSpPr>
        <p:spPr bwMode="auto">
          <a:xfrm>
            <a:off x="8172450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fld id="{597D4441-0FF2-4368-A3FE-88BA5E4FE669}" type="slidenum">
              <a:rPr kumimoji="1" lang="en-US" altLang="zh-TW" sz="1200">
                <a:solidFill>
                  <a:srgbClr val="000000"/>
                </a:solidFill>
              </a:rPr>
              <a:pPr algn="r"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 sz="1200">
              <a:solidFill>
                <a:srgbClr val="000000"/>
              </a:solidFill>
            </a:endParaRPr>
          </a:p>
        </p:txBody>
      </p:sp>
      <p:graphicFrame>
        <p:nvGraphicFramePr>
          <p:cNvPr id="1033" name="Object 9"/>
          <p:cNvGraphicFramePr>
            <a:graphicFrameLocks noChangeAspect="1"/>
          </p:cNvGraphicFramePr>
          <p:nvPr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93" name="Image" r:id="rId17" imgW="2547917" imgH="749492" progId="Photoshop.Image.7">
                  <p:embed/>
                </p:oleObj>
              </mc:Choice>
              <mc:Fallback>
                <p:oleObj name="Image" r:id="rId17" imgW="2547917" imgH="749492" progId="Photoshop.Image.7">
                  <p:embed/>
                  <p:pic>
                    <p:nvPicPr>
                      <p:cNvPr id="103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250825" y="6394450"/>
            <a:ext cx="187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TW" altLang="en-US" sz="1200" b="0" dirty="0">
                <a:solidFill>
                  <a:srgbClr val="808080"/>
                </a:solidFill>
                <a:latin typeface="標楷體" pitchFamily="65" charset="-120"/>
              </a:rPr>
              <a:t>誠信  承諾  創新  合作</a:t>
            </a:r>
          </a:p>
        </p:txBody>
      </p:sp>
    </p:spTree>
    <p:extLst>
      <p:ext uri="{BB962C8B-B14F-4D97-AF65-F5344CB8AC3E}">
        <p14:creationId xmlns:p14="http://schemas.microsoft.com/office/powerpoint/2010/main" val="1942514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929" r:id="rId1"/>
    <p:sldLayoutId id="2147485930" r:id="rId2"/>
    <p:sldLayoutId id="2147485931" r:id="rId3"/>
    <p:sldLayoutId id="2147485932" r:id="rId4"/>
    <p:sldLayoutId id="2147485933" r:id="rId5"/>
    <p:sldLayoutId id="2147485934" r:id="rId6"/>
    <p:sldLayoutId id="2147485935" r:id="rId7"/>
    <p:sldLayoutId id="2147485936" r:id="rId8"/>
    <p:sldLayoutId id="2147485937" r:id="rId9"/>
    <p:sldLayoutId id="2147485938" r:id="rId10"/>
    <p:sldLayoutId id="2147485939" r:id="rId11"/>
    <p:sldLayoutId id="2147485940" r:id="rId12"/>
    <p:sldLayoutId id="2147485941" r:id="rId13"/>
    <p:sldLayoutId id="2147485942" r:id="rId14"/>
  </p:sldLayoutIdLst>
  <p:transition>
    <p:split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3"/>
          <p:cNvSpPr txBox="1">
            <a:spLocks noChangeArrowheads="1"/>
          </p:cNvSpPr>
          <p:nvPr/>
        </p:nvSpPr>
        <p:spPr bwMode="auto">
          <a:xfrm>
            <a:off x="2319340" y="186848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b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27" name="Line 6"/>
          <p:cNvSpPr>
            <a:spLocks noChangeShapeType="1"/>
          </p:cNvSpPr>
          <p:nvPr/>
        </p:nvSpPr>
        <p:spPr bwMode="auto">
          <a:xfrm>
            <a:off x="468315" y="1052513"/>
            <a:ext cx="8207375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1028" name="Line 7"/>
          <p:cNvSpPr>
            <a:spLocks noChangeShapeType="1"/>
          </p:cNvSpPr>
          <p:nvPr/>
        </p:nvSpPr>
        <p:spPr bwMode="auto">
          <a:xfrm>
            <a:off x="2124075" y="6524625"/>
            <a:ext cx="5689600" cy="0"/>
          </a:xfrm>
          <a:prstGeom prst="line">
            <a:avLst/>
          </a:prstGeom>
          <a:noFill/>
          <a:ln w="28575">
            <a:solidFill>
              <a:srgbClr val="A682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2" y="1196975"/>
            <a:ext cx="7993063" cy="474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1" y="274638"/>
            <a:ext cx="6491288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" name="Text Box 11"/>
          <p:cNvSpPr txBox="1">
            <a:spLocks noChangeArrowheads="1"/>
          </p:cNvSpPr>
          <p:nvPr/>
        </p:nvSpPr>
        <p:spPr bwMode="auto">
          <a:xfrm>
            <a:off x="7848600" y="692150"/>
            <a:ext cx="12954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z="1200" b="0">
              <a:solidFill>
                <a:srgbClr val="000000"/>
              </a:solidFill>
              <a:latin typeface="標楷體" pitchFamily="65" charset="-120"/>
            </a:endParaRPr>
          </a:p>
        </p:txBody>
      </p:sp>
      <p:sp>
        <p:nvSpPr>
          <p:cNvPr id="416776" name="Text Box 8"/>
          <p:cNvSpPr txBox="1">
            <a:spLocks noChangeArrowheads="1"/>
          </p:cNvSpPr>
          <p:nvPr/>
        </p:nvSpPr>
        <p:spPr bwMode="auto">
          <a:xfrm>
            <a:off x="8172452" y="6524625"/>
            <a:ext cx="900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defRPr/>
            </a:pPr>
            <a:fld id="{F2BB0796-65FA-4C51-B79F-0D12303BEFD6}" type="slidenum">
              <a:rPr lang="en-US" altLang="zh-TW" sz="1200" b="0">
                <a:solidFill>
                  <a:srgbClr val="000000"/>
                </a:solidFill>
              </a:rPr>
              <a:pPr algn="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zh-TW" sz="1200" b="0">
              <a:solidFill>
                <a:srgbClr val="000000"/>
              </a:solidFill>
            </a:endParaRPr>
          </a:p>
        </p:txBody>
      </p:sp>
      <p:graphicFrame>
        <p:nvGraphicFramePr>
          <p:cNvPr id="1033" name="Object 455"/>
          <p:cNvGraphicFramePr>
            <a:graphicFrameLocks noChangeAspect="1"/>
          </p:cNvGraphicFramePr>
          <p:nvPr/>
        </p:nvGraphicFramePr>
        <p:xfrm>
          <a:off x="7885113" y="6286500"/>
          <a:ext cx="10588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17" name="Image" r:id="rId20" imgW="2547917" imgH="749492" progId="">
                  <p:embed/>
                </p:oleObj>
              </mc:Choice>
              <mc:Fallback>
                <p:oleObj name="Image" r:id="rId20" imgW="2547917" imgH="749492" progId="">
                  <p:embed/>
                  <p:pic>
                    <p:nvPicPr>
                      <p:cNvPr id="1033" name="Object 4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6286500"/>
                        <a:ext cx="10588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250827" y="6394450"/>
            <a:ext cx="1871663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1200" b="0" dirty="0">
                <a:solidFill>
                  <a:srgbClr val="80808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誠信  承諾  創新  合作</a:t>
            </a:r>
          </a:p>
        </p:txBody>
      </p:sp>
    </p:spTree>
    <p:extLst>
      <p:ext uri="{BB962C8B-B14F-4D97-AF65-F5344CB8AC3E}">
        <p14:creationId xmlns:p14="http://schemas.microsoft.com/office/powerpoint/2010/main" val="2064275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945" r:id="rId1"/>
    <p:sldLayoutId id="2147485946" r:id="rId2"/>
    <p:sldLayoutId id="2147485947" r:id="rId3"/>
    <p:sldLayoutId id="2147485948" r:id="rId4"/>
    <p:sldLayoutId id="2147485949" r:id="rId5"/>
    <p:sldLayoutId id="2147485950" r:id="rId6"/>
    <p:sldLayoutId id="2147485951" r:id="rId7"/>
    <p:sldLayoutId id="2147485952" r:id="rId8"/>
    <p:sldLayoutId id="2147485953" r:id="rId9"/>
    <p:sldLayoutId id="2147485954" r:id="rId10"/>
    <p:sldLayoutId id="2147485955" r:id="rId11"/>
    <p:sldLayoutId id="2147485956" r:id="rId12"/>
    <p:sldLayoutId id="2147485957" r:id="rId13"/>
    <p:sldLayoutId id="2147485958" r:id="rId14"/>
    <p:sldLayoutId id="2147485959" r:id="rId15"/>
    <p:sldLayoutId id="2147485960" r:id="rId16"/>
    <p:sldLayoutId id="2147485961" r:id="rId17"/>
  </p:sldLayoutIdLst>
  <p:transition>
    <p:split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itchFamily="34" charset="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itchFamily="34" charset="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itchFamily="34" charset="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itchFamily="34" charset="0"/>
          <a:ea typeface="微軟正黑體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1.xml"/><Relationship Id="rId4" Type="http://schemas.openxmlformats.org/officeDocument/2006/relationships/image" Target="../media/image10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3" Type="http://schemas.openxmlformats.org/officeDocument/2006/relationships/image" Target="../media/image31.png"/><Relationship Id="rId21" Type="http://schemas.openxmlformats.org/officeDocument/2006/relationships/image" Target="../media/image48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gif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44.jpe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jpe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19" Type="http://schemas.microsoft.com/office/2007/relationships/hdphoto" Target="../media/hdphoto1.wdp"/><Relationship Id="rId4" Type="http://schemas.openxmlformats.org/officeDocument/2006/relationships/image" Target="../media/image32.png"/><Relationship Id="rId9" Type="http://schemas.openxmlformats.org/officeDocument/2006/relationships/image" Target="../media/image37.jpeg"/><Relationship Id="rId14" Type="http://schemas.openxmlformats.org/officeDocument/2006/relationships/image" Target="../media/image42.jpe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49.png"/><Relationship Id="rId7" Type="http://schemas.openxmlformats.org/officeDocument/2006/relationships/image" Target="../media/image51.png"/><Relationship Id="rId12" Type="http://schemas.openxmlformats.org/officeDocument/2006/relationships/image" Target="../media/image59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svg"/><Relationship Id="rId11" Type="http://schemas.openxmlformats.org/officeDocument/2006/relationships/image" Target="../media/image53.png"/><Relationship Id="rId5" Type="http://schemas.openxmlformats.org/officeDocument/2006/relationships/image" Target="../media/image50.png"/><Relationship Id="rId10" Type="http://schemas.openxmlformats.org/officeDocument/2006/relationships/image" Target="../media/image57.svg"/><Relationship Id="rId4" Type="http://schemas.openxmlformats.org/officeDocument/2006/relationships/image" Target="../media/image51.svg"/><Relationship Id="rId9" Type="http://schemas.openxmlformats.org/officeDocument/2006/relationships/image" Target="../media/image5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標題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矩形 3"/>
          <p:cNvSpPr/>
          <p:nvPr/>
        </p:nvSpPr>
        <p:spPr bwMode="auto">
          <a:xfrm>
            <a:off x="-108520" y="3933056"/>
            <a:ext cx="9361040" cy="309634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itchFamily="65" charset="-120"/>
              <a:cs typeface="+mn-cs"/>
            </a:endParaRPr>
          </a:p>
        </p:txBody>
      </p:sp>
      <p:sp>
        <p:nvSpPr>
          <p:cNvPr id="5" name="矩形 4"/>
          <p:cNvSpPr/>
          <p:nvPr/>
        </p:nvSpPr>
        <p:spPr bwMode="auto">
          <a:xfrm rot="2043878">
            <a:off x="-1337513" y="945986"/>
            <a:ext cx="4042162" cy="1478077"/>
          </a:xfrm>
          <a:prstGeom prst="rect">
            <a:avLst/>
          </a:prstGeom>
          <a:gradFill flip="none" rotWithShape="1">
            <a:gsLst>
              <a:gs pos="0">
                <a:srgbClr val="EDEEEE"/>
              </a:gs>
              <a:gs pos="50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itchFamily="65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2843808" y="2348880"/>
            <a:ext cx="6336704" cy="1656184"/>
          </a:xfrm>
          <a:prstGeom prst="rect">
            <a:avLst/>
          </a:prstGeom>
          <a:solidFill>
            <a:srgbClr val="C434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 sz="2800" b="1" dirty="0">
              <a:solidFill>
                <a:schemeClr val="bg1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2843808" y="3969104"/>
            <a:ext cx="6408712" cy="396000"/>
          </a:xfrm>
          <a:prstGeom prst="rect">
            <a:avLst/>
          </a:prstGeom>
          <a:solidFill>
            <a:srgbClr val="B8B9B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itchFamily="65" charset="-120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94ECCC2-9449-455B-899A-30E139A59520}"/>
              </a:ext>
            </a:extLst>
          </p:cNvPr>
          <p:cNvSpPr/>
          <p:nvPr/>
        </p:nvSpPr>
        <p:spPr>
          <a:xfrm>
            <a:off x="7740352" y="4725144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" panose="020B0604020202020204" pitchFamily="34" charset="0"/>
              <a:ea typeface="標楷體" pitchFamily="65" charset="-120"/>
              <a:cs typeface="Helvetica" panose="020B0604020202020204" pitchFamily="34" charset="0"/>
            </a:endParaRPr>
          </a:p>
        </p:txBody>
      </p:sp>
      <p:pic>
        <p:nvPicPr>
          <p:cNvPr id="9" name="Picture 4" descr="ç¸éåç">
            <a:extLst>
              <a:ext uri="{FF2B5EF4-FFF2-40B4-BE49-F238E27FC236}">
                <a16:creationId xmlns:a16="http://schemas.microsoft.com/office/drawing/2014/main" id="{BBE30ECC-B50E-4348-876F-E5B2EBDB9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276872"/>
            <a:ext cx="929104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群組 9"/>
          <p:cNvGrpSpPr/>
          <p:nvPr/>
        </p:nvGrpSpPr>
        <p:grpSpPr>
          <a:xfrm>
            <a:off x="-108520" y="2132856"/>
            <a:ext cx="2987824" cy="3960440"/>
            <a:chOff x="827584" y="-34032"/>
            <a:chExt cx="7293052" cy="10049072"/>
          </a:xfrm>
        </p:grpSpPr>
        <p:pic>
          <p:nvPicPr>
            <p:cNvPr id="11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-34032"/>
              <a:ext cx="7293052" cy="100490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矩形 11"/>
            <p:cNvSpPr/>
            <p:nvPr/>
          </p:nvSpPr>
          <p:spPr bwMode="auto">
            <a:xfrm>
              <a:off x="5206652" y="7640780"/>
              <a:ext cx="2284304" cy="1312976"/>
            </a:xfrm>
            <a:prstGeom prst="rect">
              <a:avLst/>
            </a:prstGeom>
            <a:solidFill>
              <a:srgbClr val="EFEFE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endParaRPr>
            </a:p>
          </p:txBody>
        </p:sp>
        <p:sp>
          <p:nvSpPr>
            <p:cNvPr id="13" name="矩形 12"/>
            <p:cNvSpPr/>
            <p:nvPr/>
          </p:nvSpPr>
          <p:spPr bwMode="auto">
            <a:xfrm>
              <a:off x="4342555" y="8216845"/>
              <a:ext cx="3218792" cy="1364307"/>
            </a:xfrm>
            <a:prstGeom prst="rect">
              <a:avLst/>
            </a:prstGeom>
            <a:solidFill>
              <a:srgbClr val="EFEFE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4" name="等腰三角形 13"/>
          <p:cNvSpPr/>
          <p:nvPr/>
        </p:nvSpPr>
        <p:spPr bwMode="auto">
          <a:xfrm rot="5400000">
            <a:off x="2699792" y="3861048"/>
            <a:ext cx="216024" cy="216024"/>
          </a:xfrm>
          <a:prstGeom prst="triangle">
            <a:avLst/>
          </a:prstGeom>
          <a:solidFill>
            <a:srgbClr val="EDEEE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itchFamily="65" charset="-120"/>
              <a:cs typeface="+mn-cs"/>
            </a:endParaRPr>
          </a:p>
        </p:txBody>
      </p:sp>
      <p:sp>
        <p:nvSpPr>
          <p:cNvPr id="15" name="直角三角形 14"/>
          <p:cNvSpPr/>
          <p:nvPr/>
        </p:nvSpPr>
        <p:spPr bwMode="auto">
          <a:xfrm rot="16200000">
            <a:off x="539552" y="3717032"/>
            <a:ext cx="1728192" cy="3024336"/>
          </a:xfrm>
          <a:prstGeom prst="rtTriangl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itchFamily="65" charset="-120"/>
              <a:cs typeface="+mn-cs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524328" y="4005064"/>
            <a:ext cx="1040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2026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年</a:t>
            </a:r>
            <a:r>
              <a:rPr lang="en-US" altLang="zh-TW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9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rPr>
              <a:t>月</a:t>
            </a:r>
          </a:p>
        </p:txBody>
      </p:sp>
      <p:sp>
        <p:nvSpPr>
          <p:cNvPr id="17" name="矩形 16"/>
          <p:cNvSpPr/>
          <p:nvPr/>
        </p:nvSpPr>
        <p:spPr bwMode="auto">
          <a:xfrm>
            <a:off x="2876466" y="2132856"/>
            <a:ext cx="6300192" cy="216024"/>
          </a:xfrm>
          <a:prstGeom prst="rect">
            <a:avLst/>
          </a:prstGeom>
          <a:solidFill>
            <a:srgbClr val="EDEEE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itchFamily="65" charset="-120"/>
              <a:cs typeface="+mn-cs"/>
            </a:endParaRPr>
          </a:p>
        </p:txBody>
      </p:sp>
      <p:sp>
        <p:nvSpPr>
          <p:cNvPr id="18" name="直角三角形 17"/>
          <p:cNvSpPr/>
          <p:nvPr/>
        </p:nvSpPr>
        <p:spPr bwMode="auto">
          <a:xfrm flipH="1">
            <a:off x="-180528" y="4365104"/>
            <a:ext cx="3096344" cy="1728192"/>
          </a:xfrm>
          <a:prstGeom prst="rtTriangle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itchFamily="65" charset="-120"/>
              <a:cs typeface="+mn-cs"/>
            </a:endParaRPr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6309320"/>
            <a:ext cx="1008112" cy="31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02DEB817-6841-42B4-9DA4-C5535DFE8A7F}"/>
              </a:ext>
            </a:extLst>
          </p:cNvPr>
          <p:cNvSpPr/>
          <p:nvPr/>
        </p:nvSpPr>
        <p:spPr>
          <a:xfrm>
            <a:off x="3107142" y="2574592"/>
            <a:ext cx="631511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從新創到上市公司：</a:t>
            </a:r>
            <a:endParaRPr lang="en-US" altLang="zh-TW" sz="3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資本市場的關鍵決策與估值密碼</a:t>
            </a:r>
          </a:p>
        </p:txBody>
      </p:sp>
    </p:spTree>
    <p:extLst>
      <p:ext uri="{BB962C8B-B14F-4D97-AF65-F5344CB8AC3E}">
        <p14:creationId xmlns:p14="http://schemas.microsoft.com/office/powerpoint/2010/main" val="3184106318"/>
      </p:ext>
    </p:extLst>
  </p:cSld>
  <p:clrMapOvr>
    <a:masterClrMapping/>
  </p:clrMapOvr>
  <p:transition>
    <p:spli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" descr="ç¸éåç">
            <a:extLst>
              <a:ext uri="{FF2B5EF4-FFF2-40B4-BE49-F238E27FC236}">
                <a16:creationId xmlns:a16="http://schemas.microsoft.com/office/drawing/2014/main" id="{E6739A05-B5A0-46DD-AB74-E7328D624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0423" y="2644781"/>
            <a:ext cx="791610" cy="736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橢圓 42">
            <a:extLst>
              <a:ext uri="{FF2B5EF4-FFF2-40B4-BE49-F238E27FC236}">
                <a16:creationId xmlns:a16="http://schemas.microsoft.com/office/drawing/2014/main" id="{FCD63A08-C48F-4B1A-B6F1-26F5C69BEEB7}"/>
              </a:ext>
            </a:extLst>
          </p:cNvPr>
          <p:cNvSpPr/>
          <p:nvPr/>
        </p:nvSpPr>
        <p:spPr bwMode="auto">
          <a:xfrm>
            <a:off x="7083115" y="2264043"/>
            <a:ext cx="1457945" cy="1432926"/>
          </a:xfrm>
          <a:prstGeom prst="ellipse">
            <a:avLst/>
          </a:prstGeom>
          <a:noFill/>
          <a:ln w="571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80DE5FB7-A908-47B2-96EC-189123C6B62F}"/>
              </a:ext>
            </a:extLst>
          </p:cNvPr>
          <p:cNvSpPr txBox="1"/>
          <p:nvPr/>
        </p:nvSpPr>
        <p:spPr>
          <a:xfrm>
            <a:off x="7019999" y="3927801"/>
            <a:ext cx="15841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資本市場</a:t>
            </a:r>
            <a:endParaRPr lang="en-US" altLang="zh-TW" sz="16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endParaRPr lang="en-US" altLang="zh-TW" sz="16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智慧好伙伴</a:t>
            </a:r>
          </a:p>
        </p:txBody>
      </p:sp>
      <p:sp>
        <p:nvSpPr>
          <p:cNvPr id="27" name="Rectangle 2"/>
          <p:cNvSpPr txBox="1">
            <a:spLocks noChangeArrowheads="1"/>
          </p:cNvSpPr>
          <p:nvPr/>
        </p:nvSpPr>
        <p:spPr bwMode="auto">
          <a:xfrm>
            <a:off x="455376" y="395914"/>
            <a:ext cx="7312025" cy="6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algn="ctr" eaLnBrk="1" hangingPunct="1">
              <a:defRPr/>
            </a:pP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簡報大綱</a:t>
            </a:r>
          </a:p>
        </p:txBody>
      </p:sp>
      <p:grpSp>
        <p:nvGrpSpPr>
          <p:cNvPr id="6" name="群組 5"/>
          <p:cNvGrpSpPr/>
          <p:nvPr/>
        </p:nvGrpSpPr>
        <p:grpSpPr>
          <a:xfrm>
            <a:off x="493016" y="1484784"/>
            <a:ext cx="5941888" cy="4156175"/>
            <a:chOff x="493016" y="1484784"/>
            <a:chExt cx="5941888" cy="4156175"/>
          </a:xfrm>
        </p:grpSpPr>
        <p:sp>
          <p:nvSpPr>
            <p:cNvPr id="52" name="平行四邊形 51">
              <a:extLst>
                <a:ext uri="{FF2B5EF4-FFF2-40B4-BE49-F238E27FC236}">
                  <a16:creationId xmlns:a16="http://schemas.microsoft.com/office/drawing/2014/main" id="{7B903FFF-5BB1-41EA-A52E-598AB490339E}"/>
                </a:ext>
              </a:extLst>
            </p:cNvPr>
            <p:cNvSpPr/>
            <p:nvPr/>
          </p:nvSpPr>
          <p:spPr>
            <a:xfrm>
              <a:off x="499470" y="2564904"/>
              <a:ext cx="5320533" cy="761510"/>
            </a:xfrm>
            <a:prstGeom prst="parallelogram">
              <a:avLst>
                <a:gd name="adj" fmla="val 36436"/>
              </a:avLst>
            </a:prstGeom>
            <a:solidFill>
              <a:srgbClr val="A40000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1" name="平行四邊形 50">
              <a:extLst>
                <a:ext uri="{FF2B5EF4-FFF2-40B4-BE49-F238E27FC236}">
                  <a16:creationId xmlns:a16="http://schemas.microsoft.com/office/drawing/2014/main" id="{5126069E-3C05-434A-992E-A7883835D778}"/>
                </a:ext>
              </a:extLst>
            </p:cNvPr>
            <p:cNvSpPr/>
            <p:nvPr/>
          </p:nvSpPr>
          <p:spPr>
            <a:xfrm>
              <a:off x="499074" y="1484784"/>
              <a:ext cx="5320533" cy="761510"/>
            </a:xfrm>
            <a:prstGeom prst="parallelogram">
              <a:avLst>
                <a:gd name="adj" fmla="val 36436"/>
              </a:avLst>
            </a:prstGeom>
            <a:solidFill>
              <a:srgbClr val="A40000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39" name="Shape 141">
              <a:extLst>
                <a:ext uri="{FF2B5EF4-FFF2-40B4-BE49-F238E27FC236}">
                  <a16:creationId xmlns:a16="http://schemas.microsoft.com/office/drawing/2014/main" id="{75919BC7-7330-4D3A-A396-1763D8ABE47C}"/>
                </a:ext>
              </a:extLst>
            </p:cNvPr>
            <p:cNvGrpSpPr/>
            <p:nvPr/>
          </p:nvGrpSpPr>
          <p:grpSpPr>
            <a:xfrm>
              <a:off x="1202070" y="1684837"/>
              <a:ext cx="5055240" cy="660233"/>
              <a:chOff x="4572000" y="1743934"/>
              <a:chExt cx="4428492" cy="461614"/>
            </a:xfrm>
          </p:grpSpPr>
          <p:sp>
            <p:nvSpPr>
              <p:cNvPr id="40" name="Shape 142">
                <a:extLst>
                  <a:ext uri="{FF2B5EF4-FFF2-40B4-BE49-F238E27FC236}">
                    <a16:creationId xmlns:a16="http://schemas.microsoft.com/office/drawing/2014/main" id="{A58E2294-6971-4DB5-87F7-5C73E2A3E8CA}"/>
                  </a:ext>
                </a:extLst>
              </p:cNvPr>
              <p:cNvSpPr/>
              <p:nvPr/>
            </p:nvSpPr>
            <p:spPr>
              <a:xfrm>
                <a:off x="4788024" y="1743934"/>
                <a:ext cx="4212468" cy="46161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</p:txBody>
          </p:sp>
          <p:sp>
            <p:nvSpPr>
              <p:cNvPr id="41" name="Shape 143">
                <a:extLst>
                  <a:ext uri="{FF2B5EF4-FFF2-40B4-BE49-F238E27FC236}">
                    <a16:creationId xmlns:a16="http://schemas.microsoft.com/office/drawing/2014/main" id="{61B2284C-E416-4012-A3AA-671C371C383C}"/>
                  </a:ext>
                </a:extLst>
              </p:cNvPr>
              <p:cNvSpPr/>
              <p:nvPr/>
            </p:nvSpPr>
            <p:spPr>
              <a:xfrm rot="16200000">
                <a:off x="4449219" y="1866717"/>
                <a:ext cx="461562" cy="216000"/>
              </a:xfrm>
              <a:prstGeom prst="triangle">
                <a:avLst>
                  <a:gd name="adj" fmla="val 0"/>
                </a:avLst>
              </a:prstGeom>
              <a:solidFill>
                <a:srgbClr val="DDDDD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</p:txBody>
          </p:sp>
        </p:grpSp>
        <p:grpSp>
          <p:nvGrpSpPr>
            <p:cNvPr id="32" name="Shape 149">
              <a:extLst>
                <a:ext uri="{FF2B5EF4-FFF2-40B4-BE49-F238E27FC236}">
                  <a16:creationId xmlns:a16="http://schemas.microsoft.com/office/drawing/2014/main" id="{71D4AFC8-FC23-4923-960D-ACFAA57B0174}"/>
                </a:ext>
              </a:extLst>
            </p:cNvPr>
            <p:cNvGrpSpPr/>
            <p:nvPr/>
          </p:nvGrpSpPr>
          <p:grpSpPr>
            <a:xfrm>
              <a:off x="1180127" y="2769358"/>
              <a:ext cx="5083637" cy="661654"/>
              <a:chOff x="4577606" y="1737902"/>
              <a:chExt cx="4427564" cy="462607"/>
            </a:xfrm>
          </p:grpSpPr>
          <p:sp>
            <p:nvSpPr>
              <p:cNvPr id="33" name="Shape 150">
                <a:extLst>
                  <a:ext uri="{FF2B5EF4-FFF2-40B4-BE49-F238E27FC236}">
                    <a16:creationId xmlns:a16="http://schemas.microsoft.com/office/drawing/2014/main" id="{C1EDBE03-18D2-47F2-8C31-3405388DBE54}"/>
                  </a:ext>
                </a:extLst>
              </p:cNvPr>
              <p:cNvSpPr/>
              <p:nvPr/>
            </p:nvSpPr>
            <p:spPr>
              <a:xfrm>
                <a:off x="4792702" y="1737902"/>
                <a:ext cx="4212468" cy="46161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</p:txBody>
          </p:sp>
          <p:sp>
            <p:nvSpPr>
              <p:cNvPr id="34" name="Shape 151">
                <a:extLst>
                  <a:ext uri="{FF2B5EF4-FFF2-40B4-BE49-F238E27FC236}">
                    <a16:creationId xmlns:a16="http://schemas.microsoft.com/office/drawing/2014/main" id="{7F6FD1CF-BE64-4EE9-9AB4-9DC8337B2F2F}"/>
                  </a:ext>
                </a:extLst>
              </p:cNvPr>
              <p:cNvSpPr/>
              <p:nvPr/>
            </p:nvSpPr>
            <p:spPr>
              <a:xfrm rot="16200000">
                <a:off x="4454825" y="1861728"/>
                <a:ext cx="461562" cy="216000"/>
              </a:xfrm>
              <a:prstGeom prst="triangle">
                <a:avLst>
                  <a:gd name="adj" fmla="val 0"/>
                </a:avLst>
              </a:prstGeom>
              <a:solidFill>
                <a:srgbClr val="DDDDD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</p:txBody>
          </p:sp>
        </p:grpSp>
        <p:sp>
          <p:nvSpPr>
            <p:cNvPr id="12" name="Shape 168">
              <a:extLst>
                <a:ext uri="{FF2B5EF4-FFF2-40B4-BE49-F238E27FC236}">
                  <a16:creationId xmlns:a16="http://schemas.microsoft.com/office/drawing/2014/main" id="{8777A3BB-CF42-47CD-A3E4-1D068F6573BF}"/>
                </a:ext>
              </a:extLst>
            </p:cNvPr>
            <p:cNvSpPr txBox="1"/>
            <p:nvPr/>
          </p:nvSpPr>
          <p:spPr>
            <a:xfrm>
              <a:off x="660463" y="1582890"/>
              <a:ext cx="694648" cy="660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 b="1" dirty="0">
                  <a:solidFill>
                    <a:schemeClr val="lt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01</a:t>
              </a:r>
              <a:endParaRPr sz="3200" b="1" dirty="0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13" name="Shape 169">
              <a:extLst>
                <a:ext uri="{FF2B5EF4-FFF2-40B4-BE49-F238E27FC236}">
                  <a16:creationId xmlns:a16="http://schemas.microsoft.com/office/drawing/2014/main" id="{4A5FE8D5-5092-41C3-BB73-392FB5AAE4CD}"/>
                </a:ext>
              </a:extLst>
            </p:cNvPr>
            <p:cNvSpPr txBox="1"/>
            <p:nvPr/>
          </p:nvSpPr>
          <p:spPr>
            <a:xfrm>
              <a:off x="615959" y="2678341"/>
              <a:ext cx="694648" cy="660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" sz="3200" dirty="0">
                  <a:solidFill>
                    <a:schemeClr val="lt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02</a:t>
              </a:r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1BFB9EF6-D90D-484C-B1B6-577563242582}"/>
                </a:ext>
              </a:extLst>
            </p:cNvPr>
            <p:cNvSpPr/>
            <p:nvPr/>
          </p:nvSpPr>
          <p:spPr>
            <a:xfrm>
              <a:off x="1448447" y="1800694"/>
              <a:ext cx="3570208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2200" dirty="0">
                  <a:solidFill>
                    <a:schemeClr val="bg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為什麼企業要走向資本市場</a:t>
              </a:r>
              <a:endParaRPr lang="zh-TW" altLang="en-US" sz="2200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6F02301C-D37C-4F08-B85C-BACB8A7591A8}"/>
                </a:ext>
              </a:extLst>
            </p:cNvPr>
            <p:cNvSpPr/>
            <p:nvPr/>
          </p:nvSpPr>
          <p:spPr>
            <a:xfrm>
              <a:off x="1448447" y="2882984"/>
              <a:ext cx="4063933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2200" dirty="0">
                  <a:solidFill>
                    <a:schemeClr val="bg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從未上市到公開市場的</a:t>
              </a:r>
              <a:r>
                <a:rPr lang="en-US" altLang="zh-TW" sz="2200" dirty="0">
                  <a:solidFill>
                    <a:schemeClr val="bg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IPO</a:t>
              </a:r>
              <a:r>
                <a:rPr lang="zh-TW" altLang="en-US" sz="2200" dirty="0">
                  <a:solidFill>
                    <a:schemeClr val="bg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闖關</a:t>
              </a:r>
              <a:endParaRPr lang="zh-TW" altLang="en-US" sz="2200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6C716480-B4F9-4393-9CF1-167AFC8FA39A}"/>
                </a:ext>
              </a:extLst>
            </p:cNvPr>
            <p:cNvSpPr txBox="1"/>
            <p:nvPr/>
          </p:nvSpPr>
          <p:spPr>
            <a:xfrm>
              <a:off x="5693134" y="3112108"/>
              <a:ext cx="7155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err="1" smtClean="0">
                  <a:solidFill>
                    <a:schemeClr val="bg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P07</a:t>
              </a:r>
              <a:endParaRPr lang="zh-TW" altLang="en-US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D2C0AEB9-4C6F-4210-A364-71E2F1A26A56}"/>
                </a:ext>
              </a:extLst>
            </p:cNvPr>
            <p:cNvSpPr txBox="1"/>
            <p:nvPr/>
          </p:nvSpPr>
          <p:spPr>
            <a:xfrm>
              <a:off x="5719402" y="2013906"/>
              <a:ext cx="7155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err="1">
                  <a:solidFill>
                    <a:schemeClr val="bg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P03</a:t>
              </a:r>
              <a:endParaRPr lang="zh-TW" altLang="en-US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8" name="平行四邊形 27">
              <a:extLst>
                <a:ext uri="{FF2B5EF4-FFF2-40B4-BE49-F238E27FC236}">
                  <a16:creationId xmlns:a16="http://schemas.microsoft.com/office/drawing/2014/main" id="{AB004C93-43E0-4D44-A750-47D2281332AE}"/>
                </a:ext>
              </a:extLst>
            </p:cNvPr>
            <p:cNvSpPr/>
            <p:nvPr/>
          </p:nvSpPr>
          <p:spPr>
            <a:xfrm>
              <a:off x="497635" y="4724423"/>
              <a:ext cx="5320533" cy="761510"/>
            </a:xfrm>
            <a:prstGeom prst="parallelogram">
              <a:avLst>
                <a:gd name="adj" fmla="val 36436"/>
              </a:avLst>
            </a:prstGeom>
            <a:solidFill>
              <a:srgbClr val="A40000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29" name="Shape 149">
              <a:extLst>
                <a:ext uri="{FF2B5EF4-FFF2-40B4-BE49-F238E27FC236}">
                  <a16:creationId xmlns:a16="http://schemas.microsoft.com/office/drawing/2014/main" id="{67621ABD-BF50-454F-963B-7BC3A97A7BB8}"/>
                </a:ext>
              </a:extLst>
            </p:cNvPr>
            <p:cNvGrpSpPr/>
            <p:nvPr/>
          </p:nvGrpSpPr>
          <p:grpSpPr>
            <a:xfrm>
              <a:off x="1171894" y="4937506"/>
              <a:ext cx="5085416" cy="660233"/>
              <a:chOff x="4572000" y="1743934"/>
              <a:chExt cx="4428492" cy="461613"/>
            </a:xfrm>
          </p:grpSpPr>
          <p:sp>
            <p:nvSpPr>
              <p:cNvPr id="31" name="Shape 150">
                <a:extLst>
                  <a:ext uri="{FF2B5EF4-FFF2-40B4-BE49-F238E27FC236}">
                    <a16:creationId xmlns:a16="http://schemas.microsoft.com/office/drawing/2014/main" id="{63AB286B-3357-4A04-9868-903C262A0D2F}"/>
                  </a:ext>
                </a:extLst>
              </p:cNvPr>
              <p:cNvSpPr/>
              <p:nvPr/>
            </p:nvSpPr>
            <p:spPr>
              <a:xfrm>
                <a:off x="4788024" y="1743934"/>
                <a:ext cx="4212468" cy="46161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</p:txBody>
          </p:sp>
          <p:sp>
            <p:nvSpPr>
              <p:cNvPr id="35" name="Shape 151">
                <a:extLst>
                  <a:ext uri="{FF2B5EF4-FFF2-40B4-BE49-F238E27FC236}">
                    <a16:creationId xmlns:a16="http://schemas.microsoft.com/office/drawing/2014/main" id="{8E7CF3E4-5A3F-4DBD-9BB5-353DC2A9BB30}"/>
                  </a:ext>
                </a:extLst>
              </p:cNvPr>
              <p:cNvSpPr/>
              <p:nvPr/>
            </p:nvSpPr>
            <p:spPr>
              <a:xfrm rot="16200000">
                <a:off x="4449219" y="1866715"/>
                <a:ext cx="461562" cy="216000"/>
              </a:xfrm>
              <a:prstGeom prst="triangle">
                <a:avLst>
                  <a:gd name="adj" fmla="val 0"/>
                </a:avLst>
              </a:prstGeom>
              <a:solidFill>
                <a:srgbClr val="DDDDD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</p:txBody>
          </p:sp>
        </p:grpSp>
        <p:sp>
          <p:nvSpPr>
            <p:cNvPr id="36" name="Shape 169">
              <a:extLst>
                <a:ext uri="{FF2B5EF4-FFF2-40B4-BE49-F238E27FC236}">
                  <a16:creationId xmlns:a16="http://schemas.microsoft.com/office/drawing/2014/main" id="{2E31CE0C-5F67-4FB4-9164-4D73CDC6B774}"/>
                </a:ext>
              </a:extLst>
            </p:cNvPr>
            <p:cNvSpPr txBox="1"/>
            <p:nvPr/>
          </p:nvSpPr>
          <p:spPr>
            <a:xfrm>
              <a:off x="614124" y="4837860"/>
              <a:ext cx="694648" cy="660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" sz="3200" dirty="0">
                  <a:solidFill>
                    <a:schemeClr val="lt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04</a:t>
              </a:r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4FB96991-D159-4E29-B262-DAD50C4F811E}"/>
                </a:ext>
              </a:extLst>
            </p:cNvPr>
            <p:cNvSpPr txBox="1"/>
            <p:nvPr/>
          </p:nvSpPr>
          <p:spPr>
            <a:xfrm>
              <a:off x="5691299" y="5271627"/>
              <a:ext cx="7155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err="1" smtClean="0">
                  <a:solidFill>
                    <a:schemeClr val="bg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P18</a:t>
              </a:r>
              <a:endParaRPr lang="zh-TW" altLang="en-US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0" name="平行四邊形 29">
              <a:extLst>
                <a:ext uri="{FF2B5EF4-FFF2-40B4-BE49-F238E27FC236}">
                  <a16:creationId xmlns:a16="http://schemas.microsoft.com/office/drawing/2014/main" id="{7B903FFF-5BB1-41EA-A52E-598AB490339E}"/>
                </a:ext>
              </a:extLst>
            </p:cNvPr>
            <p:cNvSpPr/>
            <p:nvPr/>
          </p:nvSpPr>
          <p:spPr>
            <a:xfrm>
              <a:off x="493016" y="3645024"/>
              <a:ext cx="5320533" cy="761510"/>
            </a:xfrm>
            <a:prstGeom prst="parallelogram">
              <a:avLst>
                <a:gd name="adj" fmla="val 36436"/>
              </a:avLst>
            </a:prstGeom>
            <a:solidFill>
              <a:srgbClr val="A40000">
                <a:alpha val="7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Shape 149">
              <a:extLst>
                <a:ext uri="{FF2B5EF4-FFF2-40B4-BE49-F238E27FC236}">
                  <a16:creationId xmlns:a16="http://schemas.microsoft.com/office/drawing/2014/main" id="{71D4AFC8-FC23-4923-960D-ACFAA57B0174}"/>
                </a:ext>
              </a:extLst>
            </p:cNvPr>
            <p:cNvGrpSpPr/>
            <p:nvPr/>
          </p:nvGrpSpPr>
          <p:grpSpPr>
            <a:xfrm>
              <a:off x="1173673" y="3849478"/>
              <a:ext cx="5083637" cy="661654"/>
              <a:chOff x="4577606" y="1737902"/>
              <a:chExt cx="4427564" cy="462607"/>
            </a:xfrm>
          </p:grpSpPr>
          <p:sp>
            <p:nvSpPr>
              <p:cNvPr id="47" name="Shape 150">
                <a:extLst>
                  <a:ext uri="{FF2B5EF4-FFF2-40B4-BE49-F238E27FC236}">
                    <a16:creationId xmlns:a16="http://schemas.microsoft.com/office/drawing/2014/main" id="{C1EDBE03-18D2-47F2-8C31-3405388DBE54}"/>
                  </a:ext>
                </a:extLst>
              </p:cNvPr>
              <p:cNvSpPr/>
              <p:nvPr/>
            </p:nvSpPr>
            <p:spPr>
              <a:xfrm>
                <a:off x="4792702" y="1737902"/>
                <a:ext cx="4212468" cy="46161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</p:txBody>
          </p:sp>
          <p:sp>
            <p:nvSpPr>
              <p:cNvPr id="49" name="Shape 151">
                <a:extLst>
                  <a:ext uri="{FF2B5EF4-FFF2-40B4-BE49-F238E27FC236}">
                    <a16:creationId xmlns:a16="http://schemas.microsoft.com/office/drawing/2014/main" id="{7F6FD1CF-BE64-4EE9-9AB4-9DC8337B2F2F}"/>
                  </a:ext>
                </a:extLst>
              </p:cNvPr>
              <p:cNvSpPr/>
              <p:nvPr/>
            </p:nvSpPr>
            <p:spPr>
              <a:xfrm rot="16200000">
                <a:off x="4454825" y="1861728"/>
                <a:ext cx="461562" cy="216000"/>
              </a:xfrm>
              <a:prstGeom prst="triangle">
                <a:avLst>
                  <a:gd name="adj" fmla="val 0"/>
                </a:avLst>
              </a:prstGeom>
              <a:solidFill>
                <a:srgbClr val="DDDDD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</p:txBody>
          </p:sp>
        </p:grpSp>
        <p:sp>
          <p:nvSpPr>
            <p:cNvPr id="53" name="Shape 169">
              <a:extLst>
                <a:ext uri="{FF2B5EF4-FFF2-40B4-BE49-F238E27FC236}">
                  <a16:creationId xmlns:a16="http://schemas.microsoft.com/office/drawing/2014/main" id="{4A5FE8D5-5092-41C3-BB73-392FB5AAE4CD}"/>
                </a:ext>
              </a:extLst>
            </p:cNvPr>
            <p:cNvSpPr txBox="1"/>
            <p:nvPr/>
          </p:nvSpPr>
          <p:spPr>
            <a:xfrm>
              <a:off x="609505" y="3758461"/>
              <a:ext cx="694648" cy="660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" sz="3200" dirty="0">
                  <a:solidFill>
                    <a:schemeClr val="lt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03</a:t>
              </a:r>
            </a:p>
          </p:txBody>
        </p: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6C716480-B4F9-4393-9CF1-167AFC8FA39A}"/>
                </a:ext>
              </a:extLst>
            </p:cNvPr>
            <p:cNvSpPr txBox="1"/>
            <p:nvPr/>
          </p:nvSpPr>
          <p:spPr>
            <a:xfrm>
              <a:off x="5686680" y="4192228"/>
              <a:ext cx="7155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err="1" smtClean="0">
                  <a:solidFill>
                    <a:schemeClr val="bg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P13</a:t>
              </a:r>
              <a:endParaRPr lang="zh-TW" altLang="en-US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31BA770A-212E-46E2-98CB-7B7B41862627}"/>
                </a:ext>
              </a:extLst>
            </p:cNvPr>
            <p:cNvSpPr/>
            <p:nvPr/>
          </p:nvSpPr>
          <p:spPr>
            <a:xfrm>
              <a:off x="1427096" y="3938514"/>
              <a:ext cx="4134465" cy="4647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110000"/>
                </a:lnSpc>
                <a:buClr>
                  <a:srgbClr val="D56C2A"/>
                </a:buClr>
                <a:buSzPct val="90000"/>
              </a:pPr>
              <a:r>
                <a:rPr lang="zh-TW" altLang="en-US" sz="2200" dirty="0" smtClean="0">
                  <a:solidFill>
                    <a:schemeClr val="bg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企業</a:t>
              </a:r>
              <a:r>
                <a:rPr lang="zh-TW" altLang="en-US" sz="2200" dirty="0">
                  <a:solidFill>
                    <a:schemeClr val="bg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故事如何轉為資本市場語言</a:t>
              </a:r>
              <a:endParaRPr lang="zh-TW" altLang="en-US" sz="2200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31BA770A-212E-46E2-98CB-7B7B41862627}"/>
                </a:ext>
              </a:extLst>
            </p:cNvPr>
            <p:cNvSpPr/>
            <p:nvPr/>
          </p:nvSpPr>
          <p:spPr>
            <a:xfrm>
              <a:off x="1448447" y="5018287"/>
              <a:ext cx="3288080" cy="43640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110000"/>
                </a:lnSpc>
                <a:buClr>
                  <a:srgbClr val="D56C2A"/>
                </a:buClr>
                <a:buSzPct val="90000"/>
              </a:pPr>
              <a:r>
                <a:rPr lang="zh-TW" altLang="en-US" sz="2200" dirty="0">
                  <a:solidFill>
                    <a:schemeClr val="bg2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資本市場如何為企業定價</a:t>
              </a:r>
              <a:endParaRPr lang="zh-TW" altLang="en-US" sz="2200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4003774"/>
      </p:ext>
    </p:extLst>
  </p:cSld>
  <p:clrMapOvr>
    <a:masterClrMapping/>
  </p:clrMapOvr>
  <p:transition>
    <p:spli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邊形 11">
            <a:extLst>
              <a:ext uri="{FF2B5EF4-FFF2-40B4-BE49-F238E27FC236}">
                <a16:creationId xmlns:a16="http://schemas.microsoft.com/office/drawing/2014/main" id="{7B1869D2-CF1B-489F-BD53-C8039EE1CB54}"/>
              </a:ext>
            </a:extLst>
          </p:cNvPr>
          <p:cNvSpPr/>
          <p:nvPr/>
        </p:nvSpPr>
        <p:spPr>
          <a:xfrm flipV="1">
            <a:off x="5856906" y="3412867"/>
            <a:ext cx="5616624" cy="1152150"/>
          </a:xfrm>
          <a:prstGeom prst="parallelogram">
            <a:avLst>
              <a:gd name="adj" fmla="val 95639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平行四邊形 10">
            <a:extLst>
              <a:ext uri="{FF2B5EF4-FFF2-40B4-BE49-F238E27FC236}">
                <a16:creationId xmlns:a16="http://schemas.microsoft.com/office/drawing/2014/main" id="{A9AFE730-5BD5-43D6-8F82-210A6602FDBD}"/>
              </a:ext>
            </a:extLst>
          </p:cNvPr>
          <p:cNvSpPr/>
          <p:nvPr/>
        </p:nvSpPr>
        <p:spPr>
          <a:xfrm flipV="1">
            <a:off x="-2016697" y="2152676"/>
            <a:ext cx="8424936" cy="936104"/>
          </a:xfrm>
          <a:prstGeom prst="parallelogram">
            <a:avLst>
              <a:gd name="adj" fmla="val 93097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9" name="圖片 18" descr="未命名">
            <a:extLst>
              <a:ext uri="{FF2B5EF4-FFF2-40B4-BE49-F238E27FC236}">
                <a16:creationId xmlns:a16="http://schemas.microsoft.com/office/drawing/2014/main" id="{51148074-7EF7-401A-8BB2-CF4751324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7" t="4184" r="2568" b="47176"/>
          <a:stretch>
            <a:fillRect/>
          </a:stretch>
        </p:blipFill>
        <p:spPr bwMode="auto">
          <a:xfrm rot="21340448">
            <a:off x="5399901" y="1420627"/>
            <a:ext cx="2457708" cy="2711632"/>
          </a:xfrm>
          <a:custGeom>
            <a:avLst/>
            <a:gdLst>
              <a:gd name="connsiteX0" fmla="*/ 765344 w 2142807"/>
              <a:gd name="connsiteY0" fmla="*/ 2072 h 2364196"/>
              <a:gd name="connsiteX1" fmla="*/ 985062 w 2142807"/>
              <a:gd name="connsiteY1" fmla="*/ 123477 h 2364196"/>
              <a:gd name="connsiteX2" fmla="*/ 2071219 w 2142807"/>
              <a:gd name="connsiteY2" fmla="*/ 1485201 h 2364196"/>
              <a:gd name="connsiteX3" fmla="*/ 2019331 w 2142807"/>
              <a:gd name="connsiteY3" fmla="*/ 1946129 h 2364196"/>
              <a:gd name="connsiteX4" fmla="*/ 1495197 w 2142807"/>
              <a:gd name="connsiteY4" fmla="*/ 2364196 h 2364196"/>
              <a:gd name="connsiteX5" fmla="*/ 0 w 2142807"/>
              <a:gd name="connsiteY5" fmla="*/ 489656 h 2364196"/>
              <a:gd name="connsiteX6" fmla="*/ 524134 w 2142807"/>
              <a:gd name="connsiteY6" fmla="*/ 71589 h 2364196"/>
              <a:gd name="connsiteX7" fmla="*/ 765344 w 2142807"/>
              <a:gd name="connsiteY7" fmla="*/ 2072 h 2364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2807" h="2364196">
                <a:moveTo>
                  <a:pt x="765344" y="2072"/>
                </a:moveTo>
                <a:cubicBezTo>
                  <a:pt x="848755" y="11461"/>
                  <a:pt x="928585" y="52672"/>
                  <a:pt x="985062" y="123477"/>
                </a:cubicBezTo>
                <a:lnTo>
                  <a:pt x="2071219" y="1485201"/>
                </a:lnTo>
                <a:cubicBezTo>
                  <a:pt x="2184173" y="1626812"/>
                  <a:pt x="2160942" y="1833176"/>
                  <a:pt x="2019331" y="1946129"/>
                </a:cubicBezTo>
                <a:lnTo>
                  <a:pt x="1495197" y="2364196"/>
                </a:lnTo>
                <a:lnTo>
                  <a:pt x="0" y="489656"/>
                </a:lnTo>
                <a:lnTo>
                  <a:pt x="524134" y="71589"/>
                </a:lnTo>
                <a:cubicBezTo>
                  <a:pt x="594939" y="15112"/>
                  <a:pt x="681933" y="-7318"/>
                  <a:pt x="765344" y="2072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圖片 19" descr="未命名">
            <a:extLst>
              <a:ext uri="{FF2B5EF4-FFF2-40B4-BE49-F238E27FC236}">
                <a16:creationId xmlns:a16="http://schemas.microsoft.com/office/drawing/2014/main" id="{C1247112-0447-41EE-A21A-7720B5C21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6" t="27738" r="10122" b="23819"/>
          <a:stretch>
            <a:fillRect/>
          </a:stretch>
        </p:blipFill>
        <p:spPr bwMode="auto">
          <a:xfrm rot="21425389">
            <a:off x="4932906" y="2346587"/>
            <a:ext cx="2382923" cy="2600675"/>
          </a:xfrm>
          <a:custGeom>
            <a:avLst/>
            <a:gdLst>
              <a:gd name="connsiteX0" fmla="*/ 639277 w 2157449"/>
              <a:gd name="connsiteY0" fmla="*/ 0 h 2354597"/>
              <a:gd name="connsiteX1" fmla="*/ 2157449 w 2157449"/>
              <a:gd name="connsiteY1" fmla="*/ 1855983 h 2354597"/>
              <a:gd name="connsiteX2" fmla="*/ 1638504 w 2157449"/>
              <a:gd name="connsiteY2" fmla="*/ 2280473 h 2354597"/>
              <a:gd name="connsiteX3" fmla="*/ 1176972 w 2157449"/>
              <a:gd name="connsiteY3" fmla="*/ 2234266 h 2354597"/>
              <a:gd name="connsiteX4" fmla="*/ 74125 w 2157449"/>
              <a:gd name="connsiteY4" fmla="*/ 886023 h 2354597"/>
              <a:gd name="connsiteX5" fmla="*/ 120332 w 2157449"/>
              <a:gd name="connsiteY5" fmla="*/ 424490 h 2354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7449" h="2354597">
                <a:moveTo>
                  <a:pt x="639277" y="0"/>
                </a:moveTo>
                <a:lnTo>
                  <a:pt x="2157449" y="1855983"/>
                </a:lnTo>
                <a:lnTo>
                  <a:pt x="1638504" y="2280473"/>
                </a:lnTo>
                <a:cubicBezTo>
                  <a:pt x="1498295" y="2395162"/>
                  <a:pt x="1291661" y="2374475"/>
                  <a:pt x="1176972" y="2234266"/>
                </a:cubicBezTo>
                <a:lnTo>
                  <a:pt x="74125" y="886023"/>
                </a:lnTo>
                <a:cubicBezTo>
                  <a:pt x="-40564" y="745814"/>
                  <a:pt x="-19877" y="539179"/>
                  <a:pt x="120332" y="424490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C1D909FD-321A-4D00-96B4-7145CFE79D51}"/>
              </a:ext>
            </a:extLst>
          </p:cNvPr>
          <p:cNvSpPr txBox="1"/>
          <p:nvPr/>
        </p:nvSpPr>
        <p:spPr>
          <a:xfrm>
            <a:off x="107504" y="2347186"/>
            <a:ext cx="5626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為什麼企業要走向資本市場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865A9DA-4DCE-42A8-A16E-98A1F04410E4}"/>
              </a:ext>
            </a:extLst>
          </p:cNvPr>
          <p:cNvSpPr txBox="1"/>
          <p:nvPr/>
        </p:nvSpPr>
        <p:spPr>
          <a:xfrm>
            <a:off x="73359" y="1139247"/>
            <a:ext cx="11318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01</a:t>
            </a:r>
            <a:endParaRPr lang="zh-TW" altLang="en-US" sz="6000" dirty="0">
              <a:solidFill>
                <a:schemeClr val="bg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25120403"/>
      </p:ext>
    </p:extLst>
  </p:cSld>
  <p:clrMapOvr>
    <a:masterClrMapping/>
  </p:clrMapOvr>
  <p:transition>
    <p:spli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0"/>
          <p:cNvSpPr/>
          <p:nvPr/>
        </p:nvSpPr>
        <p:spPr>
          <a:xfrm>
            <a:off x="1627632" y="2240280"/>
            <a:ext cx="0" cy="2267712"/>
          </a:xfrm>
          <a:prstGeom prst="line">
            <a:avLst/>
          </a:prstGeom>
          <a:noFill/>
          <a:ln w="8890">
            <a:solidFill>
              <a:schemeClr val="bg1">
                <a:lumMod val="75000"/>
              </a:scheme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70048" y="2240280"/>
            <a:ext cx="0" cy="2267712"/>
          </a:xfrm>
          <a:prstGeom prst="line">
            <a:avLst/>
          </a:prstGeom>
          <a:noFill/>
          <a:ln w="8890">
            <a:solidFill>
              <a:schemeClr val="bg1">
                <a:lumMod val="75000"/>
              </a:scheme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03320" y="2240280"/>
            <a:ext cx="0" cy="2267712"/>
          </a:xfrm>
          <a:prstGeom prst="line">
            <a:avLst/>
          </a:prstGeom>
          <a:noFill/>
          <a:ln w="8890">
            <a:solidFill>
              <a:schemeClr val="bg1">
                <a:lumMod val="75000"/>
              </a:schemeClr>
            </a:solidFill>
            <a:prstDash val="solid"/>
          </a:ln>
        </p:spPr>
      </p:sp>
      <p:cxnSp>
        <p:nvCxnSpPr>
          <p:cNvPr id="101" name="弧形接點 100"/>
          <p:cNvCxnSpPr/>
          <p:nvPr/>
        </p:nvCxnSpPr>
        <p:spPr bwMode="auto">
          <a:xfrm flipV="1">
            <a:off x="1234016" y="2640917"/>
            <a:ext cx="2985944" cy="1159571"/>
          </a:xfrm>
          <a:prstGeom prst="curvedConnector3">
            <a:avLst>
              <a:gd name="adj1" fmla="val 49150"/>
            </a:avLst>
          </a:prstGeom>
          <a:solidFill>
            <a:schemeClr val="accent1"/>
          </a:solidFill>
          <a:ln w="19050" cap="flat" cmpd="sng" algn="ctr">
            <a:solidFill>
              <a:srgbClr val="92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Text 2"/>
          <p:cNvSpPr/>
          <p:nvPr/>
        </p:nvSpPr>
        <p:spPr>
          <a:xfrm>
            <a:off x="-2335118" y="2972865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1792" y="1628800"/>
            <a:ext cx="54864" cy="292608"/>
          </a:xfrm>
          <a:prstGeom prst="rect">
            <a:avLst/>
          </a:prstGeom>
          <a:solidFill>
            <a:srgbClr val="920000"/>
          </a:solidFill>
          <a:ln w="12700">
            <a:solidFill>
              <a:srgbClr val="92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16642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企業成長曲線與資本需求演進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013784" y="4293096"/>
            <a:ext cx="3703320" cy="0"/>
          </a:xfrm>
          <a:prstGeom prst="line">
            <a:avLst/>
          </a:prstGeom>
          <a:noFill/>
          <a:ln w="1397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4528512" y="438453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時間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39023" y="1872236"/>
            <a:ext cx="116553" cy="1628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just">
              <a:buNone/>
            </a:pPr>
            <a:r>
              <a:rPr lang="en-US" sz="900" dirty="0">
                <a:solidFill>
                  <a:srgbClr val="6B6B6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企業價值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None/>
            </a:pPr>
            <a:r>
              <a:rPr lang="en-US" sz="900" dirty="0">
                <a:solidFill>
                  <a:srgbClr val="6B6B6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/資本需求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1187624" y="3728480"/>
            <a:ext cx="128016" cy="128016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2123728" y="3573016"/>
            <a:ext cx="128016" cy="128016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147840" y="2724920"/>
            <a:ext cx="128016" cy="128016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211960" y="2576352"/>
            <a:ext cx="128016" cy="128016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49848" y="2584344"/>
            <a:ext cx="941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產品驗證期</a:t>
            </a:r>
            <a:endParaRPr lang="en-US" sz="105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873305" y="2791762"/>
            <a:ext cx="760077" cy="3886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just">
              <a:buNone/>
            </a:pPr>
            <a:r>
              <a:rPr lang="en-US" altLang="zh-TW" sz="800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Founder/Angel</a:t>
            </a:r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zh-TW" sz="800" dirty="0" err="1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PMF、</a:t>
            </a:r>
            <a:r>
              <a:rPr lang="en-US" altLang="zh-TW" sz="800" dirty="0" err="1" smtClean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初期商業模式</a:t>
            </a:r>
            <a:endParaRPr lang="en-US" altLang="zh-TW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1619672" y="2364888"/>
            <a:ext cx="1033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規模成長期</a:t>
            </a:r>
            <a:endParaRPr lang="en-US" sz="105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 27"/>
          <p:cNvSpPr/>
          <p:nvPr/>
        </p:nvSpPr>
        <p:spPr>
          <a:xfrm>
            <a:off x="1800825" y="2579803"/>
            <a:ext cx="821822" cy="345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just">
              <a:buNone/>
            </a:pPr>
            <a:r>
              <a:rPr lang="en-US" sz="800" dirty="0" smtClean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VC/Growth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擴產、拓客、招募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2647200" y="2145432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組織成熟期</a:t>
            </a:r>
            <a:endParaRPr lang="en-US" sz="105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2774564" y="2297560"/>
            <a:ext cx="874438" cy="4547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just">
              <a:buNone/>
            </a:pPr>
            <a:r>
              <a:rPr lang="en-US" sz="800" dirty="0" smtClean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Pre-IPO/</a:t>
            </a:r>
            <a:r>
              <a:rPr lang="en-US" sz="800" dirty="0" err="1" smtClean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機構資本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治理、內控、財務品質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3691888" y="1916832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公開市場階段</a:t>
            </a:r>
            <a:endParaRPr lang="en-US" sz="105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Text 33"/>
          <p:cNvSpPr/>
          <p:nvPr/>
        </p:nvSpPr>
        <p:spPr>
          <a:xfrm>
            <a:off x="3832430" y="2136288"/>
            <a:ext cx="919076" cy="3823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just">
              <a:buNone/>
            </a:pPr>
            <a:r>
              <a:rPr lang="en-US" sz="800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Public Market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併購、海外布局</a:t>
            </a:r>
            <a:r>
              <a:rPr lang="en-US" sz="800" dirty="0" err="1" smtClean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、持續融資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Shape 34"/>
          <p:cNvSpPr/>
          <p:nvPr/>
        </p:nvSpPr>
        <p:spPr>
          <a:xfrm>
            <a:off x="5065776" y="1490472"/>
            <a:ext cx="3611880" cy="3209544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E6E2DD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5193792" y="1628800"/>
            <a:ext cx="54864" cy="29260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321808" y="16642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資本來源的階梯式升級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Shape 37"/>
          <p:cNvSpPr/>
          <p:nvPr/>
        </p:nvSpPr>
        <p:spPr>
          <a:xfrm>
            <a:off x="5285232" y="3822192"/>
            <a:ext cx="749808" cy="658368"/>
          </a:xfrm>
          <a:prstGeom prst="rect">
            <a:avLst/>
          </a:prstGeom>
          <a:solidFill>
            <a:srgbClr val="BFB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5330952" y="38770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Founder/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Angel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Text 39"/>
          <p:cNvSpPr/>
          <p:nvPr/>
        </p:nvSpPr>
        <p:spPr>
          <a:xfrm>
            <a:off x="5340096" y="4206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早期驗證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Shape 40"/>
          <p:cNvSpPr/>
          <p:nvPr/>
        </p:nvSpPr>
        <p:spPr>
          <a:xfrm>
            <a:off x="6025896" y="3474720"/>
            <a:ext cx="859536" cy="1005840"/>
          </a:xfrm>
          <a:prstGeom prst="rect">
            <a:avLst/>
          </a:prstGeom>
          <a:solidFill>
            <a:srgbClr val="7F7F7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6071616" y="3529584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VC /</a:t>
            </a:r>
            <a:endParaRPr lang="en-US" sz="1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Growth</a:t>
            </a:r>
            <a:endParaRPr lang="en-US" sz="1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Text 42"/>
          <p:cNvSpPr/>
          <p:nvPr/>
        </p:nvSpPr>
        <p:spPr>
          <a:xfrm>
            <a:off x="6080760" y="420624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支應擴張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但資金有限</a:t>
            </a:r>
          </a:p>
        </p:txBody>
      </p:sp>
      <p:sp>
        <p:nvSpPr>
          <p:cNvPr id="48" name="Shape 43"/>
          <p:cNvSpPr/>
          <p:nvPr/>
        </p:nvSpPr>
        <p:spPr>
          <a:xfrm>
            <a:off x="6876288" y="2935224"/>
            <a:ext cx="850392" cy="1545336"/>
          </a:xfrm>
          <a:prstGeom prst="rect">
            <a:avLst/>
          </a:prstGeom>
          <a:solidFill>
            <a:srgbClr val="D7CC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922008" y="299008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Pre-IPO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Text 45"/>
          <p:cNvSpPr/>
          <p:nvPr/>
        </p:nvSpPr>
        <p:spPr>
          <a:xfrm>
            <a:off x="6931152" y="4206240"/>
            <a:ext cx="740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補強治理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與財務品質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Shape 46"/>
          <p:cNvSpPr/>
          <p:nvPr/>
        </p:nvSpPr>
        <p:spPr>
          <a:xfrm>
            <a:off x="7717536" y="2304288"/>
            <a:ext cx="786384" cy="2176272"/>
          </a:xfrm>
          <a:prstGeom prst="rect">
            <a:avLst/>
          </a:prstGeom>
          <a:solidFill>
            <a:srgbClr val="92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7763256" y="2359152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Public</a:t>
            </a:r>
          </a:p>
          <a:p>
            <a:pPr marL="0" indent="0" algn="ctr">
              <a:buNone/>
            </a:pPr>
            <a:r>
              <a:rPr lang="en-US" sz="1000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Market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Text 48"/>
          <p:cNvSpPr/>
          <p:nvPr/>
        </p:nvSpPr>
        <p:spPr>
          <a:xfrm>
            <a:off x="7772400" y="4206240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取得持續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資本供給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Shape 49"/>
          <p:cNvSpPr/>
          <p:nvPr/>
        </p:nvSpPr>
        <p:spPr>
          <a:xfrm rot="17182832">
            <a:off x="5750792" y="3357662"/>
            <a:ext cx="438912" cy="384048"/>
          </a:xfrm>
          <a:prstGeom prst="arc">
            <a:avLst/>
          </a:prstGeom>
          <a:solidFill>
            <a:srgbClr val="920000">
              <a:alpha val="0"/>
            </a:srgbClr>
          </a:solidFill>
          <a:ln w="25400">
            <a:solidFill>
              <a:srgbClr val="920000"/>
            </a:solidFill>
            <a:prstDash val="solid"/>
            <a:headEnd type="none"/>
            <a:tailEnd type="triangle"/>
          </a:ln>
        </p:spPr>
      </p:sp>
      <p:sp>
        <p:nvSpPr>
          <p:cNvPr id="57" name="Shape 52"/>
          <p:cNvSpPr/>
          <p:nvPr/>
        </p:nvSpPr>
        <p:spPr>
          <a:xfrm>
            <a:off x="675456" y="4869160"/>
            <a:ext cx="54864" cy="256032"/>
          </a:xfrm>
          <a:prstGeom prst="rect">
            <a:avLst/>
          </a:prstGeom>
          <a:solidFill>
            <a:srgbClr val="920000"/>
          </a:solidFill>
          <a:ln w="12700">
            <a:solidFill>
              <a:srgbClr val="920000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794328" y="486002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 smtClean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三個洞察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Shape 54"/>
          <p:cNvSpPr/>
          <p:nvPr/>
        </p:nvSpPr>
        <p:spPr>
          <a:xfrm>
            <a:off x="766896" y="5170920"/>
            <a:ext cx="2423160" cy="594360"/>
          </a:xfrm>
          <a:prstGeom prst="roundRect">
            <a:avLst>
              <a:gd name="adj" fmla="val 7692"/>
            </a:avLst>
          </a:prstGeom>
          <a:solidFill>
            <a:schemeClr val="accent3">
              <a:lumMod val="9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885768" y="5317224"/>
            <a:ext cx="256032" cy="256032"/>
          </a:xfrm>
          <a:prstGeom prst="ellipse">
            <a:avLst/>
          </a:prstGeom>
          <a:solidFill>
            <a:srgbClr val="920000"/>
          </a:solidFill>
          <a:ln w="12700">
            <a:solidFill>
              <a:srgbClr val="920000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885768" y="5373216"/>
            <a:ext cx="2560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Text 57"/>
          <p:cNvSpPr/>
          <p:nvPr/>
        </p:nvSpPr>
        <p:spPr>
          <a:xfrm>
            <a:off x="1224096" y="52897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資本需求升級</a:t>
            </a:r>
            <a:endParaRPr lang="en-US" sz="105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Text 58"/>
          <p:cNvSpPr/>
          <p:nvPr/>
        </p:nvSpPr>
        <p:spPr>
          <a:xfrm>
            <a:off x="1224096" y="548181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企業規模擴大後，需要更大量、</a:t>
            </a:r>
            <a:r>
              <a:rPr lang="en-US" sz="8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期限更長且可重複取得的資本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Shape 59"/>
          <p:cNvSpPr/>
          <p:nvPr/>
        </p:nvSpPr>
        <p:spPr>
          <a:xfrm>
            <a:off x="3510096" y="5170920"/>
            <a:ext cx="2423160" cy="594360"/>
          </a:xfrm>
          <a:prstGeom prst="roundRect">
            <a:avLst>
              <a:gd name="adj" fmla="val 7692"/>
            </a:avLst>
          </a:prstGeom>
          <a:solidFill>
            <a:schemeClr val="accent3">
              <a:lumMod val="9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3628968" y="5317224"/>
            <a:ext cx="256032" cy="256032"/>
          </a:xfrm>
          <a:prstGeom prst="ellipse">
            <a:avLst/>
          </a:prstGeom>
          <a:solidFill>
            <a:srgbClr val="920000"/>
          </a:solidFill>
          <a:ln w="12700">
            <a:solidFill>
              <a:srgbClr val="920000"/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3628968" y="5373216"/>
            <a:ext cx="2560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Text 62"/>
          <p:cNvSpPr/>
          <p:nvPr/>
        </p:nvSpPr>
        <p:spPr>
          <a:xfrm>
            <a:off x="3967296" y="52897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治理要求升級</a:t>
            </a:r>
            <a:endParaRPr lang="en-US" sz="105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Text 63"/>
          <p:cNvSpPr/>
          <p:nvPr/>
        </p:nvSpPr>
        <p:spPr>
          <a:xfrm>
            <a:off x="3967296" y="548181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資本越大，投資人越重視財務品質、內控、</a:t>
            </a:r>
            <a:r>
              <a:rPr lang="en-US" sz="8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股權結構與透明度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Shape 64"/>
          <p:cNvSpPr/>
          <p:nvPr/>
        </p:nvSpPr>
        <p:spPr>
          <a:xfrm>
            <a:off x="6253296" y="5170920"/>
            <a:ext cx="2423160" cy="594360"/>
          </a:xfrm>
          <a:prstGeom prst="roundRect">
            <a:avLst>
              <a:gd name="adj" fmla="val 7692"/>
            </a:avLst>
          </a:prstGeom>
          <a:solidFill>
            <a:schemeClr val="accent3">
              <a:lumMod val="9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6372168" y="5317224"/>
            <a:ext cx="256032" cy="256032"/>
          </a:xfrm>
          <a:prstGeom prst="ellipse">
            <a:avLst/>
          </a:prstGeom>
          <a:solidFill>
            <a:srgbClr val="920000"/>
          </a:solidFill>
          <a:ln w="12700">
            <a:solidFill>
              <a:srgbClr val="920000"/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6372168" y="5373216"/>
            <a:ext cx="2560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2" name="Text 67"/>
          <p:cNvSpPr/>
          <p:nvPr/>
        </p:nvSpPr>
        <p:spPr>
          <a:xfrm>
            <a:off x="6710496" y="52897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市場準備提前</a:t>
            </a:r>
            <a:endParaRPr lang="en-US" sz="105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Text 68"/>
          <p:cNvSpPr/>
          <p:nvPr/>
        </p:nvSpPr>
        <p:spPr>
          <a:xfrm>
            <a:off x="6710496" y="548181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 </a:t>
            </a:r>
            <a:r>
              <a:rPr lang="en-US" sz="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不是臨門一腳，而是商業、</a:t>
            </a:r>
            <a:r>
              <a:rPr lang="en-US" sz="8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治理與資本市場準備同步推進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4" name="Shape 69"/>
          <p:cNvSpPr/>
          <p:nvPr/>
        </p:nvSpPr>
        <p:spPr>
          <a:xfrm>
            <a:off x="766896" y="5875008"/>
            <a:ext cx="7863840" cy="301752"/>
          </a:xfrm>
          <a:prstGeom prst="roundRect">
            <a:avLst>
              <a:gd name="adj" fmla="val 15152"/>
            </a:avLst>
          </a:prstGeom>
          <a:solidFill>
            <a:schemeClr val="accent3">
              <a:lumMod val="85000"/>
            </a:schemeClr>
          </a:solidFill>
          <a:ln w="12700">
            <a:noFill/>
            <a:prstDash val="solid"/>
          </a:ln>
        </p:spPr>
      </p:sp>
      <p:sp>
        <p:nvSpPr>
          <p:cNvPr id="75" name="Text 70"/>
          <p:cNvSpPr/>
          <p:nvPr/>
        </p:nvSpPr>
        <p:spPr>
          <a:xfrm>
            <a:off x="1086936" y="5992712"/>
            <a:ext cx="7223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 </a:t>
            </a:r>
            <a:r>
              <a:rPr lang="en-US" sz="12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的本質，不只是募資，而是讓企業取得更大、更持續、</a:t>
            </a:r>
            <a:r>
              <a:rPr lang="en-US" sz="1200" b="1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也更可驗證的資本能力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6" name="Shape 72"/>
          <p:cNvSpPr/>
          <p:nvPr/>
        </p:nvSpPr>
        <p:spPr>
          <a:xfrm>
            <a:off x="2348808" y="6313920"/>
            <a:ext cx="5349240" cy="0"/>
          </a:xfrm>
          <a:prstGeom prst="line">
            <a:avLst/>
          </a:prstGeom>
          <a:noFill/>
          <a:ln w="20320">
            <a:solidFill>
              <a:srgbClr val="A37B42"/>
            </a:solidFill>
            <a:prstDash val="solid"/>
          </a:ln>
        </p:spPr>
      </p:sp>
      <p:sp>
        <p:nvSpPr>
          <p:cNvPr id="78" name="Rectangle 2">
            <a:extLst>
              <a:ext uri="{FF2B5EF4-FFF2-40B4-BE49-F238E27FC236}">
                <a16:creationId xmlns:a16="http://schemas.microsoft.com/office/drawing/2014/main" id="{38156531-6C2A-4328-A6BF-70F106285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376" y="395914"/>
            <a:ext cx="7312025" cy="6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一家好公司，為什麼需要資本市場？</a:t>
            </a: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CEC9DBDC-821B-455B-8662-A662D5A9090E}"/>
              </a:ext>
            </a:extLst>
          </p:cNvPr>
          <p:cNvSpPr txBox="1"/>
          <p:nvPr/>
        </p:nvSpPr>
        <p:spPr>
          <a:xfrm>
            <a:off x="455376" y="1058314"/>
            <a:ext cx="8207373" cy="335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企業從產品驗證走向規模化，資金需求會從一次性資金，轉向可持續、可放大的資本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供給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8" name="Shape 6"/>
          <p:cNvSpPr/>
          <p:nvPr/>
        </p:nvSpPr>
        <p:spPr>
          <a:xfrm rot="-5400000">
            <a:off x="-396416" y="3285120"/>
            <a:ext cx="2448000" cy="0"/>
          </a:xfrm>
          <a:prstGeom prst="line">
            <a:avLst/>
          </a:prstGeom>
          <a:noFill/>
          <a:ln w="13970">
            <a:solidFill>
              <a:srgbClr val="555555">
                <a:alpha val="9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18" name="Shape 49"/>
          <p:cNvSpPr/>
          <p:nvPr/>
        </p:nvSpPr>
        <p:spPr>
          <a:xfrm rot="17182832">
            <a:off x="6614888" y="2781598"/>
            <a:ext cx="438912" cy="384048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920000"/>
            </a:solidFill>
            <a:prstDash val="solid"/>
            <a:headEnd type="none"/>
            <a:tailEnd type="triangle"/>
          </a:ln>
        </p:spPr>
      </p:sp>
      <p:sp>
        <p:nvSpPr>
          <p:cNvPr id="119" name="Shape 49"/>
          <p:cNvSpPr/>
          <p:nvPr/>
        </p:nvSpPr>
        <p:spPr>
          <a:xfrm rot="17182832">
            <a:off x="7478984" y="2133526"/>
            <a:ext cx="438912" cy="384048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920000"/>
            </a:solidFill>
            <a:prstDash val="solid"/>
            <a:headEnd type="none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2669561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-2487168" y="2561809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" name="群組 1"/>
          <p:cNvGrpSpPr/>
          <p:nvPr/>
        </p:nvGrpSpPr>
        <p:grpSpPr>
          <a:xfrm>
            <a:off x="477832" y="1490464"/>
            <a:ext cx="8198624" cy="3334112"/>
            <a:chOff x="539552" y="1490464"/>
            <a:chExt cx="7982600" cy="3240360"/>
          </a:xfrm>
        </p:grpSpPr>
        <p:sp>
          <p:nvSpPr>
            <p:cNvPr id="5" name="Shape 3"/>
            <p:cNvSpPr/>
            <p:nvPr/>
          </p:nvSpPr>
          <p:spPr>
            <a:xfrm>
              <a:off x="3704456" y="2673424"/>
              <a:ext cx="1371600" cy="1371600"/>
            </a:xfrm>
            <a:prstGeom prst="gear9">
              <a:avLst/>
            </a:prstGeom>
            <a:solidFill>
              <a:srgbClr val="920000"/>
            </a:solidFill>
            <a:ln w="15240">
              <a:solidFill>
                <a:srgbClr val="C00000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3899912" y="3020896"/>
              <a:ext cx="960120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Listed</a:t>
              </a:r>
              <a:endParaRPr lang="en-US" sz="12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Company</a:t>
              </a:r>
              <a:endParaRPr lang="en-US" sz="12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公開市場平台</a:t>
              </a:r>
              <a:endParaRPr lang="en-US" sz="12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5074920" y="1628800"/>
              <a:ext cx="3291840" cy="530352"/>
            </a:xfrm>
            <a:prstGeom prst="roundRect">
              <a:avLst>
                <a:gd name="adj" fmla="val 10345"/>
              </a:avLst>
            </a:prstGeom>
            <a:solidFill>
              <a:schemeClr val="accent3">
                <a:lumMod val="95000"/>
              </a:scheme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5221224" y="1700808"/>
              <a:ext cx="31546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• 現增、CB／ECB、公司債</a:t>
              </a:r>
            </a:p>
            <a:p>
              <a:pPr marL="0" indent="0">
                <a:buNone/>
              </a:pPr>
              <a:r>
                <a:rPr 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• 支應擴產、研發與海外布局</a:t>
              </a:r>
            </a:p>
          </p:txBody>
        </p:sp>
        <p:sp>
          <p:nvSpPr>
            <p:cNvPr id="9" name="Shape 7"/>
            <p:cNvSpPr/>
            <p:nvPr/>
          </p:nvSpPr>
          <p:spPr>
            <a:xfrm>
              <a:off x="3834760" y="1490464"/>
              <a:ext cx="1097280" cy="1097280"/>
            </a:xfrm>
            <a:prstGeom prst="gear9">
              <a:avLst/>
            </a:prstGeom>
            <a:solidFill>
              <a:srgbClr val="E8D2A8"/>
            </a:solidFill>
            <a:ln w="8890">
              <a:solidFill>
                <a:srgbClr val="BFA680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4063360" y="1723648"/>
              <a:ext cx="640080" cy="6400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4169664" y="1960192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3880480" y="1939672"/>
              <a:ext cx="10058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持續融資</a:t>
              </a:r>
              <a:endParaRPr lang="en-US" sz="10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539552" y="2380816"/>
              <a:ext cx="2057400" cy="530352"/>
            </a:xfrm>
            <a:prstGeom prst="roundRect">
              <a:avLst>
                <a:gd name="adj" fmla="val 10345"/>
              </a:avLst>
            </a:prstGeom>
            <a:solidFill>
              <a:schemeClr val="accent3">
                <a:lumMod val="95000"/>
              </a:scheme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5" name="Text 12"/>
            <p:cNvSpPr/>
            <p:nvPr/>
          </p:nvSpPr>
          <p:spPr>
            <a:xfrm>
              <a:off x="685856" y="2452824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• 現金、換股與股權工具</a:t>
              </a:r>
            </a:p>
            <a:p>
              <a:pPr marL="0" indent="0">
                <a:buNone/>
              </a:pPr>
              <a:r>
                <a:rPr 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• 提高整合與擴張彈性</a:t>
              </a:r>
            </a:p>
          </p:txBody>
        </p:sp>
        <p:sp>
          <p:nvSpPr>
            <p:cNvPr id="16" name="Shape 13"/>
            <p:cNvSpPr/>
            <p:nvPr/>
          </p:nvSpPr>
          <p:spPr>
            <a:xfrm>
              <a:off x="2633472" y="2197936"/>
              <a:ext cx="1143000" cy="1143000"/>
            </a:xfrm>
            <a:prstGeom prst="gear9">
              <a:avLst/>
            </a:prstGeom>
            <a:solidFill>
              <a:srgbClr val="D4B179"/>
            </a:solidFill>
            <a:ln w="8890">
              <a:solidFill>
                <a:srgbClr val="BFA680"/>
              </a:solidFill>
              <a:prstDash val="solid"/>
            </a:ln>
          </p:spPr>
        </p:sp>
        <p:sp>
          <p:nvSpPr>
            <p:cNvPr id="17" name="Shape 14"/>
            <p:cNvSpPr/>
            <p:nvPr/>
          </p:nvSpPr>
          <p:spPr>
            <a:xfrm>
              <a:off x="2862072" y="2426536"/>
              <a:ext cx="685800" cy="6858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" name="Text 15"/>
            <p:cNvSpPr/>
            <p:nvPr/>
          </p:nvSpPr>
          <p:spPr>
            <a:xfrm>
              <a:off x="3008376" y="2581984"/>
              <a:ext cx="393192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" name="Text 16"/>
            <p:cNvSpPr/>
            <p:nvPr/>
          </p:nvSpPr>
          <p:spPr>
            <a:xfrm>
              <a:off x="2679192" y="2642592"/>
              <a:ext cx="10515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併購籌碼</a:t>
              </a:r>
              <a:endParaRPr lang="en-US" sz="10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" name="Shape 17"/>
            <p:cNvSpPr/>
            <p:nvPr/>
          </p:nvSpPr>
          <p:spPr>
            <a:xfrm>
              <a:off x="6372200" y="2490544"/>
              <a:ext cx="1994560" cy="603504"/>
            </a:xfrm>
            <a:prstGeom prst="roundRect">
              <a:avLst>
                <a:gd name="adj" fmla="val 9091"/>
              </a:avLst>
            </a:prstGeom>
            <a:solidFill>
              <a:schemeClr val="accent3">
                <a:lumMod val="95000"/>
              </a:scheme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21" name="Text 18"/>
            <p:cNvSpPr/>
            <p:nvPr/>
          </p:nvSpPr>
          <p:spPr>
            <a:xfrm>
              <a:off x="6518504" y="2562552"/>
              <a:ext cx="18288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• 員工認股、限制員工權利新股</a:t>
              </a:r>
            </a:p>
            <a:p>
              <a:pPr marL="0" indent="0">
                <a:buNone/>
              </a:pPr>
              <a:r>
                <a:rPr 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• 讓核心人才分享成長成果</a:t>
              </a:r>
            </a:p>
          </p:txBody>
        </p:sp>
        <p:sp>
          <p:nvSpPr>
            <p:cNvPr id="22" name="Shape 19"/>
            <p:cNvSpPr/>
            <p:nvPr/>
          </p:nvSpPr>
          <p:spPr>
            <a:xfrm>
              <a:off x="5004048" y="2210544"/>
              <a:ext cx="1143000" cy="1143000"/>
            </a:xfrm>
            <a:prstGeom prst="gear9">
              <a:avLst/>
            </a:prstGeom>
            <a:solidFill>
              <a:srgbClr val="E2C889"/>
            </a:solidFill>
            <a:ln w="8890">
              <a:solidFill>
                <a:srgbClr val="BFA680"/>
              </a:solidFill>
              <a:prstDash val="solid"/>
            </a:ln>
          </p:spPr>
        </p:sp>
        <p:sp>
          <p:nvSpPr>
            <p:cNvPr id="23" name="Shape 20"/>
            <p:cNvSpPr/>
            <p:nvPr/>
          </p:nvSpPr>
          <p:spPr>
            <a:xfrm>
              <a:off x="5232648" y="2439144"/>
              <a:ext cx="685800" cy="6858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4" name="Text 21"/>
            <p:cNvSpPr/>
            <p:nvPr/>
          </p:nvSpPr>
          <p:spPr>
            <a:xfrm>
              <a:off x="5513832" y="2682568"/>
              <a:ext cx="393192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5" name="Text 22"/>
            <p:cNvSpPr/>
            <p:nvPr/>
          </p:nvSpPr>
          <p:spPr>
            <a:xfrm>
              <a:off x="5049768" y="2676912"/>
              <a:ext cx="10515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人才激勵</a:t>
              </a:r>
              <a:endParaRPr lang="en-US" sz="10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6" name="Shape 23"/>
            <p:cNvSpPr/>
            <p:nvPr/>
          </p:nvSpPr>
          <p:spPr>
            <a:xfrm>
              <a:off x="539552" y="3834712"/>
              <a:ext cx="2203648" cy="530352"/>
            </a:xfrm>
            <a:prstGeom prst="roundRect">
              <a:avLst>
                <a:gd name="adj" fmla="val 10345"/>
              </a:avLst>
            </a:prstGeom>
            <a:solidFill>
              <a:schemeClr val="accent3">
                <a:lumMod val="95000"/>
              </a:scheme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27" name="Text 24"/>
            <p:cNvSpPr/>
            <p:nvPr/>
          </p:nvSpPr>
          <p:spPr>
            <a:xfrm>
              <a:off x="713232" y="3906720"/>
              <a:ext cx="194767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• 價格發現與交易流動性</a:t>
              </a:r>
            </a:p>
            <a:p>
              <a:pPr marL="0" indent="0">
                <a:buNone/>
              </a:pPr>
              <a:r>
                <a:rPr 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• 使股權更具可交易性</a:t>
              </a:r>
            </a:p>
          </p:txBody>
        </p:sp>
        <p:sp>
          <p:nvSpPr>
            <p:cNvPr id="28" name="Shape 25"/>
            <p:cNvSpPr/>
            <p:nvPr/>
          </p:nvSpPr>
          <p:spPr>
            <a:xfrm>
              <a:off x="2826648" y="3633544"/>
              <a:ext cx="1097280" cy="1097280"/>
            </a:xfrm>
            <a:prstGeom prst="gear9">
              <a:avLst/>
            </a:prstGeom>
            <a:solidFill>
              <a:srgbClr val="E1B3A9"/>
            </a:solidFill>
            <a:ln w="8890">
              <a:solidFill>
                <a:srgbClr val="BFA680"/>
              </a:solidFill>
              <a:prstDash val="solid"/>
            </a:ln>
          </p:spPr>
        </p:sp>
        <p:sp>
          <p:nvSpPr>
            <p:cNvPr id="30" name="Shape 26"/>
            <p:cNvSpPr/>
            <p:nvPr/>
          </p:nvSpPr>
          <p:spPr>
            <a:xfrm>
              <a:off x="3055248" y="3862144"/>
              <a:ext cx="640080" cy="6400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" name="Text 27"/>
            <p:cNvSpPr/>
            <p:nvPr/>
          </p:nvSpPr>
          <p:spPr>
            <a:xfrm>
              <a:off x="3273552" y="3944440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2" name="Text 28"/>
            <p:cNvSpPr/>
            <p:nvPr/>
          </p:nvSpPr>
          <p:spPr>
            <a:xfrm>
              <a:off x="2872368" y="4083896"/>
              <a:ext cx="10058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股東流動性</a:t>
              </a:r>
              <a:endParaRPr lang="en-US" sz="10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3" name="Shape 29"/>
            <p:cNvSpPr/>
            <p:nvPr/>
          </p:nvSpPr>
          <p:spPr>
            <a:xfrm>
              <a:off x="6135568" y="3862144"/>
              <a:ext cx="2240336" cy="603504"/>
            </a:xfrm>
            <a:prstGeom prst="roundRect">
              <a:avLst>
                <a:gd name="adj" fmla="val 9091"/>
              </a:avLst>
            </a:prstGeom>
            <a:solidFill>
              <a:schemeClr val="accent3">
                <a:lumMod val="95000"/>
              </a:scheme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34" name="Text 30"/>
            <p:cNvSpPr/>
            <p:nvPr/>
          </p:nvSpPr>
          <p:spPr>
            <a:xfrm>
              <a:off x="6281872" y="3934152"/>
              <a:ext cx="224028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• 資訊揭露、公司治理、外部監督</a:t>
              </a:r>
            </a:p>
            <a:p>
              <a:pPr marL="0" indent="0">
                <a:buNone/>
              </a:pPr>
              <a:r>
                <a:rPr 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• 提升客戶、銀行與投資人信任</a:t>
              </a:r>
            </a:p>
          </p:txBody>
        </p:sp>
        <p:sp>
          <p:nvSpPr>
            <p:cNvPr id="35" name="Shape 31"/>
            <p:cNvSpPr/>
            <p:nvPr/>
          </p:nvSpPr>
          <p:spPr>
            <a:xfrm>
              <a:off x="4869160" y="3578696"/>
              <a:ext cx="1143000" cy="1143000"/>
            </a:xfrm>
            <a:prstGeom prst="gear9">
              <a:avLst/>
            </a:prstGeom>
            <a:solidFill>
              <a:srgbClr val="D8D8D8"/>
            </a:solidFill>
            <a:ln w="8890">
              <a:solidFill>
                <a:srgbClr val="BFA680"/>
              </a:solidFill>
              <a:prstDash val="solid"/>
            </a:ln>
          </p:spPr>
        </p:sp>
        <p:sp>
          <p:nvSpPr>
            <p:cNvPr id="36" name="Shape 32"/>
            <p:cNvSpPr/>
            <p:nvPr/>
          </p:nvSpPr>
          <p:spPr>
            <a:xfrm>
              <a:off x="5097760" y="3807296"/>
              <a:ext cx="685800" cy="6858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7" name="Text 33"/>
            <p:cNvSpPr/>
            <p:nvPr/>
          </p:nvSpPr>
          <p:spPr>
            <a:xfrm>
              <a:off x="5084064" y="3971872"/>
              <a:ext cx="393192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8" name="Text 34"/>
            <p:cNvSpPr/>
            <p:nvPr/>
          </p:nvSpPr>
          <p:spPr>
            <a:xfrm>
              <a:off x="4914880" y="4051904"/>
              <a:ext cx="10515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市場信用</a:t>
              </a:r>
              <a:endParaRPr lang="en-US" sz="10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0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與治理</a:t>
              </a:r>
              <a:endParaRPr lang="en-US" sz="10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40" name="Shape 36"/>
          <p:cNvSpPr/>
          <p:nvPr/>
        </p:nvSpPr>
        <p:spPr>
          <a:xfrm>
            <a:off x="502920" y="5045176"/>
            <a:ext cx="54864" cy="256032"/>
          </a:xfrm>
          <a:prstGeom prst="rect">
            <a:avLst/>
          </a:prstGeom>
          <a:solidFill>
            <a:srgbClr val="920000"/>
          </a:solidFill>
          <a:ln w="12700">
            <a:solidFill>
              <a:srgbClr val="920000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21792" y="50703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上市後真正改變的是什麼？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Shape 38"/>
          <p:cNvSpPr/>
          <p:nvPr/>
        </p:nvSpPr>
        <p:spPr>
          <a:xfrm>
            <a:off x="539552" y="5373216"/>
            <a:ext cx="1975048" cy="566928"/>
          </a:xfrm>
          <a:prstGeom prst="roundRect">
            <a:avLst>
              <a:gd name="adj" fmla="val 6452"/>
            </a:avLst>
          </a:prstGeom>
          <a:solidFill>
            <a:schemeClr val="accent3">
              <a:lumMod val="9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749808" y="5445224"/>
            <a:ext cx="274320" cy="274320"/>
          </a:xfrm>
          <a:prstGeom prst="ellipse">
            <a:avLst/>
          </a:prstGeom>
          <a:solidFill>
            <a:srgbClr val="920000"/>
          </a:solidFill>
          <a:ln w="12700">
            <a:solidFill>
              <a:srgbClr val="920000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749808" y="5556096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$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Text 41"/>
          <p:cNvSpPr/>
          <p:nvPr/>
        </p:nvSpPr>
        <p:spPr>
          <a:xfrm>
            <a:off x="1097280" y="547380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募資能力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Text 42"/>
          <p:cNvSpPr/>
          <p:nvPr/>
        </p:nvSpPr>
        <p:spPr>
          <a:xfrm>
            <a:off x="1097280" y="571268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從一次募資，</a:t>
            </a:r>
            <a:r>
              <a:rPr lang="en-US" sz="8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轉為持續取得資本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Shape 43"/>
          <p:cNvSpPr/>
          <p:nvPr/>
        </p:nvSpPr>
        <p:spPr>
          <a:xfrm>
            <a:off x="2651760" y="5373216"/>
            <a:ext cx="1874520" cy="566928"/>
          </a:xfrm>
          <a:prstGeom prst="roundRect">
            <a:avLst>
              <a:gd name="adj" fmla="val 6452"/>
            </a:avLst>
          </a:prstGeom>
          <a:solidFill>
            <a:schemeClr val="accent3">
              <a:lumMod val="9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2761488" y="5445224"/>
            <a:ext cx="274320" cy="274320"/>
          </a:xfrm>
          <a:prstGeom prst="ellipse">
            <a:avLst/>
          </a:prstGeom>
          <a:solidFill>
            <a:srgbClr val="920000"/>
          </a:solidFill>
          <a:ln w="12700">
            <a:solidFill>
              <a:srgbClr val="920000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2761488" y="5556096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↗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Text 46"/>
          <p:cNvSpPr/>
          <p:nvPr/>
        </p:nvSpPr>
        <p:spPr>
          <a:xfrm>
            <a:off x="3108960" y="547380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資本工具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Text 47"/>
          <p:cNvSpPr/>
          <p:nvPr/>
        </p:nvSpPr>
        <p:spPr>
          <a:xfrm>
            <a:off x="3108960" y="571268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股票可成為融資、</a:t>
            </a:r>
            <a:r>
              <a:rPr lang="en-US" sz="8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併購與激勵工具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Shape 48"/>
          <p:cNvSpPr/>
          <p:nvPr/>
        </p:nvSpPr>
        <p:spPr>
          <a:xfrm>
            <a:off x="4663440" y="5373216"/>
            <a:ext cx="1874520" cy="566928"/>
          </a:xfrm>
          <a:prstGeom prst="roundRect">
            <a:avLst>
              <a:gd name="adj" fmla="val 6452"/>
            </a:avLst>
          </a:prstGeom>
          <a:solidFill>
            <a:schemeClr val="accent3">
              <a:lumMod val="9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4773168" y="5445224"/>
            <a:ext cx="274320" cy="274320"/>
          </a:xfrm>
          <a:prstGeom prst="ellipse">
            <a:avLst/>
          </a:prstGeom>
          <a:solidFill>
            <a:srgbClr val="920000"/>
          </a:solidFill>
          <a:ln w="12700">
            <a:solidFill>
              <a:srgbClr val="920000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4773168" y="5556096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◆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Text 51"/>
          <p:cNvSpPr/>
          <p:nvPr/>
        </p:nvSpPr>
        <p:spPr>
          <a:xfrm>
            <a:off x="5120640" y="547380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市場定價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Text 52"/>
          <p:cNvSpPr/>
          <p:nvPr/>
        </p:nvSpPr>
        <p:spPr>
          <a:xfrm>
            <a:off x="5120640" y="571268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由公開市場持續進行價格發現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Shape 53"/>
          <p:cNvSpPr/>
          <p:nvPr/>
        </p:nvSpPr>
        <p:spPr>
          <a:xfrm>
            <a:off x="6675119" y="5373216"/>
            <a:ext cx="1987629" cy="566928"/>
          </a:xfrm>
          <a:prstGeom prst="roundRect">
            <a:avLst>
              <a:gd name="adj" fmla="val 6452"/>
            </a:avLst>
          </a:prstGeom>
          <a:solidFill>
            <a:srgbClr val="F6F4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6784848" y="5445224"/>
            <a:ext cx="274320" cy="274320"/>
          </a:xfrm>
          <a:prstGeom prst="ellipse">
            <a:avLst/>
          </a:prstGeom>
          <a:solidFill>
            <a:srgbClr val="920000"/>
          </a:solidFill>
          <a:ln w="12700">
            <a:solidFill>
              <a:srgbClr val="920000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6784848" y="5556096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✓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Text 56"/>
          <p:cNvSpPr/>
          <p:nvPr/>
        </p:nvSpPr>
        <p:spPr>
          <a:xfrm>
            <a:off x="7132320" y="547380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企業體質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Text 57"/>
          <p:cNvSpPr/>
          <p:nvPr/>
        </p:nvSpPr>
        <p:spPr>
          <a:xfrm>
            <a:off x="7132320" y="571268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治理、</a:t>
            </a:r>
            <a:r>
              <a:rPr lang="en-US" sz="8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透明度與可驗證性同步提升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Shape 58"/>
          <p:cNvSpPr/>
          <p:nvPr/>
        </p:nvSpPr>
        <p:spPr>
          <a:xfrm>
            <a:off x="539552" y="6091032"/>
            <a:ext cx="8123196" cy="290296"/>
          </a:xfrm>
          <a:prstGeom prst="roundRect">
            <a:avLst>
              <a:gd name="adj" fmla="val 14286"/>
            </a:avLst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1005840" y="6165304"/>
            <a:ext cx="7040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上市不是終點，而是企業取得「資本市場貨幣」</a:t>
            </a:r>
            <a:r>
              <a:rPr lang="en-US" sz="1200" b="1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的起點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5" name="Rectangle 2">
            <a:extLst>
              <a:ext uri="{FF2B5EF4-FFF2-40B4-BE49-F238E27FC236}">
                <a16:creationId xmlns:a16="http://schemas.microsoft.com/office/drawing/2014/main" id="{38156531-6C2A-4328-A6BF-70F106285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376" y="395914"/>
            <a:ext cx="7312025" cy="6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帶給企業的，不只是一次募資</a:t>
            </a:r>
            <a:endParaRPr lang="zh-TW" altLang="en-US" sz="24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CEC9DBDC-821B-455B-8662-A662D5A9090E}"/>
              </a:ext>
            </a:extLst>
          </p:cNvPr>
          <p:cNvSpPr txBox="1"/>
          <p:nvPr/>
        </p:nvSpPr>
        <p:spPr>
          <a:xfrm>
            <a:off x="455376" y="1058314"/>
            <a:ext cx="8207373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的意義，不只是募得一筆資金，而是建立可反覆使用的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Public Market </a:t>
            </a: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Capital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42862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2">
            <a:extLst>
              <a:ext uri="{FF2B5EF4-FFF2-40B4-BE49-F238E27FC236}">
                <a16:creationId xmlns:a16="http://schemas.microsoft.com/office/drawing/2014/main" id="{38156531-6C2A-4328-A6BF-70F106285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376" y="395914"/>
            <a:ext cx="7312025" cy="6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zh-TW" altLang="en-US" sz="2400" dirty="0">
                <a:solidFill>
                  <a:srgbClr val="000000"/>
                </a:solidFill>
                <a:latin typeface="Arial"/>
                <a:ea typeface="微軟正黑體" panose="020B0604030504040204" pitchFamily="34" charset="-120"/>
              </a:rPr>
              <a:t>如果企業把 </a:t>
            </a:r>
            <a:r>
              <a:rPr lang="en-US" altLang="zh-TW" sz="2400" dirty="0">
                <a:solidFill>
                  <a:srgbClr val="000000"/>
                </a:solidFill>
                <a:latin typeface="Arial"/>
                <a:ea typeface="微軟正黑體" panose="020B0604030504040204" pitchFamily="34" charset="-120"/>
              </a:rPr>
              <a:t>IPO </a:t>
            </a:r>
            <a:r>
              <a:rPr lang="zh-TW" altLang="en-US" sz="2400" dirty="0">
                <a:solidFill>
                  <a:srgbClr val="000000"/>
                </a:solidFill>
                <a:latin typeface="Arial"/>
                <a:ea typeface="微軟正黑體" panose="020B0604030504040204" pitchFamily="34" charset="-120"/>
              </a:rPr>
              <a:t>當成三年後的目標，可提前進行準備</a:t>
            </a:r>
          </a:p>
        </p:txBody>
      </p:sp>
      <p:sp>
        <p:nvSpPr>
          <p:cNvPr id="34" name="Rectangle 2"/>
          <p:cNvSpPr txBox="1">
            <a:spLocks noChangeArrowheads="1"/>
          </p:cNvSpPr>
          <p:nvPr/>
        </p:nvSpPr>
        <p:spPr bwMode="auto">
          <a:xfrm>
            <a:off x="-3386648" y="1709494"/>
            <a:ext cx="8784976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808080">
                    <a:lumMod val="75000"/>
                  </a:srgbClr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lvl="0">
              <a:defRPr/>
            </a:pP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CEC9DBDC-821B-455B-8662-A662D5A9090E}"/>
              </a:ext>
            </a:extLst>
          </p:cNvPr>
          <p:cNvSpPr txBox="1"/>
          <p:nvPr/>
        </p:nvSpPr>
        <p:spPr>
          <a:xfrm>
            <a:off x="455376" y="1058314"/>
            <a:ext cx="8207373" cy="335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 Journey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應從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Business Readiness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 Readiness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Capital Market Readiness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同步啟動</a:t>
            </a:r>
            <a:endParaRPr kumimoji="1" lang="en-US" altLang="zh-TW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7200" y="1029876"/>
            <a:ext cx="8183879" cy="22860"/>
          </a:xfrm>
          <a:prstGeom prst="rect">
            <a:avLst/>
          </a:prstGeom>
          <a:solidFill>
            <a:srgbClr val="A67F4B"/>
          </a:solidFill>
          <a:ln w="6350"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Text 2"/>
          <p:cNvSpPr/>
          <p:nvPr/>
        </p:nvSpPr>
        <p:spPr>
          <a:xfrm>
            <a:off x="301752" y="1543248"/>
            <a:ext cx="79552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endParaRPr lang="en-US" sz="9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 3"/>
          <p:cNvSpPr/>
          <p:nvPr/>
        </p:nvSpPr>
        <p:spPr>
          <a:xfrm>
            <a:off x="274320" y="1799280"/>
            <a:ext cx="19202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T-36～24M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Shape 4"/>
          <p:cNvSpPr/>
          <p:nvPr/>
        </p:nvSpPr>
        <p:spPr>
          <a:xfrm>
            <a:off x="274320" y="2091888"/>
            <a:ext cx="192024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0160">
            <a:solidFill>
              <a:srgbClr val="D0D0D0"/>
            </a:solidFill>
            <a:prstDash val="solid"/>
          </a:ln>
          <a:effectLst>
            <a:outerShdw blurRad="1270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39" name="Shape 5"/>
          <p:cNvSpPr/>
          <p:nvPr/>
        </p:nvSpPr>
        <p:spPr>
          <a:xfrm>
            <a:off x="320040" y="2137608"/>
            <a:ext cx="73152" cy="987552"/>
          </a:xfrm>
          <a:prstGeom prst="rect">
            <a:avLst/>
          </a:prstGeom>
          <a:solidFill>
            <a:srgbClr val="B40000"/>
          </a:solidFill>
          <a:ln w="12700">
            <a:solidFill>
              <a:srgbClr val="B40000"/>
            </a:solidFill>
            <a:prstDash val="solid"/>
          </a:ln>
        </p:spPr>
      </p:sp>
      <p:sp>
        <p:nvSpPr>
          <p:cNvPr id="40" name="Text 6"/>
          <p:cNvSpPr/>
          <p:nvPr/>
        </p:nvSpPr>
        <p:spPr>
          <a:xfrm>
            <a:off x="534960" y="2165040"/>
            <a:ext cx="144475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Business Readiness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 7"/>
          <p:cNvSpPr/>
          <p:nvPr/>
        </p:nvSpPr>
        <p:spPr>
          <a:xfrm>
            <a:off x="502920" y="2439360"/>
            <a:ext cx="1609344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商業模式清楚、營收規模形成、KPI</a:t>
            </a:r>
            <a:r>
              <a:rPr lang="en-US" sz="10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</a:t>
            </a:r>
            <a:r>
              <a:rPr lang="en-US" sz="1000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可持續追蹤；同步檢視股權結構與資本形成</a:t>
            </a:r>
            <a:r>
              <a:rPr lang="zh-TW" altLang="en-US" sz="10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等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Text 8"/>
          <p:cNvSpPr/>
          <p:nvPr/>
        </p:nvSpPr>
        <p:spPr>
          <a:xfrm>
            <a:off x="2276856" y="2521656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99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›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 9"/>
          <p:cNvSpPr/>
          <p:nvPr/>
        </p:nvSpPr>
        <p:spPr>
          <a:xfrm>
            <a:off x="2468880" y="1799280"/>
            <a:ext cx="19202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T-24～12M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Shape 10"/>
          <p:cNvSpPr/>
          <p:nvPr/>
        </p:nvSpPr>
        <p:spPr>
          <a:xfrm>
            <a:off x="2468880" y="2091888"/>
            <a:ext cx="192024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0160">
            <a:solidFill>
              <a:srgbClr val="D0D0D0"/>
            </a:solidFill>
            <a:prstDash val="solid"/>
          </a:ln>
          <a:effectLst>
            <a:outerShdw blurRad="1270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45" name="Shape 11"/>
          <p:cNvSpPr/>
          <p:nvPr/>
        </p:nvSpPr>
        <p:spPr>
          <a:xfrm>
            <a:off x="2514600" y="2137608"/>
            <a:ext cx="73152" cy="987552"/>
          </a:xfrm>
          <a:prstGeom prst="rect">
            <a:avLst/>
          </a:prstGeom>
          <a:solidFill>
            <a:srgbClr val="B40000"/>
          </a:solidFill>
          <a:ln w="12700">
            <a:solidFill>
              <a:srgbClr val="B40000"/>
            </a:solidFill>
            <a:prstDash val="solid"/>
          </a:ln>
        </p:spPr>
      </p:sp>
      <p:sp>
        <p:nvSpPr>
          <p:cNvPr id="46" name="Text 12"/>
          <p:cNvSpPr/>
          <p:nvPr/>
        </p:nvSpPr>
        <p:spPr>
          <a:xfrm>
            <a:off x="2699792" y="2165040"/>
            <a:ext cx="144475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IPO Readiness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Text 13"/>
          <p:cNvSpPr/>
          <p:nvPr/>
        </p:nvSpPr>
        <p:spPr>
          <a:xfrm>
            <a:off x="2697480" y="2439360"/>
            <a:ext cx="1609344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內控制度、財務制度、關係人交易、董事會與公司治理</a:t>
            </a:r>
            <a:r>
              <a:rPr lang="zh-TW" altLang="en-US" sz="10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等</a:t>
            </a:r>
            <a:r>
              <a:rPr lang="en-US" sz="10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，</a:t>
            </a:r>
            <a:r>
              <a:rPr lang="en-US" sz="1000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降低送件風險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Text 14"/>
          <p:cNvSpPr/>
          <p:nvPr/>
        </p:nvSpPr>
        <p:spPr>
          <a:xfrm>
            <a:off x="4471416" y="2521656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99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›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Text 15"/>
          <p:cNvSpPr/>
          <p:nvPr/>
        </p:nvSpPr>
        <p:spPr>
          <a:xfrm>
            <a:off x="4663440" y="1799280"/>
            <a:ext cx="19202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T-12～6M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Shape 16"/>
          <p:cNvSpPr/>
          <p:nvPr/>
        </p:nvSpPr>
        <p:spPr>
          <a:xfrm>
            <a:off x="4663440" y="2091888"/>
            <a:ext cx="192024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0160">
            <a:solidFill>
              <a:srgbClr val="D0D0D0"/>
            </a:solidFill>
            <a:prstDash val="solid"/>
          </a:ln>
          <a:effectLst>
            <a:outerShdw blurRad="1270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51" name="Shape 17"/>
          <p:cNvSpPr/>
          <p:nvPr/>
        </p:nvSpPr>
        <p:spPr>
          <a:xfrm>
            <a:off x="4709160" y="2137608"/>
            <a:ext cx="73152" cy="987552"/>
          </a:xfrm>
          <a:prstGeom prst="rect">
            <a:avLst/>
          </a:prstGeom>
          <a:solidFill>
            <a:srgbClr val="B40000"/>
          </a:solidFill>
          <a:ln w="12700">
            <a:solidFill>
              <a:srgbClr val="B40000"/>
            </a:solidFill>
            <a:prstDash val="solid"/>
          </a:ln>
        </p:spPr>
      </p:sp>
      <p:sp>
        <p:nvSpPr>
          <p:cNvPr id="52" name="Text 18"/>
          <p:cNvSpPr/>
          <p:nvPr/>
        </p:nvSpPr>
        <p:spPr>
          <a:xfrm>
            <a:off x="4860032" y="2165800"/>
            <a:ext cx="1948840" cy="242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Capital Market Readiness</a:t>
            </a:r>
            <a:endParaRPr lang="en-US" sz="11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Text 19"/>
          <p:cNvSpPr/>
          <p:nvPr/>
        </p:nvSpPr>
        <p:spPr>
          <a:xfrm>
            <a:off x="4892040" y="2439360"/>
            <a:ext cx="1609344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建立 Positioning、Peer Group、Equity Story 與 KPI </a:t>
            </a:r>
            <a:r>
              <a:rPr lang="en-US" sz="1000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Disclosure，並評估興櫃／創新板等路徑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Text 20"/>
          <p:cNvSpPr/>
          <p:nvPr/>
        </p:nvSpPr>
        <p:spPr>
          <a:xfrm>
            <a:off x="6665976" y="2521656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99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›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Text 21"/>
          <p:cNvSpPr/>
          <p:nvPr/>
        </p:nvSpPr>
        <p:spPr>
          <a:xfrm>
            <a:off x="6858000" y="1799280"/>
            <a:ext cx="19202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IPO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Shape 22"/>
          <p:cNvSpPr/>
          <p:nvPr/>
        </p:nvSpPr>
        <p:spPr>
          <a:xfrm>
            <a:off x="6858000" y="2091888"/>
            <a:ext cx="192024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0160">
            <a:solidFill>
              <a:srgbClr val="D0D0D0"/>
            </a:solidFill>
            <a:prstDash val="solid"/>
          </a:ln>
          <a:effectLst>
            <a:outerShdw blurRad="1270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57" name="Shape 23"/>
          <p:cNvSpPr/>
          <p:nvPr/>
        </p:nvSpPr>
        <p:spPr>
          <a:xfrm>
            <a:off x="6903720" y="2137608"/>
            <a:ext cx="73152" cy="987552"/>
          </a:xfrm>
          <a:prstGeom prst="rect">
            <a:avLst/>
          </a:prstGeom>
          <a:solidFill>
            <a:srgbClr val="B40000"/>
          </a:solidFill>
          <a:ln w="12700">
            <a:solidFill>
              <a:srgbClr val="B40000"/>
            </a:solidFill>
            <a:prstDash val="solid"/>
          </a:ln>
        </p:spPr>
      </p:sp>
      <p:sp>
        <p:nvSpPr>
          <p:cNvPr id="58" name="Text 24"/>
          <p:cNvSpPr/>
          <p:nvPr/>
        </p:nvSpPr>
        <p:spPr>
          <a:xfrm>
            <a:off x="7087688" y="2165040"/>
            <a:ext cx="144475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Execution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Text 25"/>
          <p:cNvSpPr/>
          <p:nvPr/>
        </p:nvSpPr>
        <p:spPr>
          <a:xfrm>
            <a:off x="7086600" y="2439360"/>
            <a:ext cx="1609344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申請、審查、承銷、Roadshow、定價與掛牌；重點是把市場認知轉為</a:t>
            </a:r>
            <a:r>
              <a:rPr lang="zh-TW" altLang="en-US" sz="1000" dirty="0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可用</a:t>
            </a:r>
            <a:r>
              <a:rPr lang="en-US" sz="1000" dirty="0" err="1">
                <a:solidFill>
                  <a:srgbClr val="11111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需求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Text 28"/>
          <p:cNvSpPr/>
          <p:nvPr/>
        </p:nvSpPr>
        <p:spPr>
          <a:xfrm>
            <a:off x="1005840" y="3645024"/>
            <a:ext cx="7040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IPO 真正困難的不是送件：四個面向必須提前處理</a:t>
            </a:r>
            <a:endParaRPr lang="en-US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184597"/>
              </p:ext>
            </p:extLst>
          </p:nvPr>
        </p:nvGraphicFramePr>
        <p:xfrm>
          <a:off x="393190" y="4059722"/>
          <a:ext cx="8302756" cy="2316480"/>
        </p:xfrm>
        <a:graphic>
          <a:graphicData uri="http://schemas.openxmlformats.org/drawingml/2006/table">
            <a:tbl>
              <a:tblPr/>
              <a:tblGrid>
                <a:gridCol w="2075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5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5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5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財務品質</a:t>
                      </a:r>
                      <a:endParaRPr lang="zh-TW" altLang="en-US" sz="14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治理與法遵</a:t>
                      </a:r>
                      <a:endParaRPr lang="zh-TW" altLang="en-US" sz="14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市場與營運</a:t>
                      </a:r>
                      <a:endParaRPr lang="zh-TW" altLang="en-US" sz="14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sz="14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執行與定價</a:t>
                      </a:r>
                      <a:endParaRPr lang="zh-TW" altLang="en-US" sz="14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029"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獲利</a:t>
                      </a: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能力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營運狀況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客戶集中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關係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</a:t>
                      </a: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交易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重大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非常規</a:t>
                      </a: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交易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營運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資金／現金</a:t>
                      </a: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流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財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報編製品質</a:t>
                      </a:r>
                    </a:p>
                  </a:txBody>
                  <a:tcPr anchor="ctr">
                    <a:lnL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內控制</a:t>
                      </a: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度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內部稽核、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董事會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／獨</a:t>
                      </a: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董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股權結構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誠信原則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資訊揭露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財務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業務</a:t>
                      </a: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獨立性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勞資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與環境法遵</a:t>
                      </a:r>
                    </a:p>
                  </a:txBody>
                  <a:tcPr anchor="ctr">
                    <a:lnL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未來業務發展</a:t>
                      </a: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性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市場競爭力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產品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開發與</a:t>
                      </a: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行銷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產業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經營</a:t>
                      </a: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風險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團隊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核心</a:t>
                      </a: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競爭力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智財權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重要合約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人才延續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保密</a:t>
                      </a:r>
                    </a:p>
                  </a:txBody>
                  <a:tcPr anchor="ctr">
                    <a:lnL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興櫃價格</a:t>
                      </a: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發現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投資人回饋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承銷結構</a:t>
                      </a:r>
                      <a:endParaRPr lang="en-US" altLang="zh-TW" sz="1400" dirty="0" smtClean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Roadshow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dirty="0" smtClean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定價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274320" y="3203684"/>
            <a:ext cx="798271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註：時程為規劃示意，實際進度依公司條件、掛牌市場與輔導狀況而異</a:t>
            </a:r>
          </a:p>
        </p:txBody>
      </p:sp>
    </p:spTree>
    <p:extLst>
      <p:ext uri="{BB962C8B-B14F-4D97-AF65-F5344CB8AC3E}">
        <p14:creationId xmlns:p14="http://schemas.microsoft.com/office/powerpoint/2010/main" val="1483997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邊形 11">
            <a:extLst>
              <a:ext uri="{FF2B5EF4-FFF2-40B4-BE49-F238E27FC236}">
                <a16:creationId xmlns:a16="http://schemas.microsoft.com/office/drawing/2014/main" id="{7B1869D2-CF1B-489F-BD53-C8039EE1CB54}"/>
              </a:ext>
            </a:extLst>
          </p:cNvPr>
          <p:cNvSpPr/>
          <p:nvPr/>
        </p:nvSpPr>
        <p:spPr>
          <a:xfrm flipV="1">
            <a:off x="5856906" y="3412867"/>
            <a:ext cx="5616624" cy="1152150"/>
          </a:xfrm>
          <a:prstGeom prst="parallelogram">
            <a:avLst>
              <a:gd name="adj" fmla="val 95639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平行四邊形 10">
            <a:extLst>
              <a:ext uri="{FF2B5EF4-FFF2-40B4-BE49-F238E27FC236}">
                <a16:creationId xmlns:a16="http://schemas.microsoft.com/office/drawing/2014/main" id="{A9AFE730-5BD5-43D6-8F82-210A6602FDBD}"/>
              </a:ext>
            </a:extLst>
          </p:cNvPr>
          <p:cNvSpPr/>
          <p:nvPr/>
        </p:nvSpPr>
        <p:spPr>
          <a:xfrm flipV="1">
            <a:off x="-2016697" y="2152676"/>
            <a:ext cx="8424936" cy="936104"/>
          </a:xfrm>
          <a:prstGeom prst="parallelogram">
            <a:avLst>
              <a:gd name="adj" fmla="val 93097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9" name="圖片 18" descr="未命名">
            <a:extLst>
              <a:ext uri="{FF2B5EF4-FFF2-40B4-BE49-F238E27FC236}">
                <a16:creationId xmlns:a16="http://schemas.microsoft.com/office/drawing/2014/main" id="{51148074-7EF7-401A-8BB2-CF4751324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7" t="4184" r="2568" b="47176"/>
          <a:stretch>
            <a:fillRect/>
          </a:stretch>
        </p:blipFill>
        <p:spPr bwMode="auto">
          <a:xfrm rot="21340448">
            <a:off x="5327893" y="1420627"/>
            <a:ext cx="2457708" cy="2711632"/>
          </a:xfrm>
          <a:custGeom>
            <a:avLst/>
            <a:gdLst>
              <a:gd name="connsiteX0" fmla="*/ 765344 w 2142807"/>
              <a:gd name="connsiteY0" fmla="*/ 2072 h 2364196"/>
              <a:gd name="connsiteX1" fmla="*/ 985062 w 2142807"/>
              <a:gd name="connsiteY1" fmla="*/ 123477 h 2364196"/>
              <a:gd name="connsiteX2" fmla="*/ 2071219 w 2142807"/>
              <a:gd name="connsiteY2" fmla="*/ 1485201 h 2364196"/>
              <a:gd name="connsiteX3" fmla="*/ 2019331 w 2142807"/>
              <a:gd name="connsiteY3" fmla="*/ 1946129 h 2364196"/>
              <a:gd name="connsiteX4" fmla="*/ 1495197 w 2142807"/>
              <a:gd name="connsiteY4" fmla="*/ 2364196 h 2364196"/>
              <a:gd name="connsiteX5" fmla="*/ 0 w 2142807"/>
              <a:gd name="connsiteY5" fmla="*/ 489656 h 2364196"/>
              <a:gd name="connsiteX6" fmla="*/ 524134 w 2142807"/>
              <a:gd name="connsiteY6" fmla="*/ 71589 h 2364196"/>
              <a:gd name="connsiteX7" fmla="*/ 765344 w 2142807"/>
              <a:gd name="connsiteY7" fmla="*/ 2072 h 2364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2807" h="2364196">
                <a:moveTo>
                  <a:pt x="765344" y="2072"/>
                </a:moveTo>
                <a:cubicBezTo>
                  <a:pt x="848755" y="11461"/>
                  <a:pt x="928585" y="52672"/>
                  <a:pt x="985062" y="123477"/>
                </a:cubicBezTo>
                <a:lnTo>
                  <a:pt x="2071219" y="1485201"/>
                </a:lnTo>
                <a:cubicBezTo>
                  <a:pt x="2184173" y="1626812"/>
                  <a:pt x="2160942" y="1833176"/>
                  <a:pt x="2019331" y="1946129"/>
                </a:cubicBezTo>
                <a:lnTo>
                  <a:pt x="1495197" y="2364196"/>
                </a:lnTo>
                <a:lnTo>
                  <a:pt x="0" y="489656"/>
                </a:lnTo>
                <a:lnTo>
                  <a:pt x="524134" y="71589"/>
                </a:lnTo>
                <a:cubicBezTo>
                  <a:pt x="594939" y="15112"/>
                  <a:pt x="681933" y="-7318"/>
                  <a:pt x="765344" y="2072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圖片 19" descr="未命名">
            <a:extLst>
              <a:ext uri="{FF2B5EF4-FFF2-40B4-BE49-F238E27FC236}">
                <a16:creationId xmlns:a16="http://schemas.microsoft.com/office/drawing/2014/main" id="{C1247112-0447-41EE-A21A-7720B5C21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6" t="27738" r="10122" b="23819"/>
          <a:stretch>
            <a:fillRect/>
          </a:stretch>
        </p:blipFill>
        <p:spPr bwMode="auto">
          <a:xfrm rot="21425389">
            <a:off x="4788890" y="2346587"/>
            <a:ext cx="2382923" cy="2600675"/>
          </a:xfrm>
          <a:custGeom>
            <a:avLst/>
            <a:gdLst>
              <a:gd name="connsiteX0" fmla="*/ 639277 w 2157449"/>
              <a:gd name="connsiteY0" fmla="*/ 0 h 2354597"/>
              <a:gd name="connsiteX1" fmla="*/ 2157449 w 2157449"/>
              <a:gd name="connsiteY1" fmla="*/ 1855983 h 2354597"/>
              <a:gd name="connsiteX2" fmla="*/ 1638504 w 2157449"/>
              <a:gd name="connsiteY2" fmla="*/ 2280473 h 2354597"/>
              <a:gd name="connsiteX3" fmla="*/ 1176972 w 2157449"/>
              <a:gd name="connsiteY3" fmla="*/ 2234266 h 2354597"/>
              <a:gd name="connsiteX4" fmla="*/ 74125 w 2157449"/>
              <a:gd name="connsiteY4" fmla="*/ 886023 h 2354597"/>
              <a:gd name="connsiteX5" fmla="*/ 120332 w 2157449"/>
              <a:gd name="connsiteY5" fmla="*/ 424490 h 2354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7449" h="2354597">
                <a:moveTo>
                  <a:pt x="639277" y="0"/>
                </a:moveTo>
                <a:lnTo>
                  <a:pt x="2157449" y="1855983"/>
                </a:lnTo>
                <a:lnTo>
                  <a:pt x="1638504" y="2280473"/>
                </a:lnTo>
                <a:cubicBezTo>
                  <a:pt x="1498295" y="2395162"/>
                  <a:pt x="1291661" y="2374475"/>
                  <a:pt x="1176972" y="2234266"/>
                </a:cubicBezTo>
                <a:lnTo>
                  <a:pt x="74125" y="886023"/>
                </a:lnTo>
                <a:cubicBezTo>
                  <a:pt x="-40564" y="745814"/>
                  <a:pt x="-19877" y="539179"/>
                  <a:pt x="120332" y="424490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C1D909FD-321A-4D00-96B4-7145CFE79D51}"/>
              </a:ext>
            </a:extLst>
          </p:cNvPr>
          <p:cNvSpPr txBox="1"/>
          <p:nvPr/>
        </p:nvSpPr>
        <p:spPr>
          <a:xfrm>
            <a:off x="107504" y="2347186"/>
            <a:ext cx="5626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從未上市到公開市場的</a:t>
            </a:r>
            <a:r>
              <a:rPr lang="en-US" altLang="zh-TW" sz="28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28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闖關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865A9DA-4DCE-42A8-A16E-98A1F04410E4}"/>
              </a:ext>
            </a:extLst>
          </p:cNvPr>
          <p:cNvSpPr txBox="1"/>
          <p:nvPr/>
        </p:nvSpPr>
        <p:spPr>
          <a:xfrm>
            <a:off x="73359" y="1139247"/>
            <a:ext cx="11318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02</a:t>
            </a:r>
            <a:endParaRPr lang="zh-TW" altLang="en-US" sz="6000" dirty="0">
              <a:solidFill>
                <a:schemeClr val="bg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38102826"/>
      </p:ext>
    </p:extLst>
  </p:cSld>
  <p:clrMapOvr>
    <a:masterClrMapping/>
  </p:clrMapOvr>
  <p:transition>
    <p:spli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17BCB8C4-9E7B-44ED-835E-3ECD48F8F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332656"/>
            <a:ext cx="6491288" cy="633412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近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年台灣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件數評析</a:t>
            </a:r>
          </a:p>
        </p:txBody>
      </p:sp>
      <p:graphicFrame>
        <p:nvGraphicFramePr>
          <p:cNvPr id="33" name="圖表 32">
            <a:extLst>
              <a:ext uri="{FF2B5EF4-FFF2-40B4-BE49-F238E27FC236}">
                <a16:creationId xmlns:a16="http://schemas.microsoft.com/office/drawing/2014/main" id="{78CB085C-9C3B-4AB6-A518-6FAF7F419D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5976596"/>
              </p:ext>
            </p:extLst>
          </p:nvPr>
        </p:nvGraphicFramePr>
        <p:xfrm>
          <a:off x="467543" y="2226091"/>
          <a:ext cx="4104457" cy="16779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754CBB11-9CCF-4E06-8051-9654D63EE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559741"/>
              </p:ext>
            </p:extLst>
          </p:nvPr>
        </p:nvGraphicFramePr>
        <p:xfrm>
          <a:off x="4696121" y="1817152"/>
          <a:ext cx="4242919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3909">
                  <a:extLst>
                    <a:ext uri="{9D8B030D-6E8A-4147-A177-3AD203B41FA5}">
                      <a16:colId xmlns:a16="http://schemas.microsoft.com/office/drawing/2014/main" val="3937190306"/>
                    </a:ext>
                  </a:extLst>
                </a:gridCol>
                <a:gridCol w="353104">
                  <a:extLst>
                    <a:ext uri="{9D8B030D-6E8A-4147-A177-3AD203B41FA5}">
                      <a16:colId xmlns:a16="http://schemas.microsoft.com/office/drawing/2014/main" val="2411972017"/>
                    </a:ext>
                  </a:extLst>
                </a:gridCol>
                <a:gridCol w="1200674">
                  <a:extLst>
                    <a:ext uri="{9D8B030D-6E8A-4147-A177-3AD203B41FA5}">
                      <a16:colId xmlns:a16="http://schemas.microsoft.com/office/drawing/2014/main" val="606095946"/>
                    </a:ext>
                  </a:extLst>
                </a:gridCol>
                <a:gridCol w="932616">
                  <a:extLst>
                    <a:ext uri="{9D8B030D-6E8A-4147-A177-3AD203B41FA5}">
                      <a16:colId xmlns:a16="http://schemas.microsoft.com/office/drawing/2014/main" val="2112524092"/>
                    </a:ext>
                  </a:extLst>
                </a:gridCol>
                <a:gridCol w="932616">
                  <a:extLst>
                    <a:ext uri="{9D8B030D-6E8A-4147-A177-3AD203B41FA5}">
                      <a16:colId xmlns:a16="http://schemas.microsoft.com/office/drawing/2014/main" val="3451050097"/>
                    </a:ext>
                  </a:extLst>
                </a:gridCol>
              </a:tblGrid>
              <a:tr h="179462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產業</a:t>
                      </a:r>
                      <a:endParaRPr lang="zh-TW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件數</a:t>
                      </a:r>
                      <a:endParaRPr lang="zh-TW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掛牌時資本額</a:t>
                      </a:r>
                      <a:endParaRPr lang="en-US" altLang="zh-TW" sz="1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平均募資金額</a:t>
                      </a:r>
                      <a:endParaRPr lang="en-US" altLang="zh-TW" sz="1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總募資金額</a:t>
                      </a:r>
                      <a:endParaRPr lang="en-US" altLang="zh-TW" sz="12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32555"/>
                  </a:ext>
                </a:extLst>
              </a:tr>
              <a:tr h="8973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生技醫療業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7.4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11.1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288.8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391139"/>
                  </a:ext>
                </a:extLst>
              </a:tr>
              <a:tr h="8973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半導體業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6.1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25.7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591.3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870186"/>
                  </a:ext>
                </a:extLst>
              </a:tr>
              <a:tr h="8973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數位雲端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3.2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6.3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93.8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7426402"/>
                  </a:ext>
                </a:extLst>
              </a:tr>
              <a:tr h="8973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綠能環保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7.9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11.2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157.1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684557"/>
                  </a:ext>
                </a:extLst>
              </a:tr>
              <a:tr h="8973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其他電子業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4.2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9.1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90.8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669350"/>
                  </a:ext>
                </a:extLst>
              </a:tr>
              <a:tr h="8973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電子零組件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4.4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6.5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58.5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9997817"/>
                  </a:ext>
                </a:extLst>
              </a:tr>
              <a:tr h="8973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航運業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98.6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32.0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96.1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286811"/>
                  </a:ext>
                </a:extLst>
              </a:tr>
              <a:tr h="8973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其他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53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5.9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7.0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372.2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718062"/>
                  </a:ext>
                </a:extLst>
              </a:tr>
              <a:tr h="8973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總和</a:t>
                      </a:r>
                      <a:endParaRPr lang="zh-TW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153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13.8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11.3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1,764.0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160608"/>
                  </a:ext>
                </a:extLst>
              </a:tr>
            </a:tbl>
          </a:graphicData>
        </a:graphic>
      </p:graphicFrame>
      <p:sp>
        <p:nvSpPr>
          <p:cNvPr id="39" name="文字方塊 38">
            <a:extLst>
              <a:ext uri="{FF2B5EF4-FFF2-40B4-BE49-F238E27FC236}">
                <a16:creationId xmlns:a16="http://schemas.microsoft.com/office/drawing/2014/main" id="{2FE60657-57A5-44A6-B336-24CF304B57AE}"/>
              </a:ext>
            </a:extLst>
          </p:cNvPr>
          <p:cNvSpPr txBox="1"/>
          <p:nvPr/>
        </p:nvSpPr>
        <p:spPr>
          <a:xfrm>
            <a:off x="457200" y="1151763"/>
            <a:ext cx="394594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近</a:t>
            </a:r>
            <a:r>
              <a:rPr lang="en-US" altLang="zh-TW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年有許多公司</a:t>
            </a:r>
            <a:r>
              <a:rPr lang="en-US" altLang="zh-TW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，其中多數公司資本額介於</a:t>
            </a:r>
            <a:r>
              <a:rPr lang="en-US" altLang="zh-TW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億以下，掛牌上櫃公司家數相對較多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6E1203D8-231A-44F1-94A2-DAB09F50FAE8}"/>
              </a:ext>
            </a:extLst>
          </p:cNvPr>
          <p:cNvSpPr txBox="1"/>
          <p:nvPr/>
        </p:nvSpPr>
        <p:spPr>
          <a:xfrm>
            <a:off x="4572000" y="1127388"/>
            <a:ext cx="41148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已掛牌件數來看，</a:t>
            </a:r>
            <a:r>
              <a:rPr lang="zh-TW" altLang="en-US" sz="1400" b="1" u="sng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生技</a:t>
            </a:r>
            <a:r>
              <a:rPr lang="zh-TW" altLang="en-US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1400" b="1" u="sng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半導體</a:t>
            </a:r>
            <a:r>
              <a:rPr lang="zh-TW" altLang="en-US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zh-TW" altLang="en-US" sz="1400" b="1" u="sng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數位雲端</a:t>
            </a:r>
            <a:r>
              <a:rPr lang="zh-TW" altLang="en-US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類股最熱絡；其中半導體</a:t>
            </a:r>
            <a:r>
              <a:rPr lang="en-US" altLang="zh-TW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平均募資金額最高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BBDD7A79-F0F7-4EE6-B819-5A6933BE5674}"/>
              </a:ext>
            </a:extLst>
          </p:cNvPr>
          <p:cNvSpPr txBox="1"/>
          <p:nvPr/>
        </p:nvSpPr>
        <p:spPr>
          <a:xfrm>
            <a:off x="4582343" y="3834951"/>
            <a:ext cx="419388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台新近年</a:t>
            </a:r>
            <a:r>
              <a:rPr lang="en-US" altLang="zh-TW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輔導家數為</a:t>
            </a:r>
            <a:r>
              <a:rPr lang="zh-TW" altLang="en-US" sz="1400" b="1" u="sng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市場前二</a:t>
            </a:r>
            <a:r>
              <a:rPr lang="zh-TW" altLang="en-US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，前</a:t>
            </a:r>
            <a:r>
              <a:rPr lang="en-US" altLang="zh-TW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大券商合計市占超過</a:t>
            </a:r>
            <a:r>
              <a:rPr lang="en-US" altLang="zh-TW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50%</a:t>
            </a:r>
            <a:r>
              <a:rPr lang="zh-TW" altLang="en-US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17E5D079-572D-4C8C-BA7B-6D80D8383EB8}"/>
              </a:ext>
            </a:extLst>
          </p:cNvPr>
          <p:cNvSpPr txBox="1"/>
          <p:nvPr/>
        </p:nvSpPr>
        <p:spPr>
          <a:xfrm>
            <a:off x="2267744" y="6532688"/>
            <a:ext cx="5832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統計區間：</a:t>
            </a:r>
            <a:r>
              <a:rPr lang="en-US" altLang="zh-TW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2024~2026/6</a:t>
            </a: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上市、上櫃家數統計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FC4C7256-2DB8-4C7E-B25F-9C1B5905CBF3}"/>
              </a:ext>
            </a:extLst>
          </p:cNvPr>
          <p:cNvSpPr txBox="1"/>
          <p:nvPr/>
        </p:nvSpPr>
        <p:spPr>
          <a:xfrm>
            <a:off x="510411" y="1962446"/>
            <a:ext cx="406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上市櫃家數統計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5F7354B8-0B93-4129-BBB5-E0C120677FDF}"/>
              </a:ext>
            </a:extLst>
          </p:cNvPr>
          <p:cNvSpPr txBox="1"/>
          <p:nvPr/>
        </p:nvSpPr>
        <p:spPr>
          <a:xfrm>
            <a:off x="624570" y="4057071"/>
            <a:ext cx="406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上市櫃家數統計</a:t>
            </a:r>
            <a:r>
              <a:rPr lang="en-US" altLang="zh-TW" sz="14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(by </a:t>
            </a:r>
            <a:r>
              <a:rPr lang="zh-TW" altLang="en-US" sz="14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資本額</a:t>
            </a:r>
            <a:r>
              <a:rPr lang="en-US" altLang="zh-TW" sz="14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400" b="1" dirty="0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45" name="圖表 44">
            <a:extLst>
              <a:ext uri="{FF2B5EF4-FFF2-40B4-BE49-F238E27FC236}">
                <a16:creationId xmlns:a16="http://schemas.microsoft.com/office/drawing/2014/main" id="{54EA208D-8C3D-41ED-860A-39E2B02D06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394890"/>
              </p:ext>
            </p:extLst>
          </p:nvPr>
        </p:nvGraphicFramePr>
        <p:xfrm>
          <a:off x="467543" y="4336194"/>
          <a:ext cx="4114800" cy="2007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9" name="文字方塊 48">
            <a:extLst>
              <a:ext uri="{FF2B5EF4-FFF2-40B4-BE49-F238E27FC236}">
                <a16:creationId xmlns:a16="http://schemas.microsoft.com/office/drawing/2014/main" id="{847C5C75-9EC6-48C5-9264-FEA18299D18A}"/>
              </a:ext>
            </a:extLst>
          </p:cNvPr>
          <p:cNvSpPr txBox="1"/>
          <p:nvPr/>
        </p:nvSpPr>
        <p:spPr>
          <a:xfrm>
            <a:off x="7927602" y="1594448"/>
            <a:ext cx="10114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單位：億元</a:t>
            </a:r>
          </a:p>
        </p:txBody>
      </p:sp>
      <p:graphicFrame>
        <p:nvGraphicFramePr>
          <p:cNvPr id="52" name="圖表 51">
            <a:extLst>
              <a:ext uri="{FF2B5EF4-FFF2-40B4-BE49-F238E27FC236}">
                <a16:creationId xmlns:a16="http://schemas.microsoft.com/office/drawing/2014/main" id="{A1EA9D49-7E80-4509-8520-17DE88F6CB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1400251"/>
              </p:ext>
            </p:extLst>
          </p:nvPr>
        </p:nvGraphicFramePr>
        <p:xfrm>
          <a:off x="4403142" y="4282056"/>
          <a:ext cx="4356697" cy="22791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665257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55376" y="395914"/>
            <a:ext cx="8928992" cy="6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台灣資本市場掛牌市場多元</a:t>
            </a:r>
          </a:p>
        </p:txBody>
      </p:sp>
      <p:sp>
        <p:nvSpPr>
          <p:cNvPr id="10" name="矩形 9"/>
          <p:cNvSpPr/>
          <p:nvPr/>
        </p:nvSpPr>
        <p:spPr bwMode="auto">
          <a:xfrm>
            <a:off x="3203848" y="1844823"/>
            <a:ext cx="1439804" cy="1063192"/>
          </a:xfrm>
          <a:prstGeom prst="rect">
            <a:avLst/>
          </a:prstGeom>
          <a:solidFill>
            <a:srgbClr val="92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上市市場</a:t>
            </a:r>
            <a:endParaRPr kumimoji="1" lang="en-US" altLang="zh-TW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414195" y="1139183"/>
            <a:ext cx="82801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marR="0" lvl="0" indent="-180975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為鼓勵新經濟公司在台灣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IPO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、完善新創企業之籌資管道，近年交易所及櫃買中心陸續設立不同板塊，建立台灣之多層次資本市場，使不同規模、特性的產業，都能找到適合的板塊掛牌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0A36189-B5FA-4A6E-A186-3FF844620264}"/>
              </a:ext>
            </a:extLst>
          </p:cNvPr>
          <p:cNvSpPr/>
          <p:nvPr/>
        </p:nvSpPr>
        <p:spPr bwMode="auto">
          <a:xfrm>
            <a:off x="524777" y="1844824"/>
            <a:ext cx="1064984" cy="106319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92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主板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4584E3B-BE76-42C2-B966-E01D22676EF2}"/>
              </a:ext>
            </a:extLst>
          </p:cNvPr>
          <p:cNvSpPr/>
          <p:nvPr/>
        </p:nvSpPr>
        <p:spPr bwMode="auto">
          <a:xfrm>
            <a:off x="1746728" y="3439541"/>
            <a:ext cx="2897280" cy="576064"/>
          </a:xfrm>
          <a:prstGeom prst="rect">
            <a:avLst/>
          </a:prstGeom>
          <a:solidFill>
            <a:srgbClr val="92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興櫃市場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B1448C-5F6A-4971-846B-453BBCC4595B}"/>
              </a:ext>
            </a:extLst>
          </p:cNvPr>
          <p:cNvSpPr/>
          <p:nvPr/>
        </p:nvSpPr>
        <p:spPr bwMode="auto">
          <a:xfrm>
            <a:off x="524777" y="3439541"/>
            <a:ext cx="1064984" cy="57606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92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預備市場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588AB92-BFB7-4EFB-AB85-07F6D50B468D}"/>
              </a:ext>
            </a:extLst>
          </p:cNvPr>
          <p:cNvSpPr/>
          <p:nvPr/>
        </p:nvSpPr>
        <p:spPr bwMode="auto">
          <a:xfrm>
            <a:off x="1740873" y="5355733"/>
            <a:ext cx="4991368" cy="460012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未公發公司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2429FB2-D854-4D3E-9734-8577FA04B5FF}"/>
              </a:ext>
            </a:extLst>
          </p:cNvPr>
          <p:cNvSpPr/>
          <p:nvPr/>
        </p:nvSpPr>
        <p:spPr bwMode="auto">
          <a:xfrm>
            <a:off x="1751052" y="4539208"/>
            <a:ext cx="1380789" cy="468000"/>
          </a:xfrm>
          <a:prstGeom prst="rect">
            <a:avLst/>
          </a:prstGeom>
          <a:solidFill>
            <a:srgbClr val="92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一般公發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32CA35D4-80D1-46AC-BD4F-F70A4E121C80}"/>
              </a:ext>
            </a:extLst>
          </p:cNvPr>
          <p:cNvSpPr/>
          <p:nvPr/>
        </p:nvSpPr>
        <p:spPr bwMode="auto">
          <a:xfrm>
            <a:off x="5645265" y="1843581"/>
            <a:ext cx="2901600" cy="1063192"/>
          </a:xfrm>
          <a:prstGeom prst="rect">
            <a:avLst/>
          </a:prstGeom>
          <a:solidFill>
            <a:srgbClr val="C4AB8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創新板 </a:t>
            </a:r>
            <a:r>
              <a:rPr lang="zh-TW" altLang="en-US" sz="9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9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kumimoji="1" lang="en-US" altLang="zh-TW" sz="9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</a:t>
            </a:r>
            <a:r>
              <a:rPr kumimoji="1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取得創新板上市核准函後，</a:t>
            </a:r>
            <a:endParaRPr kumimoji="1" lang="en-US" altLang="zh-TW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併送現金增資及補辦簡易公開發行</a:t>
            </a:r>
            <a:r>
              <a:rPr kumimoji="1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)</a:t>
            </a:r>
            <a:endParaRPr kumimoji="1" lang="zh-TW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57" name="箭號: 向左 56">
            <a:extLst>
              <a:ext uri="{FF2B5EF4-FFF2-40B4-BE49-F238E27FC236}">
                <a16:creationId xmlns:a16="http://schemas.microsoft.com/office/drawing/2014/main" id="{2A9A5DAF-8198-44E7-B108-47EA6F27D69C}"/>
              </a:ext>
            </a:extLst>
          </p:cNvPr>
          <p:cNvSpPr/>
          <p:nvPr/>
        </p:nvSpPr>
        <p:spPr bwMode="auto">
          <a:xfrm>
            <a:off x="4754156" y="2154172"/>
            <a:ext cx="720081" cy="386117"/>
          </a:xfrm>
          <a:prstGeom prst="leftArrow">
            <a:avLst/>
          </a:prstGeom>
          <a:solidFill>
            <a:srgbClr val="C4AB8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標楷體" pitchFamily="65" charset="-120"/>
              <a:cs typeface="+mn-cs"/>
            </a:endParaRPr>
          </a:p>
        </p:txBody>
      </p:sp>
      <p:sp>
        <p:nvSpPr>
          <p:cNvPr id="60" name="箭號: 向左 59">
            <a:extLst>
              <a:ext uri="{FF2B5EF4-FFF2-40B4-BE49-F238E27FC236}">
                <a16:creationId xmlns:a16="http://schemas.microsoft.com/office/drawing/2014/main" id="{1D054568-FEAA-4B52-A10F-84A532CE5F49}"/>
              </a:ext>
            </a:extLst>
          </p:cNvPr>
          <p:cNvSpPr/>
          <p:nvPr/>
        </p:nvSpPr>
        <p:spPr bwMode="auto">
          <a:xfrm rot="5400000">
            <a:off x="5775974" y="3756528"/>
            <a:ext cx="1984540" cy="504056"/>
          </a:xfrm>
          <a:prstGeom prst="leftArrow">
            <a:avLst>
              <a:gd name="adj1" fmla="val 50000"/>
              <a:gd name="adj2" fmla="val 82335"/>
            </a:avLst>
          </a:prstGeom>
          <a:solidFill>
            <a:srgbClr val="C4AB8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標楷體" pitchFamily="65" charset="-120"/>
              <a:cs typeface="+mn-cs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3766F062-2D94-4334-BCAA-A672EAA91926}"/>
              </a:ext>
            </a:extLst>
          </p:cNvPr>
          <p:cNvCxnSpPr>
            <a:cxnSpLocks/>
          </p:cNvCxnSpPr>
          <p:nvPr/>
        </p:nvCxnSpPr>
        <p:spPr bwMode="auto">
          <a:xfrm>
            <a:off x="457539" y="5229200"/>
            <a:ext cx="822108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87B1448C-5F6A-4971-846B-453BBCC4595B}"/>
              </a:ext>
            </a:extLst>
          </p:cNvPr>
          <p:cNvSpPr/>
          <p:nvPr/>
        </p:nvSpPr>
        <p:spPr bwMode="auto">
          <a:xfrm>
            <a:off x="524777" y="4528839"/>
            <a:ext cx="1064984" cy="468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92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公發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7B1448C-5F6A-4971-846B-453BBCC4595B}"/>
              </a:ext>
            </a:extLst>
          </p:cNvPr>
          <p:cNvSpPr/>
          <p:nvPr/>
        </p:nvSpPr>
        <p:spPr bwMode="auto">
          <a:xfrm>
            <a:off x="526357" y="5357669"/>
            <a:ext cx="1064984" cy="4561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92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未公發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4894BEF-134C-4AE9-9090-4269B60A991E}"/>
              </a:ext>
            </a:extLst>
          </p:cNvPr>
          <p:cNvSpPr/>
          <p:nvPr/>
        </p:nvSpPr>
        <p:spPr bwMode="auto">
          <a:xfrm>
            <a:off x="7197808" y="3842084"/>
            <a:ext cx="1201046" cy="468000"/>
          </a:xfrm>
          <a:prstGeom prst="rect">
            <a:avLst/>
          </a:prstGeom>
          <a:solidFill>
            <a:srgbClr val="C4AB8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申報輔導</a:t>
            </a:r>
            <a:endParaRPr kumimoji="1" lang="en-US" altLang="zh-TW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</a:t>
            </a: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滿</a:t>
            </a: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6</a:t>
            </a: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個月</a:t>
            </a: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)</a:t>
            </a:r>
            <a:endParaRPr kumimoji="1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7" name="箭號: 向左 51">
            <a:extLst>
              <a:ext uri="{FF2B5EF4-FFF2-40B4-BE49-F238E27FC236}">
                <a16:creationId xmlns:a16="http://schemas.microsoft.com/office/drawing/2014/main" id="{7F1871C5-C4E2-4D04-8E6F-0C096274D91A}"/>
              </a:ext>
            </a:extLst>
          </p:cNvPr>
          <p:cNvSpPr/>
          <p:nvPr/>
        </p:nvSpPr>
        <p:spPr bwMode="auto">
          <a:xfrm rot="5400000">
            <a:off x="2984699" y="2983915"/>
            <a:ext cx="360041" cy="386117"/>
          </a:xfrm>
          <a:prstGeom prst="leftArrow">
            <a:avLst>
              <a:gd name="adj1" fmla="val 50001"/>
              <a:gd name="adj2" fmla="val 45297"/>
            </a:avLst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標楷體" pitchFamily="65" charset="-120"/>
              <a:cs typeface="+mn-cs"/>
            </a:endParaRPr>
          </a:p>
        </p:txBody>
      </p:sp>
      <p:sp>
        <p:nvSpPr>
          <p:cNvPr id="2" name="Text Box 43">
            <a:extLst>
              <a:ext uri="{FF2B5EF4-FFF2-40B4-BE49-F238E27FC236}">
                <a16:creationId xmlns:a16="http://schemas.microsoft.com/office/drawing/2014/main" id="{00749D25-56F6-0432-C9FF-665508676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406" y="5927580"/>
            <a:ext cx="8085730" cy="5539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>
              <a:defRPr sz="1050" b="0">
                <a:solidFill>
                  <a:schemeClr val="bg1">
                    <a:lumMod val="50000"/>
                  </a:schemeClr>
                </a:solidFill>
                <a:latin typeface="+mn-lt"/>
                <a:ea typeface="微軟正黑體" pitchFamily="34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</a:rPr>
              <a:t>註</a:t>
            </a: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</a:rPr>
              <a:t>1</a:t>
            </a:r>
            <a:r>
              <a:rPr kumimoji="1" lang="en-US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</a:rPr>
              <a:t>：</a:t>
            </a: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</a:rPr>
              <a:t>2024/1/1</a:t>
            </a: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</a:rPr>
              <a:t>起，開放未公發公司可選擇採用併送一般公發或簡易公發方式，申請登錄興櫃，加速企業</a:t>
            </a: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</a:rPr>
              <a:t>IPO</a:t>
            </a: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</a:rPr>
              <a:t>時程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1" dirty="0">
                <a:solidFill>
                  <a:srgbClr val="FFFFFF">
                    <a:lumMod val="50000"/>
                  </a:srgbClr>
                </a:solidFill>
                <a:latin typeface="Arial"/>
              </a:rPr>
              <a:t>註</a:t>
            </a:r>
            <a:r>
              <a:rPr lang="en-US" altLang="zh-TW" sz="1000" b="1" dirty="0">
                <a:solidFill>
                  <a:srgbClr val="FFFFFF">
                    <a:lumMod val="50000"/>
                  </a:srgbClr>
                </a:solidFill>
                <a:latin typeface="Arial"/>
              </a:rPr>
              <a:t>2</a:t>
            </a:r>
            <a:r>
              <a:rPr lang="zh-TW" altLang="en-US" sz="1000" b="1" dirty="0">
                <a:solidFill>
                  <a:srgbClr val="FFFFFF">
                    <a:lumMod val="50000"/>
                  </a:srgbClr>
                </a:solidFill>
                <a:latin typeface="Arial"/>
              </a:rPr>
              <a:t>：創新板亦屬上市板塊，為提升交易活絡度，</a:t>
            </a:r>
            <a:r>
              <a:rPr lang="en-US" altLang="zh-TW" sz="1000" b="1" dirty="0">
                <a:solidFill>
                  <a:srgbClr val="FFFFFF">
                    <a:lumMod val="50000"/>
                  </a:srgbClr>
                </a:solidFill>
                <a:latin typeface="Arial"/>
              </a:rPr>
              <a:t>2025</a:t>
            </a:r>
            <a:r>
              <a:rPr lang="zh-TW" altLang="en-US" sz="1000" b="1" dirty="0">
                <a:solidFill>
                  <a:srgbClr val="FFFFFF">
                    <a:lumMod val="50000"/>
                  </a:srgbClr>
                </a:solidFill>
                <a:latin typeface="Arial"/>
              </a:rPr>
              <a:t>年放寬交易制度，並調整審核項目及嚴謹度，相關內容請參照附件一</a:t>
            </a:r>
            <a:endParaRPr lang="en-US" altLang="zh-TW" sz="1000" b="1" dirty="0">
              <a:solidFill>
                <a:srgbClr val="FFFFFF">
                  <a:lumMod val="50000"/>
                </a:srgbClr>
              </a:solidFill>
              <a:latin typeface="Arial"/>
            </a:endParaRPr>
          </a:p>
          <a:p>
            <a:pPr lvl="0"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</a:rPr>
              <a:t>註</a:t>
            </a:r>
            <a:r>
              <a:rPr lang="en-US" altLang="zh-TW" sz="1000" b="1" dirty="0">
                <a:solidFill>
                  <a:srgbClr val="FFFFFF">
                    <a:lumMod val="50000"/>
                  </a:srgbClr>
                </a:solidFill>
                <a:latin typeface="Arial"/>
              </a:rPr>
              <a:t>3</a:t>
            </a: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</a:rPr>
              <a:t>：創櫃</a:t>
            </a:r>
            <a:r>
              <a:rPr lang="zh-TW" altLang="en-US" sz="1000" b="1" dirty="0">
                <a:solidFill>
                  <a:srgbClr val="FFFFFF">
                    <a:lumMod val="50000"/>
                  </a:srgbClr>
                </a:solidFill>
              </a:rPr>
              <a:t>板積極推動中小微企業進入創櫃板，希望新增登錄與申請輔導目標家數二年內成長一倍，</a:t>
            </a: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</a:rPr>
              <a:t>相關內容請參照附件一</a:t>
            </a:r>
          </a:p>
        </p:txBody>
      </p:sp>
      <p:sp>
        <p:nvSpPr>
          <p:cNvPr id="23" name="矩形 22"/>
          <p:cNvSpPr/>
          <p:nvPr/>
        </p:nvSpPr>
        <p:spPr bwMode="auto">
          <a:xfrm>
            <a:off x="1751053" y="1844823"/>
            <a:ext cx="1380788" cy="1069924"/>
          </a:xfrm>
          <a:prstGeom prst="rect">
            <a:avLst/>
          </a:prstGeom>
          <a:solidFill>
            <a:srgbClr val="92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上櫃市場</a:t>
            </a:r>
          </a:p>
        </p:txBody>
      </p:sp>
      <p:sp>
        <p:nvSpPr>
          <p:cNvPr id="3" name="十字形 2">
            <a:extLst>
              <a:ext uri="{FF2B5EF4-FFF2-40B4-BE49-F238E27FC236}">
                <a16:creationId xmlns:a16="http://schemas.microsoft.com/office/drawing/2014/main" id="{80FD3015-94BD-F749-8355-A7953DC0450B}"/>
              </a:ext>
            </a:extLst>
          </p:cNvPr>
          <p:cNvSpPr/>
          <p:nvPr/>
        </p:nvSpPr>
        <p:spPr bwMode="auto">
          <a:xfrm>
            <a:off x="2297430" y="4114149"/>
            <a:ext cx="288032" cy="302033"/>
          </a:xfrm>
          <a:prstGeom prst="plus">
            <a:avLst>
              <a:gd name="adj" fmla="val 33818"/>
            </a:avLst>
          </a:prstGeom>
          <a:solidFill>
            <a:srgbClr val="920000"/>
          </a:solidFill>
          <a:ln w="9525" cap="flat" cmpd="sng" algn="ctr">
            <a:solidFill>
              <a:srgbClr val="92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標楷體" pitchFamily="65" charset="-120"/>
              <a:cs typeface="+mn-cs"/>
            </a:endParaRPr>
          </a:p>
        </p:txBody>
      </p:sp>
      <p:sp>
        <p:nvSpPr>
          <p:cNvPr id="5" name="十字形 4">
            <a:extLst>
              <a:ext uri="{FF2B5EF4-FFF2-40B4-BE49-F238E27FC236}">
                <a16:creationId xmlns:a16="http://schemas.microsoft.com/office/drawing/2014/main" id="{F01C15BE-39F3-8BC9-58B7-98C862097E1C}"/>
              </a:ext>
            </a:extLst>
          </p:cNvPr>
          <p:cNvSpPr/>
          <p:nvPr/>
        </p:nvSpPr>
        <p:spPr bwMode="auto">
          <a:xfrm>
            <a:off x="3779734" y="4117642"/>
            <a:ext cx="288032" cy="302033"/>
          </a:xfrm>
          <a:prstGeom prst="plus">
            <a:avLst>
              <a:gd name="adj" fmla="val 33818"/>
            </a:avLst>
          </a:prstGeom>
          <a:solidFill>
            <a:srgbClr val="920000"/>
          </a:solidFill>
          <a:ln w="9525" cap="flat" cmpd="sng" algn="ctr">
            <a:solidFill>
              <a:srgbClr val="92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標楷體" pitchFamily="65" charset="-120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0D0EB5D-7F98-7552-40D3-8F0D6D002BB3}"/>
              </a:ext>
            </a:extLst>
          </p:cNvPr>
          <p:cNvSpPr/>
          <p:nvPr/>
        </p:nvSpPr>
        <p:spPr bwMode="auto">
          <a:xfrm>
            <a:off x="3266456" y="4539206"/>
            <a:ext cx="1380789" cy="468000"/>
          </a:xfrm>
          <a:prstGeom prst="rect">
            <a:avLst/>
          </a:prstGeom>
          <a:solidFill>
            <a:srgbClr val="92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簡易公發</a:t>
            </a:r>
          </a:p>
        </p:txBody>
      </p:sp>
      <p:sp>
        <p:nvSpPr>
          <p:cNvPr id="28" name="箭號: 向左 51">
            <a:extLst>
              <a:ext uri="{FF2B5EF4-FFF2-40B4-BE49-F238E27FC236}">
                <a16:creationId xmlns:a16="http://schemas.microsoft.com/office/drawing/2014/main" id="{7F1871C5-C4E2-4D04-8E6F-0C096274D91A}"/>
              </a:ext>
            </a:extLst>
          </p:cNvPr>
          <p:cNvSpPr/>
          <p:nvPr/>
        </p:nvSpPr>
        <p:spPr bwMode="auto">
          <a:xfrm rot="9104617">
            <a:off x="4813395" y="2983914"/>
            <a:ext cx="680250" cy="386117"/>
          </a:xfrm>
          <a:prstGeom prst="leftArrow">
            <a:avLst/>
          </a:prstGeom>
          <a:solidFill>
            <a:srgbClr val="C4AB8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標楷體" pitchFamily="65" charset="-120"/>
              <a:cs typeface="+mn-c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588AB92-BFB7-4EFB-AB85-07F6D50B468D}"/>
              </a:ext>
            </a:extLst>
          </p:cNvPr>
          <p:cNvSpPr/>
          <p:nvPr/>
        </p:nvSpPr>
        <p:spPr bwMode="auto">
          <a:xfrm>
            <a:off x="6858035" y="5358056"/>
            <a:ext cx="1880593" cy="460012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創櫃板 </a:t>
            </a:r>
            <a:r>
              <a:rPr lang="zh-TW" altLang="en-US" sz="9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9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endParaRPr kumimoji="1" lang="zh-TW" altLang="en-US" sz="9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019342" y="5001302"/>
            <a:ext cx="36901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zh-TW" altLang="en-US" sz="9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9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sz="9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51720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6">
            <a:extLst>
              <a:ext uri="{FF2B5EF4-FFF2-40B4-BE49-F238E27FC236}">
                <a16:creationId xmlns:a16="http://schemas.microsoft.com/office/drawing/2014/main" id="{63A7CA59-7FA1-4BA5-8287-D6FFB1C80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723" y="1837167"/>
            <a:ext cx="2082468" cy="317582"/>
          </a:xfrm>
          <a:prstGeom prst="roundRect">
            <a:avLst/>
          </a:prstGeom>
          <a:solidFill>
            <a:srgbClr val="8A0000"/>
          </a:solidFill>
          <a:ln>
            <a:noFill/>
          </a:ln>
        </p:spPr>
        <p:txBody>
          <a:bodyPr lIns="64490" tIns="24183" rIns="64490" bIns="40306" anchor="ctr"/>
          <a:lstStyle/>
          <a:p>
            <a:pPr algn="ctr" defTabSz="806426" eaLnBrk="0" fontAlgn="base" hangingPunct="0">
              <a:spcBef>
                <a:spcPct val="0"/>
              </a:spcBef>
              <a:spcAft>
                <a:spcPct val="0"/>
              </a:spcAft>
              <a:tabLst>
                <a:tab pos="5717777" algn="r"/>
              </a:tabLst>
            </a:pPr>
            <a:r>
              <a:rPr lang="zh-TW" alt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上市前置準備階段</a:t>
            </a:r>
            <a:endParaRPr lang="zh-CN" altLang="en-US" sz="105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itchFamily="34" charset="0"/>
            </a:endParaRPr>
          </a:p>
        </p:txBody>
      </p:sp>
      <p:sp>
        <p:nvSpPr>
          <p:cNvPr id="31" name="Rectangle 7">
            <a:extLst>
              <a:ext uri="{FF2B5EF4-FFF2-40B4-BE49-F238E27FC236}">
                <a16:creationId xmlns:a16="http://schemas.microsoft.com/office/drawing/2014/main" id="{883E2696-E5EB-4E37-90AD-28870F924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205" y="1837167"/>
            <a:ext cx="2604836" cy="317582"/>
          </a:xfrm>
          <a:prstGeom prst="roundRect">
            <a:avLst/>
          </a:prstGeom>
          <a:solidFill>
            <a:srgbClr val="8A0000"/>
          </a:solidFill>
          <a:ln>
            <a:noFill/>
          </a:ln>
        </p:spPr>
        <p:txBody>
          <a:bodyPr lIns="64490" tIns="24183" rIns="64490" bIns="40306" anchor="ctr"/>
          <a:lstStyle/>
          <a:p>
            <a:pPr algn="ctr" defTabSz="806426" eaLnBrk="0" fontAlgn="base" hangingPunct="0">
              <a:spcBef>
                <a:spcPct val="0"/>
              </a:spcBef>
              <a:spcAft>
                <a:spcPct val="0"/>
              </a:spcAft>
              <a:tabLst>
                <a:tab pos="5717777" algn="r"/>
              </a:tabLst>
            </a:pPr>
            <a:r>
              <a:rPr lang="zh-TW" alt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上市申請審查階段</a:t>
            </a:r>
            <a:endParaRPr lang="zh-CN" altLang="en-US" sz="105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itchFamily="34" charset="0"/>
            </a:endParaRPr>
          </a:p>
        </p:txBody>
      </p:sp>
      <p:sp>
        <p:nvSpPr>
          <p:cNvPr id="32" name="Rectangle 8">
            <a:extLst>
              <a:ext uri="{FF2B5EF4-FFF2-40B4-BE49-F238E27FC236}">
                <a16:creationId xmlns:a16="http://schemas.microsoft.com/office/drawing/2014/main" id="{ADECBAF3-1A52-4183-A2F0-843CF218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484" y="1837167"/>
            <a:ext cx="1715550" cy="317582"/>
          </a:xfrm>
          <a:prstGeom prst="roundRect">
            <a:avLst/>
          </a:prstGeom>
          <a:solidFill>
            <a:srgbClr val="8A0000"/>
          </a:solidFill>
          <a:ln>
            <a:noFill/>
          </a:ln>
        </p:spPr>
        <p:txBody>
          <a:bodyPr lIns="64490" tIns="24183" rIns="64490" bIns="40306" anchor="ctr"/>
          <a:lstStyle/>
          <a:p>
            <a:pPr algn="ctr" defTabSz="806426" eaLnBrk="0" fontAlgn="base" hangingPunct="0">
              <a:spcBef>
                <a:spcPct val="0"/>
              </a:spcBef>
              <a:spcAft>
                <a:spcPct val="0"/>
              </a:spcAft>
              <a:tabLst>
                <a:tab pos="5717777" algn="r"/>
              </a:tabLst>
            </a:pPr>
            <a:r>
              <a:rPr lang="zh-TW" alt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承銷</a:t>
            </a:r>
            <a:r>
              <a:rPr lang="zh-CN" alt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上市</a:t>
            </a:r>
            <a:r>
              <a:rPr lang="zh-TW" alt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掛牌階段</a:t>
            </a:r>
            <a:endParaRPr lang="zh-CN" altLang="en-US" sz="105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itchFamily="34" charset="0"/>
            </a:endParaRPr>
          </a:p>
        </p:txBody>
      </p:sp>
      <p:sp>
        <p:nvSpPr>
          <p:cNvPr id="33" name="Rectangle 33">
            <a:extLst>
              <a:ext uri="{FF2B5EF4-FFF2-40B4-BE49-F238E27FC236}">
                <a16:creationId xmlns:a16="http://schemas.microsoft.com/office/drawing/2014/main" id="{97227010-3578-4526-BE23-96FFA146E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0052" y="1837167"/>
            <a:ext cx="1368000" cy="317582"/>
          </a:xfrm>
          <a:prstGeom prst="roundRect">
            <a:avLst/>
          </a:prstGeom>
          <a:solidFill>
            <a:srgbClr val="8A0000"/>
          </a:solidFill>
          <a:ln>
            <a:noFill/>
          </a:ln>
        </p:spPr>
        <p:txBody>
          <a:bodyPr lIns="64490" tIns="24183" rIns="64490" bIns="40306" anchor="ctr"/>
          <a:lstStyle/>
          <a:p>
            <a:pPr algn="ctr" defTabSz="806426" eaLnBrk="0" fontAlgn="base" hangingPunct="0">
              <a:spcBef>
                <a:spcPct val="0"/>
              </a:spcBef>
              <a:spcAft>
                <a:spcPct val="0"/>
              </a:spcAft>
              <a:tabLst>
                <a:tab pos="5717777" algn="r"/>
              </a:tabLst>
            </a:pPr>
            <a:r>
              <a:rPr lang="zh-TW" alt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保薦階段</a:t>
            </a:r>
            <a:endParaRPr lang="zh-CN" altLang="en-US" sz="105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itchFamily="34" charset="0"/>
            </a:endParaRPr>
          </a:p>
        </p:txBody>
      </p:sp>
      <p:sp>
        <p:nvSpPr>
          <p:cNvPr id="34" name="Rectangle 2">
            <a:extLst>
              <a:ext uri="{FF2B5EF4-FFF2-40B4-BE49-F238E27FC236}">
                <a16:creationId xmlns:a16="http://schemas.microsoft.com/office/drawing/2014/main" id="{0F789CB3-0691-42EA-9149-CE86803E3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7232" y="3021689"/>
            <a:ext cx="403329" cy="1440000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80563" tIns="40281" rIns="80563" bIns="40281" anchor="ctr"/>
          <a:lstStyle/>
          <a:p>
            <a:pPr algn="ctr" defTabSz="806426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申請上市前現增</a:t>
            </a:r>
            <a:endParaRPr kumimoji="1" lang="en-US" altLang="zh-TW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06426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補辦公開發行及</a:t>
            </a:r>
            <a:endParaRPr kumimoji="1" lang="en-US" altLang="zh-TW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D532A95E-4FA9-4DFA-8B7D-ACB844F8B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324" y="4525809"/>
            <a:ext cx="1813581" cy="480124"/>
          </a:xfrm>
          <a:prstGeom prst="rect">
            <a:avLst/>
          </a:prstGeom>
          <a:solidFill>
            <a:srgbClr val="ECECEC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563" tIns="40281" rIns="80563" bIns="40281" anchor="ctr" anchorCtr="1"/>
          <a:lstStyle/>
          <a:p>
            <a:pPr algn="ctr" defTabSz="806426" fontAlgn="base">
              <a:spcBef>
                <a:spcPct val="10000"/>
              </a:spcBef>
              <a:spcAft>
                <a:spcPct val="0"/>
              </a:spcAft>
              <a:buSzPct val="60000"/>
            </a:pPr>
            <a:r>
              <a:rPr kumimoji="1" lang="zh-CN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</a:t>
            </a: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申請資料及書件準備，預先與主管機關溝通</a:t>
            </a:r>
            <a:endParaRPr kumimoji="1" lang="zh-CN" altLang="en-US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Rectangle 9">
            <a:extLst>
              <a:ext uri="{FF2B5EF4-FFF2-40B4-BE49-F238E27FC236}">
                <a16:creationId xmlns:a16="http://schemas.microsoft.com/office/drawing/2014/main" id="{5B7C8077-3820-4374-9836-F79202275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3628" y="3021689"/>
            <a:ext cx="443943" cy="1440000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80563" tIns="40281" rIns="80563" bIns="40281" anchor="ctr"/>
          <a:lstStyle/>
          <a:p>
            <a:pPr algn="ctr" defTabSz="806426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上市申請</a:t>
            </a:r>
            <a:endParaRPr kumimoji="1" lang="en-US" altLang="zh-TW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06426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向台灣證交所提出</a:t>
            </a:r>
            <a:endParaRPr kumimoji="1" lang="en-US" altLang="zh-TW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Rectangle 10">
            <a:extLst>
              <a:ext uri="{FF2B5EF4-FFF2-40B4-BE49-F238E27FC236}">
                <a16:creationId xmlns:a16="http://schemas.microsoft.com/office/drawing/2014/main" id="{030FDB84-0C1B-46D3-BB94-2BFFF9920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3836" y="3021689"/>
            <a:ext cx="403329" cy="1440000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80563" tIns="40281" rIns="80563" bIns="40281" anchor="ctr"/>
          <a:lstStyle/>
          <a:p>
            <a:pPr algn="ctr" defTabSz="806426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CN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</a:t>
            </a: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審議會審查</a:t>
            </a:r>
            <a:endParaRPr kumimoji="1" lang="zh-CN" altLang="en-US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Line 11">
            <a:extLst>
              <a:ext uri="{FF2B5EF4-FFF2-40B4-BE49-F238E27FC236}">
                <a16:creationId xmlns:a16="http://schemas.microsoft.com/office/drawing/2014/main" id="{30865189-A35F-4B21-8035-B48F8DCC84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4756" y="3702544"/>
            <a:ext cx="22267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Line 12">
            <a:extLst>
              <a:ext uri="{FF2B5EF4-FFF2-40B4-BE49-F238E27FC236}">
                <a16:creationId xmlns:a16="http://schemas.microsoft.com/office/drawing/2014/main" id="{166C6E2E-0A23-4984-A0BA-612C0831720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5934" y="3702544"/>
            <a:ext cx="31790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Rectangle 13">
            <a:extLst>
              <a:ext uri="{FF2B5EF4-FFF2-40B4-BE49-F238E27FC236}">
                <a16:creationId xmlns:a16="http://schemas.microsoft.com/office/drawing/2014/main" id="{D357E79E-E325-46EF-833D-59D8224EB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8032" y="3027114"/>
            <a:ext cx="445343" cy="1440000"/>
          </a:xfrm>
          <a:prstGeom prst="rect">
            <a:avLst/>
          </a:prstGeom>
          <a:solidFill>
            <a:srgbClr val="ECECEC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80563" tIns="40281" rIns="80563" bIns="40281" anchor="ctr"/>
          <a:lstStyle/>
          <a:p>
            <a:pPr algn="ctr" defTabSz="806426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回覆主管機關提問</a:t>
            </a:r>
            <a:endParaRPr kumimoji="1" lang="zh-CN" altLang="en-US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Line 14">
            <a:extLst>
              <a:ext uri="{FF2B5EF4-FFF2-40B4-BE49-F238E27FC236}">
                <a16:creationId xmlns:a16="http://schemas.microsoft.com/office/drawing/2014/main" id="{041A592B-5FA5-44A8-A549-12C189E0F2D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6168" y="3702544"/>
            <a:ext cx="19046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Rectangle 15">
            <a:extLst>
              <a:ext uri="{FF2B5EF4-FFF2-40B4-BE49-F238E27FC236}">
                <a16:creationId xmlns:a16="http://schemas.microsoft.com/office/drawing/2014/main" id="{D3A37FE4-CA44-4C35-90A8-B8B39B4B3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205" y="2892845"/>
            <a:ext cx="2414375" cy="1699253"/>
          </a:xfrm>
          <a:prstGeom prst="rect">
            <a:avLst/>
          </a:prstGeom>
          <a:noFill/>
          <a:ln w="28575" algn="ctr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563" tIns="40281" rIns="80563" bIns="40281" anchor="ctr"/>
          <a:lstStyle/>
          <a:p>
            <a:pPr algn="ctr" defTabSz="277208" fontAlgn="base">
              <a:spcBef>
                <a:spcPct val="50000"/>
              </a:spcBef>
              <a:spcAft>
                <a:spcPct val="10000"/>
              </a:spcAft>
            </a:pPr>
            <a:endParaRPr kumimoji="1" lang="zh-CN" altLang="zh-CN" sz="1235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Rectangle 16">
            <a:extLst>
              <a:ext uri="{FF2B5EF4-FFF2-40B4-BE49-F238E27FC236}">
                <a16:creationId xmlns:a16="http://schemas.microsoft.com/office/drawing/2014/main" id="{16F250AE-5B68-4D76-AF8A-8C0705AEA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722" y="3402807"/>
            <a:ext cx="1814982" cy="431298"/>
          </a:xfrm>
          <a:prstGeom prst="rect">
            <a:avLst/>
          </a:prstGeom>
          <a:solidFill>
            <a:srgbClr val="ECECEC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563" tIns="40281" rIns="80563" bIns="40281" anchor="ctr" anchorCtr="1"/>
          <a:lstStyle/>
          <a:p>
            <a:pPr algn="ctr" defTabSz="806426" fontAlgn="base">
              <a:spcBef>
                <a:spcPct val="10000"/>
              </a:spcBef>
              <a:spcAft>
                <a:spcPct val="0"/>
              </a:spcAft>
              <a:buSzPct val="60000"/>
            </a:pP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展開財務報表審計</a:t>
            </a:r>
            <a:r>
              <a:rPr kumimoji="1" lang="zh-CN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營運策略規劃及獲利預測</a:t>
            </a:r>
            <a:r>
              <a:rPr kumimoji="1" lang="zh-CN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等</a:t>
            </a: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評估</a:t>
            </a:r>
            <a:endParaRPr kumimoji="1" lang="zh-CN" altLang="en-US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Rectangle 17">
            <a:extLst>
              <a:ext uri="{FF2B5EF4-FFF2-40B4-BE49-F238E27FC236}">
                <a16:creationId xmlns:a16="http://schemas.microsoft.com/office/drawing/2014/main" id="{76450BE8-D072-4A9F-91C4-CA5165DCF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722" y="2216058"/>
            <a:ext cx="1814982" cy="553363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563" tIns="40281" rIns="80563" bIns="40281" anchor="ctr" anchorCtr="1"/>
          <a:lstStyle/>
          <a:p>
            <a:pPr algn="ctr" defTabSz="806426" fontAlgn="base">
              <a:spcAft>
                <a:spcPct val="0"/>
              </a:spcAft>
              <a:buSzPct val="60000"/>
            </a:pP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確定工作小組，</a:t>
            </a:r>
            <a:endParaRPr kumimoji="1" lang="en-US" altLang="zh-TW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06426" fontAlgn="base">
              <a:spcAft>
                <a:spcPct val="0"/>
              </a:spcAft>
              <a:buSzPct val="60000"/>
            </a:pP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聘請專業中介機構，</a:t>
            </a:r>
            <a:endParaRPr kumimoji="1" lang="en-US" altLang="zh-TW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06426" fontAlgn="base">
              <a:spcAft>
                <a:spcPct val="0"/>
              </a:spcAft>
              <a:buSzPct val="60000"/>
            </a:pP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各方進場開始盡職調查</a:t>
            </a:r>
            <a:endParaRPr kumimoji="1" lang="zh-CN" altLang="en-US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Rectangle 18">
            <a:extLst>
              <a:ext uri="{FF2B5EF4-FFF2-40B4-BE49-F238E27FC236}">
                <a16:creationId xmlns:a16="http://schemas.microsoft.com/office/drawing/2014/main" id="{4C217F28-1D63-402B-832A-48FF04E2D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322" y="3933113"/>
            <a:ext cx="1814982" cy="492330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563" tIns="40281" rIns="80563" bIns="40281" anchor="ctr" anchorCtr="1"/>
          <a:lstStyle/>
          <a:p>
            <a:pPr algn="ctr" defTabSz="806426" fontAlgn="base">
              <a:spcBef>
                <a:spcPct val="10000"/>
              </a:spcBef>
              <a:spcAft>
                <a:spcPct val="0"/>
              </a:spcAft>
              <a:buSzPct val="60000"/>
            </a:pP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依據合規性及不宜條款規範</a:t>
            </a:r>
            <a:r>
              <a:rPr kumimoji="1" lang="zh-CN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kumimoji="1" lang="en-US" altLang="zh-CN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06426" fontAlgn="base">
              <a:spcBef>
                <a:spcPct val="10000"/>
              </a:spcBef>
              <a:spcAft>
                <a:spcPct val="0"/>
              </a:spcAft>
              <a:buSzPct val="60000"/>
            </a:pP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梳理重大議題並輔導改善，確保排除上市障礙</a:t>
            </a:r>
            <a:endParaRPr kumimoji="1" lang="zh-CN" altLang="en-US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Line 19">
            <a:extLst>
              <a:ext uri="{FF2B5EF4-FFF2-40B4-BE49-F238E27FC236}">
                <a16:creationId xmlns:a16="http://schemas.microsoft.com/office/drawing/2014/main" id="{1801DCFC-3F66-412C-BA23-BCD6841FE6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82" y="3691693"/>
            <a:ext cx="317902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Rectangle 20">
            <a:extLst>
              <a:ext uri="{FF2B5EF4-FFF2-40B4-BE49-F238E27FC236}">
                <a16:creationId xmlns:a16="http://schemas.microsoft.com/office/drawing/2014/main" id="{F02EAE26-CD2F-4EB0-A2FB-E7387ECC9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722" y="2868430"/>
            <a:ext cx="1814982" cy="434010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563" tIns="40281" rIns="80563" bIns="40281" anchor="ctr" anchorCtr="1"/>
          <a:lstStyle/>
          <a:p>
            <a:pPr algn="ctr" defTabSz="806426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論證分析並確立上市架構，規劃制定</a:t>
            </a:r>
            <a:r>
              <a:rPr kumimoji="1" lang="zh-CN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</a:t>
            </a: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時程表</a:t>
            </a:r>
            <a:endParaRPr kumimoji="1" lang="zh-CN" altLang="en-US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4" name="AutoShape 21">
            <a:extLst>
              <a:ext uri="{FF2B5EF4-FFF2-40B4-BE49-F238E27FC236}">
                <a16:creationId xmlns:a16="http://schemas.microsoft.com/office/drawing/2014/main" id="{BE6E8979-BF43-4617-A1F6-F374703A0749}"/>
              </a:ext>
            </a:extLst>
          </p:cNvPr>
          <p:cNvCxnSpPr>
            <a:cxnSpLocks noChangeShapeType="1"/>
            <a:stCxn id="44" idx="3"/>
            <a:endCxn id="43" idx="1"/>
          </p:cNvCxnSpPr>
          <p:nvPr/>
        </p:nvCxnSpPr>
        <p:spPr bwMode="auto">
          <a:xfrm>
            <a:off x="2412704" y="3618456"/>
            <a:ext cx="316501" cy="124016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AutoShape 22">
            <a:extLst>
              <a:ext uri="{FF2B5EF4-FFF2-40B4-BE49-F238E27FC236}">
                <a16:creationId xmlns:a16="http://schemas.microsoft.com/office/drawing/2014/main" id="{86A3972F-5122-439F-AE67-7BD0BB32ED40}"/>
              </a:ext>
            </a:extLst>
          </p:cNvPr>
          <p:cNvCxnSpPr>
            <a:cxnSpLocks noChangeShapeType="1"/>
            <a:stCxn id="49" idx="3"/>
            <a:endCxn id="43" idx="1"/>
          </p:cNvCxnSpPr>
          <p:nvPr/>
        </p:nvCxnSpPr>
        <p:spPr bwMode="auto">
          <a:xfrm flipV="1">
            <a:off x="2411304" y="3742472"/>
            <a:ext cx="317901" cy="436806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Rectangle 23">
            <a:extLst>
              <a:ext uri="{FF2B5EF4-FFF2-40B4-BE49-F238E27FC236}">
                <a16:creationId xmlns:a16="http://schemas.microsoft.com/office/drawing/2014/main" id="{62407FE2-969D-4092-A427-AC18F689C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8764" y="5723252"/>
            <a:ext cx="5398731" cy="368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2225" algn="ctr">
                <a:solidFill>
                  <a:srgbClr val="FF0000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640" tIns="40321" rIns="80640" bIns="40321" anchor="ctr"/>
          <a:lstStyle/>
          <a:p>
            <a:pPr algn="ctr" defTabSz="898829" fontAlgn="base">
              <a:spcAft>
                <a:spcPct val="0"/>
              </a:spcAft>
            </a:pPr>
            <a:r>
              <a:rPr lang="zh-TW" altLang="en-US" sz="125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上市輔導保薦工作將貫穿完整的上市流程</a:t>
            </a:r>
            <a:endParaRPr lang="en-US" altLang="zh-TW" sz="125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98829" fontAlgn="base">
              <a:spcAft>
                <a:spcPct val="0"/>
              </a:spcAft>
            </a:pPr>
            <a:r>
              <a:rPr lang="zh-TW" altLang="en-US" sz="125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及上市後持續督導階段</a:t>
            </a:r>
            <a:endParaRPr lang="zh-CN" altLang="en-US" sz="125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9" name="AutoShape 24">
            <a:extLst>
              <a:ext uri="{FF2B5EF4-FFF2-40B4-BE49-F238E27FC236}">
                <a16:creationId xmlns:a16="http://schemas.microsoft.com/office/drawing/2014/main" id="{B5297984-97A3-4840-9E68-30ADA1C55364}"/>
              </a:ext>
            </a:extLst>
          </p:cNvPr>
          <p:cNvCxnSpPr>
            <a:cxnSpLocks noChangeShapeType="1"/>
            <a:stCxn id="35" idx="3"/>
            <a:endCxn id="43" idx="1"/>
          </p:cNvCxnSpPr>
          <p:nvPr/>
        </p:nvCxnSpPr>
        <p:spPr bwMode="auto">
          <a:xfrm flipV="1">
            <a:off x="2409905" y="3742472"/>
            <a:ext cx="319300" cy="1023399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AutoShape 25">
            <a:extLst>
              <a:ext uri="{FF2B5EF4-FFF2-40B4-BE49-F238E27FC236}">
                <a16:creationId xmlns:a16="http://schemas.microsoft.com/office/drawing/2014/main" id="{5AA23356-18CD-431F-BCD2-B6A9FEFCEBA8}"/>
              </a:ext>
            </a:extLst>
          </p:cNvPr>
          <p:cNvCxnSpPr>
            <a:cxnSpLocks noChangeShapeType="1"/>
            <a:stCxn id="53" idx="3"/>
            <a:endCxn id="43" idx="1"/>
          </p:cNvCxnSpPr>
          <p:nvPr/>
        </p:nvCxnSpPr>
        <p:spPr bwMode="auto">
          <a:xfrm>
            <a:off x="2412704" y="3085435"/>
            <a:ext cx="316501" cy="657037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AutoShape 26">
            <a:extLst>
              <a:ext uri="{FF2B5EF4-FFF2-40B4-BE49-F238E27FC236}">
                <a16:creationId xmlns:a16="http://schemas.microsoft.com/office/drawing/2014/main" id="{1A139B4D-0BB8-4422-9610-AE05950DC1CC}"/>
              </a:ext>
            </a:extLst>
          </p:cNvPr>
          <p:cNvCxnSpPr>
            <a:cxnSpLocks noChangeShapeType="1"/>
            <a:stCxn id="45" idx="3"/>
            <a:endCxn id="43" idx="1"/>
          </p:cNvCxnSpPr>
          <p:nvPr/>
        </p:nvCxnSpPr>
        <p:spPr bwMode="auto">
          <a:xfrm>
            <a:off x="2412704" y="2492740"/>
            <a:ext cx="316501" cy="1249732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3" name="Rectangle 27">
            <a:extLst>
              <a:ext uri="{FF2B5EF4-FFF2-40B4-BE49-F238E27FC236}">
                <a16:creationId xmlns:a16="http://schemas.microsoft.com/office/drawing/2014/main" id="{F6904831-474E-4E4C-B429-D35E107E8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324" y="5106296"/>
            <a:ext cx="1813581" cy="580489"/>
          </a:xfrm>
          <a:prstGeom prst="rect">
            <a:avLst/>
          </a:prstGeom>
          <a:solidFill>
            <a:srgbClr val="ECECEC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563" tIns="40281" rIns="80563" bIns="40281" anchor="ctr" anchorCtr="1"/>
          <a:lstStyle/>
          <a:p>
            <a:pPr algn="ctr" defTabSz="806426" fontAlgn="base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SzPct val="60000"/>
            </a:pPr>
            <a:endParaRPr kumimoji="1" lang="en-US" altLang="zh-CN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06426" fontAlgn="base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SzPct val="60000"/>
            </a:pP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針對董事及大股東進行</a:t>
            </a:r>
            <a:endParaRPr kumimoji="1" lang="en-US" altLang="zh-TW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06426" fontAlgn="base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SzPct val="60000"/>
            </a:pPr>
            <a:r>
              <a:rPr kumimoji="1"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證管法令規定、公司治理及相關課程訓練</a:t>
            </a:r>
            <a:endParaRPr kumimoji="1" lang="zh-CN" altLang="en-US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06426" fontAlgn="base">
              <a:spcBef>
                <a:spcPct val="10000"/>
              </a:spcBef>
              <a:spcAft>
                <a:spcPct val="0"/>
              </a:spcAft>
              <a:buSzPct val="60000"/>
            </a:pPr>
            <a:endParaRPr kumimoji="1" lang="en-US" altLang="zh-CN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4" name="AutoShape 28">
            <a:extLst>
              <a:ext uri="{FF2B5EF4-FFF2-40B4-BE49-F238E27FC236}">
                <a16:creationId xmlns:a16="http://schemas.microsoft.com/office/drawing/2014/main" id="{977BE6EF-26C6-470E-BECA-223AC4F9282C}"/>
              </a:ext>
            </a:extLst>
          </p:cNvPr>
          <p:cNvCxnSpPr>
            <a:cxnSpLocks noChangeShapeType="1"/>
            <a:stCxn id="63" idx="3"/>
            <a:endCxn id="43" idx="1"/>
          </p:cNvCxnSpPr>
          <p:nvPr/>
        </p:nvCxnSpPr>
        <p:spPr bwMode="auto">
          <a:xfrm flipV="1">
            <a:off x="2409905" y="3742472"/>
            <a:ext cx="319300" cy="1654069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5" name="Line 29">
            <a:extLst>
              <a:ext uri="{FF2B5EF4-FFF2-40B4-BE49-F238E27FC236}">
                <a16:creationId xmlns:a16="http://schemas.microsoft.com/office/drawing/2014/main" id="{B499F4E7-8E70-43FD-B74E-6D7AED1B430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322" y="5783854"/>
            <a:ext cx="0" cy="309442"/>
          </a:xfrm>
          <a:prstGeom prst="line">
            <a:avLst/>
          </a:prstGeom>
          <a:noFill/>
          <a:ln w="28575">
            <a:solidFill>
              <a:srgbClr val="8A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Line 30">
            <a:extLst>
              <a:ext uri="{FF2B5EF4-FFF2-40B4-BE49-F238E27FC236}">
                <a16:creationId xmlns:a16="http://schemas.microsoft.com/office/drawing/2014/main" id="{29D078BB-E770-4903-98D2-3B8579503944}"/>
              </a:ext>
            </a:extLst>
          </p:cNvPr>
          <p:cNvSpPr>
            <a:spLocks noChangeShapeType="1"/>
          </p:cNvSpPr>
          <p:nvPr/>
        </p:nvSpPr>
        <p:spPr bwMode="auto">
          <a:xfrm>
            <a:off x="8510456" y="5723253"/>
            <a:ext cx="0" cy="370041"/>
          </a:xfrm>
          <a:prstGeom prst="line">
            <a:avLst/>
          </a:prstGeom>
          <a:noFill/>
          <a:ln w="28575">
            <a:solidFill>
              <a:srgbClr val="8A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Line 31">
            <a:extLst>
              <a:ext uri="{FF2B5EF4-FFF2-40B4-BE49-F238E27FC236}">
                <a16:creationId xmlns:a16="http://schemas.microsoft.com/office/drawing/2014/main" id="{806C26FE-73C5-4412-9CB3-7B7821C212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4136" y="5915785"/>
            <a:ext cx="1207187" cy="0"/>
          </a:xfrm>
          <a:prstGeom prst="line">
            <a:avLst/>
          </a:prstGeom>
          <a:noFill/>
          <a:ln w="28575">
            <a:solidFill>
              <a:srgbClr val="8A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Line 32">
            <a:extLst>
              <a:ext uri="{FF2B5EF4-FFF2-40B4-BE49-F238E27FC236}">
                <a16:creationId xmlns:a16="http://schemas.microsoft.com/office/drawing/2014/main" id="{85901B4D-E242-4BA3-884E-A41EEE40397B}"/>
              </a:ext>
            </a:extLst>
          </p:cNvPr>
          <p:cNvSpPr>
            <a:spLocks noChangeShapeType="1"/>
          </p:cNvSpPr>
          <p:nvPr/>
        </p:nvSpPr>
        <p:spPr bwMode="auto">
          <a:xfrm>
            <a:off x="7367494" y="5915785"/>
            <a:ext cx="1079747" cy="0"/>
          </a:xfrm>
          <a:prstGeom prst="line">
            <a:avLst/>
          </a:prstGeom>
          <a:noFill/>
          <a:ln w="28575">
            <a:solidFill>
              <a:srgbClr val="8A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Line 34">
            <a:extLst>
              <a:ext uri="{FF2B5EF4-FFF2-40B4-BE49-F238E27FC236}">
                <a16:creationId xmlns:a16="http://schemas.microsoft.com/office/drawing/2014/main" id="{05C61A73-858A-4384-A307-31B85D3ACE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6573" y="3702544"/>
            <a:ext cx="22267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Rectangle 35">
            <a:extLst>
              <a:ext uri="{FF2B5EF4-FFF2-40B4-BE49-F238E27FC236}">
                <a16:creationId xmlns:a16="http://schemas.microsoft.com/office/drawing/2014/main" id="{E0AF2F3E-073A-455D-9AE2-38AD67D6D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0051" y="2478360"/>
            <a:ext cx="1368000" cy="2376000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1748" tIns="9525" rIns="31748" bIns="9525" anchor="ctr" anchorCtr="1"/>
          <a:lstStyle/>
          <a:p>
            <a:pPr algn="just" defTabSz="806426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為加強公司治理及強化監理，主辦承銷商將擔任保薦機構，於掛牌後</a:t>
            </a:r>
            <a:r>
              <a:rPr lang="en-US" altLang="zh-TW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年針對發行人海外</a:t>
            </a:r>
            <a:r>
              <a:rPr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</a:rPr>
              <a:t>營運情形及風險進行持續督導</a:t>
            </a:r>
            <a:r>
              <a:rPr lang="zh-TW" altLang="en-US" sz="105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，內容包括且不限於發行人的內控制度、交易合理性及必要性、重大訊息公告等，並於保薦期間參與董事會及每年海外實地訪查</a:t>
            </a:r>
            <a:endParaRPr lang="en-US" altLang="zh-CN" sz="105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Rectangle 2">
            <a:extLst>
              <a:ext uri="{FF2B5EF4-FFF2-40B4-BE49-F238E27FC236}">
                <a16:creationId xmlns:a16="http://schemas.microsoft.com/office/drawing/2014/main" id="{2CCF8918-7C0B-4687-8466-03AA1176A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924" y="476672"/>
            <a:ext cx="79375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957" tIns="44478" rIns="88957" bIns="44478" numCol="1" anchor="t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24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整體工作流程</a:t>
            </a:r>
            <a:endParaRPr lang="zh-CN" altLang="en-US" sz="2400" kern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2" name="Rectangle 2">
            <a:extLst>
              <a:ext uri="{FF2B5EF4-FFF2-40B4-BE49-F238E27FC236}">
                <a16:creationId xmlns:a16="http://schemas.microsoft.com/office/drawing/2014/main" id="{61044AB0-839F-4E1A-8D03-4D3CBDDFA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484" y="3021689"/>
            <a:ext cx="403329" cy="1440000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80563" tIns="40281" rIns="80563" bIns="40281" anchor="ctr"/>
          <a:lstStyle/>
          <a:p>
            <a:pPr algn="ctr" defTabSz="806426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進行造勢活動</a:t>
            </a:r>
            <a:endParaRPr kumimoji="1" lang="en-US" altLang="zh-TW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06426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確認承銷價格</a:t>
            </a:r>
            <a:endParaRPr kumimoji="1" lang="en-US" altLang="zh-TW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Rectangle 2">
            <a:extLst>
              <a:ext uri="{FF2B5EF4-FFF2-40B4-BE49-F238E27FC236}">
                <a16:creationId xmlns:a16="http://schemas.microsoft.com/office/drawing/2014/main" id="{E5C38198-F798-4FD6-81CA-08872FCDC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364" y="3021689"/>
            <a:ext cx="403329" cy="1440000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80563" tIns="40281" rIns="80563" bIns="40281" anchor="ctr"/>
          <a:lstStyle/>
          <a:p>
            <a:pPr algn="ctr" defTabSz="806426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競拍及公開申購</a:t>
            </a:r>
            <a:endParaRPr kumimoji="1" lang="en-US" altLang="zh-TW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defTabSz="806426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上市前現金增資承銷</a:t>
            </a:r>
            <a:endParaRPr kumimoji="1" lang="en-US" altLang="zh-TW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4" name="Rectangle 2">
            <a:extLst>
              <a:ext uri="{FF2B5EF4-FFF2-40B4-BE49-F238E27FC236}">
                <a16:creationId xmlns:a16="http://schemas.microsoft.com/office/drawing/2014/main" id="{34F90175-C343-4673-9E73-724968B1D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3244" y="3021689"/>
            <a:ext cx="403329" cy="1440000"/>
          </a:xfrm>
          <a:prstGeom prst="rect">
            <a:avLst/>
          </a:prstGeom>
          <a:solidFill>
            <a:srgbClr val="ECECE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80563" tIns="40281" rIns="80563" bIns="40281" anchor="ctr"/>
          <a:lstStyle/>
          <a:p>
            <a:pPr algn="ctr" defTabSz="806426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Pct val="60000"/>
            </a:pPr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新股上市掛牌</a:t>
            </a:r>
            <a:endParaRPr kumimoji="1" lang="zh-CN" altLang="en-US" sz="12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Line 11">
            <a:extLst>
              <a:ext uri="{FF2B5EF4-FFF2-40B4-BE49-F238E27FC236}">
                <a16:creationId xmlns:a16="http://schemas.microsoft.com/office/drawing/2014/main" id="{8DE82833-DE53-402A-AA38-4D92968193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4813" y="3708879"/>
            <a:ext cx="17595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6" name="Line 11">
            <a:extLst>
              <a:ext uri="{FF2B5EF4-FFF2-40B4-BE49-F238E27FC236}">
                <a16:creationId xmlns:a16="http://schemas.microsoft.com/office/drawing/2014/main" id="{93D08FB2-AE0B-471E-BC20-3D5A631B25E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6291" y="3708879"/>
            <a:ext cx="17595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640" tIns="40321" rIns="80640" bIns="40321" anchor="ctr"/>
          <a:lstStyle/>
          <a:p>
            <a:pPr algn="ctr" defTabSz="806426" fontAlgn="base">
              <a:spcBef>
                <a:spcPct val="50000"/>
              </a:spcBef>
              <a:spcAft>
                <a:spcPct val="0"/>
              </a:spcAft>
            </a:pPr>
            <a:endParaRPr lang="zh-CN" altLang="en-US" sz="1235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7" name="Rectangle 15">
            <a:extLst>
              <a:ext uri="{FF2B5EF4-FFF2-40B4-BE49-F238E27FC236}">
                <a16:creationId xmlns:a16="http://schemas.microsoft.com/office/drawing/2014/main" id="{5D4A8915-4B5D-4C2F-9595-D4DAFEACA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538" y="1495900"/>
            <a:ext cx="13668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TW" sz="14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4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年以上</a:t>
            </a:r>
          </a:p>
        </p:txBody>
      </p:sp>
      <p:sp>
        <p:nvSpPr>
          <p:cNvPr id="78" name="Rectangle 16">
            <a:extLst>
              <a:ext uri="{FF2B5EF4-FFF2-40B4-BE49-F238E27FC236}">
                <a16:creationId xmlns:a16="http://schemas.microsoft.com/office/drawing/2014/main" id="{B0045109-9B10-4BC8-9465-47503ECB7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4173" y="1475922"/>
            <a:ext cx="23780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TW" altLang="en-US" sz="14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約</a:t>
            </a:r>
            <a:r>
              <a:rPr lang="en-US" altLang="zh-TW" sz="14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3~4</a:t>
            </a:r>
            <a:r>
              <a:rPr lang="zh-TW" altLang="en-US" sz="14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個月</a:t>
            </a:r>
          </a:p>
        </p:txBody>
      </p:sp>
      <p:sp>
        <p:nvSpPr>
          <p:cNvPr id="79" name="Rectangle 17">
            <a:extLst>
              <a:ext uri="{FF2B5EF4-FFF2-40B4-BE49-F238E27FC236}">
                <a16:creationId xmlns:a16="http://schemas.microsoft.com/office/drawing/2014/main" id="{7DFDC058-AD53-4B31-9D40-9FAD5842F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1924" y="1495900"/>
            <a:ext cx="14414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TW" altLang="en-US" sz="14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約</a:t>
            </a:r>
            <a:r>
              <a:rPr lang="en-US" altLang="zh-TW" sz="14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2~3</a:t>
            </a:r>
            <a:r>
              <a:rPr lang="zh-TW" altLang="en-US" sz="14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個月</a:t>
            </a:r>
          </a:p>
        </p:txBody>
      </p:sp>
      <p:sp>
        <p:nvSpPr>
          <p:cNvPr id="80" name="Rectangle 17">
            <a:extLst>
              <a:ext uri="{FF2B5EF4-FFF2-40B4-BE49-F238E27FC236}">
                <a16:creationId xmlns:a16="http://schemas.microsoft.com/office/drawing/2014/main" id="{D3BF62CD-6A5D-4512-A037-46153AB6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975" y="1361734"/>
            <a:ext cx="12239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TW" altLang="en-US" sz="12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掛牌年度及</a:t>
            </a:r>
            <a:endParaRPr lang="en-US" altLang="zh-TW" sz="1200" dirty="0">
              <a:solidFill>
                <a:srgbClr val="A4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eaLnBrk="1" hangingPunct="1">
              <a:defRPr/>
            </a:pPr>
            <a:r>
              <a:rPr lang="zh-TW" altLang="en-US" sz="12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其後</a:t>
            </a:r>
            <a:r>
              <a:rPr lang="en-US" altLang="zh-TW" sz="12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200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年度</a:t>
            </a:r>
          </a:p>
        </p:txBody>
      </p:sp>
      <p:cxnSp>
        <p:nvCxnSpPr>
          <p:cNvPr id="81" name="直線單箭頭接點 80">
            <a:extLst>
              <a:ext uri="{FF2B5EF4-FFF2-40B4-BE49-F238E27FC236}">
                <a16:creationId xmlns:a16="http://schemas.microsoft.com/office/drawing/2014/main" id="{20445C22-B904-488D-AE10-22B92B7BC93E}"/>
              </a:ext>
            </a:extLst>
          </p:cNvPr>
          <p:cNvCxnSpPr/>
          <p:nvPr/>
        </p:nvCxnSpPr>
        <p:spPr bwMode="auto">
          <a:xfrm flipH="1">
            <a:off x="2260801" y="1657483"/>
            <a:ext cx="419390" cy="11317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EFEB8025-3480-4546-975F-8350C96A87EB}"/>
              </a:ext>
            </a:extLst>
          </p:cNvPr>
          <p:cNvSpPr txBox="1"/>
          <p:nvPr/>
        </p:nvSpPr>
        <p:spPr>
          <a:xfrm>
            <a:off x="2751786" y="4646912"/>
            <a:ext cx="1532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申報輔導至少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個月得提出上市申請</a:t>
            </a:r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D2C8C974-1B50-4F52-91E7-190C9B554F85}"/>
              </a:ext>
            </a:extLst>
          </p:cNvPr>
          <p:cNvSpPr txBox="1"/>
          <p:nvPr/>
        </p:nvSpPr>
        <p:spPr>
          <a:xfrm>
            <a:off x="2307533" y="1342154"/>
            <a:ext cx="15321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</a:p>
        </p:txBody>
      </p:sp>
    </p:spTree>
    <p:extLst>
      <p:ext uri="{BB962C8B-B14F-4D97-AF65-F5344CB8AC3E}">
        <p14:creationId xmlns:p14="http://schemas.microsoft.com/office/powerpoint/2010/main" val="228227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 1">
            <a:extLst>
              <a:ext uri="{FF2B5EF4-FFF2-40B4-BE49-F238E27FC236}">
                <a16:creationId xmlns:a16="http://schemas.microsoft.com/office/drawing/2014/main" id="{D7E9B1AF-8898-4C1B-AE50-85836122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332656"/>
            <a:ext cx="6491288" cy="633412"/>
          </a:xfrm>
        </p:spPr>
        <p:txBody>
          <a:bodyPr/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中介機構職責分工</a:t>
            </a:r>
            <a:endParaRPr lang="zh-CN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Rectangle 20">
            <a:extLst>
              <a:ext uri="{FF2B5EF4-FFF2-40B4-BE49-F238E27FC236}">
                <a16:creationId xmlns:a16="http://schemas.microsoft.com/office/drawing/2014/main" id="{D23B90C5-2B87-4D29-A820-521E7ADC33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4561" y="1672915"/>
            <a:ext cx="5444243" cy="1132219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wrap="square" lIns="80614" tIns="40306" rIns="80614" bIns="40306" anchor="ctr"/>
          <a:lstStyle/>
          <a:p>
            <a:pPr marL="151253" indent="-151253" defTabSz="859902" eaLnBrk="0" fontAlgn="base" hangingPunct="0">
              <a:spcBef>
                <a:spcPts val="265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</a:pPr>
            <a:r>
              <a:rPr kumimoji="1" lang="zh-TW" altLang="en-US" sz="12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規劃股權及組織架構調整方案與工作時程表</a:t>
            </a:r>
            <a:endParaRPr kumimoji="1" lang="zh-CN" altLang="en-US" sz="1200" kern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51253" indent="-151253" defTabSz="859902" eaLnBrk="0" fontAlgn="base" hangingPunct="0">
              <a:spcBef>
                <a:spcPts val="265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</a:pPr>
            <a:r>
              <a:rPr kumimoji="1" lang="zh-TW" altLang="en-US" sz="12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提供股權評估、協助計算合理換股比例及換股架構及金流規劃</a:t>
            </a:r>
            <a:endParaRPr kumimoji="1" lang="en-US" altLang="zh-TW" sz="1200" kern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51253" indent="-151253" defTabSz="859902" eaLnBrk="0" fontAlgn="base" hangingPunct="0">
              <a:spcBef>
                <a:spcPts val="265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</a:pPr>
            <a:r>
              <a:rPr kumimoji="1" lang="zh-TW" altLang="en-US" sz="12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掌握</a:t>
            </a:r>
            <a:r>
              <a:rPr kumimoji="1" lang="en-US" altLang="zh-TW" sz="12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KY</a:t>
            </a:r>
            <a:r>
              <a:rPr kumimoji="1" lang="zh-TW" altLang="en-US" sz="12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主體架構回台</a:t>
            </a:r>
            <a:r>
              <a:rPr kumimoji="1" lang="en-US" altLang="zh-TW" sz="12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kumimoji="1" lang="zh-TW" altLang="en-US" sz="12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之股權、交易之合規性</a:t>
            </a:r>
            <a:endParaRPr kumimoji="1" lang="en-US" altLang="zh-CN" sz="1200" kern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51253" indent="-151253" defTabSz="859902" eaLnBrk="0" fontAlgn="base" hangingPunct="0">
              <a:spcBef>
                <a:spcPts val="265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</a:pPr>
            <a:r>
              <a:rPr kumimoji="1" lang="zh-TW" altLang="en-US" sz="12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申請</a:t>
            </a:r>
            <a:r>
              <a:rPr kumimoji="1" lang="en-US" altLang="zh-TW" sz="12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kumimoji="1" lang="zh-TW" altLang="en-US" sz="12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流程中，負責查核、與主管機關溝通及控制送件進度，造勢規劃</a:t>
            </a:r>
            <a:endParaRPr kumimoji="1" lang="zh-CN" altLang="en-US" sz="1200" kern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51253" indent="-151253" defTabSz="859902" eaLnBrk="0" fontAlgn="base" hangingPunct="0">
              <a:spcBef>
                <a:spcPts val="265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</a:pPr>
            <a:r>
              <a:rPr kumimoji="1" lang="zh-TW" altLang="en-US" sz="12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協調各負責單位的工作細項、會議安排及專案進度溝通</a:t>
            </a:r>
          </a:p>
        </p:txBody>
      </p:sp>
      <p:sp>
        <p:nvSpPr>
          <p:cNvPr id="50" name="Rectangle 21">
            <a:extLst>
              <a:ext uri="{FF2B5EF4-FFF2-40B4-BE49-F238E27FC236}">
                <a16:creationId xmlns:a16="http://schemas.microsoft.com/office/drawing/2014/main" id="{BC07E900-4856-44E8-AC39-F2DEE85F8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4561" y="3853621"/>
            <a:ext cx="5444243" cy="809683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wrap="square" lIns="80614" tIns="40306" rIns="80614" bIns="40306" anchor="ctr"/>
          <a:lstStyle/>
          <a:p>
            <a:pPr marL="151253" indent="-151253" defTabSz="859902" eaLnBrk="0" fontAlgn="base" hangingPunct="0">
              <a:spcBef>
                <a:spcPts val="265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</a:pPr>
            <a:r>
              <a:rPr kumimoji="1" lang="zh-TW" altLang="en-US" sz="12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提供法律諮詢，如開曼公司設立、草擬換股協議或合約、法律風險評估</a:t>
            </a:r>
            <a:endParaRPr kumimoji="1" lang="en-US" altLang="zh-TW" sz="1200" kern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51253" indent="-151253" defTabSz="859902" eaLnBrk="0" fontAlgn="base" hangingPunct="0">
              <a:spcBef>
                <a:spcPts val="265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</a:pPr>
            <a:r>
              <a:rPr kumimoji="1" lang="zh-TW" altLang="en-US" sz="12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協助處理跨境法律問題、確保交易合法合規</a:t>
            </a:r>
            <a:endParaRPr kumimoji="1" lang="en-US" altLang="zh-TW" sz="1200" kern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51253" indent="-151253" defTabSz="859902" eaLnBrk="0" fontAlgn="base" hangingPunct="0">
              <a:spcBef>
                <a:spcPts val="265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</a:pPr>
            <a:r>
              <a:rPr kumimoji="1" lang="zh-TW" altLang="en-US" sz="12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協助擬定開曼主體公司章程，以符合回台上市法規</a:t>
            </a:r>
            <a:endParaRPr kumimoji="1" lang="en-US" altLang="zh-CN" sz="1200" kern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Rectangle 9">
            <a:extLst>
              <a:ext uri="{FF2B5EF4-FFF2-40B4-BE49-F238E27FC236}">
                <a16:creationId xmlns:a16="http://schemas.microsoft.com/office/drawing/2014/main" id="{985E7B73-B964-49B2-ABCE-ACB31927B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533" y="1229579"/>
            <a:ext cx="2350108" cy="323934"/>
          </a:xfrm>
          <a:prstGeom prst="rect">
            <a:avLst/>
          </a:prstGeom>
          <a:solidFill>
            <a:srgbClr val="920000"/>
          </a:solidFill>
          <a:ln>
            <a:noFill/>
          </a:ln>
          <a:effectLst/>
        </p:spPr>
        <p:txBody>
          <a:bodyPr lIns="64518" tIns="24194" rIns="64518" bIns="40324" anchor="ctr"/>
          <a:lstStyle/>
          <a:p>
            <a:pPr algn="ctr" defTabSz="806684" eaLnBrk="0" fontAlgn="base" hangingPunct="0">
              <a:spcBef>
                <a:spcPct val="0"/>
              </a:spcBef>
              <a:spcAft>
                <a:spcPct val="0"/>
              </a:spcAft>
              <a:tabLst>
                <a:tab pos="5719611" algn="r"/>
              </a:tabLst>
            </a:pPr>
            <a:r>
              <a:rPr lang="zh-TW" alt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負責單位</a:t>
            </a:r>
            <a:endParaRPr lang="zh-CN" altLang="en-US" sz="12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Rectangle 19">
            <a:extLst>
              <a:ext uri="{FF2B5EF4-FFF2-40B4-BE49-F238E27FC236}">
                <a16:creationId xmlns:a16="http://schemas.microsoft.com/office/drawing/2014/main" id="{EF3503FC-44C3-4736-91FE-D80F0DABF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4561" y="1229579"/>
            <a:ext cx="5444243" cy="323934"/>
          </a:xfrm>
          <a:prstGeom prst="rect">
            <a:avLst/>
          </a:prstGeom>
          <a:solidFill>
            <a:srgbClr val="920000"/>
          </a:solidFill>
          <a:ln>
            <a:noFill/>
          </a:ln>
          <a:effectLst/>
        </p:spPr>
        <p:txBody>
          <a:bodyPr lIns="64518" tIns="24194" rIns="64518" bIns="40324" anchor="ctr"/>
          <a:lstStyle/>
          <a:p>
            <a:pPr algn="ctr" defTabSz="806684" eaLnBrk="0" fontAlgn="base" hangingPunct="0">
              <a:spcBef>
                <a:spcPct val="0"/>
              </a:spcBef>
              <a:spcAft>
                <a:spcPct val="0"/>
              </a:spcAft>
              <a:tabLst>
                <a:tab pos="5719611" algn="r"/>
              </a:tabLst>
            </a:pPr>
            <a:r>
              <a:rPr lang="zh-TW" alt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工作項目</a:t>
            </a:r>
            <a:endParaRPr lang="zh-CN" altLang="en-US" sz="12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70534DC2-ADA3-4431-8612-B299D54C0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533" y="1672915"/>
            <a:ext cx="2350108" cy="1132219"/>
          </a:xfrm>
          <a:prstGeom prst="rect">
            <a:avLst/>
          </a:prstGeom>
          <a:solidFill>
            <a:srgbClr val="DECEA6"/>
          </a:solidFill>
          <a:ln w="9525" algn="ctr">
            <a:solidFill>
              <a:srgbClr val="FFF9D7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defTabSz="899116">
              <a:spcBef>
                <a:spcPct val="50000"/>
              </a:spcBef>
              <a:defRPr/>
            </a:pPr>
            <a:r>
              <a:rPr lang="zh-TW" altLang="en-US" sz="1200" b="1" kern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財務顧問</a:t>
            </a:r>
            <a:r>
              <a:rPr lang="en-US" altLang="zh-TW" sz="1200" b="1" kern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200" b="1" kern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主辦券商</a:t>
            </a:r>
            <a:endParaRPr lang="en-US" altLang="zh-TW" sz="1200" b="1" kern="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Rectangle 4">
            <a:extLst>
              <a:ext uri="{FF2B5EF4-FFF2-40B4-BE49-F238E27FC236}">
                <a16:creationId xmlns:a16="http://schemas.microsoft.com/office/drawing/2014/main" id="{190DBDC4-F334-42E2-A12D-11D6502B9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533" y="3853621"/>
            <a:ext cx="2350108" cy="809683"/>
          </a:xfrm>
          <a:prstGeom prst="rect">
            <a:avLst/>
          </a:prstGeom>
          <a:solidFill>
            <a:srgbClr val="DECEA6"/>
          </a:solidFill>
          <a:ln w="9525" algn="ctr">
            <a:solidFill>
              <a:srgbClr val="FFF9D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899116">
              <a:spcBef>
                <a:spcPct val="50000"/>
              </a:spcBef>
              <a:defRPr/>
            </a:pPr>
            <a:r>
              <a:rPr lang="zh-CN" altLang="en-US" sz="1200" b="1" kern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律</a:t>
            </a:r>
            <a:r>
              <a:rPr lang="zh-TW" altLang="en-US" sz="1200" b="1" kern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師</a:t>
            </a:r>
            <a:endParaRPr lang="en-US" altLang="zh-CN" sz="1200" b="1" kern="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4" name="Rectangle 21">
            <a:extLst>
              <a:ext uri="{FF2B5EF4-FFF2-40B4-BE49-F238E27FC236}">
                <a16:creationId xmlns:a16="http://schemas.microsoft.com/office/drawing/2014/main" id="{BA4858B4-02AD-4974-AF52-875608BA7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4561" y="2924536"/>
            <a:ext cx="5444243" cy="809683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wrap="square" lIns="80614" tIns="40306" rIns="80614" bIns="40306" anchor="ctr"/>
          <a:lstStyle/>
          <a:p>
            <a:pPr marL="151253" indent="-151253" defTabSz="859902" eaLnBrk="0" fontAlgn="base" hangingPunct="0">
              <a:spcBef>
                <a:spcPts val="265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</a:pPr>
            <a:r>
              <a:rPr kumimoji="1" lang="zh-TW" altLang="en-US" sz="12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協助評估股權轉讓的稅務影響，並提供稅務優化建議</a:t>
            </a:r>
            <a:endParaRPr kumimoji="1" lang="en-US" altLang="zh-TW" sz="1200" kern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51253" indent="-151253" defTabSz="859902" eaLnBrk="0" fontAlgn="base" hangingPunct="0">
              <a:spcBef>
                <a:spcPts val="265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</a:pPr>
            <a:r>
              <a:rPr kumimoji="1" lang="zh-TW" altLang="en-US" sz="12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提供股東及公司之稅務諮詢、稅務規劃、與稅局溝通等</a:t>
            </a:r>
            <a:endParaRPr kumimoji="1" lang="en-US" altLang="zh-CN" sz="1200" kern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51253" indent="-151253" defTabSz="859902" eaLnBrk="0" fontAlgn="base" hangingPunct="0">
              <a:spcBef>
                <a:spcPts val="265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</a:pPr>
            <a:r>
              <a:rPr kumimoji="1" lang="zh-TW" altLang="en-US" sz="12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出具股權及組織架構調整報告、出具</a:t>
            </a:r>
            <a:r>
              <a:rPr kumimoji="1" lang="en-US" altLang="zh-TW" sz="12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kumimoji="1" lang="zh-TW" altLang="en-US" sz="12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之內控專審報告及合併財務報表</a:t>
            </a:r>
            <a:endParaRPr kumimoji="1" lang="en-US" altLang="zh-CN" sz="1200" kern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5" name="Rectangle 4">
            <a:extLst>
              <a:ext uri="{FF2B5EF4-FFF2-40B4-BE49-F238E27FC236}">
                <a16:creationId xmlns:a16="http://schemas.microsoft.com/office/drawing/2014/main" id="{830E9C24-46FE-46E4-8E89-E112F060F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533" y="2924536"/>
            <a:ext cx="2350108" cy="809683"/>
          </a:xfrm>
          <a:prstGeom prst="rect">
            <a:avLst/>
          </a:prstGeom>
          <a:solidFill>
            <a:srgbClr val="DECEA6"/>
          </a:solidFill>
          <a:ln w="9525" algn="ctr">
            <a:solidFill>
              <a:srgbClr val="FFF9D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899116">
              <a:spcBef>
                <a:spcPct val="50000"/>
              </a:spcBef>
              <a:defRPr/>
            </a:pPr>
            <a:r>
              <a:rPr lang="zh-TW" altLang="en-US" sz="1200" b="1" kern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稅務</a:t>
            </a:r>
            <a:r>
              <a:rPr lang="en-US" altLang="zh-TW" sz="1200" b="1" kern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200" b="1" kern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審計會計師</a:t>
            </a:r>
            <a:endParaRPr lang="en-US" altLang="zh-TW" sz="1200" b="1" kern="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6" name="Rectangle 21">
            <a:extLst>
              <a:ext uri="{FF2B5EF4-FFF2-40B4-BE49-F238E27FC236}">
                <a16:creationId xmlns:a16="http://schemas.microsoft.com/office/drawing/2014/main" id="{06094EB6-9DEA-44C4-82D4-7431DD571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4561" y="4782706"/>
            <a:ext cx="5444243" cy="5400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wrap="square" lIns="80614" tIns="40306" rIns="80614" bIns="40306" anchor="ctr"/>
          <a:lstStyle/>
          <a:p>
            <a:pPr marL="151253" indent="-151253" defTabSz="859902" eaLnBrk="0" fontAlgn="base" hangingPunct="0">
              <a:spcBef>
                <a:spcPts val="265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</a:pPr>
            <a:r>
              <a:rPr kumimoji="1" lang="zh-TW" altLang="en-US" sz="12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評價公司價值並協助出具資產評價報告</a:t>
            </a:r>
            <a:endParaRPr kumimoji="1" lang="en-US" altLang="zh-CN" sz="1200" kern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7" name="Rectangle 4">
            <a:extLst>
              <a:ext uri="{FF2B5EF4-FFF2-40B4-BE49-F238E27FC236}">
                <a16:creationId xmlns:a16="http://schemas.microsoft.com/office/drawing/2014/main" id="{A496C2C8-0414-4529-9202-5D631558D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533" y="4782706"/>
            <a:ext cx="2350108" cy="540000"/>
          </a:xfrm>
          <a:prstGeom prst="rect">
            <a:avLst/>
          </a:prstGeom>
          <a:solidFill>
            <a:srgbClr val="DECEA6"/>
          </a:solidFill>
          <a:ln w="9525" algn="ctr">
            <a:solidFill>
              <a:srgbClr val="FFF9D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899116">
              <a:spcBef>
                <a:spcPct val="50000"/>
              </a:spcBef>
              <a:defRPr/>
            </a:pPr>
            <a:r>
              <a:rPr lang="zh-TW" altLang="en-US" sz="1200" b="1" kern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評估機構</a:t>
            </a:r>
            <a:endParaRPr lang="en-US" altLang="zh-CN" sz="1200" b="1" kern="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CF8EAE09-6098-493C-930A-5CABF933C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877" y="6073551"/>
            <a:ext cx="825658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rgbClr val="FF3300"/>
              </a:buClr>
              <a:buFont typeface="Wingdings" pitchFamily="2" charset="2"/>
              <a:buChar char="n"/>
              <a:defRPr kumimoji="1" sz="2400" b="1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3300"/>
              </a:buClr>
              <a:buFont typeface="Wingdings" pitchFamily="2" charset="2"/>
              <a:buChar char="n"/>
              <a:defRPr kumimoji="1" sz="2000" b="1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FF3300"/>
              </a:buClr>
              <a:buFont typeface="Wingdings" pitchFamily="2" charset="2"/>
              <a:buChar char="n"/>
              <a:defRPr kumimoji="1" b="1">
                <a:solidFill>
                  <a:schemeClr val="tx1"/>
                </a:solidFill>
                <a:latin typeface="Arial" charset="0"/>
                <a:ea typeface="微軟正黑體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indent="0" algn="just" eaLnBrk="1" hangingPunct="1">
              <a:spcBef>
                <a:spcPct val="0"/>
              </a:spcBef>
              <a:spcAft>
                <a:spcPts val="600"/>
              </a:spcAft>
              <a:buClr>
                <a:srgbClr val="FF0000"/>
              </a:buClr>
              <a:buNone/>
            </a:pPr>
            <a:r>
              <a:rPr lang="zh-TW" altLang="en-US" sz="1200" b="0" dirty="0">
                <a:latin typeface="微軟正黑體" panose="020B0604030504040204" pitchFamily="34" charset="-120"/>
              </a:rPr>
              <a:t>* 法律及稅務諮詢係由客戶委任，台新偕同委任之律師及會計師完成專案。</a:t>
            </a:r>
            <a:endParaRPr lang="en-US" altLang="zh-TW" sz="1200" b="0" dirty="0">
              <a:latin typeface="微軟正黑體" panose="020B0604030504040204" pitchFamily="34" charset="-120"/>
            </a:endParaRPr>
          </a:p>
        </p:txBody>
      </p:sp>
      <p:sp>
        <p:nvSpPr>
          <p:cNvPr id="89" name="Rectangle 21">
            <a:extLst>
              <a:ext uri="{FF2B5EF4-FFF2-40B4-BE49-F238E27FC236}">
                <a16:creationId xmlns:a16="http://schemas.microsoft.com/office/drawing/2014/main" id="{8C78C10B-5445-407D-AB0E-FF225A5C2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8197" y="5442107"/>
            <a:ext cx="5444243" cy="5400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wrap="square" lIns="80614" tIns="40306" rIns="80614" bIns="40306" anchor="ctr"/>
          <a:lstStyle/>
          <a:p>
            <a:pPr marL="151253" indent="-151253" defTabSz="859902" eaLnBrk="0" fontAlgn="base" hangingPunct="0">
              <a:spcBef>
                <a:spcPts val="265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</a:pPr>
            <a:r>
              <a:rPr kumimoji="1" lang="zh-TW" altLang="en-US" sz="1200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協助開曼主體註冊文件整理、確保符合開曼群島經濟實質要求</a:t>
            </a:r>
            <a:endParaRPr kumimoji="1" lang="en-US" altLang="zh-CN" sz="1200" kern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0" name="Rectangle 4">
            <a:extLst>
              <a:ext uri="{FF2B5EF4-FFF2-40B4-BE49-F238E27FC236}">
                <a16:creationId xmlns:a16="http://schemas.microsoft.com/office/drawing/2014/main" id="{8E0F4698-60FC-492F-9395-A303E65A8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169" y="5442107"/>
            <a:ext cx="2350108" cy="540000"/>
          </a:xfrm>
          <a:prstGeom prst="rect">
            <a:avLst/>
          </a:prstGeom>
          <a:solidFill>
            <a:srgbClr val="DECEA6"/>
          </a:solidFill>
          <a:ln w="9525" algn="ctr">
            <a:solidFill>
              <a:srgbClr val="FFF9D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899116">
              <a:spcBef>
                <a:spcPct val="50000"/>
              </a:spcBef>
              <a:defRPr/>
            </a:pPr>
            <a:r>
              <a:rPr lang="zh-TW" altLang="en-US" sz="1200" b="1" kern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註冊代理人</a:t>
            </a:r>
            <a:endParaRPr lang="en-US" altLang="zh-CN" sz="1200" b="1" kern="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02341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接點: 肘形 79">
            <a:extLst>
              <a:ext uri="{FF2B5EF4-FFF2-40B4-BE49-F238E27FC236}">
                <a16:creationId xmlns:a16="http://schemas.microsoft.com/office/drawing/2014/main" id="{F0530536-7E39-4C96-AE56-6282F6BF1C0A}"/>
              </a:ext>
            </a:extLst>
          </p:cNvPr>
          <p:cNvCxnSpPr>
            <a:cxnSpLocks/>
          </p:cNvCxnSpPr>
          <p:nvPr/>
        </p:nvCxnSpPr>
        <p:spPr bwMode="auto">
          <a:xfrm rot="10800000">
            <a:off x="6730550" y="2069325"/>
            <a:ext cx="1009802" cy="1722754"/>
          </a:xfrm>
          <a:prstGeom prst="bentConnector3">
            <a:avLst>
              <a:gd name="adj1" fmla="val 122638"/>
            </a:avLst>
          </a:prstGeom>
          <a:solidFill>
            <a:schemeClr val="accent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接點: 肘形 51">
            <a:extLst>
              <a:ext uri="{FF2B5EF4-FFF2-40B4-BE49-F238E27FC236}">
                <a16:creationId xmlns:a16="http://schemas.microsoft.com/office/drawing/2014/main" id="{325AE365-5366-4E0D-9FC9-9F6EAB935587}"/>
              </a:ext>
            </a:extLst>
          </p:cNvPr>
          <p:cNvCxnSpPr>
            <a:cxnSpLocks/>
            <a:stCxn id="3" idx="1"/>
          </p:cNvCxnSpPr>
          <p:nvPr/>
        </p:nvCxnSpPr>
        <p:spPr bwMode="auto">
          <a:xfrm rot="10800000">
            <a:off x="1184280" y="2059299"/>
            <a:ext cx="3344" cy="1732781"/>
          </a:xfrm>
          <a:prstGeom prst="bentConnector3">
            <a:avLst>
              <a:gd name="adj1" fmla="val 6936124"/>
            </a:avLst>
          </a:prstGeom>
          <a:solidFill>
            <a:schemeClr val="accent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接點: 肘形 53">
            <a:extLst>
              <a:ext uri="{FF2B5EF4-FFF2-40B4-BE49-F238E27FC236}">
                <a16:creationId xmlns:a16="http://schemas.microsoft.com/office/drawing/2014/main" id="{DD0C4EA9-9EB1-4193-8BB0-1F7084830EA4}"/>
              </a:ext>
            </a:extLst>
          </p:cNvPr>
          <p:cNvCxnSpPr>
            <a:cxnSpLocks/>
          </p:cNvCxnSpPr>
          <p:nvPr/>
        </p:nvCxnSpPr>
        <p:spPr bwMode="auto">
          <a:xfrm rot="10800000" flipH="1" flipV="1">
            <a:off x="3483505" y="2059298"/>
            <a:ext cx="46394" cy="1655250"/>
          </a:xfrm>
          <a:prstGeom prst="bentConnector4">
            <a:avLst>
              <a:gd name="adj1" fmla="val -492736"/>
              <a:gd name="adj2" fmla="val 103299"/>
            </a:avLst>
          </a:prstGeom>
          <a:solidFill>
            <a:schemeClr val="accent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7" name="接點: 肘形 76">
            <a:extLst>
              <a:ext uri="{FF2B5EF4-FFF2-40B4-BE49-F238E27FC236}">
                <a16:creationId xmlns:a16="http://schemas.microsoft.com/office/drawing/2014/main" id="{931C0F04-3567-4DDE-81BC-082030F350F6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5825225" y="4363448"/>
            <a:ext cx="857211" cy="195309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接點: 肘形 73">
            <a:extLst>
              <a:ext uri="{FF2B5EF4-FFF2-40B4-BE49-F238E27FC236}">
                <a16:creationId xmlns:a16="http://schemas.microsoft.com/office/drawing/2014/main" id="{99420196-F0F4-415D-BFBF-BBD13254A834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3520969" y="4357013"/>
            <a:ext cx="857211" cy="195309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98733" name="Rectangle 13"/>
          <p:cNvSpPr>
            <a:spLocks noChangeArrowheads="1"/>
          </p:cNvSpPr>
          <p:nvPr/>
        </p:nvSpPr>
        <p:spPr bwMode="auto">
          <a:xfrm>
            <a:off x="598344" y="4775577"/>
            <a:ext cx="3354387" cy="1633397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內控制度之建立</a:t>
            </a:r>
            <a:endParaRPr lang="en-US" altLang="zh-TW" sz="1200" b="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不宜條款與重大問題查核</a:t>
            </a: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修訂章程及各大辦法</a:t>
            </a: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編製申請公發書件</a:t>
            </a: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董監席次之安排</a:t>
            </a:r>
            <a:r>
              <a:rPr lang="zh-TW" altLang="en-US" sz="1200" b="0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zh-TW" altLang="en-US" sz="1200" b="0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規劃資本額與上市（櫃）掛牌計劃</a:t>
            </a:r>
          </a:p>
        </p:txBody>
      </p:sp>
      <p:sp>
        <p:nvSpPr>
          <p:cNvPr id="798734" name="Rectangle 18"/>
          <p:cNvSpPr>
            <a:spLocks noChangeArrowheads="1"/>
          </p:cNvSpPr>
          <p:nvPr/>
        </p:nvSpPr>
        <p:spPr bwMode="auto">
          <a:xfrm>
            <a:off x="6568376" y="4723814"/>
            <a:ext cx="2468120" cy="1120436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配合</a:t>
            </a:r>
            <a:r>
              <a:rPr lang="zh-TW" altLang="en-US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主管機關審查人員的審查工作</a:t>
            </a:r>
            <a:endParaRPr lang="zh-TW" altLang="en-US" sz="1200" b="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審議會情境模擬</a:t>
            </a:r>
            <a:endParaRPr lang="zh-TW" altLang="en-US" sz="1200" b="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發佈媒體消息、配合承銷造勢</a:t>
            </a:r>
            <a:endParaRPr lang="zh-TW" alt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透過投顧報告取得法人認同</a:t>
            </a:r>
          </a:p>
        </p:txBody>
      </p:sp>
      <p:sp>
        <p:nvSpPr>
          <p:cNvPr id="798735" name="Rectangle 20"/>
          <p:cNvSpPr>
            <a:spLocks noChangeArrowheads="1"/>
          </p:cNvSpPr>
          <p:nvPr/>
        </p:nvSpPr>
        <p:spPr bwMode="auto">
          <a:xfrm>
            <a:off x="1309657" y="2305930"/>
            <a:ext cx="1678167" cy="1120436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股票</a:t>
            </a:r>
            <a:r>
              <a:rPr lang="zh-TW" altLang="en-US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無實體</a:t>
            </a:r>
            <a:endParaRPr lang="en-US" altLang="zh-TW" sz="1200" b="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itchFamily="2" charset="2"/>
            </a:endParaRP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設置</a:t>
            </a:r>
            <a:r>
              <a:rPr lang="zh-TW" altLang="en-US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薪酬</a:t>
            </a:r>
            <a:r>
              <a:rPr lang="en-US" altLang="zh-TW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/</a:t>
            </a:r>
            <a:r>
              <a:rPr lang="zh-TW" altLang="en-US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審計委員會</a:t>
            </a:r>
            <a:endParaRPr lang="en-US" altLang="zh-TW" sz="1200" b="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itchFamily="2" charset="2"/>
            </a:endParaRP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選任</a:t>
            </a:r>
            <a:r>
              <a:rPr lang="zh-TW" altLang="en-US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獨董</a:t>
            </a:r>
            <a:r>
              <a:rPr lang="en-US" altLang="zh-TW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(</a:t>
            </a:r>
            <a:r>
              <a:rPr lang="zh-TW" altLang="en-US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三席</a:t>
            </a:r>
            <a:r>
              <a:rPr lang="en-US" altLang="zh-TW" sz="1200" b="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)</a:t>
            </a:r>
            <a:endParaRPr lang="zh-TW" altLang="en-US" sz="1200" b="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Wingdings" pitchFamily="2" charset="2"/>
            </a:endParaRP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準備興櫃掛牌文件</a:t>
            </a:r>
          </a:p>
        </p:txBody>
      </p:sp>
      <p:sp>
        <p:nvSpPr>
          <p:cNvPr id="798736" name="Rectangle 30"/>
          <p:cNvSpPr>
            <a:spLocks noChangeArrowheads="1"/>
          </p:cNvSpPr>
          <p:nvPr/>
        </p:nvSpPr>
        <p:spPr bwMode="auto">
          <a:xfrm>
            <a:off x="6732240" y="2305930"/>
            <a:ext cx="2304256" cy="1120436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善用資本市場工具</a:t>
            </a: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引進外部資金</a:t>
            </a:r>
            <a:endParaRPr lang="zh-TW" alt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資訊公開，增加投資信任度</a:t>
            </a:r>
            <a:endParaRPr lang="zh-TW" altLang="en-US" sz="12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永續經營，實現經營理念</a:t>
            </a:r>
          </a:p>
        </p:txBody>
      </p:sp>
      <p:sp>
        <p:nvSpPr>
          <p:cNvPr id="10257" name="Text Box 31"/>
          <p:cNvSpPr txBox="1">
            <a:spLocks noChangeArrowheads="1"/>
          </p:cNvSpPr>
          <p:nvPr/>
        </p:nvSpPr>
        <p:spPr bwMode="auto">
          <a:xfrm>
            <a:off x="3576669" y="2377938"/>
            <a:ext cx="2656848" cy="863955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None/>
              <a:defRPr/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需移轉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3%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以上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且不得低於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500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張</a:t>
            </a:r>
            <a:r>
              <a:rPr lang="en-US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eaLnBrk="1" hangingPunct="1">
              <a:lnSpc>
                <a:spcPts val="2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None/>
              <a:defRPr/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給興櫃推薦券商</a:t>
            </a:r>
          </a:p>
          <a:p>
            <a:pPr eaLnBrk="1" hangingPunct="1">
              <a:lnSpc>
                <a:spcPts val="2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None/>
              <a:defRPr/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董事、大股東不得在非興櫃市場交易</a:t>
            </a:r>
          </a:p>
        </p:txBody>
      </p:sp>
      <p:sp>
        <p:nvSpPr>
          <p:cNvPr id="798743" name="Rectangle 20"/>
          <p:cNvSpPr>
            <a:spLocks noChangeArrowheads="1"/>
          </p:cNvSpPr>
          <p:nvPr/>
        </p:nvSpPr>
        <p:spPr bwMode="auto">
          <a:xfrm>
            <a:off x="4184837" y="4686688"/>
            <a:ext cx="1611300" cy="1152525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追蹤內控執行情形</a:t>
            </a:r>
            <a:endParaRPr lang="zh-TW" altLang="en-US" sz="1200" b="0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itchFamily="2" charset="2"/>
            </a:endParaRP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完成上市櫃輔導</a:t>
            </a: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確保</a:t>
            </a:r>
            <a:r>
              <a:rPr lang="zh-TW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股權分散</a:t>
            </a:r>
          </a:p>
          <a:p>
            <a:pPr>
              <a:lnSpc>
                <a:spcPts val="2000"/>
              </a:lnSpc>
              <a:buClr>
                <a:schemeClr val="bg1">
                  <a:lumMod val="75000"/>
                </a:schemeClr>
              </a:buClr>
            </a:pPr>
            <a:r>
              <a:rPr lang="zh-TW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模擬</a:t>
            </a:r>
            <a:r>
              <a:rPr lang="zh-TW" alt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審議會</a:t>
            </a:r>
            <a:r>
              <a:rPr lang="zh-TW" altLang="zh-TW" sz="1200" b="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itchFamily="2" charset="2"/>
              </a:rPr>
              <a:t>問題</a:t>
            </a:r>
            <a:endParaRPr lang="zh-TW" altLang="en-US" sz="1200" b="0" dirty="0">
              <a:latin typeface="微軟正黑體" panose="020B0604030504040204" pitchFamily="34" charset="-120"/>
              <a:ea typeface="微軟正黑體" panose="020B0604030504040204" pitchFamily="34" charset="-120"/>
              <a:sym typeface="Wingdings" pitchFamily="2" charset="2"/>
            </a:endParaRPr>
          </a:p>
        </p:txBody>
      </p:sp>
      <p:sp>
        <p:nvSpPr>
          <p:cNvPr id="62" name="Parallelogram 7">
            <a:extLst>
              <a:ext uri="{FF2B5EF4-FFF2-40B4-BE49-F238E27FC236}">
                <a16:creationId xmlns:a16="http://schemas.microsoft.com/office/drawing/2014/main" id="{808A9646-C987-4295-BF83-C8691A8A2C5A}"/>
              </a:ext>
            </a:extLst>
          </p:cNvPr>
          <p:cNvSpPr/>
          <p:nvPr/>
        </p:nvSpPr>
        <p:spPr bwMode="auto">
          <a:xfrm>
            <a:off x="6012160" y="3846071"/>
            <a:ext cx="1756737" cy="235260"/>
          </a:xfrm>
          <a:prstGeom prst="parallelogram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審議承銷階段</a:t>
            </a:r>
          </a:p>
        </p:txBody>
      </p:sp>
      <p:sp>
        <p:nvSpPr>
          <p:cNvPr id="66" name="Parallelogram 7">
            <a:extLst>
              <a:ext uri="{FF2B5EF4-FFF2-40B4-BE49-F238E27FC236}">
                <a16:creationId xmlns:a16="http://schemas.microsoft.com/office/drawing/2014/main" id="{C3B56439-0301-4B1A-8C16-15BBA749A844}"/>
              </a:ext>
            </a:extLst>
          </p:cNvPr>
          <p:cNvSpPr/>
          <p:nvPr/>
        </p:nvSpPr>
        <p:spPr bwMode="auto">
          <a:xfrm>
            <a:off x="3491880" y="3846071"/>
            <a:ext cx="1728192" cy="252000"/>
          </a:xfrm>
          <a:prstGeom prst="parallelogram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六個月興櫃期間</a:t>
            </a:r>
          </a:p>
        </p:txBody>
      </p:sp>
      <p:sp>
        <p:nvSpPr>
          <p:cNvPr id="42" name="Parallelogram 7">
            <a:extLst>
              <a:ext uri="{FF2B5EF4-FFF2-40B4-BE49-F238E27FC236}">
                <a16:creationId xmlns:a16="http://schemas.microsoft.com/office/drawing/2014/main" id="{38EE4178-AC2A-408E-B7E8-817EB4FF30C9}"/>
              </a:ext>
            </a:extLst>
          </p:cNvPr>
          <p:cNvSpPr/>
          <p:nvPr/>
        </p:nvSpPr>
        <p:spPr bwMode="auto">
          <a:xfrm>
            <a:off x="0" y="3846071"/>
            <a:ext cx="1321702" cy="252000"/>
          </a:xfrm>
          <a:prstGeom prst="parallelogram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公開發行前</a:t>
            </a:r>
          </a:p>
        </p:txBody>
      </p:sp>
      <p:sp>
        <p:nvSpPr>
          <p:cNvPr id="60" name="Parallelogram 7">
            <a:extLst>
              <a:ext uri="{FF2B5EF4-FFF2-40B4-BE49-F238E27FC236}">
                <a16:creationId xmlns:a16="http://schemas.microsoft.com/office/drawing/2014/main" id="{783565D1-EC3C-43B3-8E91-90C0F14F9BA4}"/>
              </a:ext>
            </a:extLst>
          </p:cNvPr>
          <p:cNvSpPr/>
          <p:nvPr/>
        </p:nvSpPr>
        <p:spPr bwMode="auto">
          <a:xfrm>
            <a:off x="1984831" y="3846071"/>
            <a:ext cx="997948" cy="252000"/>
          </a:xfrm>
          <a:prstGeom prst="parallelogram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輔導期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C111A9F-4E91-4F7C-A1B8-07339126893E}"/>
              </a:ext>
            </a:extLst>
          </p:cNvPr>
          <p:cNvSpPr/>
          <p:nvPr/>
        </p:nvSpPr>
        <p:spPr bwMode="auto">
          <a:xfrm>
            <a:off x="1187624" y="3666079"/>
            <a:ext cx="937300" cy="252000"/>
          </a:xfrm>
          <a:prstGeom prst="roundRect">
            <a:avLst>
              <a:gd name="adj" fmla="val 0"/>
            </a:avLst>
          </a:prstGeom>
          <a:solidFill>
            <a:srgbClr val="92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zh-TW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公開發行</a:t>
            </a:r>
            <a:endParaRPr lang="zh-TW" altLang="en-US" sz="1400" dirty="0">
              <a:solidFill>
                <a:schemeClr val="bg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39403979-7A23-4000-9932-1C00112FB90D}"/>
              </a:ext>
            </a:extLst>
          </p:cNvPr>
          <p:cNvSpPr/>
          <p:nvPr/>
        </p:nvSpPr>
        <p:spPr bwMode="auto">
          <a:xfrm>
            <a:off x="2788179" y="3666079"/>
            <a:ext cx="937300" cy="252000"/>
          </a:xfrm>
          <a:prstGeom prst="roundRect">
            <a:avLst>
              <a:gd name="adj" fmla="val 0"/>
            </a:avLst>
          </a:prstGeom>
          <a:solidFill>
            <a:srgbClr val="92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zh-TW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興櫃登錄</a:t>
            </a:r>
          </a:p>
        </p:txBody>
      </p:sp>
      <p:sp>
        <p:nvSpPr>
          <p:cNvPr id="64" name="矩形: 圓角 63">
            <a:extLst>
              <a:ext uri="{FF2B5EF4-FFF2-40B4-BE49-F238E27FC236}">
                <a16:creationId xmlns:a16="http://schemas.microsoft.com/office/drawing/2014/main" id="{1BB79D3F-1071-4A15-B81F-189F28CA9835}"/>
              </a:ext>
            </a:extLst>
          </p:cNvPr>
          <p:cNvSpPr/>
          <p:nvPr/>
        </p:nvSpPr>
        <p:spPr bwMode="auto">
          <a:xfrm>
            <a:off x="5076056" y="3666079"/>
            <a:ext cx="1245164" cy="252000"/>
          </a:xfrm>
          <a:prstGeom prst="roundRect">
            <a:avLst>
              <a:gd name="adj" fmla="val 0"/>
            </a:avLst>
          </a:prstGeom>
          <a:solidFill>
            <a:srgbClr val="92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zh-TW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上市櫃申請</a:t>
            </a:r>
          </a:p>
        </p:txBody>
      </p:sp>
      <p:sp>
        <p:nvSpPr>
          <p:cNvPr id="65" name="矩形: 圓角 64">
            <a:extLst>
              <a:ext uri="{FF2B5EF4-FFF2-40B4-BE49-F238E27FC236}">
                <a16:creationId xmlns:a16="http://schemas.microsoft.com/office/drawing/2014/main" id="{14C104ED-DB94-4C14-A401-C6667EB9FD51}"/>
              </a:ext>
            </a:extLst>
          </p:cNvPr>
          <p:cNvSpPr/>
          <p:nvPr/>
        </p:nvSpPr>
        <p:spPr bwMode="auto">
          <a:xfrm>
            <a:off x="7452320" y="3666079"/>
            <a:ext cx="1401958" cy="252000"/>
          </a:xfrm>
          <a:prstGeom prst="roundRect">
            <a:avLst>
              <a:gd name="adj" fmla="val 0"/>
            </a:avLst>
          </a:prstGeom>
          <a:solidFill>
            <a:srgbClr val="92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zh-TW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上市櫃掛牌</a:t>
            </a:r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3F319597-30DD-4C41-A9CA-65B21A264B9E}"/>
              </a:ext>
            </a:extLst>
          </p:cNvPr>
          <p:cNvSpPr txBox="1"/>
          <p:nvPr/>
        </p:nvSpPr>
        <p:spPr>
          <a:xfrm>
            <a:off x="440233" y="4849415"/>
            <a:ext cx="195310" cy="307777"/>
          </a:xfrm>
          <a:prstGeom prst="rect">
            <a:avLst/>
          </a:prstGeom>
          <a:solidFill>
            <a:srgbClr val="920000"/>
          </a:solidFill>
        </p:spPr>
        <p:txBody>
          <a:bodyPr wrap="square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標楷體" pitchFamily="65" charset="-120"/>
              </a:rPr>
              <a:t>1</a:t>
            </a:r>
            <a:endParaRPr kumimoji="1" lang="zh-TW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標楷體" pitchFamily="65" charset="-120"/>
            </a:endParaRPr>
          </a:p>
        </p:txBody>
      </p: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A56D7E41-8AC3-4DB0-B8D0-DB9584AC8BA4}"/>
              </a:ext>
            </a:extLst>
          </p:cNvPr>
          <p:cNvSpPr txBox="1"/>
          <p:nvPr/>
        </p:nvSpPr>
        <p:spPr>
          <a:xfrm>
            <a:off x="1184279" y="1966461"/>
            <a:ext cx="195310" cy="307777"/>
          </a:xfrm>
          <a:prstGeom prst="rect">
            <a:avLst/>
          </a:prstGeom>
          <a:solidFill>
            <a:srgbClr val="920000"/>
          </a:solidFill>
        </p:spPr>
        <p:txBody>
          <a:bodyPr wrap="square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>
                <a:solidFill>
                  <a:schemeClr val="bg1"/>
                </a:solidFill>
                <a:latin typeface="Arial" pitchFamily="34" charset="0"/>
              </a:rPr>
              <a:t>2</a:t>
            </a:r>
            <a:endParaRPr kumimoji="1" lang="zh-TW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標楷體" pitchFamily="65" charset="-120"/>
            </a:endParaRPr>
          </a:p>
        </p:txBody>
      </p:sp>
      <p:sp>
        <p:nvSpPr>
          <p:cNvPr id="95" name="文字方塊 94">
            <a:extLst>
              <a:ext uri="{FF2B5EF4-FFF2-40B4-BE49-F238E27FC236}">
                <a16:creationId xmlns:a16="http://schemas.microsoft.com/office/drawing/2014/main" id="{370876C7-794D-4B5E-B0BC-6B5F287BB068}"/>
              </a:ext>
            </a:extLst>
          </p:cNvPr>
          <p:cNvSpPr txBox="1"/>
          <p:nvPr/>
        </p:nvSpPr>
        <p:spPr>
          <a:xfrm>
            <a:off x="3455629" y="1966461"/>
            <a:ext cx="195310" cy="307777"/>
          </a:xfrm>
          <a:prstGeom prst="rect">
            <a:avLst/>
          </a:prstGeom>
          <a:solidFill>
            <a:srgbClr val="920000"/>
          </a:solidFill>
        </p:spPr>
        <p:txBody>
          <a:bodyPr wrap="square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標楷體" pitchFamily="65" charset="-120"/>
              </a:rPr>
              <a:t>3</a:t>
            </a:r>
            <a:endParaRPr kumimoji="1" lang="zh-TW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標楷體" pitchFamily="65" charset="-120"/>
            </a:endParaRPr>
          </a:p>
        </p:txBody>
      </p:sp>
      <p:sp>
        <p:nvSpPr>
          <p:cNvPr id="96" name="文字方塊 95">
            <a:extLst>
              <a:ext uri="{FF2B5EF4-FFF2-40B4-BE49-F238E27FC236}">
                <a16:creationId xmlns:a16="http://schemas.microsoft.com/office/drawing/2014/main" id="{F6AF6F70-B18D-4E47-BB37-9E6EBB1F01D3}"/>
              </a:ext>
            </a:extLst>
          </p:cNvPr>
          <p:cNvSpPr txBox="1"/>
          <p:nvPr/>
        </p:nvSpPr>
        <p:spPr>
          <a:xfrm>
            <a:off x="4024739" y="4729610"/>
            <a:ext cx="195310" cy="307777"/>
          </a:xfrm>
          <a:prstGeom prst="rect">
            <a:avLst/>
          </a:prstGeom>
          <a:solidFill>
            <a:srgbClr val="920000"/>
          </a:solidFill>
        </p:spPr>
        <p:txBody>
          <a:bodyPr wrap="square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標楷體" pitchFamily="65" charset="-120"/>
              </a:rPr>
              <a:t>4</a:t>
            </a:r>
            <a:endParaRPr kumimoji="1" lang="zh-TW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標楷體" pitchFamily="65" charset="-120"/>
            </a:endParaRPr>
          </a:p>
        </p:txBody>
      </p:sp>
      <p:sp>
        <p:nvSpPr>
          <p:cNvPr id="97" name="文字方塊 96">
            <a:extLst>
              <a:ext uri="{FF2B5EF4-FFF2-40B4-BE49-F238E27FC236}">
                <a16:creationId xmlns:a16="http://schemas.microsoft.com/office/drawing/2014/main" id="{CF29E4AE-6E45-4ED8-861A-DC097CF4AF04}"/>
              </a:ext>
            </a:extLst>
          </p:cNvPr>
          <p:cNvSpPr txBox="1"/>
          <p:nvPr/>
        </p:nvSpPr>
        <p:spPr>
          <a:xfrm>
            <a:off x="6588224" y="1966461"/>
            <a:ext cx="195310" cy="307777"/>
          </a:xfrm>
          <a:prstGeom prst="rect">
            <a:avLst/>
          </a:prstGeom>
          <a:solidFill>
            <a:srgbClr val="920000"/>
          </a:solidFill>
        </p:spPr>
        <p:txBody>
          <a:bodyPr wrap="square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標楷體" pitchFamily="65" charset="-120"/>
              </a:rPr>
              <a:t>6</a:t>
            </a:r>
            <a:endParaRPr kumimoji="1" lang="zh-TW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標楷體" pitchFamily="65" charset="-120"/>
            </a:endParaRPr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ABA36914-0A91-42FE-8FF0-0F0B10BF3D2A}"/>
              </a:ext>
            </a:extLst>
          </p:cNvPr>
          <p:cNvSpPr txBox="1"/>
          <p:nvPr/>
        </p:nvSpPr>
        <p:spPr>
          <a:xfrm>
            <a:off x="6372200" y="4781818"/>
            <a:ext cx="195310" cy="307777"/>
          </a:xfrm>
          <a:prstGeom prst="rect">
            <a:avLst/>
          </a:prstGeom>
          <a:solidFill>
            <a:srgbClr val="920000"/>
          </a:solidFill>
        </p:spPr>
        <p:txBody>
          <a:bodyPr wrap="square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>
                <a:solidFill>
                  <a:schemeClr val="bg1"/>
                </a:solidFill>
                <a:latin typeface="Arial" pitchFamily="34" charset="0"/>
              </a:rPr>
              <a:t>5</a:t>
            </a:r>
            <a:endParaRPr kumimoji="1" lang="zh-TW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標楷體" pitchFamily="65" charset="-120"/>
            </a:endParaRPr>
          </a:p>
        </p:txBody>
      </p:sp>
      <p:sp>
        <p:nvSpPr>
          <p:cNvPr id="31" name="Parallelogram 7"/>
          <p:cNvSpPr/>
          <p:nvPr/>
        </p:nvSpPr>
        <p:spPr bwMode="auto">
          <a:xfrm>
            <a:off x="323850" y="1173534"/>
            <a:ext cx="1999427" cy="423863"/>
          </a:xfrm>
          <a:prstGeom prst="parallelogram">
            <a:avLst>
              <a:gd name="adj" fmla="val 34259"/>
            </a:avLst>
          </a:prstGeom>
          <a:solidFill>
            <a:srgbClr val="9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前置規劃階段</a:t>
            </a:r>
          </a:p>
        </p:txBody>
      </p:sp>
      <p:sp>
        <p:nvSpPr>
          <p:cNvPr id="32" name="Parallelogram 8"/>
          <p:cNvSpPr/>
          <p:nvPr/>
        </p:nvSpPr>
        <p:spPr bwMode="auto">
          <a:xfrm>
            <a:off x="2273441" y="1173534"/>
            <a:ext cx="3000943" cy="423863"/>
          </a:xfrm>
          <a:prstGeom prst="parallelogram">
            <a:avLst>
              <a:gd name="adj" fmla="val 34259"/>
            </a:avLst>
          </a:prstGeom>
          <a:solidFill>
            <a:srgbClr val="9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輔導階段</a:t>
            </a:r>
          </a:p>
        </p:txBody>
      </p:sp>
      <p:sp>
        <p:nvSpPr>
          <p:cNvPr id="33" name="Parallelogram 9"/>
          <p:cNvSpPr/>
          <p:nvPr/>
        </p:nvSpPr>
        <p:spPr bwMode="auto">
          <a:xfrm>
            <a:off x="6992210" y="1173534"/>
            <a:ext cx="1756254" cy="423862"/>
          </a:xfrm>
          <a:prstGeom prst="parallelogram">
            <a:avLst>
              <a:gd name="adj" fmla="val 34259"/>
            </a:avLst>
          </a:prstGeom>
          <a:solidFill>
            <a:srgbClr val="9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承銷階段</a:t>
            </a:r>
          </a:p>
        </p:txBody>
      </p:sp>
      <p:sp>
        <p:nvSpPr>
          <p:cNvPr id="34" name="Parallelogram 9"/>
          <p:cNvSpPr/>
          <p:nvPr/>
        </p:nvSpPr>
        <p:spPr bwMode="auto">
          <a:xfrm>
            <a:off x="5224548" y="1173534"/>
            <a:ext cx="1817497" cy="423862"/>
          </a:xfrm>
          <a:prstGeom prst="parallelogram">
            <a:avLst>
              <a:gd name="adj" fmla="val 34259"/>
            </a:avLst>
          </a:prstGeom>
          <a:solidFill>
            <a:srgbClr val="9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審查階段</a:t>
            </a:r>
          </a:p>
        </p:txBody>
      </p:sp>
      <p:sp>
        <p:nvSpPr>
          <p:cNvPr id="35" name="Rectangle 15"/>
          <p:cNvSpPr>
            <a:spLocks noChangeArrowheads="1"/>
          </p:cNvSpPr>
          <p:nvPr/>
        </p:nvSpPr>
        <p:spPr bwMode="auto">
          <a:xfrm>
            <a:off x="3090494" y="1593999"/>
            <a:ext cx="13668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個月以上</a:t>
            </a:r>
          </a:p>
        </p:txBody>
      </p:sp>
      <p:sp>
        <p:nvSpPr>
          <p:cNvPr id="36" name="Rectangle 16"/>
          <p:cNvSpPr>
            <a:spLocks noChangeArrowheads="1"/>
          </p:cNvSpPr>
          <p:nvPr/>
        </p:nvSpPr>
        <p:spPr bwMode="auto">
          <a:xfrm>
            <a:off x="4944258" y="1610859"/>
            <a:ext cx="23780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zh-TW" altLang="en-US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約</a:t>
            </a:r>
            <a:r>
              <a:rPr lang="en-US" altLang="zh-TW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個月</a:t>
            </a:r>
          </a:p>
        </p:txBody>
      </p:sp>
      <p:sp>
        <p:nvSpPr>
          <p:cNvPr id="37" name="Rectangle 17"/>
          <p:cNvSpPr>
            <a:spLocks noChangeArrowheads="1"/>
          </p:cNvSpPr>
          <p:nvPr/>
        </p:nvSpPr>
        <p:spPr bwMode="auto">
          <a:xfrm>
            <a:off x="7119185" y="1610444"/>
            <a:ext cx="14414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zh-TW" altLang="en-US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約</a:t>
            </a:r>
            <a:r>
              <a:rPr lang="en-US" altLang="zh-TW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個月</a:t>
            </a:r>
          </a:p>
        </p:txBody>
      </p:sp>
      <p:sp>
        <p:nvSpPr>
          <p:cNvPr id="38" name="Rectangle 15"/>
          <p:cNvSpPr>
            <a:spLocks noChangeArrowheads="1"/>
          </p:cNvSpPr>
          <p:nvPr/>
        </p:nvSpPr>
        <p:spPr bwMode="auto">
          <a:xfrm>
            <a:off x="630292" y="1610444"/>
            <a:ext cx="13668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zh-TW" altLang="en-US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至少</a:t>
            </a:r>
            <a:r>
              <a:rPr lang="en-US" altLang="zh-TW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3~6</a:t>
            </a:r>
            <a:r>
              <a:rPr lang="zh-TW" altLang="en-US" sz="1400" b="1" dirty="0">
                <a:solidFill>
                  <a:srgbClr val="A4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個月</a:t>
            </a:r>
          </a:p>
        </p:txBody>
      </p:sp>
      <p:grpSp>
        <p:nvGrpSpPr>
          <p:cNvPr id="39" name="群組 1"/>
          <p:cNvGrpSpPr>
            <a:grpSpLocks/>
          </p:cNvGrpSpPr>
          <p:nvPr/>
        </p:nvGrpSpPr>
        <p:grpSpPr bwMode="auto">
          <a:xfrm>
            <a:off x="8521005" y="3930422"/>
            <a:ext cx="371475" cy="365125"/>
            <a:chOff x="6674917" y="1249161"/>
            <a:chExt cx="711898" cy="722258"/>
          </a:xfrm>
        </p:grpSpPr>
        <p:sp>
          <p:nvSpPr>
            <p:cNvPr id="40" name="Oval 3"/>
            <p:cNvSpPr/>
            <p:nvPr/>
          </p:nvSpPr>
          <p:spPr bwMode="auto">
            <a:xfrm>
              <a:off x="6674917" y="1249161"/>
              <a:ext cx="711898" cy="72225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0">
              <a:solidFill>
                <a:schemeClr val="bg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025"/>
            </a:p>
          </p:txBody>
        </p:sp>
        <p:sp>
          <p:nvSpPr>
            <p:cNvPr id="41" name="Rectangle 7"/>
            <p:cNvSpPr/>
            <p:nvPr/>
          </p:nvSpPr>
          <p:spPr>
            <a:xfrm>
              <a:off x="6802694" y="1355930"/>
              <a:ext cx="480683" cy="458477"/>
            </a:xfrm>
            <a:custGeom>
              <a:avLst/>
              <a:gdLst/>
              <a:ahLst/>
              <a:cxnLst/>
              <a:rect l="l" t="t" r="r" b="b"/>
              <a:pathLst>
                <a:path w="3240000" h="3240000">
                  <a:moveTo>
                    <a:pt x="401869" y="2055482"/>
                  </a:moveTo>
                  <a:lnTo>
                    <a:pt x="869869" y="2055482"/>
                  </a:lnTo>
                  <a:lnTo>
                    <a:pt x="869869" y="2919482"/>
                  </a:lnTo>
                  <a:lnTo>
                    <a:pt x="401869" y="2919482"/>
                  </a:lnTo>
                  <a:close/>
                  <a:moveTo>
                    <a:pt x="1121949" y="1695482"/>
                  </a:moveTo>
                  <a:lnTo>
                    <a:pt x="1589949" y="1695482"/>
                  </a:lnTo>
                  <a:lnTo>
                    <a:pt x="1589949" y="2919482"/>
                  </a:lnTo>
                  <a:lnTo>
                    <a:pt x="1121949" y="2919482"/>
                  </a:lnTo>
                  <a:close/>
                  <a:moveTo>
                    <a:pt x="1842029" y="1335482"/>
                  </a:moveTo>
                  <a:lnTo>
                    <a:pt x="2310029" y="1335482"/>
                  </a:lnTo>
                  <a:lnTo>
                    <a:pt x="2310029" y="2919482"/>
                  </a:lnTo>
                  <a:lnTo>
                    <a:pt x="1842029" y="2919482"/>
                  </a:lnTo>
                  <a:close/>
                  <a:moveTo>
                    <a:pt x="2562109" y="975482"/>
                  </a:moveTo>
                  <a:lnTo>
                    <a:pt x="3030109" y="975482"/>
                  </a:lnTo>
                  <a:lnTo>
                    <a:pt x="3030109" y="2919482"/>
                  </a:lnTo>
                  <a:lnTo>
                    <a:pt x="2562109" y="2919482"/>
                  </a:lnTo>
                  <a:close/>
                  <a:moveTo>
                    <a:pt x="2321888" y="224805"/>
                  </a:moveTo>
                  <a:lnTo>
                    <a:pt x="2880631" y="247420"/>
                  </a:lnTo>
                  <a:lnTo>
                    <a:pt x="2620844" y="742612"/>
                  </a:lnTo>
                  <a:lnTo>
                    <a:pt x="2546105" y="613161"/>
                  </a:lnTo>
                  <a:lnTo>
                    <a:pt x="541555" y="1770488"/>
                  </a:lnTo>
                  <a:lnTo>
                    <a:pt x="392077" y="1511585"/>
                  </a:lnTo>
                  <a:lnTo>
                    <a:pt x="2396627" y="354257"/>
                  </a:lnTo>
                  <a:close/>
                  <a:moveTo>
                    <a:pt x="0" y="0"/>
                  </a:moveTo>
                  <a:lnTo>
                    <a:pt x="180000" y="0"/>
                  </a:lnTo>
                  <a:lnTo>
                    <a:pt x="180000" y="3059999"/>
                  </a:lnTo>
                  <a:lnTo>
                    <a:pt x="3240000" y="3059999"/>
                  </a:lnTo>
                  <a:lnTo>
                    <a:pt x="3240000" y="3239999"/>
                  </a:lnTo>
                  <a:lnTo>
                    <a:pt x="180000" y="3239999"/>
                  </a:lnTo>
                  <a:lnTo>
                    <a:pt x="180000" y="3240000"/>
                  </a:lnTo>
                  <a:lnTo>
                    <a:pt x="0" y="3240000"/>
                  </a:lnTo>
                  <a:lnTo>
                    <a:pt x="0" y="3239999"/>
                  </a:lnTo>
                  <a:lnTo>
                    <a:pt x="0" y="3059999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/>
            </a:p>
          </p:txBody>
        </p:sp>
      </p:grpSp>
      <p:sp>
        <p:nvSpPr>
          <p:cNvPr id="43" name="矩形: 圓角 62"/>
          <p:cNvSpPr/>
          <p:nvPr/>
        </p:nvSpPr>
        <p:spPr bwMode="auto">
          <a:xfrm>
            <a:off x="6233517" y="4088358"/>
            <a:ext cx="2226915" cy="34612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en-US" altLang="zh-TW" sz="1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1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前現增</a:t>
            </a:r>
            <a:r>
              <a:rPr lang="en-US" altLang="zh-TW" sz="1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約股本*</a:t>
            </a:r>
            <a:r>
              <a:rPr lang="en-US" altLang="zh-TW" sz="1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10%)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1157884" y="3631538"/>
            <a:ext cx="2585443" cy="483389"/>
          </a:xfrm>
          <a:prstGeom prst="rect">
            <a:avLst/>
          </a:prstGeom>
          <a:noFill/>
          <a:ln w="38100" cap="flat" cmpd="sng" algn="ctr">
            <a:solidFill>
              <a:srgbClr val="C4AB8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標楷體" pitchFamily="65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085111" y="4132612"/>
            <a:ext cx="2686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9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※</a:t>
            </a:r>
            <a:r>
              <a:rPr lang="zh-TW" altLang="en-US" sz="9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公發至興櫃有三種方式</a:t>
            </a:r>
            <a:endParaRPr lang="en-US" altLang="zh-TW" sz="9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9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(1)</a:t>
            </a:r>
            <a:r>
              <a:rPr lang="zh-TW" altLang="en-US" sz="9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一般公發後再申請登錄興櫃</a:t>
            </a:r>
            <a:endParaRPr lang="en-US" altLang="zh-TW" sz="9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9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(2)</a:t>
            </a:r>
            <a:r>
              <a:rPr lang="zh-TW" altLang="en-US" sz="9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一般公發倂送登錄興櫃</a:t>
            </a:r>
            <a:endParaRPr lang="en-US" altLang="zh-TW" sz="9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9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(3)</a:t>
            </a:r>
            <a:r>
              <a:rPr lang="zh-TW" altLang="en-US" sz="9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簡易公發倂送登錄興櫃</a:t>
            </a:r>
          </a:p>
        </p:txBody>
      </p:sp>
      <p:cxnSp>
        <p:nvCxnSpPr>
          <p:cNvPr id="7" name="直線接點 6"/>
          <p:cNvCxnSpPr/>
          <p:nvPr/>
        </p:nvCxnSpPr>
        <p:spPr bwMode="auto">
          <a:xfrm>
            <a:off x="537888" y="4098786"/>
            <a:ext cx="0" cy="73232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81818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5" name="Rectangle 2">
            <a:extLst>
              <a:ext uri="{FF2B5EF4-FFF2-40B4-BE49-F238E27FC236}">
                <a16:creationId xmlns:a16="http://schemas.microsoft.com/office/drawing/2014/main" id="{5513A6FA-1C44-4F5B-AE67-7C58517F1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376" y="395914"/>
            <a:ext cx="7312025" cy="6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上市櫃重點工作</a:t>
            </a:r>
            <a:endParaRPr kumimoji="1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53282324"/>
      </p:ext>
    </p:extLst>
  </p:cSld>
  <p:clrMapOvr>
    <a:masterClrMapping/>
  </p:clrMapOvr>
  <p:transition>
    <p:spli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邊形 11">
            <a:extLst>
              <a:ext uri="{FF2B5EF4-FFF2-40B4-BE49-F238E27FC236}">
                <a16:creationId xmlns:a16="http://schemas.microsoft.com/office/drawing/2014/main" id="{7B1869D2-CF1B-489F-BD53-C8039EE1CB54}"/>
              </a:ext>
            </a:extLst>
          </p:cNvPr>
          <p:cNvSpPr/>
          <p:nvPr/>
        </p:nvSpPr>
        <p:spPr>
          <a:xfrm flipV="1">
            <a:off x="5856906" y="3412867"/>
            <a:ext cx="5616624" cy="1152150"/>
          </a:xfrm>
          <a:prstGeom prst="parallelogram">
            <a:avLst>
              <a:gd name="adj" fmla="val 95639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平行四邊形 10">
            <a:extLst>
              <a:ext uri="{FF2B5EF4-FFF2-40B4-BE49-F238E27FC236}">
                <a16:creationId xmlns:a16="http://schemas.microsoft.com/office/drawing/2014/main" id="{A9AFE730-5BD5-43D6-8F82-210A6602FDBD}"/>
              </a:ext>
            </a:extLst>
          </p:cNvPr>
          <p:cNvSpPr/>
          <p:nvPr/>
        </p:nvSpPr>
        <p:spPr>
          <a:xfrm flipV="1">
            <a:off x="-2016697" y="2152676"/>
            <a:ext cx="8424936" cy="936104"/>
          </a:xfrm>
          <a:prstGeom prst="parallelogram">
            <a:avLst>
              <a:gd name="adj" fmla="val 93097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9" name="圖片 18" descr="未命名">
            <a:extLst>
              <a:ext uri="{FF2B5EF4-FFF2-40B4-BE49-F238E27FC236}">
                <a16:creationId xmlns:a16="http://schemas.microsoft.com/office/drawing/2014/main" id="{51148074-7EF7-401A-8BB2-CF4751324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7" t="4184" r="2568" b="47176"/>
          <a:stretch>
            <a:fillRect/>
          </a:stretch>
        </p:blipFill>
        <p:spPr bwMode="auto">
          <a:xfrm rot="21340448">
            <a:off x="5399901" y="1420627"/>
            <a:ext cx="2457708" cy="2711632"/>
          </a:xfrm>
          <a:custGeom>
            <a:avLst/>
            <a:gdLst>
              <a:gd name="connsiteX0" fmla="*/ 765344 w 2142807"/>
              <a:gd name="connsiteY0" fmla="*/ 2072 h 2364196"/>
              <a:gd name="connsiteX1" fmla="*/ 985062 w 2142807"/>
              <a:gd name="connsiteY1" fmla="*/ 123477 h 2364196"/>
              <a:gd name="connsiteX2" fmla="*/ 2071219 w 2142807"/>
              <a:gd name="connsiteY2" fmla="*/ 1485201 h 2364196"/>
              <a:gd name="connsiteX3" fmla="*/ 2019331 w 2142807"/>
              <a:gd name="connsiteY3" fmla="*/ 1946129 h 2364196"/>
              <a:gd name="connsiteX4" fmla="*/ 1495197 w 2142807"/>
              <a:gd name="connsiteY4" fmla="*/ 2364196 h 2364196"/>
              <a:gd name="connsiteX5" fmla="*/ 0 w 2142807"/>
              <a:gd name="connsiteY5" fmla="*/ 489656 h 2364196"/>
              <a:gd name="connsiteX6" fmla="*/ 524134 w 2142807"/>
              <a:gd name="connsiteY6" fmla="*/ 71589 h 2364196"/>
              <a:gd name="connsiteX7" fmla="*/ 765344 w 2142807"/>
              <a:gd name="connsiteY7" fmla="*/ 2072 h 2364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2807" h="2364196">
                <a:moveTo>
                  <a:pt x="765344" y="2072"/>
                </a:moveTo>
                <a:cubicBezTo>
                  <a:pt x="848755" y="11461"/>
                  <a:pt x="928585" y="52672"/>
                  <a:pt x="985062" y="123477"/>
                </a:cubicBezTo>
                <a:lnTo>
                  <a:pt x="2071219" y="1485201"/>
                </a:lnTo>
                <a:cubicBezTo>
                  <a:pt x="2184173" y="1626812"/>
                  <a:pt x="2160942" y="1833176"/>
                  <a:pt x="2019331" y="1946129"/>
                </a:cubicBezTo>
                <a:lnTo>
                  <a:pt x="1495197" y="2364196"/>
                </a:lnTo>
                <a:lnTo>
                  <a:pt x="0" y="489656"/>
                </a:lnTo>
                <a:lnTo>
                  <a:pt x="524134" y="71589"/>
                </a:lnTo>
                <a:cubicBezTo>
                  <a:pt x="594939" y="15112"/>
                  <a:pt x="681933" y="-7318"/>
                  <a:pt x="765344" y="2072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圖片 19" descr="未命名">
            <a:extLst>
              <a:ext uri="{FF2B5EF4-FFF2-40B4-BE49-F238E27FC236}">
                <a16:creationId xmlns:a16="http://schemas.microsoft.com/office/drawing/2014/main" id="{C1247112-0447-41EE-A21A-7720B5C21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6" t="27738" r="10122" b="23819"/>
          <a:stretch>
            <a:fillRect/>
          </a:stretch>
        </p:blipFill>
        <p:spPr bwMode="auto">
          <a:xfrm rot="21425389">
            <a:off x="4932906" y="2346587"/>
            <a:ext cx="2382923" cy="2600675"/>
          </a:xfrm>
          <a:custGeom>
            <a:avLst/>
            <a:gdLst>
              <a:gd name="connsiteX0" fmla="*/ 639277 w 2157449"/>
              <a:gd name="connsiteY0" fmla="*/ 0 h 2354597"/>
              <a:gd name="connsiteX1" fmla="*/ 2157449 w 2157449"/>
              <a:gd name="connsiteY1" fmla="*/ 1855983 h 2354597"/>
              <a:gd name="connsiteX2" fmla="*/ 1638504 w 2157449"/>
              <a:gd name="connsiteY2" fmla="*/ 2280473 h 2354597"/>
              <a:gd name="connsiteX3" fmla="*/ 1176972 w 2157449"/>
              <a:gd name="connsiteY3" fmla="*/ 2234266 h 2354597"/>
              <a:gd name="connsiteX4" fmla="*/ 74125 w 2157449"/>
              <a:gd name="connsiteY4" fmla="*/ 886023 h 2354597"/>
              <a:gd name="connsiteX5" fmla="*/ 120332 w 2157449"/>
              <a:gd name="connsiteY5" fmla="*/ 424490 h 2354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7449" h="2354597">
                <a:moveTo>
                  <a:pt x="639277" y="0"/>
                </a:moveTo>
                <a:lnTo>
                  <a:pt x="2157449" y="1855983"/>
                </a:lnTo>
                <a:lnTo>
                  <a:pt x="1638504" y="2280473"/>
                </a:lnTo>
                <a:cubicBezTo>
                  <a:pt x="1498295" y="2395162"/>
                  <a:pt x="1291661" y="2374475"/>
                  <a:pt x="1176972" y="2234266"/>
                </a:cubicBezTo>
                <a:lnTo>
                  <a:pt x="74125" y="886023"/>
                </a:lnTo>
                <a:cubicBezTo>
                  <a:pt x="-40564" y="745814"/>
                  <a:pt x="-19877" y="539179"/>
                  <a:pt x="120332" y="424490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C1D909FD-321A-4D00-96B4-7145CFE79D51}"/>
              </a:ext>
            </a:extLst>
          </p:cNvPr>
          <p:cNvSpPr txBox="1"/>
          <p:nvPr/>
        </p:nvSpPr>
        <p:spPr>
          <a:xfrm>
            <a:off x="107504" y="2347186"/>
            <a:ext cx="5626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企業故事如何轉為資本市場語言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865A9DA-4DCE-42A8-A16E-98A1F04410E4}"/>
              </a:ext>
            </a:extLst>
          </p:cNvPr>
          <p:cNvSpPr txBox="1"/>
          <p:nvPr/>
        </p:nvSpPr>
        <p:spPr>
          <a:xfrm>
            <a:off x="73359" y="1139247"/>
            <a:ext cx="11318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03</a:t>
            </a:r>
            <a:endParaRPr lang="zh-TW" altLang="en-US" sz="6000" dirty="0">
              <a:solidFill>
                <a:schemeClr val="bg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57325543"/>
      </p:ext>
    </p:extLst>
  </p:cSld>
  <p:clrMapOvr>
    <a:masterClrMapping/>
  </p:clrMapOvr>
  <p:transition>
    <p:spli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標題 1"/>
          <p:cNvSpPr txBox="1">
            <a:spLocks/>
          </p:cNvSpPr>
          <p:nvPr/>
        </p:nvSpPr>
        <p:spPr>
          <a:xfrm>
            <a:off x="457200" y="491332"/>
            <a:ext cx="8939336" cy="6334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r>
              <a:rPr lang="zh-TW" altLang="en-US" sz="2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券商的角色：</a:t>
            </a:r>
            <a:r>
              <a:rPr lang="en-US" altLang="zh-TW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IPO Execution </a:t>
            </a:r>
            <a:r>
              <a:rPr lang="en-US" altLang="zh-TW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 </a:t>
            </a:r>
            <a:r>
              <a:rPr lang="en-US" altLang="zh-TW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Capital Market Translation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414195" y="1139183"/>
            <a:ext cx="82801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0" indent="-180975" algn="just">
              <a:lnSpc>
                <a:spcPts val="1800"/>
              </a:lnSpc>
              <a:buFont typeface="Arial" panose="020B0604020202020204" pitchFamily="34" charset="0"/>
              <a:buChar char="•"/>
              <a:defRPr/>
            </a:pPr>
            <a:r>
              <a:rPr lang="zh-TW" altLang="en-US" sz="1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券商的價值，不只是把公司帶到 </a:t>
            </a:r>
            <a:r>
              <a:rPr lang="en-US" altLang="zh-TW" sz="1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1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，而是把企業經營本質轉換成市場可理解、可比較、可驗證、可定價的資本市場語言</a:t>
            </a:r>
          </a:p>
        </p:txBody>
      </p:sp>
      <p:sp>
        <p:nvSpPr>
          <p:cNvPr id="41" name="Shape 3"/>
          <p:cNvSpPr/>
          <p:nvPr/>
        </p:nvSpPr>
        <p:spPr>
          <a:xfrm>
            <a:off x="467544" y="1751048"/>
            <a:ext cx="1141800" cy="1298448"/>
          </a:xfrm>
          <a:prstGeom prst="roundRect">
            <a:avLst>
              <a:gd name="adj" fmla="val 4688"/>
            </a:avLst>
          </a:prstGeom>
          <a:solidFill>
            <a:srgbClr val="FAFAFA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42" name="Text 4"/>
          <p:cNvSpPr/>
          <p:nvPr/>
        </p:nvSpPr>
        <p:spPr>
          <a:xfrm>
            <a:off x="832104" y="1888208"/>
            <a:ext cx="384048" cy="384048"/>
          </a:xfrm>
          <a:prstGeom prst="rect">
            <a:avLst/>
          </a:prstGeom>
          <a:solidFill>
            <a:srgbClr val="920000"/>
          </a:solidFill>
          <a:ln>
            <a:solidFill>
              <a:srgbClr val="B0000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01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 5"/>
          <p:cNvSpPr/>
          <p:nvPr/>
        </p:nvSpPr>
        <p:spPr>
          <a:xfrm>
            <a:off x="502920" y="2354552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企業經營本質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Text 7"/>
          <p:cNvSpPr/>
          <p:nvPr/>
        </p:nvSpPr>
        <p:spPr>
          <a:xfrm>
            <a:off x="521208" y="27386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財務</a:t>
            </a:r>
            <a:r>
              <a:rPr lang="en-US" sz="1100" dirty="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/</a:t>
            </a:r>
            <a:r>
              <a:rPr lang="en-US" sz="1100" dirty="0" err="1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治理</a:t>
            </a:r>
            <a:r>
              <a:rPr lang="en-US" sz="1100" dirty="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/</a:t>
            </a:r>
          </a:p>
          <a:p>
            <a:pPr marL="0" indent="0" algn="ctr">
              <a:buNone/>
            </a:pPr>
            <a:r>
              <a:rPr lang="en-US" sz="1100" dirty="0" err="1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商業模式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Text 8"/>
          <p:cNvSpPr/>
          <p:nvPr/>
        </p:nvSpPr>
        <p:spPr>
          <a:xfrm>
            <a:off x="1655064" y="2226536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9A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›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Shape 9"/>
          <p:cNvSpPr/>
          <p:nvPr/>
        </p:nvSpPr>
        <p:spPr>
          <a:xfrm>
            <a:off x="1847088" y="1751048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FAFAFA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48" name="Text 10"/>
          <p:cNvSpPr/>
          <p:nvPr/>
        </p:nvSpPr>
        <p:spPr>
          <a:xfrm>
            <a:off x="2240280" y="1888208"/>
            <a:ext cx="384048" cy="384048"/>
          </a:xfrm>
          <a:prstGeom prst="rect">
            <a:avLst/>
          </a:prstGeom>
          <a:solidFill>
            <a:srgbClr val="920000"/>
          </a:solidFill>
          <a:ln>
            <a:solidFill>
              <a:srgbClr val="B0000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02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Text 11"/>
          <p:cNvSpPr/>
          <p:nvPr/>
        </p:nvSpPr>
        <p:spPr>
          <a:xfrm>
            <a:off x="1911096" y="2354552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Positioning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Text 13"/>
          <p:cNvSpPr/>
          <p:nvPr/>
        </p:nvSpPr>
        <p:spPr>
          <a:xfrm>
            <a:off x="1929384" y="27386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市場如何定義你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Text 14"/>
          <p:cNvSpPr/>
          <p:nvPr/>
        </p:nvSpPr>
        <p:spPr>
          <a:xfrm>
            <a:off x="3063240" y="2226536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9A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›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Shape 15"/>
          <p:cNvSpPr/>
          <p:nvPr/>
        </p:nvSpPr>
        <p:spPr>
          <a:xfrm>
            <a:off x="3255264" y="1751048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FAFAFA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54" name="Text 16"/>
          <p:cNvSpPr/>
          <p:nvPr/>
        </p:nvSpPr>
        <p:spPr>
          <a:xfrm>
            <a:off x="3648456" y="1888208"/>
            <a:ext cx="384048" cy="384048"/>
          </a:xfrm>
          <a:prstGeom prst="rect">
            <a:avLst/>
          </a:prstGeom>
          <a:solidFill>
            <a:srgbClr val="920000"/>
          </a:solidFill>
          <a:ln>
            <a:solidFill>
              <a:srgbClr val="B0000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03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Text 17"/>
          <p:cNvSpPr/>
          <p:nvPr/>
        </p:nvSpPr>
        <p:spPr>
          <a:xfrm>
            <a:off x="3321560" y="2276872"/>
            <a:ext cx="1106424" cy="3579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Benchmarking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Text 19"/>
          <p:cNvSpPr/>
          <p:nvPr/>
        </p:nvSpPr>
        <p:spPr>
          <a:xfrm>
            <a:off x="3337560" y="27386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該和誰</a:t>
            </a:r>
            <a:r>
              <a:rPr lang="zh-TW" altLang="en-US" sz="1100" dirty="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進行</a:t>
            </a:r>
            <a:r>
              <a:rPr lang="en-US" sz="1100" dirty="0" err="1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比較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Text 20"/>
          <p:cNvSpPr/>
          <p:nvPr/>
        </p:nvSpPr>
        <p:spPr>
          <a:xfrm>
            <a:off x="4471416" y="2226536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9A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›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Shape 21"/>
          <p:cNvSpPr/>
          <p:nvPr/>
        </p:nvSpPr>
        <p:spPr>
          <a:xfrm>
            <a:off x="4663440" y="1751048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FAFAFA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60" name="Text 22"/>
          <p:cNvSpPr/>
          <p:nvPr/>
        </p:nvSpPr>
        <p:spPr>
          <a:xfrm>
            <a:off x="5056632" y="1888208"/>
            <a:ext cx="384048" cy="384048"/>
          </a:xfrm>
          <a:prstGeom prst="rect">
            <a:avLst/>
          </a:prstGeom>
          <a:solidFill>
            <a:srgbClr val="920000"/>
          </a:solidFill>
          <a:ln>
            <a:solidFill>
              <a:srgbClr val="B0000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04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Text 23"/>
          <p:cNvSpPr/>
          <p:nvPr/>
        </p:nvSpPr>
        <p:spPr>
          <a:xfrm>
            <a:off x="4727448" y="2354552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Equity Story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Text 25"/>
          <p:cNvSpPr/>
          <p:nvPr/>
        </p:nvSpPr>
        <p:spPr>
          <a:xfrm>
            <a:off x="4745736" y="27386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TW" altLang="en-US" sz="1100" dirty="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成長動能如何</a:t>
            </a:r>
            <a:endParaRPr lang="en-US" altLang="zh-TW" sz="1100" dirty="0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1100" dirty="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轉成投資價值</a:t>
            </a:r>
            <a:endParaRPr lang="en-US" sz="1100" dirty="0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Text 26"/>
          <p:cNvSpPr/>
          <p:nvPr/>
        </p:nvSpPr>
        <p:spPr>
          <a:xfrm>
            <a:off x="5879592" y="2226536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9A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›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5" name="Shape 27"/>
          <p:cNvSpPr/>
          <p:nvPr/>
        </p:nvSpPr>
        <p:spPr>
          <a:xfrm>
            <a:off x="6071616" y="1751048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FAFAFA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66" name="Text 28"/>
          <p:cNvSpPr/>
          <p:nvPr/>
        </p:nvSpPr>
        <p:spPr>
          <a:xfrm>
            <a:off x="6464808" y="1888208"/>
            <a:ext cx="384048" cy="384048"/>
          </a:xfrm>
          <a:prstGeom prst="rect">
            <a:avLst/>
          </a:prstGeom>
          <a:solidFill>
            <a:srgbClr val="920000"/>
          </a:solidFill>
          <a:ln>
            <a:solidFill>
              <a:srgbClr val="B0000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05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Text 29"/>
          <p:cNvSpPr/>
          <p:nvPr/>
        </p:nvSpPr>
        <p:spPr>
          <a:xfrm>
            <a:off x="6135624" y="2354552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Investor Access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Text 31"/>
          <p:cNvSpPr/>
          <p:nvPr/>
        </p:nvSpPr>
        <p:spPr>
          <a:xfrm>
            <a:off x="6153912" y="27386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TW" altLang="en-US" sz="1100" dirty="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哪些投資人</a:t>
            </a:r>
            <a:endParaRPr lang="en-US" altLang="zh-TW" sz="1100" dirty="0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1100" dirty="0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適合你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Text 32"/>
          <p:cNvSpPr/>
          <p:nvPr/>
        </p:nvSpPr>
        <p:spPr>
          <a:xfrm>
            <a:off x="7287768" y="2226536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9A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›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Shape 33"/>
          <p:cNvSpPr/>
          <p:nvPr/>
        </p:nvSpPr>
        <p:spPr>
          <a:xfrm>
            <a:off x="7479792" y="1751048"/>
            <a:ext cx="1170432" cy="1298448"/>
          </a:xfrm>
          <a:prstGeom prst="roundRect">
            <a:avLst>
              <a:gd name="adj" fmla="val 4688"/>
            </a:avLst>
          </a:prstGeom>
          <a:solidFill>
            <a:srgbClr val="FAFAFA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72" name="Text 34"/>
          <p:cNvSpPr/>
          <p:nvPr/>
        </p:nvSpPr>
        <p:spPr>
          <a:xfrm>
            <a:off x="7872984" y="1888208"/>
            <a:ext cx="384048" cy="384048"/>
          </a:xfrm>
          <a:prstGeom prst="rect">
            <a:avLst/>
          </a:prstGeom>
          <a:solidFill>
            <a:srgbClr val="920000"/>
          </a:solidFill>
          <a:ln>
            <a:solidFill>
              <a:srgbClr val="B0000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06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Text 35"/>
          <p:cNvSpPr/>
          <p:nvPr/>
        </p:nvSpPr>
        <p:spPr>
          <a:xfrm>
            <a:off x="7543800" y="2354552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Price Discovery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Text 37"/>
          <p:cNvSpPr/>
          <p:nvPr/>
        </p:nvSpPr>
        <p:spPr>
          <a:xfrm>
            <a:off x="7562088" y="27386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價格發現與</a:t>
            </a:r>
            <a:endParaRPr lang="en-US" sz="1100" dirty="0">
              <a:solidFill>
                <a:srgbClr val="59595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icrosoft JhengHei" pitchFamily="34" charset="-120"/>
            </a:endParaRPr>
          </a:p>
          <a:p>
            <a:pPr marL="0" indent="0" algn="ctr">
              <a:buNone/>
            </a:pPr>
            <a:r>
              <a:rPr lang="en-US" sz="1100" dirty="0" err="1">
                <a:solidFill>
                  <a:srgbClr val="59595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市場估值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5" name="Shape 67"/>
          <p:cNvSpPr/>
          <p:nvPr/>
        </p:nvSpPr>
        <p:spPr>
          <a:xfrm>
            <a:off x="467544" y="6013211"/>
            <a:ext cx="484632" cy="0"/>
          </a:xfrm>
          <a:prstGeom prst="line">
            <a:avLst/>
          </a:prstGeom>
          <a:noFill/>
          <a:ln w="16510">
            <a:solidFill>
              <a:srgbClr val="B00000"/>
            </a:solidFill>
            <a:prstDash val="solid"/>
          </a:ln>
        </p:spPr>
      </p:sp>
      <p:sp>
        <p:nvSpPr>
          <p:cNvPr id="106" name="Text 68"/>
          <p:cNvSpPr/>
          <p:nvPr/>
        </p:nvSpPr>
        <p:spPr>
          <a:xfrm>
            <a:off x="1107624" y="5661248"/>
            <a:ext cx="7040880" cy="646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IPO </a:t>
            </a:r>
            <a:r>
              <a:rPr lang="en-US" sz="1400" b="1" dirty="0" err="1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成功</a:t>
            </a:r>
            <a:r>
              <a:rPr lang="en-US" sz="1400" b="1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不只是資料準備完成，而是市場知道你是誰、該跟誰比較，以及該如何替你定價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7" name="Shape 69"/>
          <p:cNvSpPr/>
          <p:nvPr/>
        </p:nvSpPr>
        <p:spPr>
          <a:xfrm>
            <a:off x="8221656" y="6020099"/>
            <a:ext cx="493776" cy="0"/>
          </a:xfrm>
          <a:prstGeom prst="line">
            <a:avLst/>
          </a:prstGeom>
          <a:noFill/>
          <a:ln w="16510">
            <a:solidFill>
              <a:srgbClr val="B00000"/>
            </a:solidFill>
            <a:prstDash val="solid"/>
          </a:ln>
        </p:spPr>
      </p:sp>
      <p:graphicFrame>
        <p:nvGraphicFramePr>
          <p:cNvPr id="10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203359"/>
              </p:ext>
            </p:extLst>
          </p:nvPr>
        </p:nvGraphicFramePr>
        <p:xfrm>
          <a:off x="467542" y="3298696"/>
          <a:ext cx="8182681" cy="2423292"/>
        </p:xfrm>
        <a:graphic>
          <a:graphicData uri="http://schemas.openxmlformats.org/drawingml/2006/table">
            <a:tbl>
              <a:tblPr/>
              <a:tblGrid>
                <a:gridCol w="1974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4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38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 err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券商角色</a:t>
                      </a:r>
                      <a:endParaRPr lang="en-US" sz="1250" b="1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傳統認知</a:t>
                      </a:r>
                      <a:endParaRPr lang="en-US" sz="1250" b="1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真正創造的價值</a:t>
                      </a:r>
                      <a:endParaRPr lang="en-US" sz="1250" b="1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IPO輔導</a:t>
                      </a:r>
                      <a:endParaRPr lang="en-US" sz="1200" b="1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文件、時程、送件</a:t>
                      </a:r>
                      <a:endParaRPr lang="en-US" sz="1200" b="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200" b="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建立上市前資本市場準備路徑，協助企業完成財務、治理與市場溝通準備</a:t>
                      </a:r>
                      <a:endParaRPr lang="en-US" sz="1200" b="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市場定位</a:t>
                      </a:r>
                      <a:endParaRPr lang="en-US" sz="1200" b="1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包裝公司故事</a:t>
                      </a:r>
                      <a:endParaRPr lang="en-US" sz="1200" b="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200" b="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建立 Positioning 與 Peer </a:t>
                      </a:r>
                      <a:r>
                        <a:rPr lang="en-US" sz="1200" b="0" dirty="0" err="1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Group，讓市場知道你是誰</a:t>
                      </a:r>
                      <a:r>
                        <a:rPr lang="zh-TW" altLang="en-US" sz="1200" b="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，</a:t>
                      </a:r>
                      <a:r>
                        <a:rPr lang="en-US" sz="1200" b="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該</a:t>
                      </a:r>
                      <a:r>
                        <a:rPr lang="zh-TW" altLang="en-US" sz="1200" b="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和</a:t>
                      </a:r>
                      <a:r>
                        <a:rPr lang="en-US" sz="1200" b="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誰</a:t>
                      </a:r>
                      <a:r>
                        <a:rPr lang="zh-TW" altLang="en-US" sz="1200" b="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進行</a:t>
                      </a:r>
                      <a:r>
                        <a:rPr lang="en-US" sz="1200" b="0" dirty="0" err="1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比較</a:t>
                      </a:r>
                      <a:endParaRPr lang="en-US" sz="1200" b="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法人溝通</a:t>
                      </a:r>
                      <a:endParaRPr lang="en-US" sz="1200" b="1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把公司講得更好</a:t>
                      </a:r>
                      <a:endParaRPr lang="en-US" sz="1200" b="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200" b="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將 Growth、Risk、Financial Outcome 轉化為可驗證的 Equity Story</a:t>
                      </a:r>
                      <a:endParaRPr lang="en-US" sz="1200" b="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承銷配售</a:t>
                      </a:r>
                      <a:endParaRPr lang="en-US" sz="1200" b="1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找投資人買股票</a:t>
                      </a:r>
                      <a:endParaRPr lang="en-US" sz="1200" b="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200" b="0" dirty="0">
                          <a:solidFill>
                            <a:srgbClr val="11111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找到真正理解 Business Model 與成長邏輯的投資人，提升定價效率</a:t>
                      </a:r>
                      <a:endParaRPr lang="en-US" sz="1200" b="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3181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0"/>
          <p:cNvSpPr/>
          <p:nvPr/>
        </p:nvSpPr>
        <p:spPr>
          <a:xfrm>
            <a:off x="1740712" y="5486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2" name="Text 2"/>
          <p:cNvSpPr/>
          <p:nvPr/>
        </p:nvSpPr>
        <p:spPr>
          <a:xfrm>
            <a:off x="1740712" y="11247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5" name="群組 4"/>
          <p:cNvGrpSpPr/>
          <p:nvPr/>
        </p:nvGrpSpPr>
        <p:grpSpPr>
          <a:xfrm>
            <a:off x="502922" y="1715664"/>
            <a:ext cx="8138158" cy="1497312"/>
            <a:chOff x="467544" y="1715664"/>
            <a:chExt cx="8211312" cy="1379344"/>
          </a:xfrm>
        </p:grpSpPr>
        <p:sp>
          <p:nvSpPr>
            <p:cNvPr id="93" name="Shape 3"/>
            <p:cNvSpPr/>
            <p:nvPr/>
          </p:nvSpPr>
          <p:spPr>
            <a:xfrm>
              <a:off x="467544" y="1971680"/>
              <a:ext cx="1847088" cy="1097280"/>
            </a:xfrm>
            <a:prstGeom prst="roundRect">
              <a:avLst>
                <a:gd name="adj" fmla="val 5000"/>
              </a:avLst>
            </a:prstGeom>
            <a:solidFill>
              <a:srgbClr val="F4F4F4">
                <a:alpha val="95000"/>
              </a:srgbClr>
            </a:solidFill>
            <a:ln w="10160">
              <a:solidFill>
                <a:srgbClr val="D8D8D8"/>
              </a:solidFill>
              <a:prstDash val="solid"/>
            </a:ln>
          </p:spPr>
        </p:sp>
        <p:sp>
          <p:nvSpPr>
            <p:cNvPr id="94" name="Shape 4"/>
            <p:cNvSpPr/>
            <p:nvPr/>
          </p:nvSpPr>
          <p:spPr>
            <a:xfrm>
              <a:off x="467544" y="1971680"/>
              <a:ext cx="50292" cy="1097280"/>
            </a:xfrm>
            <a:prstGeom prst="rect">
              <a:avLst/>
            </a:prstGeom>
            <a:solidFill>
              <a:srgbClr val="920000"/>
            </a:solidFill>
            <a:ln w="12700">
              <a:solidFill>
                <a:srgbClr val="920000">
                  <a:alpha val="0"/>
                </a:srgbClr>
              </a:solidFill>
              <a:prstDash val="solid"/>
            </a:ln>
          </p:spPr>
        </p:sp>
        <p:sp>
          <p:nvSpPr>
            <p:cNvPr id="95" name="Text 5"/>
            <p:cNvSpPr/>
            <p:nvPr/>
          </p:nvSpPr>
          <p:spPr>
            <a:xfrm>
              <a:off x="540696" y="1715664"/>
              <a:ext cx="17373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Positioning</a:t>
              </a:r>
              <a:endParaRPr lang="en-US" sz="1300" dirty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6" name="Text 6"/>
            <p:cNvSpPr/>
            <p:nvPr/>
          </p:nvSpPr>
          <p:spPr>
            <a:xfrm>
              <a:off x="613848" y="2090552"/>
              <a:ext cx="164592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確立市場定位</a:t>
              </a:r>
              <a:endParaRPr lang="en-US" sz="12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8" name="Text 8"/>
            <p:cNvSpPr/>
            <p:nvPr/>
          </p:nvSpPr>
          <p:spPr>
            <a:xfrm>
              <a:off x="2387784" y="2428880"/>
              <a:ext cx="1645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9A9A9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›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9" name="Shape 9"/>
            <p:cNvSpPr/>
            <p:nvPr/>
          </p:nvSpPr>
          <p:spPr>
            <a:xfrm>
              <a:off x="2588952" y="1971680"/>
              <a:ext cx="1847088" cy="1097280"/>
            </a:xfrm>
            <a:prstGeom prst="roundRect">
              <a:avLst>
                <a:gd name="adj" fmla="val 5000"/>
              </a:avLst>
            </a:prstGeom>
            <a:solidFill>
              <a:srgbClr val="FBFBFB">
                <a:alpha val="95000"/>
              </a:srgbClr>
            </a:solidFill>
            <a:ln w="10160">
              <a:solidFill>
                <a:srgbClr val="D8D8D8"/>
              </a:solidFill>
              <a:prstDash val="solid"/>
            </a:ln>
          </p:spPr>
        </p:sp>
        <p:sp>
          <p:nvSpPr>
            <p:cNvPr id="100" name="Shape 10"/>
            <p:cNvSpPr/>
            <p:nvPr/>
          </p:nvSpPr>
          <p:spPr>
            <a:xfrm>
              <a:off x="2588952" y="1971680"/>
              <a:ext cx="50292" cy="1097280"/>
            </a:xfrm>
            <a:prstGeom prst="rect">
              <a:avLst/>
            </a:prstGeom>
            <a:solidFill>
              <a:srgbClr val="920000"/>
            </a:solidFill>
            <a:ln w="12700">
              <a:solidFill>
                <a:srgbClr val="920000">
                  <a:alpha val="0"/>
                </a:srgbClr>
              </a:solidFill>
              <a:prstDash val="solid"/>
            </a:ln>
          </p:spPr>
        </p:sp>
        <p:sp>
          <p:nvSpPr>
            <p:cNvPr id="101" name="Text 11"/>
            <p:cNvSpPr/>
            <p:nvPr/>
          </p:nvSpPr>
          <p:spPr>
            <a:xfrm>
              <a:off x="2662104" y="1715664"/>
              <a:ext cx="17373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Benchmarking</a:t>
              </a:r>
              <a:endParaRPr lang="en-US" sz="1300" dirty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2" name="Text 12"/>
            <p:cNvSpPr/>
            <p:nvPr/>
          </p:nvSpPr>
          <p:spPr>
            <a:xfrm>
              <a:off x="2735256" y="2090552"/>
              <a:ext cx="164592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建立比較基準</a:t>
              </a:r>
              <a:endParaRPr lang="en-US" sz="12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3" name="Text 13"/>
            <p:cNvSpPr/>
            <p:nvPr/>
          </p:nvSpPr>
          <p:spPr>
            <a:xfrm>
              <a:off x="2735256" y="2400064"/>
              <a:ext cx="1645920" cy="6949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just">
                <a:buNone/>
              </a:pPr>
              <a:r>
                <a:rPr lang="en-US" sz="1050" dirty="0" err="1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選對</a:t>
              </a:r>
              <a:r>
                <a:rPr lang="zh-TW" altLang="en-US" sz="105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同業</a:t>
              </a:r>
              <a:r>
                <a:rPr lang="en-US" sz="1050" dirty="0" err="1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與估值框架</a:t>
              </a:r>
              <a:r>
                <a:rPr lang="en-US" sz="105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：</a:t>
              </a:r>
              <a:endParaRPr 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US" sz="1000" dirty="0" err="1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同業比較是否合理</a:t>
              </a:r>
              <a:r>
                <a:rPr lang="en-US" sz="100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？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US" sz="1000" dirty="0" err="1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關鍵</a:t>
              </a:r>
              <a:r>
                <a:rPr lang="en-US" sz="100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 KPI 是否可比？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Multiple </a:t>
              </a:r>
              <a:r>
                <a:rPr lang="en-US" sz="1000" dirty="0" err="1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如何解釋</a:t>
              </a:r>
              <a:r>
                <a:rPr lang="en-US" sz="100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？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4" name="Text 14"/>
            <p:cNvSpPr/>
            <p:nvPr/>
          </p:nvSpPr>
          <p:spPr>
            <a:xfrm>
              <a:off x="4509192" y="2428880"/>
              <a:ext cx="1645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9A9A9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›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5" name="Shape 15"/>
            <p:cNvSpPr/>
            <p:nvPr/>
          </p:nvSpPr>
          <p:spPr>
            <a:xfrm>
              <a:off x="4710360" y="1971680"/>
              <a:ext cx="1847088" cy="1097280"/>
            </a:xfrm>
            <a:prstGeom prst="roundRect">
              <a:avLst>
                <a:gd name="adj" fmla="val 5000"/>
              </a:avLst>
            </a:prstGeom>
            <a:solidFill>
              <a:srgbClr val="F4F4F4">
                <a:alpha val="95000"/>
              </a:srgbClr>
            </a:solidFill>
            <a:ln w="10160">
              <a:solidFill>
                <a:srgbClr val="D8D8D8"/>
              </a:solidFill>
              <a:prstDash val="solid"/>
            </a:ln>
          </p:spPr>
        </p:sp>
        <p:sp>
          <p:nvSpPr>
            <p:cNvPr id="106" name="Shape 16"/>
            <p:cNvSpPr/>
            <p:nvPr/>
          </p:nvSpPr>
          <p:spPr>
            <a:xfrm>
              <a:off x="4710360" y="1971680"/>
              <a:ext cx="50292" cy="1097280"/>
            </a:xfrm>
            <a:prstGeom prst="rect">
              <a:avLst/>
            </a:prstGeom>
            <a:solidFill>
              <a:srgbClr val="920000"/>
            </a:solidFill>
            <a:ln w="12700">
              <a:solidFill>
                <a:srgbClr val="920000">
                  <a:alpha val="0"/>
                </a:srgbClr>
              </a:solidFill>
              <a:prstDash val="solid"/>
            </a:ln>
          </p:spPr>
        </p:sp>
        <p:sp>
          <p:nvSpPr>
            <p:cNvPr id="107" name="Text 17"/>
            <p:cNvSpPr/>
            <p:nvPr/>
          </p:nvSpPr>
          <p:spPr>
            <a:xfrm>
              <a:off x="4783512" y="1715664"/>
              <a:ext cx="17373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Equity Story</a:t>
              </a:r>
              <a:endParaRPr lang="en-US" sz="1300" dirty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8" name="Text 18"/>
            <p:cNvSpPr/>
            <p:nvPr/>
          </p:nvSpPr>
          <p:spPr>
            <a:xfrm>
              <a:off x="4856664" y="2090552"/>
              <a:ext cx="164592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形成投資論點</a:t>
              </a:r>
              <a:endParaRPr lang="en-US" sz="12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9" name="Text 19"/>
            <p:cNvSpPr/>
            <p:nvPr/>
          </p:nvSpPr>
          <p:spPr>
            <a:xfrm>
              <a:off x="4856664" y="2400064"/>
              <a:ext cx="1645920" cy="6949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just">
                <a:buNone/>
              </a:pPr>
              <a:r>
                <a:rPr lang="en-US" sz="1050" dirty="0" err="1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把成果轉成可驗證故事</a:t>
              </a:r>
              <a:r>
                <a:rPr lang="en-US" sz="105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：</a:t>
              </a:r>
              <a:endParaRPr 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Growth Catalyst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Margin/Cash Flow Path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US" sz="1000" dirty="0" err="1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主要風險與</a:t>
              </a:r>
              <a:r>
                <a:rPr lang="en-US" sz="100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 Downside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0" name="Text 20"/>
            <p:cNvSpPr/>
            <p:nvPr/>
          </p:nvSpPr>
          <p:spPr>
            <a:xfrm>
              <a:off x="6630600" y="2428880"/>
              <a:ext cx="1645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9A9A9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›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1" name="Shape 21"/>
            <p:cNvSpPr/>
            <p:nvPr/>
          </p:nvSpPr>
          <p:spPr>
            <a:xfrm>
              <a:off x="6831768" y="1971680"/>
              <a:ext cx="1847088" cy="1097280"/>
            </a:xfrm>
            <a:prstGeom prst="roundRect">
              <a:avLst>
                <a:gd name="adj" fmla="val 5000"/>
              </a:avLst>
            </a:prstGeom>
            <a:solidFill>
              <a:srgbClr val="FBFBFB">
                <a:alpha val="95000"/>
              </a:srgbClr>
            </a:solidFill>
            <a:ln w="10160">
              <a:solidFill>
                <a:srgbClr val="D8D8D8"/>
              </a:solidFill>
              <a:prstDash val="solid"/>
            </a:ln>
          </p:spPr>
        </p:sp>
        <p:sp>
          <p:nvSpPr>
            <p:cNvPr id="112" name="Shape 22"/>
            <p:cNvSpPr/>
            <p:nvPr/>
          </p:nvSpPr>
          <p:spPr>
            <a:xfrm>
              <a:off x="6831768" y="1971680"/>
              <a:ext cx="50292" cy="1097280"/>
            </a:xfrm>
            <a:prstGeom prst="rect">
              <a:avLst/>
            </a:prstGeom>
            <a:solidFill>
              <a:srgbClr val="920000"/>
            </a:solidFill>
            <a:ln w="12700">
              <a:solidFill>
                <a:srgbClr val="920000">
                  <a:alpha val="0"/>
                </a:srgbClr>
              </a:solidFill>
              <a:prstDash val="solid"/>
            </a:ln>
          </p:spPr>
        </p:sp>
        <p:sp>
          <p:nvSpPr>
            <p:cNvPr id="113" name="Text 23"/>
            <p:cNvSpPr/>
            <p:nvPr/>
          </p:nvSpPr>
          <p:spPr>
            <a:xfrm>
              <a:off x="6904920" y="1715664"/>
              <a:ext cx="17373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bg2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Investor Access</a:t>
              </a:r>
              <a:endParaRPr lang="en-US" sz="1300" dirty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4" name="Text 24"/>
            <p:cNvSpPr/>
            <p:nvPr/>
          </p:nvSpPr>
          <p:spPr>
            <a:xfrm>
              <a:off x="6978072" y="2090552"/>
              <a:ext cx="164592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匹配適合資金</a:t>
              </a:r>
              <a:endParaRPr lang="en-US" sz="12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5" name="Text 25"/>
            <p:cNvSpPr/>
            <p:nvPr/>
          </p:nvSpPr>
          <p:spPr>
            <a:xfrm>
              <a:off x="6978072" y="2400064"/>
              <a:ext cx="1645920" cy="6949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just">
                <a:buNone/>
              </a:pPr>
              <a:r>
                <a:rPr lang="en-US" sz="105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找到真正理解商業模式的投資人：</a:t>
              </a:r>
              <a:endParaRPr 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Long-only/Growth Fund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Strategic Investors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75" name="群組 174"/>
          <p:cNvGrpSpPr/>
          <p:nvPr/>
        </p:nvGrpSpPr>
        <p:grpSpPr>
          <a:xfrm>
            <a:off x="502919" y="3356992"/>
            <a:ext cx="8138159" cy="671301"/>
            <a:chOff x="502919" y="3438136"/>
            <a:chExt cx="8138159" cy="566928"/>
          </a:xfrm>
        </p:grpSpPr>
        <p:sp>
          <p:nvSpPr>
            <p:cNvPr id="116" name="Shape 26"/>
            <p:cNvSpPr/>
            <p:nvPr/>
          </p:nvSpPr>
          <p:spPr>
            <a:xfrm>
              <a:off x="502919" y="3438136"/>
              <a:ext cx="8138159" cy="566928"/>
            </a:xfrm>
            <a:prstGeom prst="roundRect">
              <a:avLst>
                <a:gd name="adj" fmla="val 9677"/>
              </a:avLst>
            </a:prstGeom>
            <a:solidFill>
              <a:schemeClr val="accent3">
                <a:lumMod val="85000"/>
              </a:schemeClr>
            </a:solidFill>
            <a:ln w="7620">
              <a:solidFill>
                <a:srgbClr val="E7D6B6"/>
              </a:solidFill>
              <a:prstDash val="solid"/>
            </a:ln>
          </p:spPr>
        </p:sp>
        <p:sp>
          <p:nvSpPr>
            <p:cNvPr id="117" name="Text 27"/>
            <p:cNvSpPr/>
            <p:nvPr/>
          </p:nvSpPr>
          <p:spPr>
            <a:xfrm>
              <a:off x="683568" y="3556374"/>
              <a:ext cx="4053024" cy="307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每一步的產出，不是「包裝話術」，</a:t>
              </a:r>
              <a:r>
                <a:rPr lang="en-US" sz="1400" b="1" dirty="0" err="1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而是讓市場</a:t>
              </a:r>
              <a:endParaRPr lang="en-US" sz="1400" b="1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endParaRPr>
            </a:p>
            <a:p>
              <a:pPr marL="0" indent="0">
                <a:buNone/>
              </a:pPr>
              <a:r>
                <a:rPr lang="en-US" sz="1400" b="1" dirty="0" err="1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逐步判斷</a:t>
              </a:r>
              <a:r>
                <a:rPr lang="en-US" sz="1400" b="1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：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750312" y="3527450"/>
              <a:ext cx="3710120" cy="365760"/>
              <a:chOff x="4788024" y="3479288"/>
              <a:chExt cx="3585536" cy="237744"/>
            </a:xfrm>
          </p:grpSpPr>
          <p:sp>
            <p:nvSpPr>
              <p:cNvPr id="118" name="Shape 28"/>
              <p:cNvSpPr/>
              <p:nvPr/>
            </p:nvSpPr>
            <p:spPr>
              <a:xfrm>
                <a:off x="4788024" y="3479288"/>
                <a:ext cx="1209272" cy="237744"/>
              </a:xfrm>
              <a:prstGeom prst="chevron">
                <a:avLst/>
              </a:prstGeom>
              <a:solidFill>
                <a:srgbClr val="FFFFFF"/>
              </a:solidFill>
              <a:ln w="8890">
                <a:solidFill>
                  <a:srgbClr val="920000"/>
                </a:solidFill>
                <a:prstDash val="solid"/>
              </a:ln>
            </p:spPr>
          </p:sp>
          <p:sp>
            <p:nvSpPr>
              <p:cNvPr id="119" name="Text 29"/>
              <p:cNvSpPr/>
              <p:nvPr/>
            </p:nvSpPr>
            <p:spPr>
              <a:xfrm>
                <a:off x="4917176" y="3558160"/>
                <a:ext cx="960120" cy="914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 algn="ctr">
                  <a:buNone/>
                </a:pPr>
                <a:r>
                  <a:rPr lang="en-US" sz="1100" b="1" dirty="0" err="1">
                    <a:solidFill>
                      <a:srgbClr val="92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Microsoft JhengHei" pitchFamily="34" charset="-120"/>
                  </a:rPr>
                  <a:t>公司屬於哪個</a:t>
                </a:r>
                <a:endParaRPr lang="en-US" sz="11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endParaRPr>
              </a:p>
              <a:p>
                <a:pPr marL="0" indent="0" algn="ctr">
                  <a:buNone/>
                </a:pPr>
                <a:r>
                  <a:rPr lang="en-US" sz="1100" b="1" dirty="0" err="1">
                    <a:solidFill>
                      <a:srgbClr val="92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Microsoft JhengHei" pitchFamily="34" charset="-120"/>
                  </a:rPr>
                  <a:t>賽道</a:t>
                </a:r>
                <a:endParaRPr lang="en-US" sz="1100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20" name="Shape 30"/>
              <p:cNvSpPr/>
              <p:nvPr/>
            </p:nvSpPr>
            <p:spPr>
              <a:xfrm>
                <a:off x="6072490" y="3479288"/>
                <a:ext cx="946670" cy="237744"/>
              </a:xfrm>
              <a:prstGeom prst="chevron">
                <a:avLst/>
              </a:prstGeom>
              <a:solidFill>
                <a:srgbClr val="FFFFFF"/>
              </a:solidFill>
              <a:ln w="8890">
                <a:solidFill>
                  <a:srgbClr val="920000"/>
                </a:solidFill>
                <a:prstDash val="solid"/>
              </a:ln>
            </p:spPr>
          </p:sp>
          <p:sp>
            <p:nvSpPr>
              <p:cNvPr id="121" name="Text 31"/>
              <p:cNvSpPr/>
              <p:nvPr/>
            </p:nvSpPr>
            <p:spPr>
              <a:xfrm>
                <a:off x="6216270" y="3552440"/>
                <a:ext cx="822960" cy="914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92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Microsoft JhengHei" pitchFamily="34" charset="-120"/>
                  </a:rPr>
                  <a:t>該和誰比較</a:t>
                </a:r>
                <a:endParaRPr lang="en-US" sz="1100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22" name="Shape 32"/>
              <p:cNvSpPr/>
              <p:nvPr/>
            </p:nvSpPr>
            <p:spPr>
              <a:xfrm>
                <a:off x="7078117" y="3479288"/>
                <a:ext cx="1295443" cy="237744"/>
              </a:xfrm>
              <a:prstGeom prst="chevron">
                <a:avLst/>
              </a:prstGeom>
              <a:solidFill>
                <a:srgbClr val="FFFFFF"/>
              </a:solidFill>
              <a:ln w="8890">
                <a:solidFill>
                  <a:srgbClr val="920000"/>
                </a:solidFill>
                <a:prstDash val="solid"/>
              </a:ln>
            </p:spPr>
          </p:sp>
          <p:sp>
            <p:nvSpPr>
              <p:cNvPr id="123" name="Text 33"/>
              <p:cNvSpPr/>
              <p:nvPr/>
            </p:nvSpPr>
            <p:spPr>
              <a:xfrm>
                <a:off x="7230560" y="3556436"/>
                <a:ext cx="1143000" cy="914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92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Microsoft JhengHei" pitchFamily="34" charset="-120"/>
                  </a:rPr>
                  <a:t>該用什麼估值框架</a:t>
                </a:r>
                <a:endParaRPr lang="en-US" sz="1100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sp>
        <p:nvSpPr>
          <p:cNvPr id="145" name="Rectangle 9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6" name="標題 1"/>
          <p:cNvSpPr txBox="1">
            <a:spLocks/>
          </p:cNvSpPr>
          <p:nvPr/>
        </p:nvSpPr>
        <p:spPr>
          <a:xfrm>
            <a:off x="457200" y="491332"/>
            <a:ext cx="8939336" cy="6334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券商協助企業 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Re-rating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：四大關鍵環節</a:t>
            </a:r>
          </a:p>
        </p:txBody>
      </p:sp>
      <p:sp>
        <p:nvSpPr>
          <p:cNvPr id="147" name="文字方塊 146"/>
          <p:cNvSpPr txBox="1"/>
          <p:nvPr/>
        </p:nvSpPr>
        <p:spPr>
          <a:xfrm>
            <a:off x="414195" y="1139183"/>
            <a:ext cx="82801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0" indent="-180975" algn="just">
              <a:lnSpc>
                <a:spcPts val="18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Positioning → Benchmarking → Equity Story → Investor Access</a:t>
            </a:r>
            <a:r>
              <a:rPr lang="zh-TW" altLang="en-US" sz="1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；核心是建立正確比較基準，讓市場可驗證地理解公司價值</a:t>
            </a:r>
          </a:p>
        </p:txBody>
      </p:sp>
      <p:sp>
        <p:nvSpPr>
          <p:cNvPr id="148" name="Text 7"/>
          <p:cNvSpPr/>
          <p:nvPr/>
        </p:nvSpPr>
        <p:spPr>
          <a:xfrm>
            <a:off x="648552" y="2446024"/>
            <a:ext cx="16383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buNone/>
            </a:pPr>
            <a:r>
              <a:rPr lang="en-US" sz="1050" dirty="0" err="1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釐清公司真正的成長賽道</a:t>
            </a:r>
            <a:r>
              <a:rPr lang="en-US" sz="1050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：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zh-TW" sz="1000" dirty="0" err="1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是軟體、平台或服務</a:t>
            </a:r>
            <a:r>
              <a:rPr lang="en-US" altLang="zh-TW" sz="1000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？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zh-TW" sz="1000" dirty="0" err="1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一次性收入或經常性收入</a:t>
            </a:r>
            <a:r>
              <a:rPr lang="en-US" altLang="zh-TW" sz="1000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？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zh-TW" sz="1000" dirty="0" err="1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核心成長</a:t>
            </a:r>
            <a:r>
              <a:rPr lang="zh-TW" altLang="en-US" sz="1000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動能</a:t>
            </a:r>
            <a:r>
              <a:rPr lang="en-US" altLang="zh-TW" sz="1000" dirty="0" err="1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來自哪裡</a:t>
            </a:r>
            <a:r>
              <a:rPr lang="en-US" altLang="zh-TW" sz="1000" dirty="0">
                <a:solidFill>
                  <a:srgbClr val="20212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？</a:t>
            </a:r>
            <a:endParaRPr lang="en-US" altLang="zh-TW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9" name="Text 44"/>
          <p:cNvSpPr/>
          <p:nvPr/>
        </p:nvSpPr>
        <p:spPr>
          <a:xfrm>
            <a:off x="457200" y="4149080"/>
            <a:ext cx="1828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Re-rating </a:t>
            </a:r>
            <a:r>
              <a:rPr lang="en-US" sz="1400" b="1" dirty="0" err="1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如何發生</a:t>
            </a: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？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0" name="Text 45"/>
          <p:cNvSpPr/>
          <p:nvPr/>
        </p:nvSpPr>
        <p:spPr>
          <a:xfrm>
            <a:off x="2175128" y="4176512"/>
            <a:ext cx="24688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需要券商、公司與市場三方共同完成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6" name="群組 5"/>
          <p:cNvGrpSpPr/>
          <p:nvPr/>
        </p:nvGrpSpPr>
        <p:grpSpPr>
          <a:xfrm>
            <a:off x="384048" y="4258808"/>
            <a:ext cx="8330184" cy="1914552"/>
            <a:chOff x="384048" y="4258808"/>
            <a:chExt cx="8330184" cy="1289304"/>
          </a:xfrm>
        </p:grpSpPr>
        <p:sp>
          <p:nvSpPr>
            <p:cNvPr id="151" name="Shape 46"/>
            <p:cNvSpPr/>
            <p:nvPr/>
          </p:nvSpPr>
          <p:spPr>
            <a:xfrm>
              <a:off x="4681728" y="4258808"/>
              <a:ext cx="3886200" cy="0"/>
            </a:xfrm>
            <a:prstGeom prst="line">
              <a:avLst/>
            </a:prstGeom>
            <a:noFill/>
            <a:ln w="12700">
              <a:solidFill>
                <a:srgbClr val="9B7A43"/>
              </a:solidFill>
              <a:prstDash val="solid"/>
            </a:ln>
          </p:spPr>
        </p:sp>
        <p:sp>
          <p:nvSpPr>
            <p:cNvPr id="152" name="Shape 47"/>
            <p:cNvSpPr/>
            <p:nvPr/>
          </p:nvSpPr>
          <p:spPr>
            <a:xfrm>
              <a:off x="384048" y="4496552"/>
              <a:ext cx="2514600" cy="347472"/>
            </a:xfrm>
            <a:prstGeom prst="rect">
              <a:avLst/>
            </a:prstGeom>
            <a:solidFill>
              <a:schemeClr val="accent3">
                <a:lumMod val="95000"/>
              </a:schemeClr>
            </a:solidFill>
            <a:ln w="12700">
              <a:solidFill>
                <a:srgbClr val="F8E8E8">
                  <a:alpha val="0"/>
                </a:srgbClr>
              </a:solidFill>
              <a:prstDash val="solid"/>
            </a:ln>
          </p:spPr>
        </p:sp>
        <p:sp>
          <p:nvSpPr>
            <p:cNvPr id="153" name="Text 48"/>
            <p:cNvSpPr/>
            <p:nvPr/>
          </p:nvSpPr>
          <p:spPr>
            <a:xfrm>
              <a:off x="502920" y="4551416"/>
              <a:ext cx="2286000" cy="13716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券商建立市場理解</a:t>
              </a:r>
              <a:endParaRPr lang="en-US" sz="12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54" name="Text 49"/>
            <p:cNvSpPr/>
            <p:nvPr/>
          </p:nvSpPr>
          <p:spPr>
            <a:xfrm>
              <a:off x="502920" y="4688576"/>
              <a:ext cx="2286000" cy="100584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Market Understanding</a:t>
              </a:r>
              <a:endParaRPr lang="en-US" sz="12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55" name="Shape 50"/>
            <p:cNvSpPr/>
            <p:nvPr/>
          </p:nvSpPr>
          <p:spPr>
            <a:xfrm>
              <a:off x="384048" y="4880600"/>
              <a:ext cx="2514600" cy="667512"/>
            </a:xfrm>
            <a:prstGeom prst="roundRect">
              <a:avLst>
                <a:gd name="adj" fmla="val 4110"/>
              </a:avLst>
            </a:prstGeom>
            <a:solidFill>
              <a:srgbClr val="FFFFFF"/>
            </a:solidFill>
            <a:ln w="7620">
              <a:solidFill>
                <a:srgbClr val="D7D7D7"/>
              </a:solidFill>
              <a:prstDash val="solid"/>
            </a:ln>
          </p:spPr>
        </p:sp>
        <p:sp>
          <p:nvSpPr>
            <p:cNvPr id="156" name="Text 51"/>
            <p:cNvSpPr/>
            <p:nvPr/>
          </p:nvSpPr>
          <p:spPr>
            <a:xfrm>
              <a:off x="530352" y="4972040"/>
              <a:ext cx="1383030" cy="52120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Positioning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Peer Group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Investor Targeting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57" name="Shape 52"/>
            <p:cNvSpPr/>
            <p:nvPr/>
          </p:nvSpPr>
          <p:spPr>
            <a:xfrm>
              <a:off x="1917954" y="5008616"/>
              <a:ext cx="0" cy="0"/>
            </a:xfrm>
            <a:prstGeom prst="line">
              <a:avLst/>
            </a:prstGeom>
            <a:noFill/>
            <a:ln w="12700">
              <a:solidFill>
                <a:srgbClr val="D7D7D7"/>
              </a:solidFill>
              <a:prstDash val="solid"/>
            </a:ln>
          </p:spPr>
        </p:sp>
        <p:sp>
          <p:nvSpPr>
            <p:cNvPr id="158" name="Text 53"/>
            <p:cNvSpPr/>
            <p:nvPr/>
          </p:nvSpPr>
          <p:spPr>
            <a:xfrm>
              <a:off x="1957872" y="5017760"/>
              <a:ext cx="789900" cy="466344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333333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讓市場看見並理解公司價值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59" name="Text 54"/>
            <p:cNvSpPr/>
            <p:nvPr/>
          </p:nvSpPr>
          <p:spPr>
            <a:xfrm>
              <a:off x="2999232" y="5154752"/>
              <a:ext cx="228600" cy="146304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77777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+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0" name="Shape 55"/>
            <p:cNvSpPr/>
            <p:nvPr/>
          </p:nvSpPr>
          <p:spPr>
            <a:xfrm>
              <a:off x="3310128" y="4496552"/>
              <a:ext cx="2514600" cy="347472"/>
            </a:xfrm>
            <a:prstGeom prst="rect">
              <a:avLst/>
            </a:prstGeom>
            <a:solidFill>
              <a:srgbClr val="F8E8E8"/>
            </a:solidFill>
            <a:ln w="12700">
              <a:solidFill>
                <a:srgbClr val="EFE1CA">
                  <a:alpha val="0"/>
                </a:srgbClr>
              </a:solidFill>
              <a:prstDash val="solid"/>
            </a:ln>
          </p:spPr>
        </p:sp>
        <p:sp>
          <p:nvSpPr>
            <p:cNvPr id="161" name="Text 56"/>
            <p:cNvSpPr/>
            <p:nvPr/>
          </p:nvSpPr>
          <p:spPr>
            <a:xfrm>
              <a:off x="3429000" y="4551416"/>
              <a:ext cx="2286000" cy="13716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6D4B1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公司持續交付基本面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2" name="Text 57"/>
            <p:cNvSpPr/>
            <p:nvPr/>
          </p:nvSpPr>
          <p:spPr>
            <a:xfrm>
              <a:off x="3429000" y="4688576"/>
              <a:ext cx="2286000" cy="100584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6D4B1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Fundamental Delivery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3" name="Shape 58"/>
            <p:cNvSpPr/>
            <p:nvPr/>
          </p:nvSpPr>
          <p:spPr>
            <a:xfrm>
              <a:off x="3310128" y="4880600"/>
              <a:ext cx="2514600" cy="667512"/>
            </a:xfrm>
            <a:prstGeom prst="roundRect">
              <a:avLst>
                <a:gd name="adj" fmla="val 4110"/>
              </a:avLst>
            </a:prstGeom>
            <a:solidFill>
              <a:srgbClr val="FFFFFF"/>
            </a:solidFill>
            <a:ln w="7620">
              <a:solidFill>
                <a:srgbClr val="D7D7D7"/>
              </a:solidFill>
              <a:prstDash val="solid"/>
            </a:ln>
          </p:spPr>
        </p:sp>
        <p:sp>
          <p:nvSpPr>
            <p:cNvPr id="164" name="Text 59"/>
            <p:cNvSpPr/>
            <p:nvPr/>
          </p:nvSpPr>
          <p:spPr>
            <a:xfrm>
              <a:off x="3456432" y="4972040"/>
              <a:ext cx="1383030" cy="52120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Revenue/</a:t>
              </a:r>
              <a:r>
                <a:rPr lang="en-US" sz="1200" dirty="0" err="1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KPI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Margin/Cash Flow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Execution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5" name="Shape 60"/>
            <p:cNvSpPr/>
            <p:nvPr/>
          </p:nvSpPr>
          <p:spPr>
            <a:xfrm>
              <a:off x="4844034" y="5008616"/>
              <a:ext cx="0" cy="0"/>
            </a:xfrm>
            <a:prstGeom prst="line">
              <a:avLst/>
            </a:prstGeom>
            <a:noFill/>
            <a:ln w="12700">
              <a:solidFill>
                <a:srgbClr val="D7D7D7"/>
              </a:solidFill>
              <a:prstDash val="solid"/>
            </a:ln>
          </p:spPr>
        </p:sp>
        <p:sp>
          <p:nvSpPr>
            <p:cNvPr id="166" name="Text 61"/>
            <p:cNvSpPr/>
            <p:nvPr/>
          </p:nvSpPr>
          <p:spPr>
            <a:xfrm>
              <a:off x="4883952" y="5017760"/>
              <a:ext cx="789900" cy="466344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333333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用數據驗證投資論點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7" name="Text 62"/>
            <p:cNvSpPr/>
            <p:nvPr/>
          </p:nvSpPr>
          <p:spPr>
            <a:xfrm>
              <a:off x="5897880" y="5154752"/>
              <a:ext cx="274320" cy="146304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77777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→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8" name="Shape 63"/>
            <p:cNvSpPr/>
            <p:nvPr/>
          </p:nvSpPr>
          <p:spPr>
            <a:xfrm>
              <a:off x="6263640" y="4496552"/>
              <a:ext cx="2450592" cy="347472"/>
            </a:xfrm>
            <a:prstGeom prst="rect">
              <a:avLst/>
            </a:prstGeom>
            <a:solidFill>
              <a:srgbClr val="920000"/>
            </a:solidFill>
            <a:ln w="12700">
              <a:solidFill>
                <a:srgbClr val="B00000">
                  <a:alpha val="0"/>
                </a:srgbClr>
              </a:solidFill>
              <a:prstDash val="solid"/>
            </a:ln>
          </p:spPr>
        </p:sp>
        <p:sp>
          <p:nvSpPr>
            <p:cNvPr id="169" name="Text 64"/>
            <p:cNvSpPr/>
            <p:nvPr/>
          </p:nvSpPr>
          <p:spPr>
            <a:xfrm>
              <a:off x="6382512" y="4551416"/>
              <a:ext cx="2221992" cy="13716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市場重新形成預期與價格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0" name="Text 65"/>
            <p:cNvSpPr/>
            <p:nvPr/>
          </p:nvSpPr>
          <p:spPr>
            <a:xfrm>
              <a:off x="6382512" y="4688576"/>
              <a:ext cx="2221992" cy="100584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Market Re-pricing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1" name="Shape 66"/>
            <p:cNvSpPr/>
            <p:nvPr/>
          </p:nvSpPr>
          <p:spPr>
            <a:xfrm>
              <a:off x="6263640" y="4880600"/>
              <a:ext cx="2450592" cy="667512"/>
            </a:xfrm>
            <a:prstGeom prst="roundRect">
              <a:avLst>
                <a:gd name="adj" fmla="val 4110"/>
              </a:avLst>
            </a:prstGeom>
            <a:solidFill>
              <a:srgbClr val="FFFFFF"/>
            </a:solidFill>
            <a:ln w="7620">
              <a:solidFill>
                <a:srgbClr val="D7D7D7"/>
              </a:solidFill>
              <a:prstDash val="solid"/>
            </a:ln>
          </p:spPr>
        </p:sp>
        <p:sp>
          <p:nvSpPr>
            <p:cNvPr id="172" name="Text 67"/>
            <p:cNvSpPr/>
            <p:nvPr/>
          </p:nvSpPr>
          <p:spPr>
            <a:xfrm>
              <a:off x="6409944" y="4972040"/>
              <a:ext cx="1347826" cy="52120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Autofit/>
            </a:bodyPr>
            <a:lstStyle/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Consensus Revision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Investor Acceptance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Price Discovery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3" name="Shape 68"/>
            <p:cNvSpPr/>
            <p:nvPr/>
          </p:nvSpPr>
          <p:spPr>
            <a:xfrm>
              <a:off x="7758501" y="5008616"/>
              <a:ext cx="0" cy="0"/>
            </a:xfrm>
            <a:prstGeom prst="line">
              <a:avLst/>
            </a:prstGeom>
            <a:noFill/>
            <a:ln w="12700">
              <a:solidFill>
                <a:srgbClr val="D7D7D7"/>
              </a:solidFill>
              <a:prstDash val="solid"/>
            </a:ln>
          </p:spPr>
        </p:sp>
        <p:sp>
          <p:nvSpPr>
            <p:cNvPr id="174" name="Text 69"/>
            <p:cNvSpPr/>
            <p:nvPr/>
          </p:nvSpPr>
          <p:spPr>
            <a:xfrm>
              <a:off x="7757770" y="5017760"/>
              <a:ext cx="809427" cy="466344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333333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反映在估值與股價表現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1724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方塊 11"/>
          <p:cNvSpPr txBox="1"/>
          <p:nvPr/>
        </p:nvSpPr>
        <p:spPr>
          <a:xfrm>
            <a:off x="414195" y="1139183"/>
            <a:ext cx="8280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0" indent="-180975">
              <a:lnSpc>
                <a:spcPts val="1800"/>
              </a:lnSpc>
              <a:buFont typeface="Arial" panose="020B0604020202020204" pitchFamily="34" charset="0"/>
              <a:buChar char="•"/>
              <a:defRPr/>
            </a:pPr>
            <a:r>
              <a:rPr lang="zh-TW" altLang="en-US" sz="1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資訊本身不變，但與投資人的溝通會改變市場理解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標題 1"/>
          <p:cNvSpPr txBox="1">
            <a:spLocks/>
          </p:cNvSpPr>
          <p:nvPr/>
        </p:nvSpPr>
        <p:spPr>
          <a:xfrm>
            <a:off x="457200" y="476672"/>
            <a:ext cx="8939336" cy="6334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同一個成長事件，市場如何重新解讀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457200" y="1556792"/>
            <a:ext cx="8175482" cy="438912"/>
            <a:chOff x="475488" y="1556792"/>
            <a:chExt cx="7141464" cy="438912"/>
          </a:xfrm>
        </p:grpSpPr>
        <p:sp>
          <p:nvSpPr>
            <p:cNvPr id="13" name="Text 3"/>
            <p:cNvSpPr/>
            <p:nvPr/>
          </p:nvSpPr>
          <p:spPr>
            <a:xfrm>
              <a:off x="475488" y="1556792"/>
              <a:ext cx="2148840" cy="438912"/>
            </a:xfrm>
            <a:prstGeom prst="rect">
              <a:avLst/>
            </a:prstGeom>
            <a:solidFill>
              <a:srgbClr val="F7F7F7"/>
            </a:solidFill>
            <a:ln w="7620">
              <a:solidFill>
                <a:srgbClr val="DADADA"/>
              </a:solidFill>
            </a:ln>
          </p:spPr>
          <p:txBody>
            <a:bodyPr wrap="square" lIns="1270" tIns="1270" rIns="1270" bIns="127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01  公司語言</a:t>
              </a:r>
              <a:endParaRPr lang="en-US" sz="13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What happened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" name="Text 4"/>
            <p:cNvSpPr/>
            <p:nvPr/>
          </p:nvSpPr>
          <p:spPr>
            <a:xfrm>
              <a:off x="2715768" y="1666520"/>
              <a:ext cx="16459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06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→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5" name="Text 5"/>
            <p:cNvSpPr/>
            <p:nvPr/>
          </p:nvSpPr>
          <p:spPr>
            <a:xfrm>
              <a:off x="2971800" y="1556792"/>
              <a:ext cx="2148840" cy="438912"/>
            </a:xfrm>
            <a:prstGeom prst="rect">
              <a:avLst/>
            </a:prstGeom>
            <a:solidFill>
              <a:schemeClr val="accent3">
                <a:lumMod val="95000"/>
              </a:schemeClr>
            </a:solidFill>
            <a:ln w="7620">
              <a:solidFill>
                <a:srgbClr val="DADADA"/>
              </a:solidFill>
            </a:ln>
          </p:spPr>
          <p:txBody>
            <a:bodyPr wrap="square" lIns="1270" tIns="1270" rIns="1270" bIns="127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02  資本市場語言</a:t>
              </a:r>
              <a:endParaRPr lang="en-US" sz="13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Why it matters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" name="Text 6"/>
            <p:cNvSpPr/>
            <p:nvPr/>
          </p:nvSpPr>
          <p:spPr>
            <a:xfrm>
              <a:off x="5212080" y="1666520"/>
              <a:ext cx="16459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06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→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" name="Text 7"/>
            <p:cNvSpPr/>
            <p:nvPr/>
          </p:nvSpPr>
          <p:spPr>
            <a:xfrm>
              <a:off x="5468112" y="1556792"/>
              <a:ext cx="2148840" cy="438912"/>
            </a:xfrm>
            <a:prstGeom prst="rect">
              <a:avLst/>
            </a:prstGeom>
            <a:solidFill>
              <a:srgbClr val="F7F7F7"/>
            </a:solidFill>
            <a:ln w="7620">
              <a:solidFill>
                <a:srgbClr val="DADADA"/>
              </a:solidFill>
            </a:ln>
          </p:spPr>
          <p:txBody>
            <a:bodyPr wrap="square" lIns="1270" tIns="1270" rIns="1270" bIns="127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03  驗證重點</a:t>
              </a:r>
              <a:endParaRPr lang="en-US" sz="13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What to track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5" name="群組 4"/>
          <p:cNvGrpSpPr/>
          <p:nvPr/>
        </p:nvGrpSpPr>
        <p:grpSpPr>
          <a:xfrm>
            <a:off x="395536" y="2250592"/>
            <a:ext cx="8250064" cy="3122624"/>
            <a:chOff x="395536" y="2178584"/>
            <a:chExt cx="8250064" cy="2926080"/>
          </a:xfrm>
        </p:grpSpPr>
        <p:sp>
          <p:nvSpPr>
            <p:cNvPr id="18" name="Text 8"/>
            <p:cNvSpPr/>
            <p:nvPr/>
          </p:nvSpPr>
          <p:spPr>
            <a:xfrm>
              <a:off x="724720" y="2178584"/>
              <a:ext cx="2039112" cy="311175"/>
            </a:xfrm>
            <a:prstGeom prst="rect">
              <a:avLst/>
            </a:prstGeom>
            <a:solidFill>
              <a:srgbClr val="920000"/>
            </a:solidFill>
            <a:ln w="7620">
              <a:solidFill>
                <a:srgbClr val="B40000"/>
              </a:solidFill>
            </a:ln>
          </p:spPr>
          <p:txBody>
            <a:bodyPr wrap="square" lIns="1016" tIns="1016" rIns="1016" bIns="1016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公司語言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" name="Text 9"/>
            <p:cNvSpPr/>
            <p:nvPr/>
          </p:nvSpPr>
          <p:spPr>
            <a:xfrm>
              <a:off x="2900992" y="2178584"/>
              <a:ext cx="3769584" cy="311175"/>
            </a:xfrm>
            <a:prstGeom prst="rect">
              <a:avLst/>
            </a:prstGeom>
            <a:solidFill>
              <a:srgbClr val="920000"/>
            </a:solidFill>
            <a:ln w="7620">
              <a:solidFill>
                <a:srgbClr val="B40000"/>
              </a:solidFill>
            </a:ln>
          </p:spPr>
          <p:txBody>
            <a:bodyPr wrap="square" lIns="1016" tIns="1016" rIns="1016" bIns="1016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資本市場語言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" name="Text 10"/>
            <p:cNvSpPr/>
            <p:nvPr/>
          </p:nvSpPr>
          <p:spPr>
            <a:xfrm>
              <a:off x="6814592" y="2178584"/>
              <a:ext cx="1831008" cy="311175"/>
            </a:xfrm>
            <a:prstGeom prst="rect">
              <a:avLst/>
            </a:prstGeom>
            <a:solidFill>
              <a:srgbClr val="920000"/>
            </a:solidFill>
            <a:ln w="7620">
              <a:solidFill>
                <a:srgbClr val="B40000"/>
              </a:solidFill>
            </a:ln>
          </p:spPr>
          <p:txBody>
            <a:bodyPr wrap="square" lIns="1016" tIns="1016" rIns="1016" bIns="1016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投資人驗證重點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" name="Text 11"/>
            <p:cNvSpPr/>
            <p:nvPr/>
          </p:nvSpPr>
          <p:spPr>
            <a:xfrm>
              <a:off x="395536" y="2681504"/>
              <a:ext cx="329184" cy="557784"/>
            </a:xfrm>
            <a:prstGeom prst="rect">
              <a:avLst/>
            </a:prstGeom>
            <a:solidFill>
              <a:srgbClr val="F8E9E9"/>
            </a:solidFill>
            <a:ln w="5080">
              <a:solidFill>
                <a:srgbClr val="FFFFFF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B4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1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" name="Text 12"/>
            <p:cNvSpPr/>
            <p:nvPr/>
          </p:nvSpPr>
          <p:spPr>
            <a:xfrm>
              <a:off x="724720" y="2681504"/>
              <a:ext cx="2039112" cy="557784"/>
            </a:xfrm>
            <a:prstGeom prst="rect">
              <a:avLst/>
            </a:prstGeom>
            <a:solidFill>
              <a:srgbClr val="F7F7F7"/>
            </a:solidFill>
            <a:ln w="5080">
              <a:solidFill>
                <a:srgbClr val="FFFFFF"/>
              </a:solidFill>
            </a:ln>
          </p:spPr>
          <p:txBody>
            <a:bodyPr wrap="square" lIns="2032" tIns="2032" rIns="2032" bIns="203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產能擴充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新增產線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3" name="Text 13"/>
            <p:cNvSpPr/>
            <p:nvPr/>
          </p:nvSpPr>
          <p:spPr>
            <a:xfrm>
              <a:off x="2900992" y="2681504"/>
              <a:ext cx="3769584" cy="557784"/>
            </a:xfrm>
            <a:prstGeom prst="rect">
              <a:avLst/>
            </a:prstGeom>
            <a:solidFill>
              <a:schemeClr val="accent3">
                <a:lumMod val="95000"/>
              </a:schemeClr>
            </a:solidFill>
            <a:ln w="5080">
              <a:solidFill>
                <a:srgbClr val="FFFFFF"/>
              </a:solidFill>
            </a:ln>
          </p:spPr>
          <p:txBody>
            <a:bodyPr wrap="square" lIns="1651" tIns="1651" rIns="1651" bIns="1651" rtlCol="0" anchor="ctr">
              <a:normAutofit/>
            </a:bodyPr>
            <a:lstStyle/>
            <a:p>
              <a:pPr marL="0" indent="0" algn="just">
                <a:buNone/>
              </a:pPr>
              <a:r>
                <a:rPr lang="zh-TW" altLang="en-US" sz="1200" b="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產能擴充若由客戶需求與新產品放量驅動，市場將關注其是否形成下一階段營收成長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4" name="Text 14"/>
            <p:cNvSpPr/>
            <p:nvPr/>
          </p:nvSpPr>
          <p:spPr>
            <a:xfrm>
              <a:off x="6814592" y="2681504"/>
              <a:ext cx="1831008" cy="557784"/>
            </a:xfrm>
            <a:prstGeom prst="rect">
              <a:avLst/>
            </a:prstGeom>
            <a:solidFill>
              <a:srgbClr val="F7F7F7"/>
            </a:solidFill>
            <a:ln w="5080">
              <a:solidFill>
                <a:srgbClr val="FFFFFF"/>
              </a:solidFill>
            </a:ln>
          </p:spPr>
          <p:txBody>
            <a:bodyPr wrap="square" lIns="1651" tIns="1651" rIns="1651" bIns="1651" rtlCol="0" anchor="ctr">
              <a:normAutofit/>
            </a:bodyPr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150" b="0" dirty="0" err="1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產能利用率</a:t>
              </a:r>
              <a:endParaRPr lang="en-US" sz="115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150" b="0" dirty="0" err="1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訂單覆蓋率</a:t>
              </a:r>
              <a:endParaRPr lang="en-US" sz="115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150" b="0" dirty="0" err="1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毛利率變化</a:t>
              </a:r>
              <a:endParaRPr lang="en-US" sz="115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5" name="Text 15"/>
            <p:cNvSpPr/>
            <p:nvPr/>
          </p:nvSpPr>
          <p:spPr>
            <a:xfrm>
              <a:off x="395536" y="3303296"/>
              <a:ext cx="329184" cy="557784"/>
            </a:xfrm>
            <a:prstGeom prst="rect">
              <a:avLst/>
            </a:prstGeom>
            <a:solidFill>
              <a:srgbClr val="F8E9E9"/>
            </a:solidFill>
            <a:ln w="5080">
              <a:solidFill>
                <a:srgbClr val="FFFFFF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B4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2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6" name="Text 16"/>
            <p:cNvSpPr/>
            <p:nvPr/>
          </p:nvSpPr>
          <p:spPr>
            <a:xfrm>
              <a:off x="724720" y="3303296"/>
              <a:ext cx="2039112" cy="557784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FFFFFF"/>
              </a:solidFill>
            </a:ln>
          </p:spPr>
          <p:txBody>
            <a:bodyPr wrap="square" lIns="2032" tIns="2032" rIns="2032" bIns="203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客戶擴張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滲透率提升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7" name="Text 17"/>
            <p:cNvSpPr/>
            <p:nvPr/>
          </p:nvSpPr>
          <p:spPr>
            <a:xfrm>
              <a:off x="2900992" y="3303296"/>
              <a:ext cx="3769584" cy="557784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FFFFFF"/>
              </a:solidFill>
            </a:ln>
          </p:spPr>
          <p:txBody>
            <a:bodyPr wrap="square" lIns="1651" tIns="1651" rIns="1651" bIns="1651" rtlCol="0" anchor="ctr">
              <a:normAutofit/>
            </a:bodyPr>
            <a:lstStyle/>
            <a:p>
              <a:pPr marL="0" indent="0" algn="just">
                <a:buNone/>
              </a:pPr>
              <a:r>
                <a:rPr lang="zh-TW" altLang="en-US" sz="1200" b="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客戶基礎擴大與既有客戶持續採用，是否帶動單客價值、續約與營收可預測性提升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8" name="Text 18"/>
            <p:cNvSpPr/>
            <p:nvPr/>
          </p:nvSpPr>
          <p:spPr>
            <a:xfrm>
              <a:off x="6814592" y="3303296"/>
              <a:ext cx="1831008" cy="557784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FFFFFF"/>
              </a:solidFill>
            </a:ln>
          </p:spPr>
          <p:txBody>
            <a:bodyPr wrap="square" lIns="1651" tIns="1651" rIns="1651" bIns="1651" rtlCol="0" anchor="ctr">
              <a:normAutofit/>
            </a:bodyPr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150" b="0" dirty="0" err="1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客戶成長</a:t>
              </a:r>
              <a:endParaRPr lang="en-US" sz="115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150" b="0" dirty="0" err="1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ARPU</a:t>
              </a:r>
              <a:r>
                <a:rPr lang="en-US" sz="1150" b="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/</a:t>
              </a:r>
              <a:r>
                <a:rPr lang="en-US" sz="1150" b="0" dirty="0" err="1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客單價</a:t>
              </a:r>
              <a:endParaRPr lang="en-US" sz="115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150" b="0" dirty="0" err="1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續約與留存</a:t>
              </a:r>
              <a:endParaRPr lang="en-US" sz="115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9" name="Text 19"/>
            <p:cNvSpPr/>
            <p:nvPr/>
          </p:nvSpPr>
          <p:spPr>
            <a:xfrm>
              <a:off x="395536" y="3925088"/>
              <a:ext cx="329184" cy="557784"/>
            </a:xfrm>
            <a:prstGeom prst="rect">
              <a:avLst/>
            </a:prstGeom>
            <a:solidFill>
              <a:srgbClr val="F8E9E9"/>
            </a:solidFill>
            <a:ln w="5080">
              <a:solidFill>
                <a:srgbClr val="FFFFFF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B4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3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0" name="Text 20"/>
            <p:cNvSpPr/>
            <p:nvPr/>
          </p:nvSpPr>
          <p:spPr>
            <a:xfrm>
              <a:off x="724720" y="3925088"/>
              <a:ext cx="2039112" cy="557784"/>
            </a:xfrm>
            <a:prstGeom prst="rect">
              <a:avLst/>
            </a:prstGeom>
            <a:solidFill>
              <a:srgbClr val="F7F7F7"/>
            </a:solidFill>
            <a:ln w="5080">
              <a:solidFill>
                <a:srgbClr val="FFFFFF"/>
              </a:solidFill>
            </a:ln>
          </p:spPr>
          <p:txBody>
            <a:bodyPr wrap="square" lIns="2032" tIns="2032" rIns="2032" bIns="203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用戶成長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App下載破百萬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1" name="Text 21"/>
            <p:cNvSpPr/>
            <p:nvPr/>
          </p:nvSpPr>
          <p:spPr>
            <a:xfrm>
              <a:off x="2900992" y="3925088"/>
              <a:ext cx="3769584" cy="557784"/>
            </a:xfrm>
            <a:prstGeom prst="rect">
              <a:avLst/>
            </a:prstGeom>
            <a:solidFill>
              <a:schemeClr val="accent3">
                <a:lumMod val="95000"/>
              </a:schemeClr>
            </a:solidFill>
            <a:ln w="5080">
              <a:solidFill>
                <a:srgbClr val="FFFFFF"/>
              </a:solidFill>
            </a:ln>
          </p:spPr>
          <p:txBody>
            <a:bodyPr wrap="square" lIns="1651" tIns="1651" rIns="1651" bIns="1651" rtlCol="0" anchor="ctr">
              <a:normAutofit/>
            </a:bodyPr>
            <a:lstStyle/>
            <a:p>
              <a:pPr marL="0" indent="0" algn="just">
                <a:buNone/>
              </a:pPr>
              <a:r>
                <a:rPr lang="en-US" sz="1200" b="0" dirty="0" err="1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流量規模能否轉化為活躍度、留存率與付費變現，而非停留在下載量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2" name="Text 22"/>
            <p:cNvSpPr/>
            <p:nvPr/>
          </p:nvSpPr>
          <p:spPr>
            <a:xfrm>
              <a:off x="6814592" y="3925088"/>
              <a:ext cx="1831008" cy="557784"/>
            </a:xfrm>
            <a:prstGeom prst="rect">
              <a:avLst/>
            </a:prstGeom>
            <a:solidFill>
              <a:srgbClr val="F7F7F7"/>
            </a:solidFill>
            <a:ln w="5080">
              <a:solidFill>
                <a:srgbClr val="FFFFFF"/>
              </a:solidFill>
            </a:ln>
          </p:spPr>
          <p:txBody>
            <a:bodyPr wrap="square" lIns="1651" tIns="1651" rIns="1651" bIns="1651" rtlCol="0" anchor="ctr">
              <a:normAutofit/>
            </a:bodyPr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150" b="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MAU/</a:t>
              </a:r>
              <a:r>
                <a:rPr lang="en-US" sz="1150" b="0" dirty="0" err="1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DAU</a:t>
              </a:r>
              <a:endParaRPr lang="en-US" sz="115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150" b="0" dirty="0" err="1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留存率</a:t>
              </a:r>
              <a:endParaRPr lang="en-US" sz="115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150" b="0" dirty="0" err="1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付費率</a:t>
              </a:r>
              <a:endParaRPr lang="en-US" sz="115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3" name="Text 23"/>
            <p:cNvSpPr/>
            <p:nvPr/>
          </p:nvSpPr>
          <p:spPr>
            <a:xfrm>
              <a:off x="395536" y="4546880"/>
              <a:ext cx="329184" cy="557784"/>
            </a:xfrm>
            <a:prstGeom prst="rect">
              <a:avLst/>
            </a:prstGeom>
            <a:solidFill>
              <a:srgbClr val="F8E9E9"/>
            </a:solidFill>
            <a:ln w="5080">
              <a:solidFill>
                <a:srgbClr val="FFFFFF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B4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4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4" name="Text 24"/>
            <p:cNvSpPr/>
            <p:nvPr/>
          </p:nvSpPr>
          <p:spPr>
            <a:xfrm>
              <a:off x="724720" y="4546880"/>
              <a:ext cx="2039112" cy="557784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FFFFFF"/>
              </a:solidFill>
            </a:ln>
          </p:spPr>
          <p:txBody>
            <a:bodyPr wrap="square" lIns="2032" tIns="2032" rIns="2032" bIns="203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AI 商業化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功能正式收費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5" name="Text 25"/>
            <p:cNvSpPr/>
            <p:nvPr/>
          </p:nvSpPr>
          <p:spPr>
            <a:xfrm>
              <a:off x="2900992" y="4546880"/>
              <a:ext cx="3769584" cy="557784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FFFFFF"/>
              </a:solidFill>
            </a:ln>
          </p:spPr>
          <p:txBody>
            <a:bodyPr wrap="square" lIns="1651" tIns="1651" rIns="1651" bIns="1651" rtlCol="0" anchor="ctr">
              <a:normAutofit/>
            </a:bodyPr>
            <a:lstStyle/>
            <a:p>
              <a:pPr marL="0" indent="0" algn="just">
                <a:buNone/>
              </a:pPr>
              <a:r>
                <a:rPr lang="en-US" sz="1200" b="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AI </a:t>
              </a:r>
              <a:r>
                <a:rPr lang="en-US" sz="1200" b="0" dirty="0" err="1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功能若能提升單客價值、留存或毛利，才可能形成新的成長敘事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6" name="Text 26"/>
            <p:cNvSpPr/>
            <p:nvPr/>
          </p:nvSpPr>
          <p:spPr>
            <a:xfrm>
              <a:off x="6814592" y="4546880"/>
              <a:ext cx="1831008" cy="557784"/>
            </a:xfrm>
            <a:prstGeom prst="rect">
              <a:avLst/>
            </a:prstGeom>
            <a:solidFill>
              <a:srgbClr val="FFFFFF"/>
            </a:solidFill>
            <a:ln w="5080">
              <a:solidFill>
                <a:srgbClr val="FFFFFF"/>
              </a:solidFill>
            </a:ln>
          </p:spPr>
          <p:txBody>
            <a:bodyPr wrap="square" lIns="1651" tIns="1651" rIns="1651" bIns="1651" rtlCol="0" anchor="ctr">
              <a:normAutofit/>
            </a:bodyPr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150" b="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AI 使用率</a:t>
              </a:r>
              <a:endParaRPr lang="en-US" sz="115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150" b="0" dirty="0" err="1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ARPU</a:t>
              </a:r>
              <a:r>
                <a:rPr lang="en-US" sz="1150" b="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 影響</a:t>
              </a:r>
              <a:endParaRPr lang="en-US" sz="115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150" b="0" dirty="0" err="1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毛利率影響</a:t>
              </a:r>
              <a:endParaRPr lang="en-US" sz="115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44" name="Text 29"/>
          <p:cNvSpPr/>
          <p:nvPr/>
        </p:nvSpPr>
        <p:spPr>
          <a:xfrm>
            <a:off x="1558008" y="5577840"/>
            <a:ext cx="7074675" cy="512064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">
            <a:solidFill>
              <a:srgbClr val="F9EEE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TW" alt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      </a:t>
            </a:r>
            <a:r>
              <a:rPr lang="en-US" sz="1200" b="1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資本市場不只問「你做了什麼</a:t>
            </a:r>
            <a:r>
              <a:rPr 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」，</a:t>
            </a:r>
            <a:r>
              <a:rPr lang="en-US" sz="1200" b="1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更在意這件事能否轉化為可追蹤的營運成果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Shape 30"/>
          <p:cNvSpPr/>
          <p:nvPr/>
        </p:nvSpPr>
        <p:spPr>
          <a:xfrm>
            <a:off x="395536" y="5577840"/>
            <a:ext cx="0" cy="512064"/>
          </a:xfrm>
          <a:prstGeom prst="line">
            <a:avLst/>
          </a:prstGeom>
          <a:noFill/>
          <a:ln w="38100">
            <a:solidFill>
              <a:srgbClr val="B40000"/>
            </a:solidFill>
            <a:prstDash val="solid"/>
          </a:ln>
        </p:spPr>
      </p:sp>
      <p:sp>
        <p:nvSpPr>
          <p:cNvPr id="42" name="Text 27"/>
          <p:cNvSpPr/>
          <p:nvPr/>
        </p:nvSpPr>
        <p:spPr>
          <a:xfrm>
            <a:off x="395536" y="5577840"/>
            <a:ext cx="1368152" cy="512064"/>
          </a:xfrm>
          <a:prstGeom prst="rect">
            <a:avLst/>
          </a:prstGeom>
          <a:solidFill>
            <a:srgbClr val="F9EEEE"/>
          </a:solidFill>
          <a:ln w="1270">
            <a:solidFill>
              <a:srgbClr val="F9EEEE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關鍵</a:t>
            </a:r>
            <a:r>
              <a:rPr lang="zh-TW" altLang="en-US" sz="12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解讀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8740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0"/>
          <p:cNvSpPr/>
          <p:nvPr/>
        </p:nvSpPr>
        <p:spPr>
          <a:xfrm>
            <a:off x="3615208" y="3200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0" name="Text 2"/>
          <p:cNvSpPr/>
          <p:nvPr/>
        </p:nvSpPr>
        <p:spPr>
          <a:xfrm>
            <a:off x="3615208" y="8961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1" name="Text 3"/>
          <p:cNvSpPr/>
          <p:nvPr/>
        </p:nvSpPr>
        <p:spPr>
          <a:xfrm>
            <a:off x="457200" y="17099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" name="群組 2"/>
          <p:cNvGrpSpPr/>
          <p:nvPr/>
        </p:nvGrpSpPr>
        <p:grpSpPr>
          <a:xfrm>
            <a:off x="457200" y="2156816"/>
            <a:ext cx="8229600" cy="3072384"/>
            <a:chOff x="457200" y="2156816"/>
            <a:chExt cx="8229600" cy="3072384"/>
          </a:xfrm>
        </p:grpSpPr>
        <p:sp>
          <p:nvSpPr>
            <p:cNvPr id="102" name="Shape 4"/>
            <p:cNvSpPr/>
            <p:nvPr/>
          </p:nvSpPr>
          <p:spPr>
            <a:xfrm>
              <a:off x="457200" y="2156816"/>
              <a:ext cx="1645920" cy="329184"/>
            </a:xfrm>
            <a:prstGeom prst="rect">
              <a:avLst/>
            </a:prstGeom>
            <a:solidFill>
              <a:srgbClr val="920000"/>
            </a:solidFill>
            <a:ln w="12700">
              <a:solidFill>
                <a:srgbClr val="B00000">
                  <a:alpha val="0"/>
                </a:srgbClr>
              </a:solidFill>
              <a:prstDash val="solid"/>
            </a:ln>
          </p:spPr>
        </p:sp>
        <p:sp>
          <p:nvSpPr>
            <p:cNvPr id="103" name="Text 5"/>
            <p:cNvSpPr/>
            <p:nvPr/>
          </p:nvSpPr>
          <p:spPr>
            <a:xfrm>
              <a:off x="530352" y="2257400"/>
              <a:ext cx="1499616" cy="91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just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投資人問題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4" name="Shape 6"/>
            <p:cNvSpPr/>
            <p:nvPr/>
          </p:nvSpPr>
          <p:spPr>
            <a:xfrm>
              <a:off x="2103120" y="2156816"/>
              <a:ext cx="2011680" cy="329184"/>
            </a:xfrm>
            <a:prstGeom prst="rect">
              <a:avLst/>
            </a:prstGeom>
            <a:solidFill>
              <a:srgbClr val="920000"/>
            </a:solidFill>
            <a:ln w="12700">
              <a:solidFill>
                <a:srgbClr val="B00000">
                  <a:alpha val="0"/>
                </a:srgbClr>
              </a:solidFill>
              <a:prstDash val="solid"/>
            </a:ln>
          </p:spPr>
        </p:sp>
        <p:sp>
          <p:nvSpPr>
            <p:cNvPr id="105" name="Text 7"/>
            <p:cNvSpPr/>
            <p:nvPr/>
          </p:nvSpPr>
          <p:spPr>
            <a:xfrm>
              <a:off x="2176272" y="2257400"/>
              <a:ext cx="1865376" cy="91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真正想驗證什麼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6" name="Shape 8"/>
            <p:cNvSpPr/>
            <p:nvPr/>
          </p:nvSpPr>
          <p:spPr>
            <a:xfrm>
              <a:off x="4114800" y="2156816"/>
              <a:ext cx="4572000" cy="329184"/>
            </a:xfrm>
            <a:prstGeom prst="rect">
              <a:avLst/>
            </a:prstGeom>
            <a:solidFill>
              <a:srgbClr val="920000"/>
            </a:solidFill>
            <a:ln w="12700">
              <a:solidFill>
                <a:srgbClr val="B00000">
                  <a:alpha val="0"/>
                </a:srgbClr>
              </a:solidFill>
              <a:prstDash val="solid"/>
            </a:ln>
          </p:spPr>
        </p:sp>
        <p:sp>
          <p:nvSpPr>
            <p:cNvPr id="107" name="Text 9"/>
            <p:cNvSpPr/>
            <p:nvPr/>
          </p:nvSpPr>
          <p:spPr>
            <a:xfrm>
              <a:off x="4187952" y="2257400"/>
              <a:ext cx="4425696" cy="91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200" b="1" dirty="0" err="1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公司要準備的</a:t>
              </a:r>
              <a:r>
                <a:rPr lang="zh-TW" altLang="en-US" sz="12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資訊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8" name="Shape 10"/>
            <p:cNvSpPr/>
            <p:nvPr/>
          </p:nvSpPr>
          <p:spPr>
            <a:xfrm>
              <a:off x="457200" y="2486000"/>
              <a:ext cx="1645920" cy="548640"/>
            </a:xfrm>
            <a:prstGeom prst="rect">
              <a:avLst/>
            </a:prstGeom>
            <a:solidFill>
              <a:srgbClr val="F4F4F4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09" name="Shape 11"/>
            <p:cNvSpPr/>
            <p:nvPr/>
          </p:nvSpPr>
          <p:spPr>
            <a:xfrm>
              <a:off x="2103120" y="2486000"/>
              <a:ext cx="2011680" cy="548640"/>
            </a:xfrm>
            <a:prstGeom prst="rect">
              <a:avLst/>
            </a:prstGeom>
            <a:solidFill>
              <a:srgbClr val="F4F4F4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10" name="Shape 12"/>
            <p:cNvSpPr/>
            <p:nvPr/>
          </p:nvSpPr>
          <p:spPr>
            <a:xfrm>
              <a:off x="4114800" y="2486000"/>
              <a:ext cx="4572000" cy="548640"/>
            </a:xfrm>
            <a:prstGeom prst="rect">
              <a:avLst/>
            </a:prstGeom>
            <a:solidFill>
              <a:srgbClr val="F4F4F4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11" name="Shape 13"/>
            <p:cNvSpPr/>
            <p:nvPr/>
          </p:nvSpPr>
          <p:spPr>
            <a:xfrm>
              <a:off x="457200" y="2486000"/>
              <a:ext cx="45720" cy="548640"/>
            </a:xfrm>
            <a:prstGeom prst="rect">
              <a:avLst/>
            </a:prstGeom>
            <a:solidFill>
              <a:srgbClr val="920000"/>
            </a:solidFill>
            <a:ln w="12700">
              <a:solidFill>
                <a:srgbClr val="920000">
                  <a:alpha val="0"/>
                </a:srgbClr>
              </a:solidFill>
              <a:prstDash val="solid"/>
            </a:ln>
          </p:spPr>
        </p:sp>
        <p:sp>
          <p:nvSpPr>
            <p:cNvPr id="112" name="Text 14"/>
            <p:cNvSpPr/>
            <p:nvPr/>
          </p:nvSpPr>
          <p:spPr>
            <a:xfrm>
              <a:off x="566928" y="2571760"/>
              <a:ext cx="194767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Why this company?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4" name="Text 16"/>
            <p:cNvSpPr/>
            <p:nvPr/>
          </p:nvSpPr>
          <p:spPr>
            <a:xfrm>
              <a:off x="2194560" y="2659736"/>
              <a:ext cx="18288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200" b="1" dirty="0" err="1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公司</a:t>
              </a:r>
              <a:r>
                <a:rPr lang="zh-TW" altLang="en-US" sz="1200" b="1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為</a:t>
              </a:r>
              <a:r>
                <a:rPr lang="en-US" sz="1200" b="1" dirty="0" err="1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什麼值得關注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5" name="Text 17"/>
            <p:cNvSpPr/>
            <p:nvPr/>
          </p:nvSpPr>
          <p:spPr>
            <a:xfrm>
              <a:off x="4242816" y="2623160"/>
              <a:ext cx="43159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產品差異化、核心客戶、技術</a:t>
              </a:r>
              <a:r>
                <a:rPr lang="en-US" altLang="zh-TW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/</a:t>
              </a: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資料</a:t>
              </a:r>
              <a:r>
                <a:rPr lang="en-US" altLang="zh-TW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/</a:t>
              </a: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經銷優勢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6" name="Shape 18"/>
            <p:cNvSpPr/>
            <p:nvPr/>
          </p:nvSpPr>
          <p:spPr>
            <a:xfrm>
              <a:off x="457200" y="3034640"/>
              <a:ext cx="1645920" cy="548640"/>
            </a:xfrm>
            <a:prstGeom prst="rect">
              <a:avLst/>
            </a:prstGeom>
            <a:solidFill>
              <a:srgbClr val="FAFAFA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17" name="Shape 19"/>
            <p:cNvSpPr/>
            <p:nvPr/>
          </p:nvSpPr>
          <p:spPr>
            <a:xfrm>
              <a:off x="2103120" y="3034640"/>
              <a:ext cx="2011680" cy="548640"/>
            </a:xfrm>
            <a:prstGeom prst="rect">
              <a:avLst/>
            </a:prstGeom>
            <a:solidFill>
              <a:srgbClr val="FAFAFA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18" name="Shape 20"/>
            <p:cNvSpPr/>
            <p:nvPr/>
          </p:nvSpPr>
          <p:spPr>
            <a:xfrm>
              <a:off x="4114800" y="3034640"/>
              <a:ext cx="4572000" cy="548640"/>
            </a:xfrm>
            <a:prstGeom prst="rect">
              <a:avLst/>
            </a:prstGeom>
            <a:solidFill>
              <a:srgbClr val="FAFAFA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19" name="Shape 21"/>
            <p:cNvSpPr/>
            <p:nvPr/>
          </p:nvSpPr>
          <p:spPr>
            <a:xfrm>
              <a:off x="457200" y="3034640"/>
              <a:ext cx="45720" cy="548640"/>
            </a:xfrm>
            <a:prstGeom prst="rect">
              <a:avLst/>
            </a:prstGeom>
            <a:solidFill>
              <a:srgbClr val="920000"/>
            </a:solidFill>
            <a:ln w="12700">
              <a:solidFill>
                <a:srgbClr val="920000">
                  <a:alpha val="0"/>
                </a:srgbClr>
              </a:solidFill>
              <a:prstDash val="solid"/>
            </a:ln>
          </p:spPr>
        </p:sp>
        <p:sp>
          <p:nvSpPr>
            <p:cNvPr id="120" name="Text 22"/>
            <p:cNvSpPr/>
            <p:nvPr/>
          </p:nvSpPr>
          <p:spPr>
            <a:xfrm>
              <a:off x="566928" y="3135224"/>
              <a:ext cx="141732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just">
                <a:buNone/>
              </a:pPr>
              <a:r>
                <a:rPr lang="en-US" sz="1200" b="1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Why this industry?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2" name="Text 24"/>
            <p:cNvSpPr/>
            <p:nvPr/>
          </p:nvSpPr>
          <p:spPr>
            <a:xfrm>
              <a:off x="2194560" y="3208376"/>
              <a:ext cx="18288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產業是否有足夠成長空間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3" name="Text 25"/>
            <p:cNvSpPr/>
            <p:nvPr/>
          </p:nvSpPr>
          <p:spPr>
            <a:xfrm>
              <a:off x="4242816" y="3171800"/>
              <a:ext cx="43159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altLang="zh-TW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TAM</a:t>
              </a: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、產業成長率、滲透率、競爭格局、結構性因素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4" name="Shape 26"/>
            <p:cNvSpPr/>
            <p:nvPr/>
          </p:nvSpPr>
          <p:spPr>
            <a:xfrm>
              <a:off x="457200" y="3583280"/>
              <a:ext cx="1645920" cy="548640"/>
            </a:xfrm>
            <a:prstGeom prst="rect">
              <a:avLst/>
            </a:prstGeom>
            <a:solidFill>
              <a:srgbClr val="F4F4F4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25" name="Shape 27"/>
            <p:cNvSpPr/>
            <p:nvPr/>
          </p:nvSpPr>
          <p:spPr>
            <a:xfrm>
              <a:off x="2103120" y="3583280"/>
              <a:ext cx="2011680" cy="548640"/>
            </a:xfrm>
            <a:prstGeom prst="rect">
              <a:avLst/>
            </a:prstGeom>
            <a:solidFill>
              <a:srgbClr val="F4F4F4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26" name="Shape 28"/>
            <p:cNvSpPr/>
            <p:nvPr/>
          </p:nvSpPr>
          <p:spPr>
            <a:xfrm>
              <a:off x="4114800" y="3583280"/>
              <a:ext cx="4572000" cy="548640"/>
            </a:xfrm>
            <a:prstGeom prst="rect">
              <a:avLst/>
            </a:prstGeom>
            <a:solidFill>
              <a:srgbClr val="F4F4F4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27" name="Shape 29"/>
            <p:cNvSpPr/>
            <p:nvPr/>
          </p:nvSpPr>
          <p:spPr>
            <a:xfrm>
              <a:off x="457200" y="3583280"/>
              <a:ext cx="45720" cy="548640"/>
            </a:xfrm>
            <a:prstGeom prst="rect">
              <a:avLst/>
            </a:prstGeom>
            <a:solidFill>
              <a:srgbClr val="920000"/>
            </a:solidFill>
            <a:ln w="12700">
              <a:solidFill>
                <a:srgbClr val="920000">
                  <a:alpha val="0"/>
                </a:srgbClr>
              </a:solidFill>
              <a:prstDash val="solid"/>
            </a:ln>
          </p:spPr>
        </p:sp>
        <p:sp>
          <p:nvSpPr>
            <p:cNvPr id="128" name="Text 30"/>
            <p:cNvSpPr/>
            <p:nvPr/>
          </p:nvSpPr>
          <p:spPr>
            <a:xfrm>
              <a:off x="566928" y="3683864"/>
              <a:ext cx="141732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just">
                <a:buNone/>
              </a:pPr>
              <a:r>
                <a:rPr lang="en-US" sz="1200" b="1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Why now?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0" name="Text 32"/>
            <p:cNvSpPr/>
            <p:nvPr/>
          </p:nvSpPr>
          <p:spPr>
            <a:xfrm>
              <a:off x="2194560" y="3757016"/>
              <a:ext cx="18288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200" b="1" dirty="0" err="1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成長催化劑是否發生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1" name="Text 33"/>
            <p:cNvSpPr/>
            <p:nvPr/>
          </p:nvSpPr>
          <p:spPr>
            <a:xfrm>
              <a:off x="4242816" y="3720440"/>
              <a:ext cx="43159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新品放量、客戶導入、政策</a:t>
              </a:r>
              <a:r>
                <a:rPr lang="en-US" altLang="zh-TW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/</a:t>
              </a: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技術轉折、需求轉捩點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2" name="Shape 34"/>
            <p:cNvSpPr/>
            <p:nvPr/>
          </p:nvSpPr>
          <p:spPr>
            <a:xfrm>
              <a:off x="457200" y="4131920"/>
              <a:ext cx="1645920" cy="548640"/>
            </a:xfrm>
            <a:prstGeom prst="rect">
              <a:avLst/>
            </a:prstGeom>
            <a:solidFill>
              <a:srgbClr val="FAFAFA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33" name="Shape 35"/>
            <p:cNvSpPr/>
            <p:nvPr/>
          </p:nvSpPr>
          <p:spPr>
            <a:xfrm>
              <a:off x="2103120" y="4131920"/>
              <a:ext cx="2011680" cy="548640"/>
            </a:xfrm>
            <a:prstGeom prst="rect">
              <a:avLst/>
            </a:prstGeom>
            <a:solidFill>
              <a:srgbClr val="FAFAFA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34" name="Shape 36"/>
            <p:cNvSpPr/>
            <p:nvPr/>
          </p:nvSpPr>
          <p:spPr>
            <a:xfrm>
              <a:off x="4114800" y="4131920"/>
              <a:ext cx="4572000" cy="548640"/>
            </a:xfrm>
            <a:prstGeom prst="rect">
              <a:avLst/>
            </a:prstGeom>
            <a:solidFill>
              <a:srgbClr val="FAFAFA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35" name="Shape 37"/>
            <p:cNvSpPr/>
            <p:nvPr/>
          </p:nvSpPr>
          <p:spPr>
            <a:xfrm>
              <a:off x="457200" y="4131920"/>
              <a:ext cx="45720" cy="548640"/>
            </a:xfrm>
            <a:prstGeom prst="rect">
              <a:avLst/>
            </a:prstGeom>
            <a:solidFill>
              <a:srgbClr val="920000"/>
            </a:solidFill>
            <a:ln w="12700">
              <a:solidFill>
                <a:srgbClr val="920000">
                  <a:alpha val="0"/>
                </a:srgbClr>
              </a:solidFill>
              <a:prstDash val="solid"/>
            </a:ln>
          </p:spPr>
        </p:sp>
        <p:sp>
          <p:nvSpPr>
            <p:cNvPr id="136" name="Text 38"/>
            <p:cNvSpPr/>
            <p:nvPr/>
          </p:nvSpPr>
          <p:spPr>
            <a:xfrm>
              <a:off x="566928" y="4232504"/>
              <a:ext cx="141732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just">
                <a:buNone/>
              </a:pPr>
              <a:r>
                <a:rPr lang="en-US" sz="1200" b="1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Why can you win?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8" name="Text 40"/>
            <p:cNvSpPr/>
            <p:nvPr/>
          </p:nvSpPr>
          <p:spPr>
            <a:xfrm>
              <a:off x="2194560" y="4305656"/>
              <a:ext cx="18288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200" b="1" dirty="0" err="1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公司能否把機會轉成市占與獲利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9" name="Text 41"/>
            <p:cNvSpPr/>
            <p:nvPr/>
          </p:nvSpPr>
          <p:spPr>
            <a:xfrm>
              <a:off x="4242816" y="4269080"/>
              <a:ext cx="43159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市占變化、護城河</a:t>
              </a:r>
              <a:r>
                <a:rPr 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、</a:t>
              </a: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執行力、</a:t>
              </a:r>
              <a:r>
                <a:rPr 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Unit Economics、</a:t>
              </a: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毛利率</a:t>
              </a:r>
              <a:r>
                <a:rPr lang="en-US" altLang="zh-TW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/</a:t>
              </a: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現金流路徑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0" name="Shape 42"/>
            <p:cNvSpPr/>
            <p:nvPr/>
          </p:nvSpPr>
          <p:spPr>
            <a:xfrm>
              <a:off x="457200" y="4680560"/>
              <a:ext cx="1645920" cy="548640"/>
            </a:xfrm>
            <a:prstGeom prst="rect">
              <a:avLst/>
            </a:prstGeom>
            <a:solidFill>
              <a:srgbClr val="F4F4F4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41" name="Shape 43"/>
            <p:cNvSpPr/>
            <p:nvPr/>
          </p:nvSpPr>
          <p:spPr>
            <a:xfrm>
              <a:off x="2103120" y="4680560"/>
              <a:ext cx="2011680" cy="548640"/>
            </a:xfrm>
            <a:prstGeom prst="rect">
              <a:avLst/>
            </a:prstGeom>
            <a:solidFill>
              <a:srgbClr val="F4F4F4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42" name="Shape 44"/>
            <p:cNvSpPr/>
            <p:nvPr/>
          </p:nvSpPr>
          <p:spPr>
            <a:xfrm>
              <a:off x="4114800" y="4680560"/>
              <a:ext cx="4572000" cy="548640"/>
            </a:xfrm>
            <a:prstGeom prst="rect">
              <a:avLst/>
            </a:prstGeom>
            <a:solidFill>
              <a:srgbClr val="F4F4F4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143" name="Shape 45"/>
            <p:cNvSpPr/>
            <p:nvPr/>
          </p:nvSpPr>
          <p:spPr>
            <a:xfrm>
              <a:off x="457200" y="4680560"/>
              <a:ext cx="45720" cy="548640"/>
            </a:xfrm>
            <a:prstGeom prst="rect">
              <a:avLst/>
            </a:prstGeom>
            <a:solidFill>
              <a:srgbClr val="920000"/>
            </a:solidFill>
            <a:ln w="12700">
              <a:solidFill>
                <a:srgbClr val="920000">
                  <a:alpha val="0"/>
                </a:srgbClr>
              </a:solidFill>
              <a:prstDash val="solid"/>
            </a:ln>
          </p:spPr>
        </p:sp>
        <p:sp>
          <p:nvSpPr>
            <p:cNvPr id="144" name="Text 46"/>
            <p:cNvSpPr/>
            <p:nvPr/>
          </p:nvSpPr>
          <p:spPr>
            <a:xfrm>
              <a:off x="566928" y="4781144"/>
              <a:ext cx="1655064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just">
                <a:buNone/>
              </a:pPr>
              <a:r>
                <a:rPr lang="en-US" sz="1200" b="1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itchFamily="34" charset="-120"/>
                </a:rPr>
                <a:t>What can go wrong?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6" name="Text 48"/>
            <p:cNvSpPr/>
            <p:nvPr/>
          </p:nvSpPr>
          <p:spPr>
            <a:xfrm>
              <a:off x="2194560" y="4854296"/>
              <a:ext cx="18288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主要 Downside 與風險在哪裡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7" name="Text 49"/>
            <p:cNvSpPr/>
            <p:nvPr/>
          </p:nvSpPr>
          <p:spPr>
            <a:xfrm>
              <a:off x="4242816" y="4817720"/>
              <a:ext cx="43159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客戶集中、競爭、法規、資安、</a:t>
              </a:r>
              <a:r>
                <a:rPr lang="en-US" altLang="zh-TW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Cash Burn</a:t>
              </a:r>
              <a:r>
                <a:rPr lang="zh-TW" altLang="en-US" sz="1200" b="0" dirty="0">
                  <a:solidFill>
                    <a:srgbClr val="20212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、治理</a:t>
              </a:r>
              <a:endParaRPr lang="en-US" sz="1200" b="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60" name="Shape 62"/>
          <p:cNvSpPr/>
          <p:nvPr/>
        </p:nvSpPr>
        <p:spPr>
          <a:xfrm>
            <a:off x="457201" y="5510368"/>
            <a:ext cx="8237146" cy="438912"/>
          </a:xfrm>
          <a:prstGeom prst="roundRect">
            <a:avLst>
              <a:gd name="adj" fmla="val 12500"/>
            </a:avLst>
          </a:prstGeom>
          <a:solidFill>
            <a:srgbClr val="F8EAEA"/>
          </a:solidFill>
          <a:ln w="6350">
            <a:solidFill>
              <a:srgbClr val="F0D6D6"/>
            </a:solidFill>
            <a:prstDash val="solid"/>
          </a:ln>
        </p:spPr>
      </p:sp>
      <p:sp>
        <p:nvSpPr>
          <p:cNvPr id="161" name="Text 63"/>
          <p:cNvSpPr/>
          <p:nvPr/>
        </p:nvSpPr>
        <p:spPr>
          <a:xfrm>
            <a:off x="713232" y="5677248"/>
            <a:ext cx="7845552" cy="15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新經濟公司可惜之處：往往只講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TAM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、產品與願景，卻沒有把單位經濟、收入狀況、現金流路徑變成可追蹤指標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2" name="Rectangle 36"/>
          <p:cNvSpPr/>
          <p:nvPr/>
        </p:nvSpPr>
        <p:spPr>
          <a:xfrm>
            <a:off x="457200" y="986414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3" name="標題 1"/>
          <p:cNvSpPr txBox="1">
            <a:spLocks/>
          </p:cNvSpPr>
          <p:nvPr/>
        </p:nvSpPr>
        <p:spPr>
          <a:xfrm>
            <a:off x="457200" y="491332"/>
            <a:ext cx="8939336" cy="6334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法人溝通的終點：形成可投資的 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Investment Thesis</a:t>
            </a:r>
            <a:endParaRPr lang="zh-TW" altLang="en-US" sz="2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5" name="文字方塊 164"/>
          <p:cNvSpPr txBox="1"/>
          <p:nvPr/>
        </p:nvSpPr>
        <p:spPr>
          <a:xfrm>
            <a:off x="414195" y="1139183"/>
            <a:ext cx="82801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0" indent="-180975" algn="just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成熟的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Equity Story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≒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Opportunity × Execution × Financial Outcome ÷ Risk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；重點是能被投資人驗證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80975" indent="-180975" algn="just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Roadshow </a:t>
            </a: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的目的不是讓投資人「喜歡公司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」，</a:t>
            </a: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而是讓投資人能形成一套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Investment Thesis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80975" lvl="0" indent="-180975" algn="just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00818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邊形 9">
            <a:extLst>
              <a:ext uri="{FF2B5EF4-FFF2-40B4-BE49-F238E27FC236}">
                <a16:creationId xmlns:a16="http://schemas.microsoft.com/office/drawing/2014/main" id="{A9AFE730-5BD5-43D6-8F82-210A6602FDBD}"/>
              </a:ext>
            </a:extLst>
          </p:cNvPr>
          <p:cNvSpPr/>
          <p:nvPr/>
        </p:nvSpPr>
        <p:spPr>
          <a:xfrm flipV="1">
            <a:off x="-1864297" y="2305076"/>
            <a:ext cx="8424936" cy="936104"/>
          </a:xfrm>
          <a:prstGeom prst="parallelogram">
            <a:avLst>
              <a:gd name="adj" fmla="val 93097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1D909FD-321A-4D00-96B4-7145CFE79D51}"/>
              </a:ext>
            </a:extLst>
          </p:cNvPr>
          <p:cNvSpPr txBox="1"/>
          <p:nvPr/>
        </p:nvSpPr>
        <p:spPr>
          <a:xfrm>
            <a:off x="259904" y="2499586"/>
            <a:ext cx="5626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資本市場如何為企業定價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865A9DA-4DCE-42A8-A16E-98A1F04410E4}"/>
              </a:ext>
            </a:extLst>
          </p:cNvPr>
          <p:cNvSpPr txBox="1"/>
          <p:nvPr/>
        </p:nvSpPr>
        <p:spPr>
          <a:xfrm>
            <a:off x="225759" y="1291647"/>
            <a:ext cx="11318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04</a:t>
            </a:r>
            <a:endParaRPr lang="zh-TW" altLang="en-US" sz="6000" dirty="0">
              <a:solidFill>
                <a:schemeClr val="bg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平行四邊形 15">
            <a:extLst>
              <a:ext uri="{FF2B5EF4-FFF2-40B4-BE49-F238E27FC236}">
                <a16:creationId xmlns:a16="http://schemas.microsoft.com/office/drawing/2014/main" id="{7B1869D2-CF1B-489F-BD53-C8039EE1CB54}"/>
              </a:ext>
            </a:extLst>
          </p:cNvPr>
          <p:cNvSpPr/>
          <p:nvPr/>
        </p:nvSpPr>
        <p:spPr>
          <a:xfrm flipV="1">
            <a:off x="5856906" y="3412867"/>
            <a:ext cx="5616624" cy="1152150"/>
          </a:xfrm>
          <a:prstGeom prst="parallelogram">
            <a:avLst>
              <a:gd name="adj" fmla="val 95639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7" name="圖片 16" descr="未命名">
            <a:extLst>
              <a:ext uri="{FF2B5EF4-FFF2-40B4-BE49-F238E27FC236}">
                <a16:creationId xmlns:a16="http://schemas.microsoft.com/office/drawing/2014/main" id="{51148074-7EF7-401A-8BB2-CF4751324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7" t="4184" r="2568" b="47176"/>
          <a:stretch>
            <a:fillRect/>
          </a:stretch>
        </p:blipFill>
        <p:spPr bwMode="auto">
          <a:xfrm rot="21340448">
            <a:off x="5399901" y="1420627"/>
            <a:ext cx="2457708" cy="2711632"/>
          </a:xfrm>
          <a:custGeom>
            <a:avLst/>
            <a:gdLst>
              <a:gd name="connsiteX0" fmla="*/ 765344 w 2142807"/>
              <a:gd name="connsiteY0" fmla="*/ 2072 h 2364196"/>
              <a:gd name="connsiteX1" fmla="*/ 985062 w 2142807"/>
              <a:gd name="connsiteY1" fmla="*/ 123477 h 2364196"/>
              <a:gd name="connsiteX2" fmla="*/ 2071219 w 2142807"/>
              <a:gd name="connsiteY2" fmla="*/ 1485201 h 2364196"/>
              <a:gd name="connsiteX3" fmla="*/ 2019331 w 2142807"/>
              <a:gd name="connsiteY3" fmla="*/ 1946129 h 2364196"/>
              <a:gd name="connsiteX4" fmla="*/ 1495197 w 2142807"/>
              <a:gd name="connsiteY4" fmla="*/ 2364196 h 2364196"/>
              <a:gd name="connsiteX5" fmla="*/ 0 w 2142807"/>
              <a:gd name="connsiteY5" fmla="*/ 489656 h 2364196"/>
              <a:gd name="connsiteX6" fmla="*/ 524134 w 2142807"/>
              <a:gd name="connsiteY6" fmla="*/ 71589 h 2364196"/>
              <a:gd name="connsiteX7" fmla="*/ 765344 w 2142807"/>
              <a:gd name="connsiteY7" fmla="*/ 2072 h 2364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2807" h="2364196">
                <a:moveTo>
                  <a:pt x="765344" y="2072"/>
                </a:moveTo>
                <a:cubicBezTo>
                  <a:pt x="848755" y="11461"/>
                  <a:pt x="928585" y="52672"/>
                  <a:pt x="985062" y="123477"/>
                </a:cubicBezTo>
                <a:lnTo>
                  <a:pt x="2071219" y="1485201"/>
                </a:lnTo>
                <a:cubicBezTo>
                  <a:pt x="2184173" y="1626812"/>
                  <a:pt x="2160942" y="1833176"/>
                  <a:pt x="2019331" y="1946129"/>
                </a:cubicBezTo>
                <a:lnTo>
                  <a:pt x="1495197" y="2364196"/>
                </a:lnTo>
                <a:lnTo>
                  <a:pt x="0" y="489656"/>
                </a:lnTo>
                <a:lnTo>
                  <a:pt x="524134" y="71589"/>
                </a:lnTo>
                <a:cubicBezTo>
                  <a:pt x="594939" y="15112"/>
                  <a:pt x="681933" y="-7318"/>
                  <a:pt x="765344" y="2072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圖片 17" descr="未命名">
            <a:extLst>
              <a:ext uri="{FF2B5EF4-FFF2-40B4-BE49-F238E27FC236}">
                <a16:creationId xmlns:a16="http://schemas.microsoft.com/office/drawing/2014/main" id="{C1247112-0447-41EE-A21A-7720B5C21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6" t="27738" r="10122" b="23819"/>
          <a:stretch>
            <a:fillRect/>
          </a:stretch>
        </p:blipFill>
        <p:spPr bwMode="auto">
          <a:xfrm rot="21425389">
            <a:off x="4932906" y="2346587"/>
            <a:ext cx="2382923" cy="2600675"/>
          </a:xfrm>
          <a:custGeom>
            <a:avLst/>
            <a:gdLst>
              <a:gd name="connsiteX0" fmla="*/ 639277 w 2157449"/>
              <a:gd name="connsiteY0" fmla="*/ 0 h 2354597"/>
              <a:gd name="connsiteX1" fmla="*/ 2157449 w 2157449"/>
              <a:gd name="connsiteY1" fmla="*/ 1855983 h 2354597"/>
              <a:gd name="connsiteX2" fmla="*/ 1638504 w 2157449"/>
              <a:gd name="connsiteY2" fmla="*/ 2280473 h 2354597"/>
              <a:gd name="connsiteX3" fmla="*/ 1176972 w 2157449"/>
              <a:gd name="connsiteY3" fmla="*/ 2234266 h 2354597"/>
              <a:gd name="connsiteX4" fmla="*/ 74125 w 2157449"/>
              <a:gd name="connsiteY4" fmla="*/ 886023 h 2354597"/>
              <a:gd name="connsiteX5" fmla="*/ 120332 w 2157449"/>
              <a:gd name="connsiteY5" fmla="*/ 424490 h 2354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7449" h="2354597">
                <a:moveTo>
                  <a:pt x="639277" y="0"/>
                </a:moveTo>
                <a:lnTo>
                  <a:pt x="2157449" y="1855983"/>
                </a:lnTo>
                <a:lnTo>
                  <a:pt x="1638504" y="2280473"/>
                </a:lnTo>
                <a:cubicBezTo>
                  <a:pt x="1498295" y="2395162"/>
                  <a:pt x="1291661" y="2374475"/>
                  <a:pt x="1176972" y="2234266"/>
                </a:cubicBezTo>
                <a:lnTo>
                  <a:pt x="74125" y="886023"/>
                </a:lnTo>
                <a:cubicBezTo>
                  <a:pt x="-40564" y="745814"/>
                  <a:pt x="-19877" y="539179"/>
                  <a:pt x="120332" y="424490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525968"/>
      </p:ext>
    </p:extLst>
  </p:cSld>
  <p:clrMapOvr>
    <a:masterClrMapping/>
  </p:clrMapOvr>
  <p:transition>
    <p:spli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字方塊 43"/>
          <p:cNvSpPr txBox="1"/>
          <p:nvPr/>
        </p:nvSpPr>
        <p:spPr>
          <a:xfrm>
            <a:off x="414195" y="1139183"/>
            <a:ext cx="8280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0" indent="-180975" algn="just">
              <a:lnSpc>
                <a:spcPts val="1800"/>
              </a:lnSpc>
              <a:buFont typeface="Arial" panose="020B0604020202020204" pitchFamily="34" charset="0"/>
              <a:buChar char="•"/>
              <a:defRPr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公開市場交易的是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Market Price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；估值要從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Business Drivers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走到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Multiple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560180"/>
            <a:ext cx="3771900" cy="258532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t">
            <a:spAutoFit/>
          </a:bodyPr>
          <a:lstStyle/>
          <a:p>
            <a:pPr algn="ctr">
              <a:defRPr sz="1500" b="1">
                <a:solidFill>
                  <a:srgbClr val="5A5A5A"/>
                </a:solidFill>
                <a:latin typeface="Microsoft JhengHei"/>
              </a:defRPr>
            </a:pP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傳統成熟企業</a:t>
            </a: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00600" y="1560180"/>
            <a:ext cx="3840480" cy="258532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t">
            <a:spAutoFit/>
          </a:bodyPr>
          <a:lstStyle/>
          <a:p>
            <a:pPr algn="ctr">
              <a:defRPr sz="1500" b="1">
                <a:solidFill>
                  <a:srgbClr val="D20000"/>
                </a:solidFill>
                <a:latin typeface="Microsoft JhengHei"/>
              </a:defRPr>
            </a:pPr>
            <a:r>
              <a:rPr dirty="0" err="1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新經濟企業</a:t>
            </a:r>
            <a:endParaRPr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" name="群組 2"/>
          <p:cNvGrpSpPr/>
          <p:nvPr/>
        </p:nvGrpSpPr>
        <p:grpSpPr>
          <a:xfrm>
            <a:off x="457201" y="1993083"/>
            <a:ext cx="8183878" cy="775282"/>
            <a:chOff x="720090" y="2005950"/>
            <a:chExt cx="7248906" cy="342900"/>
          </a:xfrm>
        </p:grpSpPr>
        <p:sp>
          <p:nvSpPr>
            <p:cNvPr id="8" name="Rounded Rectangle 7"/>
            <p:cNvSpPr/>
            <p:nvPr/>
          </p:nvSpPr>
          <p:spPr>
            <a:xfrm>
              <a:off x="720090" y="2005950"/>
              <a:ext cx="534924" cy="342900"/>
            </a:xfrm>
            <a:prstGeom prst="roundRect">
              <a:avLst/>
            </a:prstGeom>
            <a:solidFill>
              <a:srgbClr val="F6F6F6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20090" y="2145347"/>
              <a:ext cx="534924" cy="94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780" b="1">
                  <a:solidFill>
                    <a:srgbClr val="232323"/>
                  </a:solidFill>
                  <a:latin typeface="Arial"/>
                </a:defRPr>
              </a:pPr>
              <a:r>
                <a:rPr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Revenue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1255014" y="2177400"/>
              <a:ext cx="102870" cy="0"/>
            </a:xfrm>
            <a:prstGeom prst="line">
              <a:avLst/>
            </a:prstGeom>
            <a:ln w="12700">
              <a:solidFill>
                <a:srgbClr val="8282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ounded Rectangle 10"/>
            <p:cNvSpPr/>
            <p:nvPr/>
          </p:nvSpPr>
          <p:spPr>
            <a:xfrm>
              <a:off x="1371600" y="2005950"/>
              <a:ext cx="534924" cy="342900"/>
            </a:xfrm>
            <a:prstGeom prst="roundRect">
              <a:avLst/>
            </a:prstGeom>
            <a:solidFill>
              <a:srgbClr val="F6F6F6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371600" y="2145347"/>
              <a:ext cx="534924" cy="94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780" b="1">
                  <a:solidFill>
                    <a:srgbClr val="232323"/>
                  </a:solidFill>
                  <a:latin typeface="Arial"/>
                </a:defRPr>
              </a:pPr>
              <a:r>
                <a:rPr lang="en-US" altLang="zh-TW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OP</a:t>
              </a:r>
              <a:endParaRPr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1906525" y="2177400"/>
              <a:ext cx="102869" cy="0"/>
            </a:xfrm>
            <a:prstGeom prst="line">
              <a:avLst/>
            </a:prstGeom>
            <a:ln w="12700">
              <a:solidFill>
                <a:srgbClr val="8282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2023110" y="2005950"/>
              <a:ext cx="534924" cy="342900"/>
            </a:xfrm>
            <a:prstGeom prst="roundRect">
              <a:avLst/>
            </a:prstGeom>
            <a:solidFill>
              <a:srgbClr val="F6F6F6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023110" y="2107770"/>
              <a:ext cx="534924" cy="1750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780" b="1">
                  <a:solidFill>
                    <a:srgbClr val="232323"/>
                  </a:solidFill>
                  <a:latin typeface="Arial"/>
                </a:defRPr>
              </a:pPr>
              <a:r>
                <a:rPr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Net Income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2558034" y="2177400"/>
              <a:ext cx="102870" cy="0"/>
            </a:xfrm>
            <a:prstGeom prst="line">
              <a:avLst/>
            </a:prstGeom>
            <a:ln w="12700">
              <a:solidFill>
                <a:srgbClr val="8282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ounded Rectangle 16"/>
            <p:cNvSpPr/>
            <p:nvPr/>
          </p:nvSpPr>
          <p:spPr>
            <a:xfrm>
              <a:off x="2674619" y="2005950"/>
              <a:ext cx="534924" cy="342900"/>
            </a:xfrm>
            <a:prstGeom prst="roundRect">
              <a:avLst/>
            </a:prstGeom>
            <a:solidFill>
              <a:srgbClr val="F6F6F6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674619" y="2145347"/>
              <a:ext cx="534924" cy="94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780" b="1">
                  <a:solidFill>
                    <a:srgbClr val="232323"/>
                  </a:solidFill>
                  <a:latin typeface="Arial"/>
                </a:defRPr>
              </a:pPr>
              <a:r>
                <a:rPr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EPS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3209544" y="2177400"/>
              <a:ext cx="102870" cy="0"/>
            </a:xfrm>
            <a:prstGeom prst="line">
              <a:avLst/>
            </a:prstGeom>
            <a:ln w="12700">
              <a:solidFill>
                <a:srgbClr val="8282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3326130" y="2005950"/>
              <a:ext cx="534924" cy="342900"/>
            </a:xfrm>
            <a:prstGeom prst="roundRect">
              <a:avLst/>
            </a:prstGeom>
            <a:solidFill>
              <a:srgbClr val="F6F6F6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326130" y="2145347"/>
              <a:ext cx="534924" cy="94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780" b="1">
                  <a:solidFill>
                    <a:srgbClr val="232323"/>
                  </a:solidFill>
                  <a:latin typeface="Arial"/>
                </a:defRPr>
              </a:pPr>
              <a:r>
                <a:rPr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</a:t>
              </a:r>
              <a:r>
                <a:rPr lang="en-US"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/</a:t>
              </a:r>
              <a:r>
                <a:rPr sz="10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E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4800600" y="2005950"/>
              <a:ext cx="562356" cy="342900"/>
            </a:xfrm>
            <a:prstGeom prst="roundRect">
              <a:avLst/>
            </a:prstGeom>
            <a:solidFill>
              <a:srgbClr val="FFF1F1"/>
            </a:solidFill>
            <a:ln>
              <a:solidFill>
                <a:srgbClr val="92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800600" y="2145347"/>
              <a:ext cx="562356" cy="94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750" b="1">
                  <a:solidFill>
                    <a:srgbClr val="D20000"/>
                  </a:solidFill>
                  <a:latin typeface="Arial"/>
                </a:defRPr>
              </a:pPr>
              <a:r>
                <a:rPr sz="1000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Users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5362956" y="2177400"/>
              <a:ext cx="109728" cy="0"/>
            </a:xfrm>
            <a:prstGeom prst="line">
              <a:avLst/>
            </a:prstGeom>
            <a:ln w="12700">
              <a:solidFill>
                <a:srgbClr val="D2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5452110" y="2005950"/>
              <a:ext cx="562356" cy="342900"/>
            </a:xfrm>
            <a:prstGeom prst="roundRect">
              <a:avLst/>
            </a:prstGeom>
            <a:solidFill>
              <a:srgbClr val="FFF1F1"/>
            </a:solidFill>
            <a:ln>
              <a:solidFill>
                <a:srgbClr val="92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452110" y="2142469"/>
              <a:ext cx="562356" cy="94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750" b="1">
                  <a:solidFill>
                    <a:srgbClr val="D20000"/>
                  </a:solidFill>
                  <a:latin typeface="Arial"/>
                </a:defRPr>
              </a:pPr>
              <a:r>
                <a:rPr sz="1000" dirty="0" err="1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ARR</a:t>
              </a:r>
              <a:endParaRPr sz="10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8" name="Connector 27"/>
            <p:cNvCxnSpPr/>
            <p:nvPr/>
          </p:nvCxnSpPr>
          <p:spPr>
            <a:xfrm>
              <a:off x="6014466" y="2177400"/>
              <a:ext cx="109728" cy="0"/>
            </a:xfrm>
            <a:prstGeom prst="line">
              <a:avLst/>
            </a:prstGeom>
            <a:ln w="12700">
              <a:solidFill>
                <a:srgbClr val="D2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ounded Rectangle 28"/>
            <p:cNvSpPr/>
            <p:nvPr/>
          </p:nvSpPr>
          <p:spPr>
            <a:xfrm>
              <a:off x="6103620" y="2005950"/>
              <a:ext cx="562356" cy="342900"/>
            </a:xfrm>
            <a:prstGeom prst="roundRect">
              <a:avLst/>
            </a:prstGeom>
            <a:solidFill>
              <a:srgbClr val="FFF1F1"/>
            </a:solidFill>
            <a:ln>
              <a:solidFill>
                <a:srgbClr val="92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073195" y="2145347"/>
              <a:ext cx="651509" cy="94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750" b="1">
                  <a:solidFill>
                    <a:srgbClr val="D20000"/>
                  </a:solidFill>
                  <a:latin typeface="Arial"/>
                </a:defRPr>
              </a:pPr>
              <a:r>
                <a:rPr sz="1000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Retention</a:t>
              </a:r>
            </a:p>
          </p:txBody>
        </p:sp>
        <p:cxnSp>
          <p:nvCxnSpPr>
            <p:cNvPr id="31" name="Connector 30"/>
            <p:cNvCxnSpPr/>
            <p:nvPr/>
          </p:nvCxnSpPr>
          <p:spPr>
            <a:xfrm>
              <a:off x="6665976" y="2177400"/>
              <a:ext cx="109728" cy="0"/>
            </a:xfrm>
            <a:prstGeom prst="line">
              <a:avLst/>
            </a:prstGeom>
            <a:ln w="12700">
              <a:solidFill>
                <a:srgbClr val="D2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31"/>
            <p:cNvSpPr/>
            <p:nvPr/>
          </p:nvSpPr>
          <p:spPr>
            <a:xfrm>
              <a:off x="6755130" y="2005950"/>
              <a:ext cx="562356" cy="342900"/>
            </a:xfrm>
            <a:prstGeom prst="roundRect">
              <a:avLst/>
            </a:prstGeom>
            <a:solidFill>
              <a:srgbClr val="FFF1F1"/>
            </a:solidFill>
            <a:ln>
              <a:solidFill>
                <a:srgbClr val="92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755130" y="2091709"/>
              <a:ext cx="562356" cy="1750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750" b="1">
                  <a:solidFill>
                    <a:srgbClr val="D20000"/>
                  </a:solidFill>
                  <a:latin typeface="Arial"/>
                </a:defRPr>
              </a:pPr>
              <a:r>
                <a:rPr sz="1000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Unit Econ.</a:t>
              </a:r>
            </a:p>
          </p:txBody>
        </p:sp>
        <p:cxnSp>
          <p:nvCxnSpPr>
            <p:cNvPr id="34" name="Connector 33"/>
            <p:cNvCxnSpPr/>
            <p:nvPr/>
          </p:nvCxnSpPr>
          <p:spPr>
            <a:xfrm>
              <a:off x="7317486" y="2177400"/>
              <a:ext cx="109728" cy="0"/>
            </a:xfrm>
            <a:prstGeom prst="line">
              <a:avLst/>
            </a:prstGeom>
            <a:ln w="12700">
              <a:solidFill>
                <a:srgbClr val="D2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ounded Rectangle 34"/>
            <p:cNvSpPr/>
            <p:nvPr/>
          </p:nvSpPr>
          <p:spPr>
            <a:xfrm>
              <a:off x="7406640" y="2005950"/>
              <a:ext cx="562356" cy="342900"/>
            </a:xfrm>
            <a:prstGeom prst="roundRect">
              <a:avLst/>
            </a:prstGeom>
            <a:solidFill>
              <a:srgbClr val="FFF1F1"/>
            </a:solidFill>
            <a:ln>
              <a:solidFill>
                <a:srgbClr val="92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406640" y="2145347"/>
              <a:ext cx="562356" cy="94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750" b="1">
                  <a:solidFill>
                    <a:srgbClr val="D20000"/>
                  </a:solidFill>
                  <a:latin typeface="Arial"/>
                </a:defRPr>
              </a:pPr>
              <a:r>
                <a:rPr sz="100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FCF Path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651510" y="2980285"/>
            <a:ext cx="7955280" cy="304699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t">
            <a:spAutoFit/>
          </a:bodyPr>
          <a:lstStyle/>
          <a:p>
            <a:pPr algn="ctr">
              <a:defRPr sz="1800" b="1">
                <a:solidFill>
                  <a:srgbClr val="D20000"/>
                </a:solidFill>
                <a:latin typeface="Arial"/>
              </a:defRPr>
            </a:pPr>
            <a:r>
              <a:rPr lang="zh-TW" altLang="en-US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市場估值反映企業基本面、成長性、風險、投資人預期與流動性條件</a:t>
            </a:r>
            <a:endParaRPr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332957"/>
              </p:ext>
            </p:extLst>
          </p:nvPr>
        </p:nvGraphicFramePr>
        <p:xfrm>
          <a:off x="546475" y="3549001"/>
          <a:ext cx="8094604" cy="2616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3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322"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rPr sz="12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常見估值框架</a:t>
                      </a:r>
                      <a:endParaRPr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432" marR="27432" marT="13716" marB="13716" anchor="ctr"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rPr sz="12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適用情境</a:t>
                      </a:r>
                      <a:endParaRPr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432" marR="27432" marT="13716" marB="13716" anchor="ctr"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69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rPr sz="12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要回答的問題</a:t>
                      </a:r>
                      <a:endParaRPr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432" marR="27432" marT="13716" marB="13716" anchor="ctr">
                    <a:solidFill>
                      <a:srgbClr val="9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7660">
                <a:tc>
                  <a:txBody>
                    <a:bodyPr/>
                    <a:lstStyle/>
                    <a:p>
                      <a:pPr algn="just">
                        <a:defRPr sz="869" b="0">
                          <a:solidFill>
                            <a:srgbClr val="232323"/>
                          </a:solidFill>
                          <a:latin typeface="Microsoft JhengHei"/>
                        </a:defRPr>
                      </a:pPr>
                      <a:r>
                        <a:rPr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EPS × P</a:t>
                      </a:r>
                      <a:r>
                        <a:rPr lang="en-US"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 = </a:t>
                      </a:r>
                      <a:r>
                        <a:rPr lang="en-US" altLang="zh-TW"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Target Price</a:t>
                      </a:r>
                      <a:endParaRPr sz="1250" b="1" i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432" marR="27432" marT="13716" marB="13716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869" b="0">
                          <a:solidFill>
                            <a:srgbClr val="232323"/>
                          </a:solidFill>
                          <a:latin typeface="Microsoft JhengHei"/>
                        </a:defRPr>
                      </a:pPr>
                      <a:r>
                        <a:rPr sz="1250" b="1" i="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成熟獲利公司</a:t>
                      </a:r>
                      <a:endParaRPr sz="1250" b="1" i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432" marR="27432" marT="13716" marB="13716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32323"/>
                          </a:solidFill>
                          <a:latin typeface="Microsoft JhengHei"/>
                        </a:defRPr>
                      </a:pPr>
                      <a:r>
                        <a:rPr sz="1250" b="1" i="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未來獲利是否可持續？P</a:t>
                      </a:r>
                      <a:r>
                        <a:rPr lang="en-US"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 </a:t>
                      </a:r>
                      <a:r>
                        <a:rPr sz="1250" b="1" i="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是否合理</a:t>
                      </a:r>
                      <a:r>
                        <a:rPr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？</a:t>
                      </a:r>
                    </a:p>
                  </a:txBody>
                  <a:tcPr marL="27432" marR="27432" marT="13716" marB="13716"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7660">
                <a:tc>
                  <a:txBody>
                    <a:bodyPr/>
                    <a:lstStyle/>
                    <a:p>
                      <a:pPr algn="just">
                        <a:defRPr sz="869" b="0">
                          <a:solidFill>
                            <a:srgbClr val="232323"/>
                          </a:solidFill>
                          <a:latin typeface="Microsoft JhengHei"/>
                        </a:defRPr>
                      </a:pPr>
                      <a:r>
                        <a:rPr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Revenue × P</a:t>
                      </a:r>
                      <a:r>
                        <a:rPr lang="en-US" altLang="zh-TW"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 = Market Cap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869" b="0">
                          <a:solidFill>
                            <a:srgbClr val="232323"/>
                          </a:solidFill>
                          <a:latin typeface="Microsoft JhengHei"/>
                        </a:defRPr>
                      </a:pPr>
                      <a:r>
                        <a:rPr sz="1250" b="1" i="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高成長、獲利尚未成熟公司</a:t>
                      </a:r>
                      <a:endParaRPr sz="1250" b="1" i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32323"/>
                          </a:solidFill>
                          <a:latin typeface="Microsoft JhengHei"/>
                        </a:defRPr>
                      </a:pPr>
                      <a:r>
                        <a:rPr lang="zh-TW" altLang="en-US"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營收</a:t>
                      </a:r>
                      <a:r>
                        <a:rPr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 Margin Path </a:t>
                      </a:r>
                      <a:r>
                        <a:rPr sz="1250" b="1" i="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是否足以支撐</a:t>
                      </a:r>
                      <a:r>
                        <a:rPr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P/S</a:t>
                      </a:r>
                      <a:r>
                        <a:rPr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？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7660">
                <a:tc>
                  <a:txBody>
                    <a:bodyPr/>
                    <a:lstStyle/>
                    <a:p>
                      <a:pPr algn="just">
                        <a:defRPr sz="869" b="0">
                          <a:solidFill>
                            <a:srgbClr val="232323"/>
                          </a:solidFill>
                          <a:latin typeface="Microsoft JhengHei"/>
                        </a:defRPr>
                      </a:pPr>
                      <a:r>
                        <a:rPr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EBITDA × EV</a:t>
                      </a:r>
                      <a:r>
                        <a:rPr lang="en-US" altLang="zh-TW"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EBITDA = EV</a:t>
                      </a:r>
                    </a:p>
                  </a:txBody>
                  <a:tcPr marL="27432" marR="27432" marT="13716" marB="13716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869" b="0">
                          <a:solidFill>
                            <a:srgbClr val="232323"/>
                          </a:solidFill>
                          <a:latin typeface="Microsoft JhengHei"/>
                        </a:defRPr>
                      </a:pPr>
                      <a:r>
                        <a:rPr sz="1250" b="1" i="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已有營運現金流</a:t>
                      </a:r>
                      <a:r>
                        <a:rPr lang="en-US" altLang="zh-TW"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sz="1250" b="1" i="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成熟平台公司</a:t>
                      </a:r>
                      <a:endParaRPr sz="1250" b="1" i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432" marR="27432" marT="13716" marB="13716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0">
                          <a:solidFill>
                            <a:srgbClr val="232323"/>
                          </a:solidFill>
                          <a:latin typeface="Microsoft JhengHei"/>
                        </a:defRPr>
                      </a:pPr>
                      <a:r>
                        <a:rPr lang="en-US" altLang="zh-TW"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EBITDA </a:t>
                      </a:r>
                      <a:r>
                        <a:rPr lang="zh-TW" altLang="en-US"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成長與可持續性如何？相較同業的 </a:t>
                      </a:r>
                      <a:r>
                        <a:rPr lang="en-US" altLang="zh-TW"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EV/EBITDA </a:t>
                      </a:r>
                      <a:r>
                        <a:rPr lang="zh-TW" altLang="en-US" sz="1250" b="1" i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是否合理？</a:t>
                      </a:r>
                      <a:endParaRPr sz="1250" b="1" i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27432" marR="27432" marT="13716" marB="13716"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3" name="標題 1"/>
          <p:cNvSpPr txBox="1">
            <a:spLocks/>
          </p:cNvSpPr>
          <p:nvPr/>
        </p:nvSpPr>
        <p:spPr>
          <a:xfrm>
            <a:off x="457200" y="491332"/>
            <a:ext cx="8939336" cy="6334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Value ≠ Price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：公司價值與市場價格不是同一件事</a:t>
            </a:r>
          </a:p>
        </p:txBody>
      </p:sp>
    </p:spTree>
    <p:extLst>
      <p:ext uri="{BB962C8B-B14F-4D97-AF65-F5344CB8AC3E}">
        <p14:creationId xmlns:p14="http://schemas.microsoft.com/office/powerpoint/2010/main" val="1213581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605597"/>
              </p:ext>
            </p:extLst>
          </p:nvPr>
        </p:nvGraphicFramePr>
        <p:xfrm>
          <a:off x="457200" y="1328166"/>
          <a:ext cx="8183880" cy="4350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6883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商業模式</a:t>
                      </a:r>
                    </a:p>
                  </a:txBody>
                  <a:tcPr anchor="ctr"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規模指標</a:t>
                      </a:r>
                    </a:p>
                  </a:txBody>
                  <a:tcPr anchor="ctr"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成長指標</a:t>
                      </a:r>
                    </a:p>
                  </a:txBody>
                  <a:tcPr anchor="ctr"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品質指標</a:t>
                      </a:r>
                    </a:p>
                  </a:txBody>
                  <a:tcPr anchor="ctr"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效率指標</a:t>
                      </a:r>
                    </a:p>
                  </a:txBody>
                  <a:tcPr anchor="ctr"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常見估值參考</a:t>
                      </a:r>
                    </a:p>
                  </a:txBody>
                  <a:tcPr anchor="ctr">
                    <a:solidFill>
                      <a:srgbClr val="9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188">
                <a:tc>
                  <a:txBody>
                    <a:bodyPr/>
                    <a:lstStyle/>
                    <a:p>
                      <a:pPr algn="l"/>
                      <a:r>
                        <a:rPr lang="en-US" sz="125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SaaS </a:t>
                      </a:r>
                      <a:r>
                        <a:rPr lang="zh-TW" altLang="en-US" sz="125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軟體服務</a:t>
                      </a:r>
                      <a:endParaRPr lang="zh-TW" altLang="en-US" sz="12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ARR</a:t>
                      </a:r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(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年度經常性收入</a:t>
                      </a:r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ARR </a:t>
                      </a:r>
                      <a:r>
                        <a:rPr lang="zh-TW" alt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成長率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NRR</a:t>
                      </a:r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(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淨收入留存率</a:t>
                      </a:r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40 </a:t>
                      </a:r>
                      <a:r>
                        <a:rPr lang="zh-TW" alt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法則／</a:t>
                      </a:r>
                      <a:r>
                        <a:rPr lang="en-US" altLang="zh-TW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CAC </a:t>
                      </a:r>
                      <a:r>
                        <a:rPr lang="zh-TW" alt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回收期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EV/Revenue、EV/ARR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188">
                <a:tc>
                  <a:txBody>
                    <a:bodyPr/>
                    <a:lstStyle/>
                    <a:p>
                      <a:pPr algn="l"/>
                      <a:r>
                        <a:rPr lang="en-US" sz="125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Marketplace </a:t>
                      </a:r>
                      <a:r>
                        <a:rPr lang="zh-TW" altLang="en-US" sz="125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平台</a:t>
                      </a:r>
                      <a:endParaRPr lang="zh-TW" altLang="en-US" sz="125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GMV</a:t>
                      </a:r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(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交易總額</a:t>
                      </a:r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GMV</a:t>
                      </a:r>
                      <a:r>
                        <a:rPr 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／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營收成長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重複交易率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抽成率／貢獻毛利率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EV/Revenue、EV/GMV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8813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訂閱制／</a:t>
                      </a:r>
                      <a:r>
                        <a:rPr lang="en-US" sz="125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App</a:t>
                      </a:r>
                      <a:endParaRPr lang="en-US" sz="125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訂閱戶／</a:t>
                      </a:r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MAU (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月活躍使用者</a:t>
                      </a:r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訂閱戶／營收成長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分群留存率／流失率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LTV/CAC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EV/Revenue；</a:t>
                      </a:r>
                    </a:p>
                    <a:p>
                      <a:pPr algn="l"/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成熟後看 </a:t>
                      </a:r>
                      <a:r>
                        <a:rPr 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EV/</a:t>
                      </a:r>
                      <a:r>
                        <a:rPr lang="en-US" sz="12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EBITDA、P</a:t>
                      </a:r>
                      <a:r>
                        <a:rPr 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/E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8813">
                <a:tc>
                  <a:txBody>
                    <a:bodyPr/>
                    <a:lstStyle/>
                    <a:p>
                      <a:pPr algn="l"/>
                      <a:r>
                        <a:rPr lang="en-US" sz="125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FinTech </a:t>
                      </a:r>
                      <a:r>
                        <a:rPr lang="zh-TW" altLang="en-US" sz="125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金融科技</a:t>
                      </a:r>
                      <a:endParaRPr lang="zh-TW" altLang="en-US" sz="125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TPV</a:t>
                      </a:r>
                      <a:r>
                        <a:rPr lang="zh-TW" altLang="en-US" sz="1250" baseline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50" baseline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總支付金額</a:t>
                      </a:r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／</a:t>
                      </a:r>
                      <a:r>
                        <a:rPr lang="en-US" altLang="zh-TW" sz="12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AUM</a:t>
                      </a:r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(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資產管理規模</a:t>
                      </a:r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2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TPV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／</a:t>
                      </a:r>
                      <a:r>
                        <a:rPr lang="en-US" altLang="zh-TW" sz="12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AUM</a:t>
                      </a:r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／營收成長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信用品質／損失率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貢獻利潤／成本效率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依模式而不同：</a:t>
                      </a:r>
                      <a:r>
                        <a:rPr 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P/</a:t>
                      </a:r>
                      <a:r>
                        <a:rPr lang="en-US" sz="12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B、P</a:t>
                      </a:r>
                      <a:r>
                        <a:rPr 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en-US" sz="12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E、EV</a:t>
                      </a:r>
                      <a:r>
                        <a:rPr 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en-US" sz="12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Revenue、EV</a:t>
                      </a:r>
                      <a:r>
                        <a:rPr 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/EBITDA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2188">
                <a:tc>
                  <a:txBody>
                    <a:bodyPr/>
                    <a:lstStyle/>
                    <a:p>
                      <a:pPr algn="l"/>
                      <a:r>
                        <a:rPr lang="en-US" sz="125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 </a:t>
                      </a:r>
                      <a:r>
                        <a:rPr lang="zh-TW" altLang="en-US" sz="125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軟體</a:t>
                      </a:r>
                      <a:endParaRPr lang="zh-TW" altLang="en-US" sz="125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ARR／</a:t>
                      </a:r>
                      <a:r>
                        <a:rPr lang="zh-TW" alt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使用量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ARR</a:t>
                      </a:r>
                      <a:r>
                        <a:rPr lang="zh-TW" altLang="en-US" sz="125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／使用量成長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留存率／擴張率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毛利率／運算成本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EV/</a:t>
                      </a:r>
                      <a:r>
                        <a:rPr lang="en-US" sz="12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Revenue、EV</a:t>
                      </a:r>
                      <a:r>
                        <a:rPr lang="en-US" sz="125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en-US" sz="125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ARR</a:t>
                      </a:r>
                      <a:endParaRPr lang="en-US" sz="125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4350" y="5877272"/>
            <a:ext cx="8092440" cy="243143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t">
            <a:spAutoFit/>
          </a:bodyPr>
          <a:lstStyle/>
          <a:p>
            <a:pPr algn="ctr">
              <a:defRPr sz="1230" b="1">
                <a:solidFill>
                  <a:srgbClr val="232323"/>
                </a:solidFill>
                <a:latin typeface="Microsoft JhengHei"/>
              </a:defRPr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核心：先確認市場用哪一組 </a:t>
            </a: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KPI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理解公司，再依商業模式與成熟度選擇合適的估值框架</a:t>
            </a:r>
            <a:endParaRPr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標題 1"/>
          <p:cNvSpPr txBox="1">
            <a:spLocks/>
          </p:cNvSpPr>
          <p:nvPr/>
        </p:nvSpPr>
        <p:spPr>
          <a:xfrm>
            <a:off x="457200" y="491332"/>
            <a:ext cx="8939336" cy="63341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新經濟公司：若沒有穩定 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EPS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，市場會看什麼？</a:t>
            </a:r>
          </a:p>
        </p:txBody>
      </p:sp>
    </p:spTree>
    <p:extLst>
      <p:ext uri="{BB962C8B-B14F-4D97-AF65-F5344CB8AC3E}">
        <p14:creationId xmlns:p14="http://schemas.microsoft.com/office/powerpoint/2010/main" val="11797296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字方塊 30"/>
          <p:cNvSpPr txBox="1"/>
          <p:nvPr/>
        </p:nvSpPr>
        <p:spPr>
          <a:xfrm>
            <a:off x="414195" y="1139183"/>
            <a:ext cx="8280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0" indent="-180975" algn="just">
              <a:lnSpc>
                <a:spcPts val="18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Revenue Growth % + Profitability Margin %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≧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40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，為經驗法則指數，非上市條件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5376" y="1700808"/>
            <a:ext cx="8185702" cy="514350"/>
          </a:xfrm>
          <a:prstGeom prst="roundRect">
            <a:avLst/>
          </a:prstGeom>
          <a:solidFill>
            <a:schemeClr val="accent3">
              <a:lumMod val="95000"/>
            </a:schemeClr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6860" y="1828157"/>
            <a:ext cx="7908220" cy="304699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t">
            <a:spAutoFit/>
          </a:bodyPr>
          <a:lstStyle/>
          <a:p>
            <a:pPr algn="ctr">
              <a:defRPr sz="1800" b="1">
                <a:solidFill>
                  <a:srgbClr val="D20000"/>
                </a:solidFill>
                <a:latin typeface="Arial"/>
              </a:defRPr>
            </a:pPr>
            <a:r>
              <a:rPr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Rule of 40 Score = YoY Revenue Growth (%) + Profitability Margin (%)</a:t>
            </a:r>
          </a:p>
        </p:txBody>
      </p:sp>
      <p:sp>
        <p:nvSpPr>
          <p:cNvPr id="30" name="Rectangle 2"/>
          <p:cNvSpPr txBox="1">
            <a:spLocks noChangeArrowheads="1"/>
          </p:cNvSpPr>
          <p:nvPr/>
        </p:nvSpPr>
        <p:spPr bwMode="auto">
          <a:xfrm>
            <a:off x="455376" y="395914"/>
            <a:ext cx="7312025" cy="662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Rule of 40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：檢驗成長效率</a:t>
            </a:r>
          </a:p>
        </p:txBody>
      </p:sp>
      <p:sp>
        <p:nvSpPr>
          <p:cNvPr id="34" name="Text 5"/>
          <p:cNvSpPr/>
          <p:nvPr/>
        </p:nvSpPr>
        <p:spPr>
          <a:xfrm>
            <a:off x="594360" y="2648295"/>
            <a:ext cx="3282696" cy="20807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93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Rule of 40 分界線：Growth + Margin = 40%</a:t>
            </a:r>
            <a:endParaRPr lang="en-US" sz="1200" dirty="0"/>
          </a:p>
        </p:txBody>
      </p:sp>
      <p:sp>
        <p:nvSpPr>
          <p:cNvPr id="35" name="Shape 6"/>
          <p:cNvSpPr/>
          <p:nvPr/>
        </p:nvSpPr>
        <p:spPr>
          <a:xfrm>
            <a:off x="731520" y="5620096"/>
            <a:ext cx="42519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7"/>
          <p:cNvSpPr/>
          <p:nvPr/>
        </p:nvSpPr>
        <p:spPr>
          <a:xfrm>
            <a:off x="731520" y="2968336"/>
            <a:ext cx="0" cy="265176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8"/>
          <p:cNvSpPr/>
          <p:nvPr/>
        </p:nvSpPr>
        <p:spPr>
          <a:xfrm>
            <a:off x="1794510" y="2968336"/>
            <a:ext cx="0" cy="265176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8" name="Shape 9"/>
          <p:cNvSpPr/>
          <p:nvPr/>
        </p:nvSpPr>
        <p:spPr>
          <a:xfrm>
            <a:off x="731520" y="3631276"/>
            <a:ext cx="42519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9" name="Shape 10"/>
          <p:cNvSpPr/>
          <p:nvPr/>
        </p:nvSpPr>
        <p:spPr>
          <a:xfrm>
            <a:off x="2857500" y="2968336"/>
            <a:ext cx="0" cy="265176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0" name="Shape 11"/>
          <p:cNvSpPr/>
          <p:nvPr/>
        </p:nvSpPr>
        <p:spPr>
          <a:xfrm>
            <a:off x="731520" y="4294216"/>
            <a:ext cx="42519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12"/>
          <p:cNvSpPr/>
          <p:nvPr/>
        </p:nvSpPr>
        <p:spPr>
          <a:xfrm>
            <a:off x="3920490" y="2968336"/>
            <a:ext cx="0" cy="265176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2" name="Shape 13"/>
          <p:cNvSpPr/>
          <p:nvPr/>
        </p:nvSpPr>
        <p:spPr>
          <a:xfrm>
            <a:off x="731520" y="4957156"/>
            <a:ext cx="42519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3" name="Shape 14"/>
          <p:cNvSpPr/>
          <p:nvPr/>
        </p:nvSpPr>
        <p:spPr>
          <a:xfrm>
            <a:off x="731520" y="2968336"/>
            <a:ext cx="4251960" cy="2651760"/>
          </a:xfrm>
          <a:prstGeom prst="line">
            <a:avLst/>
          </a:prstGeom>
          <a:noFill/>
          <a:ln w="26670">
            <a:solidFill>
              <a:srgbClr val="B40000"/>
            </a:solidFill>
            <a:prstDash val="solid"/>
          </a:ln>
        </p:spPr>
      </p:sp>
      <p:sp>
        <p:nvSpPr>
          <p:cNvPr id="44" name="Text 15"/>
          <p:cNvSpPr/>
          <p:nvPr/>
        </p:nvSpPr>
        <p:spPr>
          <a:xfrm>
            <a:off x="3547872" y="2931800"/>
            <a:ext cx="11887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Rule of 40 ≥ 40</a:t>
            </a:r>
            <a:endParaRPr lang="en-US" sz="1200" dirty="0"/>
          </a:p>
        </p:txBody>
      </p:sp>
      <p:sp>
        <p:nvSpPr>
          <p:cNvPr id="45" name="Text 16"/>
          <p:cNvSpPr/>
          <p:nvPr/>
        </p:nvSpPr>
        <p:spPr>
          <a:xfrm>
            <a:off x="1115616" y="4842856"/>
            <a:ext cx="11887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Rule of 40 &lt; 40</a:t>
            </a:r>
            <a:endParaRPr lang="en-US" sz="1200" dirty="0"/>
          </a:p>
        </p:txBody>
      </p:sp>
      <p:sp>
        <p:nvSpPr>
          <p:cNvPr id="46" name="Text 17"/>
          <p:cNvSpPr/>
          <p:nvPr/>
        </p:nvSpPr>
        <p:spPr>
          <a:xfrm>
            <a:off x="612648" y="5674960"/>
            <a:ext cx="32004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-40</a:t>
            </a:r>
            <a:endParaRPr lang="en-US" sz="1200" dirty="0"/>
          </a:p>
        </p:txBody>
      </p:sp>
      <p:sp>
        <p:nvSpPr>
          <p:cNvPr id="47" name="Text 18"/>
          <p:cNvSpPr/>
          <p:nvPr/>
        </p:nvSpPr>
        <p:spPr>
          <a:xfrm>
            <a:off x="1675638" y="5674960"/>
            <a:ext cx="32004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-20</a:t>
            </a:r>
            <a:endParaRPr lang="en-US" sz="1200" dirty="0"/>
          </a:p>
        </p:txBody>
      </p:sp>
      <p:sp>
        <p:nvSpPr>
          <p:cNvPr id="48" name="Text 19"/>
          <p:cNvSpPr/>
          <p:nvPr/>
        </p:nvSpPr>
        <p:spPr>
          <a:xfrm>
            <a:off x="2738628" y="5674960"/>
            <a:ext cx="32004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1200" dirty="0"/>
          </a:p>
        </p:txBody>
      </p:sp>
      <p:sp>
        <p:nvSpPr>
          <p:cNvPr id="49" name="Text 20"/>
          <p:cNvSpPr/>
          <p:nvPr/>
        </p:nvSpPr>
        <p:spPr>
          <a:xfrm>
            <a:off x="3801618" y="5674960"/>
            <a:ext cx="32004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1200" dirty="0"/>
          </a:p>
        </p:txBody>
      </p:sp>
      <p:sp>
        <p:nvSpPr>
          <p:cNvPr id="50" name="Text 21"/>
          <p:cNvSpPr/>
          <p:nvPr/>
        </p:nvSpPr>
        <p:spPr>
          <a:xfrm>
            <a:off x="4864608" y="5674960"/>
            <a:ext cx="32004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</a:t>
            </a:r>
            <a:endParaRPr lang="en-US" sz="1200" dirty="0"/>
          </a:p>
        </p:txBody>
      </p:sp>
      <p:sp>
        <p:nvSpPr>
          <p:cNvPr id="51" name="Text 22"/>
          <p:cNvSpPr/>
          <p:nvPr/>
        </p:nvSpPr>
        <p:spPr>
          <a:xfrm>
            <a:off x="320040" y="5556088"/>
            <a:ext cx="292608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1200" dirty="0"/>
          </a:p>
        </p:txBody>
      </p:sp>
      <p:sp>
        <p:nvSpPr>
          <p:cNvPr id="52" name="Text 23"/>
          <p:cNvSpPr/>
          <p:nvPr/>
        </p:nvSpPr>
        <p:spPr>
          <a:xfrm>
            <a:off x="320040" y="4893148"/>
            <a:ext cx="292608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1200" dirty="0"/>
          </a:p>
        </p:txBody>
      </p:sp>
      <p:sp>
        <p:nvSpPr>
          <p:cNvPr id="53" name="Text 24"/>
          <p:cNvSpPr/>
          <p:nvPr/>
        </p:nvSpPr>
        <p:spPr>
          <a:xfrm>
            <a:off x="320040" y="4230208"/>
            <a:ext cx="292608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</a:t>
            </a:r>
            <a:endParaRPr lang="en-US" sz="1200" dirty="0"/>
          </a:p>
        </p:txBody>
      </p:sp>
      <p:sp>
        <p:nvSpPr>
          <p:cNvPr id="54" name="Text 25"/>
          <p:cNvSpPr/>
          <p:nvPr/>
        </p:nvSpPr>
        <p:spPr>
          <a:xfrm>
            <a:off x="320040" y="3567268"/>
            <a:ext cx="292608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</a:t>
            </a:r>
            <a:endParaRPr lang="en-US" sz="1200" dirty="0"/>
          </a:p>
        </p:txBody>
      </p:sp>
      <p:sp>
        <p:nvSpPr>
          <p:cNvPr id="55" name="Text 26"/>
          <p:cNvSpPr/>
          <p:nvPr/>
        </p:nvSpPr>
        <p:spPr>
          <a:xfrm>
            <a:off x="320040" y="2904328"/>
            <a:ext cx="292608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80</a:t>
            </a:r>
            <a:endParaRPr lang="en-US" sz="1200" dirty="0"/>
          </a:p>
        </p:txBody>
      </p:sp>
      <p:sp>
        <p:nvSpPr>
          <p:cNvPr id="56" name="Text 27"/>
          <p:cNvSpPr/>
          <p:nvPr/>
        </p:nvSpPr>
        <p:spPr>
          <a:xfrm>
            <a:off x="2148840" y="5830408"/>
            <a:ext cx="1645920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獲利率／Margin</a:t>
            </a:r>
            <a:r>
              <a:rPr lang="en-US" sz="12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（%）</a:t>
            </a:r>
            <a:endParaRPr lang="en-US" sz="1200" dirty="0"/>
          </a:p>
        </p:txBody>
      </p:sp>
      <p:sp>
        <p:nvSpPr>
          <p:cNvPr id="57" name="Shape 28"/>
          <p:cNvSpPr/>
          <p:nvPr/>
        </p:nvSpPr>
        <p:spPr>
          <a:xfrm>
            <a:off x="3268981" y="4328506"/>
            <a:ext cx="219456" cy="219456"/>
          </a:xfrm>
          <a:prstGeom prst="ellipse">
            <a:avLst/>
          </a:prstGeom>
          <a:solidFill>
            <a:srgbClr val="C00000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8" name="Text 29"/>
          <p:cNvSpPr/>
          <p:nvPr/>
        </p:nvSpPr>
        <p:spPr>
          <a:xfrm>
            <a:off x="3334131" y="4391371"/>
            <a:ext cx="109728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200" dirty="0"/>
          </a:p>
        </p:txBody>
      </p:sp>
      <p:sp>
        <p:nvSpPr>
          <p:cNvPr id="59" name="Shape 30"/>
          <p:cNvSpPr/>
          <p:nvPr/>
        </p:nvSpPr>
        <p:spPr>
          <a:xfrm>
            <a:off x="1153288" y="3654136"/>
            <a:ext cx="219456" cy="219456"/>
          </a:xfrm>
          <a:prstGeom prst="ellipse">
            <a:avLst/>
          </a:prstGeom>
          <a:solidFill>
            <a:srgbClr val="D95A5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0" name="Text 31"/>
          <p:cNvSpPr/>
          <p:nvPr/>
        </p:nvSpPr>
        <p:spPr>
          <a:xfrm>
            <a:off x="1208151" y="3728431"/>
            <a:ext cx="109728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200" dirty="0"/>
          </a:p>
        </p:txBody>
      </p:sp>
      <p:sp>
        <p:nvSpPr>
          <p:cNvPr id="61" name="Shape 32"/>
          <p:cNvSpPr/>
          <p:nvPr/>
        </p:nvSpPr>
        <p:spPr>
          <a:xfrm>
            <a:off x="4071367" y="4825736"/>
            <a:ext cx="219456" cy="219456"/>
          </a:xfrm>
          <a:prstGeom prst="ellipse">
            <a:avLst/>
          </a:prstGeom>
          <a:solidFill>
            <a:srgbClr val="A67C45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2" name="Text 33"/>
          <p:cNvSpPr/>
          <p:nvPr/>
        </p:nvSpPr>
        <p:spPr>
          <a:xfrm>
            <a:off x="4131374" y="4888576"/>
            <a:ext cx="109728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200" dirty="0"/>
          </a:p>
        </p:txBody>
      </p:sp>
      <p:sp>
        <p:nvSpPr>
          <p:cNvPr id="63" name="Shape 34"/>
          <p:cNvSpPr/>
          <p:nvPr/>
        </p:nvSpPr>
        <p:spPr>
          <a:xfrm>
            <a:off x="2205991" y="4975444"/>
            <a:ext cx="219456" cy="219456"/>
          </a:xfrm>
          <a:prstGeom prst="ellipse">
            <a:avLst/>
          </a:prstGeom>
          <a:solidFill>
            <a:srgbClr val="999999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4" name="Text 35"/>
          <p:cNvSpPr/>
          <p:nvPr/>
        </p:nvSpPr>
        <p:spPr>
          <a:xfrm>
            <a:off x="2271141" y="5054311"/>
            <a:ext cx="109728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</a:t>
            </a:r>
            <a:endParaRPr lang="en-US" sz="1200" dirty="0"/>
          </a:p>
        </p:txBody>
      </p:sp>
      <p:sp>
        <p:nvSpPr>
          <p:cNvPr id="66" name="Text 37"/>
          <p:cNvSpPr/>
          <p:nvPr/>
        </p:nvSpPr>
        <p:spPr>
          <a:xfrm>
            <a:off x="3657600" y="3156968"/>
            <a:ext cx="91440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B4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高品質成長</a:t>
            </a:r>
            <a:endParaRPr lang="en-US" sz="1200" dirty="0"/>
          </a:p>
        </p:txBody>
      </p:sp>
      <p:sp>
        <p:nvSpPr>
          <p:cNvPr id="67" name="Text 38"/>
          <p:cNvSpPr/>
          <p:nvPr/>
        </p:nvSpPr>
        <p:spPr>
          <a:xfrm>
            <a:off x="3877056" y="5464648"/>
            <a:ext cx="713232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9B7A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成熟獲利</a:t>
            </a:r>
            <a:endParaRPr lang="en-US" sz="1200" dirty="0"/>
          </a:p>
        </p:txBody>
      </p:sp>
      <p:sp>
        <p:nvSpPr>
          <p:cNvPr id="68" name="Text 39"/>
          <p:cNvSpPr/>
          <p:nvPr/>
        </p:nvSpPr>
        <p:spPr>
          <a:xfrm>
            <a:off x="914400" y="5464648"/>
            <a:ext cx="109728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低成長／低獲利</a:t>
            </a:r>
            <a:endParaRPr lang="en-US" sz="1200" dirty="0"/>
          </a:p>
        </p:txBody>
      </p:sp>
      <p:sp>
        <p:nvSpPr>
          <p:cNvPr id="69" name="Text 40"/>
          <p:cNvSpPr/>
          <p:nvPr/>
        </p:nvSpPr>
        <p:spPr>
          <a:xfrm>
            <a:off x="5724128" y="2651768"/>
            <a:ext cx="21945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93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四種情境怎麼看？</a:t>
            </a:r>
            <a:endParaRPr lang="en-US" sz="1400" dirty="0"/>
          </a:p>
        </p:txBody>
      </p:sp>
      <p:sp>
        <p:nvSpPr>
          <p:cNvPr id="70" name="Shape 41"/>
          <p:cNvSpPr/>
          <p:nvPr/>
        </p:nvSpPr>
        <p:spPr>
          <a:xfrm>
            <a:off x="5724144" y="3096352"/>
            <a:ext cx="164592" cy="411480"/>
          </a:xfrm>
          <a:prstGeom prst="rect">
            <a:avLst/>
          </a:prstGeom>
          <a:solidFill>
            <a:srgbClr val="B40000"/>
          </a:solidFill>
          <a:ln w="12700">
            <a:solidFill>
              <a:srgbClr val="B40000"/>
            </a:solidFill>
            <a:prstDash val="solid"/>
          </a:ln>
        </p:spPr>
      </p:sp>
      <p:sp>
        <p:nvSpPr>
          <p:cNvPr id="71" name="Text 42"/>
          <p:cNvSpPr/>
          <p:nvPr/>
        </p:nvSpPr>
        <p:spPr>
          <a:xfrm>
            <a:off x="5961888" y="3078064"/>
            <a:ext cx="2930592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A：35% 成長 + 10% Margin = 45</a:t>
            </a:r>
            <a:endParaRPr lang="en-US" sz="1200" dirty="0"/>
          </a:p>
        </p:txBody>
      </p:sp>
      <p:sp>
        <p:nvSpPr>
          <p:cNvPr id="72" name="Text 43"/>
          <p:cNvSpPr/>
          <p:nvPr/>
        </p:nvSpPr>
        <p:spPr>
          <a:xfrm>
            <a:off x="5961888" y="3316984"/>
            <a:ext cx="254203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成長與現金流較平衡，較容易</a:t>
            </a:r>
            <a:r>
              <a:rPr lang="zh-TW" alt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得到</a:t>
            </a:r>
            <a:r>
              <a:rPr lang="en-US" sz="1200" dirty="0" err="1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市場信任</a:t>
            </a:r>
            <a:endParaRPr lang="en-US" sz="1200" dirty="0"/>
          </a:p>
        </p:txBody>
      </p:sp>
      <p:sp>
        <p:nvSpPr>
          <p:cNvPr id="73" name="Shape 44"/>
          <p:cNvSpPr/>
          <p:nvPr/>
        </p:nvSpPr>
        <p:spPr>
          <a:xfrm>
            <a:off x="5724144" y="3782152"/>
            <a:ext cx="164592" cy="411480"/>
          </a:xfrm>
          <a:prstGeom prst="rect">
            <a:avLst/>
          </a:prstGeom>
          <a:solidFill>
            <a:srgbClr val="D95A5A"/>
          </a:solidFill>
          <a:ln w="12700">
            <a:solidFill>
              <a:srgbClr val="D95A5A"/>
            </a:solidFill>
            <a:prstDash val="solid"/>
          </a:ln>
        </p:spPr>
      </p:sp>
      <p:sp>
        <p:nvSpPr>
          <p:cNvPr id="74" name="Text 45"/>
          <p:cNvSpPr/>
          <p:nvPr/>
        </p:nvSpPr>
        <p:spPr>
          <a:xfrm>
            <a:off x="5961888" y="3840472"/>
            <a:ext cx="278657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B：55% 成長 − 30% Margin = 25</a:t>
            </a:r>
            <a:endParaRPr lang="en-US" sz="1200" dirty="0"/>
          </a:p>
        </p:txBody>
      </p:sp>
      <p:sp>
        <p:nvSpPr>
          <p:cNvPr id="75" name="Text 46"/>
          <p:cNvSpPr/>
          <p:nvPr/>
        </p:nvSpPr>
        <p:spPr>
          <a:xfrm>
            <a:off x="5961888" y="4005064"/>
            <a:ext cx="254203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高成長但現金消耗大，需證明未來效率可改善</a:t>
            </a:r>
            <a:endParaRPr lang="en-US" sz="1200" dirty="0"/>
          </a:p>
        </p:txBody>
      </p:sp>
      <p:sp>
        <p:nvSpPr>
          <p:cNvPr id="76" name="Shape 47"/>
          <p:cNvSpPr/>
          <p:nvPr/>
        </p:nvSpPr>
        <p:spPr>
          <a:xfrm>
            <a:off x="5724144" y="4467952"/>
            <a:ext cx="164592" cy="411480"/>
          </a:xfrm>
          <a:prstGeom prst="rect">
            <a:avLst/>
          </a:prstGeom>
          <a:solidFill>
            <a:srgbClr val="9B7A45"/>
          </a:solidFill>
          <a:ln w="12700">
            <a:solidFill>
              <a:srgbClr val="9B7A45"/>
            </a:solidFill>
            <a:prstDash val="solid"/>
          </a:ln>
        </p:spPr>
      </p:sp>
      <p:sp>
        <p:nvSpPr>
          <p:cNvPr id="77" name="Text 48"/>
          <p:cNvSpPr/>
          <p:nvPr/>
        </p:nvSpPr>
        <p:spPr>
          <a:xfrm>
            <a:off x="5961887" y="4488544"/>
            <a:ext cx="2732459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C：20% 成長 + 25% Margin = 45</a:t>
            </a:r>
            <a:endParaRPr lang="en-US" sz="1200" dirty="0"/>
          </a:p>
        </p:txBody>
      </p:sp>
      <p:sp>
        <p:nvSpPr>
          <p:cNvPr id="78" name="Text 49"/>
          <p:cNvSpPr/>
          <p:nvPr/>
        </p:nvSpPr>
        <p:spPr>
          <a:xfrm>
            <a:off x="5961888" y="4619992"/>
            <a:ext cx="3074608" cy="3600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00" dirty="0" err="1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成長較成熟但獲利／現金流強，適合用</a:t>
            </a:r>
            <a:r>
              <a:rPr lang="zh-TW" altLang="en-US" sz="1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於</a:t>
            </a:r>
            <a:r>
              <a:rPr lang="en-US" sz="1000" dirty="0" err="1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成熟同業比較</a:t>
            </a:r>
            <a:endParaRPr lang="en-US" sz="1000" dirty="0"/>
          </a:p>
        </p:txBody>
      </p:sp>
      <p:sp>
        <p:nvSpPr>
          <p:cNvPr id="79" name="Shape 50"/>
          <p:cNvSpPr/>
          <p:nvPr/>
        </p:nvSpPr>
        <p:spPr>
          <a:xfrm>
            <a:off x="5724144" y="5153752"/>
            <a:ext cx="164592" cy="411480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80" name="Text 51"/>
          <p:cNvSpPr/>
          <p:nvPr/>
        </p:nvSpPr>
        <p:spPr>
          <a:xfrm>
            <a:off x="5961888" y="5190336"/>
            <a:ext cx="2786576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D：15% 成長 − 10% Margin = 5</a:t>
            </a:r>
            <a:endParaRPr lang="en-US" sz="1200" dirty="0"/>
          </a:p>
        </p:txBody>
      </p:sp>
      <p:sp>
        <p:nvSpPr>
          <p:cNvPr id="81" name="Text 52"/>
          <p:cNvSpPr/>
          <p:nvPr/>
        </p:nvSpPr>
        <p:spPr>
          <a:xfrm>
            <a:off x="5961887" y="5318344"/>
            <a:ext cx="2679191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>
              <a:buNone/>
            </a:pPr>
            <a:r>
              <a:rPr lang="en-US" sz="1000" dirty="0" err="1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成長速度與獲利表現皆弱，通常難以</a:t>
            </a:r>
            <a:r>
              <a:rPr lang="zh-TW" altLang="en-US" sz="1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給予</a:t>
            </a:r>
            <a:r>
              <a:rPr lang="en-US" sz="1000" dirty="0" err="1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高倍數</a:t>
            </a:r>
            <a:endParaRPr lang="en-US" sz="1000" dirty="0"/>
          </a:p>
        </p:txBody>
      </p:sp>
      <p:sp>
        <p:nvSpPr>
          <p:cNvPr id="65" name="Text 36"/>
          <p:cNvSpPr/>
          <p:nvPr/>
        </p:nvSpPr>
        <p:spPr>
          <a:xfrm>
            <a:off x="914400" y="3105496"/>
            <a:ext cx="109728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高成長／低獲利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841700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Rectangle 2"/>
          <p:cNvSpPr txBox="1">
            <a:spLocks noChangeArrowheads="1"/>
          </p:cNvSpPr>
          <p:nvPr/>
        </p:nvSpPr>
        <p:spPr bwMode="auto">
          <a:xfrm>
            <a:off x="455376" y="395914"/>
            <a:ext cx="8077064" cy="662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24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ARR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en-US" altLang="zh-TW" sz="24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NRR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：市場不只看今年營收，更看收入持續性</a:t>
            </a:r>
          </a:p>
        </p:txBody>
      </p:sp>
      <p:sp>
        <p:nvSpPr>
          <p:cNvPr id="42" name="Text 2"/>
          <p:cNvSpPr/>
          <p:nvPr/>
        </p:nvSpPr>
        <p:spPr>
          <a:xfrm>
            <a:off x="457200" y="136134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2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 3"/>
          <p:cNvSpPr/>
          <p:nvPr/>
        </p:nvSpPr>
        <p:spPr>
          <a:xfrm>
            <a:off x="457200" y="17728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ARR Bridge｜年度經常性收入如何變動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Shape 4"/>
          <p:cNvSpPr/>
          <p:nvPr/>
        </p:nvSpPr>
        <p:spPr>
          <a:xfrm>
            <a:off x="457200" y="2120296"/>
            <a:ext cx="1234440" cy="210312"/>
          </a:xfrm>
          <a:prstGeom prst="rect">
            <a:avLst/>
          </a:prstGeom>
          <a:solidFill>
            <a:srgbClr val="92000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5" name="Text 5"/>
          <p:cNvSpPr/>
          <p:nvPr/>
        </p:nvSpPr>
        <p:spPr>
          <a:xfrm>
            <a:off x="512064" y="2166016"/>
            <a:ext cx="112471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項目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Shape 6"/>
          <p:cNvSpPr/>
          <p:nvPr/>
        </p:nvSpPr>
        <p:spPr>
          <a:xfrm>
            <a:off x="1691640" y="2120296"/>
            <a:ext cx="640080" cy="210312"/>
          </a:xfrm>
          <a:prstGeom prst="rect">
            <a:avLst/>
          </a:prstGeom>
          <a:solidFill>
            <a:srgbClr val="92000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7" name="Text 7"/>
          <p:cNvSpPr/>
          <p:nvPr/>
        </p:nvSpPr>
        <p:spPr>
          <a:xfrm>
            <a:off x="1746504" y="2166016"/>
            <a:ext cx="53035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金額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Shape 8"/>
          <p:cNvSpPr/>
          <p:nvPr/>
        </p:nvSpPr>
        <p:spPr>
          <a:xfrm>
            <a:off x="2331720" y="2120296"/>
            <a:ext cx="2057400" cy="210312"/>
          </a:xfrm>
          <a:prstGeom prst="rect">
            <a:avLst/>
          </a:prstGeom>
          <a:solidFill>
            <a:srgbClr val="92000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9" name="Text 9"/>
          <p:cNvSpPr/>
          <p:nvPr/>
        </p:nvSpPr>
        <p:spPr>
          <a:xfrm>
            <a:off x="2386584" y="2166016"/>
            <a:ext cx="194767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意義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Shape 10"/>
          <p:cNvSpPr/>
          <p:nvPr/>
        </p:nvSpPr>
        <p:spPr>
          <a:xfrm>
            <a:off x="457200" y="2330608"/>
            <a:ext cx="1234440" cy="210312"/>
          </a:xfrm>
          <a:prstGeom prst="rect">
            <a:avLst/>
          </a:prstGeom>
          <a:solidFill>
            <a:srgbClr val="F7F7F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1" name="Text 11"/>
          <p:cNvSpPr/>
          <p:nvPr/>
        </p:nvSpPr>
        <p:spPr>
          <a:xfrm>
            <a:off x="512064" y="2376328"/>
            <a:ext cx="112471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期初 ARR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Shape 12"/>
          <p:cNvSpPr/>
          <p:nvPr/>
        </p:nvSpPr>
        <p:spPr>
          <a:xfrm>
            <a:off x="1691640" y="2330608"/>
            <a:ext cx="640080" cy="210312"/>
          </a:xfrm>
          <a:prstGeom prst="rect">
            <a:avLst/>
          </a:prstGeom>
          <a:solidFill>
            <a:srgbClr val="F7F7F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3" name="Text 13"/>
          <p:cNvSpPr/>
          <p:nvPr/>
        </p:nvSpPr>
        <p:spPr>
          <a:xfrm>
            <a:off x="1746504" y="2376328"/>
            <a:ext cx="53035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100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Shape 14"/>
          <p:cNvSpPr/>
          <p:nvPr/>
        </p:nvSpPr>
        <p:spPr>
          <a:xfrm>
            <a:off x="2331720" y="2330608"/>
            <a:ext cx="2057400" cy="210312"/>
          </a:xfrm>
          <a:prstGeom prst="rect">
            <a:avLst/>
          </a:prstGeom>
          <a:solidFill>
            <a:srgbClr val="F7F7F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5" name="Text 15"/>
          <p:cNvSpPr/>
          <p:nvPr/>
        </p:nvSpPr>
        <p:spPr>
          <a:xfrm>
            <a:off x="2386584" y="2376328"/>
            <a:ext cx="194767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期初已鎖定的年度經常性收入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Shape 16"/>
          <p:cNvSpPr/>
          <p:nvPr/>
        </p:nvSpPr>
        <p:spPr>
          <a:xfrm>
            <a:off x="457200" y="2540920"/>
            <a:ext cx="1234440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7" name="Text 17"/>
          <p:cNvSpPr/>
          <p:nvPr/>
        </p:nvSpPr>
        <p:spPr>
          <a:xfrm>
            <a:off x="512064" y="2586640"/>
            <a:ext cx="112471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新增 ARR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Shape 18"/>
          <p:cNvSpPr/>
          <p:nvPr/>
        </p:nvSpPr>
        <p:spPr>
          <a:xfrm>
            <a:off x="1691640" y="2540920"/>
            <a:ext cx="640080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9" name="Text 19"/>
          <p:cNvSpPr/>
          <p:nvPr/>
        </p:nvSpPr>
        <p:spPr>
          <a:xfrm>
            <a:off x="1746504" y="2586640"/>
            <a:ext cx="53035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+30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Shape 20"/>
          <p:cNvSpPr/>
          <p:nvPr/>
        </p:nvSpPr>
        <p:spPr>
          <a:xfrm>
            <a:off x="2331720" y="2540920"/>
            <a:ext cx="2057400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1" name="Text 21"/>
          <p:cNvSpPr/>
          <p:nvPr/>
        </p:nvSpPr>
        <p:spPr>
          <a:xfrm>
            <a:off x="2386584" y="2586640"/>
            <a:ext cx="194767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新客戶或新合約帶來的 ARR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Shape 22"/>
          <p:cNvSpPr/>
          <p:nvPr/>
        </p:nvSpPr>
        <p:spPr>
          <a:xfrm>
            <a:off x="457200" y="2751232"/>
            <a:ext cx="1234440" cy="210312"/>
          </a:xfrm>
          <a:prstGeom prst="rect">
            <a:avLst/>
          </a:prstGeom>
          <a:solidFill>
            <a:srgbClr val="F7F7F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3" name="Text 23"/>
          <p:cNvSpPr/>
          <p:nvPr/>
        </p:nvSpPr>
        <p:spPr>
          <a:xfrm>
            <a:off x="512064" y="2796952"/>
            <a:ext cx="112471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擴張 ARR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Shape 24"/>
          <p:cNvSpPr/>
          <p:nvPr/>
        </p:nvSpPr>
        <p:spPr>
          <a:xfrm>
            <a:off x="1691640" y="2751232"/>
            <a:ext cx="640080" cy="210312"/>
          </a:xfrm>
          <a:prstGeom prst="rect">
            <a:avLst/>
          </a:prstGeom>
          <a:solidFill>
            <a:srgbClr val="F7F7F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5" name="Text 25"/>
          <p:cNvSpPr/>
          <p:nvPr/>
        </p:nvSpPr>
        <p:spPr>
          <a:xfrm>
            <a:off x="1746504" y="2796952"/>
            <a:ext cx="53035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+20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Shape 26"/>
          <p:cNvSpPr/>
          <p:nvPr/>
        </p:nvSpPr>
        <p:spPr>
          <a:xfrm>
            <a:off x="2331720" y="2751232"/>
            <a:ext cx="2057400" cy="210312"/>
          </a:xfrm>
          <a:prstGeom prst="rect">
            <a:avLst/>
          </a:prstGeom>
          <a:solidFill>
            <a:srgbClr val="F7F7F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7" name="Text 27"/>
          <p:cNvSpPr/>
          <p:nvPr/>
        </p:nvSpPr>
        <p:spPr>
          <a:xfrm>
            <a:off x="2386584" y="2796952"/>
            <a:ext cx="194767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既有客戶加購、升級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8" name="Shape 28"/>
          <p:cNvSpPr/>
          <p:nvPr/>
        </p:nvSpPr>
        <p:spPr>
          <a:xfrm>
            <a:off x="457200" y="2961544"/>
            <a:ext cx="1234440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9" name="Text 29"/>
          <p:cNvSpPr/>
          <p:nvPr/>
        </p:nvSpPr>
        <p:spPr>
          <a:xfrm>
            <a:off x="512064" y="3007264"/>
            <a:ext cx="112471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TW" alt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縮減</a:t>
            </a:r>
            <a:r>
              <a:rPr lang="en-US" altLang="zh-TW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/</a:t>
            </a:r>
            <a:r>
              <a:rPr lang="en-US" sz="1000" dirty="0" err="1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流失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Shape 30"/>
          <p:cNvSpPr/>
          <p:nvPr/>
        </p:nvSpPr>
        <p:spPr>
          <a:xfrm>
            <a:off x="1691640" y="2961544"/>
            <a:ext cx="640080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1" name="Text 31"/>
          <p:cNvSpPr/>
          <p:nvPr/>
        </p:nvSpPr>
        <p:spPr>
          <a:xfrm>
            <a:off x="1746504" y="3007264"/>
            <a:ext cx="53035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−15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2" name="Shape 32"/>
          <p:cNvSpPr/>
          <p:nvPr/>
        </p:nvSpPr>
        <p:spPr>
          <a:xfrm>
            <a:off x="2331720" y="2961544"/>
            <a:ext cx="2057400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3" name="Text 33"/>
          <p:cNvSpPr/>
          <p:nvPr/>
        </p:nvSpPr>
        <p:spPr>
          <a:xfrm>
            <a:off x="2386584" y="3007264"/>
            <a:ext cx="194767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客戶降級或流失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4" name="Shape 34"/>
          <p:cNvSpPr/>
          <p:nvPr/>
        </p:nvSpPr>
        <p:spPr>
          <a:xfrm>
            <a:off x="457200" y="3171856"/>
            <a:ext cx="1234440" cy="210312"/>
          </a:xfrm>
          <a:prstGeom prst="rect">
            <a:avLst/>
          </a:prstGeom>
          <a:solidFill>
            <a:srgbClr val="F7F7F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5" name="Text 35"/>
          <p:cNvSpPr/>
          <p:nvPr/>
        </p:nvSpPr>
        <p:spPr>
          <a:xfrm>
            <a:off x="512064" y="3217576"/>
            <a:ext cx="112471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期末 ARR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6" name="Shape 36"/>
          <p:cNvSpPr/>
          <p:nvPr/>
        </p:nvSpPr>
        <p:spPr>
          <a:xfrm>
            <a:off x="1691640" y="3171856"/>
            <a:ext cx="640080" cy="210312"/>
          </a:xfrm>
          <a:prstGeom prst="rect">
            <a:avLst/>
          </a:prstGeom>
          <a:solidFill>
            <a:srgbClr val="F7F7F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7" name="Text 37"/>
          <p:cNvSpPr/>
          <p:nvPr/>
        </p:nvSpPr>
        <p:spPr>
          <a:xfrm>
            <a:off x="1746504" y="3217576"/>
            <a:ext cx="53035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135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8" name="Shape 38"/>
          <p:cNvSpPr/>
          <p:nvPr/>
        </p:nvSpPr>
        <p:spPr>
          <a:xfrm>
            <a:off x="2331720" y="3171856"/>
            <a:ext cx="2057400" cy="210312"/>
          </a:xfrm>
          <a:prstGeom prst="rect">
            <a:avLst/>
          </a:prstGeom>
          <a:solidFill>
            <a:srgbClr val="F7F7F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9" name="Text 39"/>
          <p:cNvSpPr/>
          <p:nvPr/>
        </p:nvSpPr>
        <p:spPr>
          <a:xfrm>
            <a:off x="2386584" y="3217576"/>
            <a:ext cx="1947672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期末年度經常性收入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0" name="Shape 40"/>
          <p:cNvSpPr/>
          <p:nvPr/>
        </p:nvSpPr>
        <p:spPr>
          <a:xfrm>
            <a:off x="502920" y="3446176"/>
            <a:ext cx="3749040" cy="384048"/>
          </a:xfrm>
          <a:prstGeom prst="roundRect">
            <a:avLst>
              <a:gd name="adj" fmla="val 14286"/>
            </a:avLst>
          </a:prstGeom>
          <a:solidFill>
            <a:schemeClr val="accent3">
              <a:lumMod val="95000"/>
            </a:schemeClr>
          </a:solidFill>
          <a:ln w="10160">
            <a:solidFill>
              <a:srgbClr val="B40000"/>
            </a:solidFill>
            <a:prstDash val="solid"/>
          </a:ln>
        </p:spPr>
      </p:sp>
      <p:sp>
        <p:nvSpPr>
          <p:cNvPr id="81" name="Text 41"/>
          <p:cNvSpPr/>
          <p:nvPr/>
        </p:nvSpPr>
        <p:spPr>
          <a:xfrm>
            <a:off x="621792" y="3561584"/>
            <a:ext cx="3520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期末 ARR = 100 + 30 + 20 − 15 = 135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2" name="Shape 42"/>
          <p:cNvSpPr/>
          <p:nvPr/>
        </p:nvSpPr>
        <p:spPr>
          <a:xfrm>
            <a:off x="548640" y="5220112"/>
            <a:ext cx="3657600" cy="0"/>
          </a:xfrm>
          <a:prstGeom prst="line">
            <a:avLst/>
          </a:prstGeom>
          <a:noFill/>
          <a:ln w="7620">
            <a:solidFill>
              <a:srgbClr val="999999"/>
            </a:solidFill>
            <a:prstDash val="solid"/>
          </a:ln>
        </p:spPr>
      </p:sp>
      <p:sp>
        <p:nvSpPr>
          <p:cNvPr id="83" name="Shape 43"/>
          <p:cNvSpPr/>
          <p:nvPr/>
        </p:nvSpPr>
        <p:spPr>
          <a:xfrm>
            <a:off x="594360" y="4508912"/>
            <a:ext cx="384048" cy="711200"/>
          </a:xfrm>
          <a:prstGeom prst="rect">
            <a:avLst/>
          </a:prstGeom>
          <a:solidFill>
            <a:srgbClr val="2B5C8A"/>
          </a:solidFill>
          <a:ln w="12700">
            <a:solidFill>
              <a:srgbClr val="2B5C8A"/>
            </a:solidFill>
            <a:prstDash val="solid"/>
          </a:ln>
        </p:spPr>
      </p:sp>
      <p:sp>
        <p:nvSpPr>
          <p:cNvPr id="84" name="Text 44"/>
          <p:cNvSpPr/>
          <p:nvPr/>
        </p:nvSpPr>
        <p:spPr>
          <a:xfrm>
            <a:off x="521208" y="432603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5C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100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5" name="Text 45"/>
          <p:cNvSpPr/>
          <p:nvPr/>
        </p:nvSpPr>
        <p:spPr>
          <a:xfrm>
            <a:off x="466344" y="53526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期初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6" name="Shape 46"/>
          <p:cNvSpPr/>
          <p:nvPr/>
        </p:nvSpPr>
        <p:spPr>
          <a:xfrm>
            <a:off x="1371600" y="5006752"/>
            <a:ext cx="384048" cy="213360"/>
          </a:xfrm>
          <a:prstGeom prst="rect">
            <a:avLst/>
          </a:prstGeom>
          <a:solidFill>
            <a:srgbClr val="D00000"/>
          </a:solidFill>
          <a:ln w="12700">
            <a:solidFill>
              <a:srgbClr val="D00000"/>
            </a:solidFill>
            <a:prstDash val="solid"/>
          </a:ln>
        </p:spPr>
      </p:sp>
      <p:sp>
        <p:nvSpPr>
          <p:cNvPr id="87" name="Text 47"/>
          <p:cNvSpPr/>
          <p:nvPr/>
        </p:nvSpPr>
        <p:spPr>
          <a:xfrm>
            <a:off x="1298448" y="482387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30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8" name="Text 48"/>
          <p:cNvSpPr/>
          <p:nvPr/>
        </p:nvSpPr>
        <p:spPr>
          <a:xfrm>
            <a:off x="1243584" y="53526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新增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9" name="Shape 49"/>
          <p:cNvSpPr/>
          <p:nvPr/>
        </p:nvSpPr>
        <p:spPr>
          <a:xfrm>
            <a:off x="2148840" y="5077872"/>
            <a:ext cx="384048" cy="142240"/>
          </a:xfrm>
          <a:prstGeom prst="rect">
            <a:avLst/>
          </a:prstGeom>
          <a:solidFill>
            <a:srgbClr val="6AA84F"/>
          </a:solidFill>
          <a:ln w="12700">
            <a:solidFill>
              <a:srgbClr val="6AA84F"/>
            </a:solidFill>
            <a:prstDash val="solid"/>
          </a:ln>
        </p:spPr>
      </p:sp>
      <p:sp>
        <p:nvSpPr>
          <p:cNvPr id="90" name="Text 50"/>
          <p:cNvSpPr/>
          <p:nvPr/>
        </p:nvSpPr>
        <p:spPr>
          <a:xfrm>
            <a:off x="2075688" y="489499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A84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20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1" name="Text 51"/>
          <p:cNvSpPr/>
          <p:nvPr/>
        </p:nvSpPr>
        <p:spPr>
          <a:xfrm>
            <a:off x="2020824" y="53526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擴張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2" name="Shape 52"/>
          <p:cNvSpPr/>
          <p:nvPr/>
        </p:nvSpPr>
        <p:spPr>
          <a:xfrm>
            <a:off x="2926080" y="5229200"/>
            <a:ext cx="384048" cy="106680"/>
          </a:xfrm>
          <a:prstGeom prst="rect">
            <a:avLst/>
          </a:prstGeom>
          <a:solidFill>
            <a:srgbClr val="E69138"/>
          </a:solidFill>
          <a:ln w="12700">
            <a:solidFill>
              <a:srgbClr val="E69138"/>
            </a:solidFill>
            <a:prstDash val="solid"/>
          </a:ln>
        </p:spPr>
      </p:sp>
      <p:sp>
        <p:nvSpPr>
          <p:cNvPr id="93" name="Text 53"/>
          <p:cNvSpPr/>
          <p:nvPr/>
        </p:nvSpPr>
        <p:spPr>
          <a:xfrm>
            <a:off x="2852928" y="5082896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913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−15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4" name="Text 54"/>
          <p:cNvSpPr/>
          <p:nvPr/>
        </p:nvSpPr>
        <p:spPr>
          <a:xfrm>
            <a:off x="2798064" y="53526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流失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5" name="Shape 55"/>
          <p:cNvSpPr/>
          <p:nvPr/>
        </p:nvSpPr>
        <p:spPr>
          <a:xfrm>
            <a:off x="3703320" y="4259992"/>
            <a:ext cx="384048" cy="960120"/>
          </a:xfrm>
          <a:prstGeom prst="rect">
            <a:avLst/>
          </a:prstGeom>
          <a:solidFill>
            <a:srgbClr val="920000"/>
          </a:solidFill>
          <a:ln w="12700">
            <a:solidFill>
              <a:srgbClr val="D00000"/>
            </a:solidFill>
            <a:prstDash val="solid"/>
          </a:ln>
        </p:spPr>
      </p:sp>
      <p:sp>
        <p:nvSpPr>
          <p:cNvPr id="96" name="Text 56"/>
          <p:cNvSpPr/>
          <p:nvPr/>
        </p:nvSpPr>
        <p:spPr>
          <a:xfrm>
            <a:off x="3630168" y="407711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135</a:t>
            </a:r>
            <a:endParaRPr lang="en-US" sz="10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7" name="Text 57"/>
          <p:cNvSpPr/>
          <p:nvPr/>
        </p:nvSpPr>
        <p:spPr>
          <a:xfrm>
            <a:off x="3575304" y="53526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期末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8" name="Text 58"/>
          <p:cNvSpPr/>
          <p:nvPr/>
        </p:nvSpPr>
        <p:spPr>
          <a:xfrm>
            <a:off x="4828032" y="17602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NRR｜既有客戶是否持續擴張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9" name="Shape 59"/>
          <p:cNvSpPr/>
          <p:nvPr/>
        </p:nvSpPr>
        <p:spPr>
          <a:xfrm>
            <a:off x="4846319" y="2120296"/>
            <a:ext cx="3794759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100" name="Text 60"/>
          <p:cNvSpPr/>
          <p:nvPr/>
        </p:nvSpPr>
        <p:spPr>
          <a:xfrm>
            <a:off x="5010912" y="225745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期初既有客戶 ARR 100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Expansion +</a:t>
            </a:r>
            <a:r>
              <a:rPr lang="en-US" sz="1100" dirty="0" err="1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20、Downgrade</a:t>
            </a:r>
            <a:r>
              <a:rPr lang="en-US" sz="11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−5、Churn −10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→ </a:t>
            </a:r>
            <a:r>
              <a:rPr lang="en-US" sz="1100" dirty="0" err="1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NRR</a:t>
            </a:r>
            <a:r>
              <a:rPr lang="en-US" sz="11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= 105%</a:t>
            </a:r>
            <a:endParaRPr 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1" name="Shape 61"/>
          <p:cNvSpPr/>
          <p:nvPr/>
        </p:nvSpPr>
        <p:spPr>
          <a:xfrm>
            <a:off x="4896552" y="3446176"/>
            <a:ext cx="475488" cy="548640"/>
          </a:xfrm>
          <a:prstGeom prst="rect">
            <a:avLst/>
          </a:prstGeom>
          <a:solidFill>
            <a:srgbClr val="2B5C8A"/>
          </a:solidFill>
          <a:ln w="12700">
            <a:solidFill>
              <a:srgbClr val="2B5C8A"/>
            </a:solidFill>
            <a:prstDash val="solid"/>
          </a:ln>
        </p:spPr>
      </p:sp>
      <p:sp>
        <p:nvSpPr>
          <p:cNvPr id="102" name="Text 62"/>
          <p:cNvSpPr/>
          <p:nvPr/>
        </p:nvSpPr>
        <p:spPr>
          <a:xfrm>
            <a:off x="4850832" y="3226720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5C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100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3" name="Text 63"/>
          <p:cNvSpPr/>
          <p:nvPr/>
        </p:nvSpPr>
        <p:spPr>
          <a:xfrm>
            <a:off x="4759392" y="4077112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期初既有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4" name="Shape 64"/>
          <p:cNvSpPr/>
          <p:nvPr/>
        </p:nvSpPr>
        <p:spPr>
          <a:xfrm>
            <a:off x="5518344" y="3757072"/>
            <a:ext cx="41148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  <a:headEnd type="none"/>
            <a:tailEnd type="triangle"/>
          </a:ln>
        </p:spPr>
      </p:sp>
      <p:sp>
        <p:nvSpPr>
          <p:cNvPr id="105" name="Shape 65"/>
          <p:cNvSpPr/>
          <p:nvPr/>
        </p:nvSpPr>
        <p:spPr>
          <a:xfrm>
            <a:off x="6039552" y="3555904"/>
            <a:ext cx="347472" cy="438912"/>
          </a:xfrm>
          <a:prstGeom prst="rect">
            <a:avLst/>
          </a:prstGeom>
          <a:solidFill>
            <a:srgbClr val="6AA84F"/>
          </a:solidFill>
          <a:ln w="12700">
            <a:solidFill>
              <a:srgbClr val="6AA84F"/>
            </a:solidFill>
            <a:prstDash val="solid"/>
          </a:ln>
        </p:spPr>
      </p:sp>
      <p:sp>
        <p:nvSpPr>
          <p:cNvPr id="106" name="Text 66"/>
          <p:cNvSpPr/>
          <p:nvPr/>
        </p:nvSpPr>
        <p:spPr>
          <a:xfrm>
            <a:off x="5975544" y="3336448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A84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+20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7" name="Text 67"/>
          <p:cNvSpPr/>
          <p:nvPr/>
        </p:nvSpPr>
        <p:spPr>
          <a:xfrm>
            <a:off x="5938968" y="407711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擴張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8" name="Shape 68"/>
          <p:cNvSpPr/>
          <p:nvPr/>
        </p:nvSpPr>
        <p:spPr>
          <a:xfrm>
            <a:off x="6679632" y="3875944"/>
            <a:ext cx="301752" cy="118872"/>
          </a:xfrm>
          <a:prstGeom prst="rect">
            <a:avLst/>
          </a:prstGeom>
          <a:solidFill>
            <a:srgbClr val="E69138"/>
          </a:solidFill>
          <a:ln w="12700">
            <a:solidFill>
              <a:srgbClr val="E69138"/>
            </a:solidFill>
            <a:prstDash val="solid"/>
          </a:ln>
        </p:spPr>
      </p:sp>
      <p:sp>
        <p:nvSpPr>
          <p:cNvPr id="109" name="Text 69"/>
          <p:cNvSpPr/>
          <p:nvPr/>
        </p:nvSpPr>
        <p:spPr>
          <a:xfrm>
            <a:off x="6615624" y="3665632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913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−5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0" name="Text 70"/>
          <p:cNvSpPr/>
          <p:nvPr/>
        </p:nvSpPr>
        <p:spPr>
          <a:xfrm>
            <a:off x="6560760" y="407711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降級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1" name="Shape 71"/>
          <p:cNvSpPr/>
          <p:nvPr/>
        </p:nvSpPr>
        <p:spPr>
          <a:xfrm>
            <a:off x="7319712" y="3766216"/>
            <a:ext cx="301752" cy="228600"/>
          </a:xfrm>
          <a:prstGeom prst="rect">
            <a:avLst/>
          </a:prstGeom>
          <a:solidFill>
            <a:srgbClr val="E69138"/>
          </a:solidFill>
          <a:ln w="12700">
            <a:solidFill>
              <a:srgbClr val="E69138"/>
            </a:solidFill>
            <a:prstDash val="solid"/>
          </a:ln>
        </p:spPr>
      </p:sp>
      <p:sp>
        <p:nvSpPr>
          <p:cNvPr id="112" name="Text 72"/>
          <p:cNvSpPr/>
          <p:nvPr/>
        </p:nvSpPr>
        <p:spPr>
          <a:xfrm>
            <a:off x="7228272" y="3537616"/>
            <a:ext cx="493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913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−10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3" name="Text 73"/>
          <p:cNvSpPr/>
          <p:nvPr/>
        </p:nvSpPr>
        <p:spPr>
          <a:xfrm>
            <a:off x="7173408" y="4077112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流失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4" name="Shape 74"/>
          <p:cNvSpPr/>
          <p:nvPr/>
        </p:nvSpPr>
        <p:spPr>
          <a:xfrm>
            <a:off x="7758624" y="3757072"/>
            <a:ext cx="41148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15" name="Shape 75"/>
          <p:cNvSpPr/>
          <p:nvPr/>
        </p:nvSpPr>
        <p:spPr>
          <a:xfrm>
            <a:off x="8279832" y="3363880"/>
            <a:ext cx="475488" cy="630936"/>
          </a:xfrm>
          <a:prstGeom prst="rect">
            <a:avLst/>
          </a:prstGeom>
          <a:solidFill>
            <a:srgbClr val="920000"/>
          </a:solidFill>
          <a:ln w="12700">
            <a:solidFill>
              <a:srgbClr val="D00000"/>
            </a:solidFill>
            <a:prstDash val="solid"/>
          </a:ln>
        </p:spPr>
      </p:sp>
      <p:sp>
        <p:nvSpPr>
          <p:cNvPr id="116" name="Text 76"/>
          <p:cNvSpPr/>
          <p:nvPr/>
        </p:nvSpPr>
        <p:spPr>
          <a:xfrm>
            <a:off x="8215824" y="3135280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105</a:t>
            </a:r>
            <a:endParaRPr lang="en-US" sz="10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7" name="Text 77"/>
          <p:cNvSpPr/>
          <p:nvPr/>
        </p:nvSpPr>
        <p:spPr>
          <a:xfrm>
            <a:off x="8142672" y="4077112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期末既有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8" name="Shape 78"/>
          <p:cNvSpPr/>
          <p:nvPr/>
        </p:nvSpPr>
        <p:spPr>
          <a:xfrm>
            <a:off x="4939928" y="4424584"/>
            <a:ext cx="3749040" cy="411480"/>
          </a:xfrm>
          <a:prstGeom prst="roundRect">
            <a:avLst>
              <a:gd name="adj" fmla="val 13333"/>
            </a:avLst>
          </a:prstGeom>
          <a:solidFill>
            <a:schemeClr val="accent3">
              <a:lumMod val="95000"/>
            </a:schemeClr>
          </a:solidFill>
          <a:ln w="10160">
            <a:solidFill>
              <a:srgbClr val="B40000"/>
            </a:solidFill>
            <a:prstDash val="solid"/>
          </a:ln>
        </p:spPr>
      </p:sp>
      <p:sp>
        <p:nvSpPr>
          <p:cNvPr id="119" name="Text 79"/>
          <p:cNvSpPr/>
          <p:nvPr/>
        </p:nvSpPr>
        <p:spPr>
          <a:xfrm>
            <a:off x="5115952" y="454345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NRR = 期末既有客戶收入 ÷ 期初既有客戶收入</a:t>
            </a:r>
            <a:endParaRPr lang="en-US" sz="12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0" name="Text 80"/>
          <p:cNvSpPr/>
          <p:nvPr/>
        </p:nvSpPr>
        <p:spPr>
          <a:xfrm>
            <a:off x="4951416" y="5000656"/>
            <a:ext cx="373755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NRR</a:t>
            </a: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&gt; 100%：既有客戶扣除流失與降級後，收入仍成長
</a:t>
            </a:r>
            <a:r>
              <a:rPr lang="en-US" sz="1000" dirty="0" err="1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NRR</a:t>
            </a: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不包含期間新增客戶收入，應搭配新增 ARR 一起看
</a:t>
            </a:r>
            <a:r>
              <a:rPr lang="en-US" sz="1000" dirty="0" err="1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NRR</a:t>
            </a:r>
            <a:r>
              <a:rPr lang="en-US" sz="10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越高，通常代表客戶擴張能力與營收韌性較強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3" name="Text 83"/>
          <p:cNvSpPr/>
          <p:nvPr/>
        </p:nvSpPr>
        <p:spPr>
          <a:xfrm>
            <a:off x="676656" y="60613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4" name="Text 84"/>
          <p:cNvSpPr/>
          <p:nvPr/>
        </p:nvSpPr>
        <p:spPr>
          <a:xfrm>
            <a:off x="1234440" y="6024784"/>
            <a:ext cx="7178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1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5" name="文字方塊 124"/>
          <p:cNvSpPr txBox="1"/>
          <p:nvPr/>
        </p:nvSpPr>
        <p:spPr>
          <a:xfrm>
            <a:off x="414195" y="1139183"/>
            <a:ext cx="82268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0" indent="-180975" algn="just">
              <a:lnSpc>
                <a:spcPts val="1800"/>
              </a:lnSpc>
              <a:buFont typeface="Arial" panose="020B0604020202020204" pitchFamily="34" charset="0"/>
              <a:buChar char="•"/>
              <a:defRPr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SaaS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與經常性收入模式而言，投資人會拆解今年營收中有多少能延續到明年、有多少來自既有的客戶</a:t>
            </a:r>
          </a:p>
        </p:txBody>
      </p:sp>
      <p:sp>
        <p:nvSpPr>
          <p:cNvPr id="126" name="TextBox 7"/>
          <p:cNvSpPr txBox="1"/>
          <p:nvPr/>
        </p:nvSpPr>
        <p:spPr>
          <a:xfrm>
            <a:off x="455377" y="5877272"/>
            <a:ext cx="8185702" cy="248096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t">
            <a:spAutoFit/>
          </a:bodyPr>
          <a:lstStyle/>
          <a:p>
            <a:pPr marL="0" indent="0" algn="ctr">
              <a:buNone/>
            </a:pPr>
            <a:r>
              <a:rPr lang="en-US" altLang="zh-TW" sz="1400" dirty="0" err="1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營收規模不等於營收品質；ARR</a:t>
            </a:r>
            <a:r>
              <a:rPr lang="en-US" altLang="zh-TW" sz="14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與 </a:t>
            </a:r>
            <a:r>
              <a:rPr lang="en-US" altLang="zh-TW" sz="1400" dirty="0" err="1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NRR</a:t>
            </a:r>
            <a:r>
              <a:rPr lang="en-US" altLang="zh-TW" sz="1400" dirty="0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</a:t>
            </a:r>
            <a:r>
              <a:rPr lang="en-US" altLang="zh-TW" sz="1400" dirty="0" err="1">
                <a:solidFill>
                  <a:srgbClr val="1A1A1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用來判斷經常性收入是否可持續、既有客戶是否具備擴張能力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745618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457200" y="957868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ectangle 2"/>
          <p:cNvSpPr txBox="1">
            <a:spLocks noChangeArrowheads="1"/>
          </p:cNvSpPr>
          <p:nvPr/>
        </p:nvSpPr>
        <p:spPr bwMode="auto">
          <a:xfrm>
            <a:off x="455376" y="395914"/>
            <a:ext cx="7312025" cy="662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>
              <a:defRPr sz="2300" b="1">
                <a:solidFill>
                  <a:srgbClr val="232323"/>
                </a:solidFill>
                <a:latin typeface="Microsoft JhengHei"/>
              </a:defRPr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Unit Economics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：成長很快，不代表成長很便宜</a:t>
            </a:r>
          </a:p>
        </p:txBody>
      </p:sp>
      <p:sp>
        <p:nvSpPr>
          <p:cNvPr id="22" name="Shape 5"/>
          <p:cNvSpPr/>
          <p:nvPr/>
        </p:nvSpPr>
        <p:spPr>
          <a:xfrm>
            <a:off x="455376" y="1283088"/>
            <a:ext cx="2589262" cy="38672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6"/>
          <p:cNvSpPr/>
          <p:nvPr/>
        </p:nvSpPr>
        <p:spPr>
          <a:xfrm>
            <a:off x="455376" y="1283088"/>
            <a:ext cx="63596" cy="3867280"/>
          </a:xfrm>
          <a:prstGeom prst="rect">
            <a:avLst/>
          </a:prstGeom>
          <a:solidFill>
            <a:srgbClr val="92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24" name="Text 7"/>
          <p:cNvSpPr/>
          <p:nvPr/>
        </p:nvSpPr>
        <p:spPr>
          <a:xfrm>
            <a:off x="600738" y="1461186"/>
            <a:ext cx="2334879" cy="27986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01｜SaaS：CAC 回收期</a:t>
            </a:r>
            <a:endParaRPr lang="en-US" sz="13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 8"/>
          <p:cNvSpPr/>
          <p:nvPr/>
        </p:nvSpPr>
        <p:spPr>
          <a:xfrm>
            <a:off x="600738" y="1779219"/>
            <a:ext cx="2334879" cy="2289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取得一個客戶，要多久回本？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Shape 9"/>
          <p:cNvSpPr/>
          <p:nvPr/>
        </p:nvSpPr>
        <p:spPr>
          <a:xfrm>
            <a:off x="600738" y="2122695"/>
            <a:ext cx="2298538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27" name="Text 10"/>
          <p:cNvSpPr/>
          <p:nvPr/>
        </p:nvSpPr>
        <p:spPr>
          <a:xfrm>
            <a:off x="600738" y="2275351"/>
            <a:ext cx="2298538" cy="58518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just">
              <a:buNone/>
            </a:pPr>
            <a:r>
              <a:rPr 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CAC 回收期 = 客戶取得成本 ÷ 每月客戶毛利貢獻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600738" y="2987744"/>
            <a:ext cx="2298538" cy="71239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例：取得成本 12 萬元；每月毛利貢獻 1 萬元 → 約 12 </a:t>
            </a:r>
            <a:r>
              <a:rPr lang="en-US" sz="12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個月回收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Shape 12"/>
          <p:cNvSpPr/>
          <p:nvPr/>
        </p:nvSpPr>
        <p:spPr>
          <a:xfrm>
            <a:off x="600738" y="3890958"/>
            <a:ext cx="2298538" cy="992263"/>
          </a:xfrm>
          <a:prstGeom prst="roundRect">
            <a:avLst>
              <a:gd name="adj" fmla="val 10256"/>
            </a:avLst>
          </a:prstGeom>
          <a:solidFill>
            <a:schemeClr val="accent3">
              <a:lumMod val="95000"/>
            </a:schemeClr>
          </a:solidFill>
          <a:ln w="7620">
            <a:solidFill>
              <a:srgbClr val="F0D8D8"/>
            </a:solidFill>
            <a:prstDash val="solid"/>
          </a:ln>
        </p:spPr>
      </p:sp>
      <p:sp>
        <p:nvSpPr>
          <p:cNvPr id="30" name="Text 13"/>
          <p:cNvSpPr/>
          <p:nvPr/>
        </p:nvSpPr>
        <p:spPr>
          <a:xfrm>
            <a:off x="700675" y="4018171"/>
            <a:ext cx="2116836" cy="699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回收期越短，代表新增客戶的經濟效率通常越好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Shape 14"/>
          <p:cNvSpPr/>
          <p:nvPr/>
        </p:nvSpPr>
        <p:spPr>
          <a:xfrm>
            <a:off x="3253596" y="1283088"/>
            <a:ext cx="2589262" cy="38672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15"/>
          <p:cNvSpPr/>
          <p:nvPr/>
        </p:nvSpPr>
        <p:spPr>
          <a:xfrm>
            <a:off x="3253596" y="1283088"/>
            <a:ext cx="63596" cy="3867280"/>
          </a:xfrm>
          <a:prstGeom prst="rect">
            <a:avLst/>
          </a:prstGeom>
          <a:solidFill>
            <a:srgbClr val="92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33" name="Text 16"/>
          <p:cNvSpPr/>
          <p:nvPr/>
        </p:nvSpPr>
        <p:spPr>
          <a:xfrm>
            <a:off x="3347864" y="1461186"/>
            <a:ext cx="2443900" cy="27986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02｜經常性收入：Burn Multiple</a:t>
            </a:r>
            <a:endParaRPr lang="en-US" sz="13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 17"/>
          <p:cNvSpPr/>
          <p:nvPr/>
        </p:nvSpPr>
        <p:spPr>
          <a:xfrm>
            <a:off x="3398958" y="1779219"/>
            <a:ext cx="2334879" cy="2289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每增加 1 元 ARR，要消耗多少現金？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Shape 18"/>
          <p:cNvSpPr/>
          <p:nvPr/>
        </p:nvSpPr>
        <p:spPr>
          <a:xfrm>
            <a:off x="3398958" y="2122695"/>
            <a:ext cx="2298538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36" name="Text 19"/>
          <p:cNvSpPr/>
          <p:nvPr/>
        </p:nvSpPr>
        <p:spPr>
          <a:xfrm>
            <a:off x="3398958" y="2275351"/>
            <a:ext cx="2298538" cy="58518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just">
              <a:buNone/>
            </a:pPr>
            <a:r>
              <a:rPr 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Burn Multiple = 淨現金消耗 ÷ Net New ARR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 20"/>
          <p:cNvSpPr/>
          <p:nvPr/>
        </p:nvSpPr>
        <p:spPr>
          <a:xfrm>
            <a:off x="3398958" y="2987744"/>
            <a:ext cx="2298538" cy="71239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例：淨現金消耗 1 億元、Net New ARR 1 億元 → 1.0x；若消耗 3 億元 → </a:t>
            </a:r>
            <a:r>
              <a:rPr lang="en-US" sz="12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3.0x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Shape 21"/>
          <p:cNvSpPr/>
          <p:nvPr/>
        </p:nvSpPr>
        <p:spPr>
          <a:xfrm>
            <a:off x="3398958" y="3890958"/>
            <a:ext cx="2298538" cy="992263"/>
          </a:xfrm>
          <a:prstGeom prst="roundRect">
            <a:avLst>
              <a:gd name="adj" fmla="val 10256"/>
            </a:avLst>
          </a:prstGeom>
          <a:solidFill>
            <a:schemeClr val="accent3">
              <a:lumMod val="95000"/>
            </a:schemeClr>
          </a:solidFill>
          <a:ln w="7620">
            <a:solidFill>
              <a:srgbClr val="F0D8D8"/>
            </a:solidFill>
            <a:prstDash val="solid"/>
          </a:ln>
        </p:spPr>
      </p:sp>
      <p:sp>
        <p:nvSpPr>
          <p:cNvPr id="39" name="Text 22"/>
          <p:cNvSpPr/>
          <p:nvPr/>
        </p:nvSpPr>
        <p:spPr>
          <a:xfrm>
            <a:off x="3498895" y="4018171"/>
            <a:ext cx="2116836" cy="699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主要適用於高成長、仍在燒現金的 </a:t>
            </a:r>
            <a:r>
              <a:rPr lang="en-US" sz="12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SaaS／經常性收入公司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Shape 23"/>
          <p:cNvSpPr/>
          <p:nvPr/>
        </p:nvSpPr>
        <p:spPr>
          <a:xfrm>
            <a:off x="6051817" y="1283088"/>
            <a:ext cx="2589262" cy="38672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24"/>
          <p:cNvSpPr/>
          <p:nvPr/>
        </p:nvSpPr>
        <p:spPr>
          <a:xfrm>
            <a:off x="6051817" y="1283088"/>
            <a:ext cx="63596" cy="3867280"/>
          </a:xfrm>
          <a:prstGeom prst="rect">
            <a:avLst/>
          </a:prstGeom>
          <a:solidFill>
            <a:srgbClr val="920000"/>
          </a:solidFill>
          <a:ln w="12700">
            <a:solidFill>
              <a:srgbClr val="B00000"/>
            </a:solidFill>
            <a:prstDash val="solid"/>
          </a:ln>
        </p:spPr>
      </p:sp>
      <p:sp>
        <p:nvSpPr>
          <p:cNvPr id="42" name="Text 25"/>
          <p:cNvSpPr/>
          <p:nvPr/>
        </p:nvSpPr>
        <p:spPr>
          <a:xfrm>
            <a:off x="6197179" y="1461186"/>
            <a:ext cx="2334879" cy="27986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03｜平台經濟：貢獻利益</a:t>
            </a:r>
            <a:endParaRPr lang="en-US" sz="13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 26"/>
          <p:cNvSpPr/>
          <p:nvPr/>
        </p:nvSpPr>
        <p:spPr>
          <a:xfrm>
            <a:off x="6197179" y="1779219"/>
            <a:ext cx="2334879" cy="2289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每 1 元交易額，最後能留下多少？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Shape 27"/>
          <p:cNvSpPr/>
          <p:nvPr/>
        </p:nvSpPr>
        <p:spPr>
          <a:xfrm>
            <a:off x="6197179" y="2122695"/>
            <a:ext cx="2298538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45" name="Text 28"/>
          <p:cNvSpPr/>
          <p:nvPr/>
        </p:nvSpPr>
        <p:spPr>
          <a:xfrm>
            <a:off x="6197179" y="2275351"/>
            <a:ext cx="2298538" cy="58518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just">
              <a:buNone/>
            </a:pPr>
            <a:r>
              <a:rPr 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GMV × 抽成率 = 平台營收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None/>
            </a:pPr>
            <a:r>
              <a:rPr lang="en-US" sz="12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平台營收 − 變動成本 = 貢獻利益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Text 29"/>
          <p:cNvSpPr/>
          <p:nvPr/>
        </p:nvSpPr>
        <p:spPr>
          <a:xfrm>
            <a:off x="6197179" y="2987744"/>
            <a:ext cx="2298538" cy="71239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變動成本包含支付、履約、補貼、客服或其他與交易量連動的成本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Shape 30"/>
          <p:cNvSpPr/>
          <p:nvPr/>
        </p:nvSpPr>
        <p:spPr>
          <a:xfrm>
            <a:off x="6197179" y="3890958"/>
            <a:ext cx="2298538" cy="992263"/>
          </a:xfrm>
          <a:prstGeom prst="roundRect">
            <a:avLst>
              <a:gd name="adj" fmla="val 10256"/>
            </a:avLst>
          </a:prstGeom>
          <a:solidFill>
            <a:schemeClr val="accent3">
              <a:lumMod val="95000"/>
            </a:schemeClr>
          </a:solidFill>
          <a:ln w="7620">
            <a:solidFill>
              <a:srgbClr val="F0D8D8"/>
            </a:solidFill>
            <a:prstDash val="solid"/>
          </a:ln>
        </p:spPr>
      </p:sp>
      <p:sp>
        <p:nvSpPr>
          <p:cNvPr id="48" name="Text 31"/>
          <p:cNvSpPr/>
          <p:nvPr/>
        </p:nvSpPr>
        <p:spPr>
          <a:xfrm>
            <a:off x="6297115" y="4018171"/>
            <a:ext cx="2116836" cy="699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交易規模大不一定等於經濟效益高，仍要看抽成率與貢獻利益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455377" y="5661248"/>
            <a:ext cx="8185702" cy="243143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t">
            <a:spAutoFit/>
          </a:bodyPr>
          <a:lstStyle/>
          <a:p>
            <a:pPr marL="0" indent="0" algn="ctr">
              <a:buNone/>
            </a:pPr>
            <a:r>
              <a:rPr lang="en-US" altLang="zh-TW" sz="14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Unit Economics </a:t>
            </a:r>
            <a:r>
              <a:rPr lang="en-US" altLang="zh-TW" sz="1400" dirty="0" err="1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的重點不是單看成長，而是判斷成長是否能以合理成本轉化為可持續的經濟價值</a:t>
            </a:r>
            <a:endParaRPr lang="en-US" altLang="zh-TW" sz="1400" dirty="0"/>
          </a:p>
        </p:txBody>
      </p:sp>
    </p:spTree>
    <p:extLst>
      <p:ext uri="{BB962C8B-B14F-4D97-AF65-F5344CB8AC3E}">
        <p14:creationId xmlns:p14="http://schemas.microsoft.com/office/powerpoint/2010/main" val="36293354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Rectangle 2"/>
          <p:cNvSpPr txBox="1">
            <a:spLocks noChangeArrowheads="1"/>
          </p:cNvSpPr>
          <p:nvPr/>
        </p:nvSpPr>
        <p:spPr bwMode="auto">
          <a:xfrm>
            <a:off x="455376" y="395914"/>
            <a:ext cx="9373208" cy="662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>
              <a:defRPr sz="2300" b="1">
                <a:solidFill>
                  <a:srgbClr val="232323"/>
                </a:solidFill>
                <a:latin typeface="Microsoft JhengHei"/>
              </a:defRPr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Business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KPI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→ Financial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KPI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→ Valuation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Shape 5"/>
          <p:cNvSpPr/>
          <p:nvPr/>
        </p:nvSpPr>
        <p:spPr>
          <a:xfrm>
            <a:off x="438912" y="1102960"/>
            <a:ext cx="8266176" cy="2770632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 w="10160">
            <a:solidFill>
              <a:srgbClr val="D5D5D5"/>
            </a:solidFill>
            <a:prstDash val="solid"/>
          </a:ln>
        </p:spPr>
      </p:sp>
      <p:sp>
        <p:nvSpPr>
          <p:cNvPr id="48" name="Text 6"/>
          <p:cNvSpPr/>
          <p:nvPr/>
        </p:nvSpPr>
        <p:spPr>
          <a:xfrm>
            <a:off x="566928" y="1194400"/>
            <a:ext cx="4389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01  </a:t>
            </a:r>
            <a:r>
              <a:rPr lang="zh-TW" altLang="en-US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營運 </a:t>
            </a:r>
            <a:r>
              <a:rPr lang="en-US" altLang="zh-TW" sz="1400" dirty="0" err="1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KPI</a:t>
            </a:r>
            <a:r>
              <a:rPr lang="zh-TW" altLang="en-US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</a:t>
            </a:r>
            <a:r>
              <a:rPr lang="en-US" altLang="zh-TW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  <a:sym typeface="Wingdings" panose="05000000000000000000" pitchFamily="2" charset="2"/>
              </a:rPr>
              <a:t></a:t>
            </a:r>
            <a:r>
              <a:rPr lang="zh-TW" altLang="en-US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  <a:sym typeface="Wingdings" panose="05000000000000000000" pitchFamily="2" charset="2"/>
              </a:rPr>
              <a:t> </a:t>
            </a:r>
            <a:r>
              <a:rPr lang="zh-TW" altLang="en-US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市場估值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Text 7"/>
          <p:cNvSpPr/>
          <p:nvPr/>
        </p:nvSpPr>
        <p:spPr>
          <a:xfrm>
            <a:off x="5166360" y="1212688"/>
            <a:ext cx="3200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endParaRPr lang="en-US" sz="8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Text 15"/>
          <p:cNvSpPr/>
          <p:nvPr/>
        </p:nvSpPr>
        <p:spPr>
          <a:xfrm>
            <a:off x="-1404664" y="2129408"/>
            <a:ext cx="1609344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3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Text 24"/>
          <p:cNvSpPr/>
          <p:nvPr/>
        </p:nvSpPr>
        <p:spPr>
          <a:xfrm>
            <a:off x="-1404664" y="2696336"/>
            <a:ext cx="1609344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73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4" name="Text 32"/>
          <p:cNvSpPr/>
          <p:nvPr/>
        </p:nvSpPr>
        <p:spPr>
          <a:xfrm>
            <a:off x="-1404664" y="3089528"/>
            <a:ext cx="1609344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91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" name="群組 2"/>
          <p:cNvGrpSpPr/>
          <p:nvPr/>
        </p:nvGrpSpPr>
        <p:grpSpPr>
          <a:xfrm>
            <a:off x="661880" y="1556792"/>
            <a:ext cx="7796320" cy="2127088"/>
            <a:chOff x="661880" y="1617593"/>
            <a:chExt cx="5742432" cy="1883415"/>
          </a:xfrm>
        </p:grpSpPr>
        <p:sp>
          <p:nvSpPr>
            <p:cNvPr id="51" name="Text 9"/>
            <p:cNvSpPr/>
            <p:nvPr/>
          </p:nvSpPr>
          <p:spPr>
            <a:xfrm>
              <a:off x="661880" y="1617593"/>
              <a:ext cx="1810512" cy="192024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66666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核心 KPI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2" name="Text 10"/>
            <p:cNvSpPr/>
            <p:nvPr/>
          </p:nvSpPr>
          <p:spPr>
            <a:xfrm>
              <a:off x="2874728" y="1617593"/>
              <a:ext cx="1627632" cy="192024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66666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財務轉換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3" name="Text 11"/>
            <p:cNvSpPr/>
            <p:nvPr/>
          </p:nvSpPr>
          <p:spPr>
            <a:xfrm>
              <a:off x="4932128" y="1617593"/>
              <a:ext cx="1325880" cy="192024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66666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常見估值參考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4" name="Shape 12"/>
            <p:cNvSpPr/>
            <p:nvPr/>
          </p:nvSpPr>
          <p:spPr>
            <a:xfrm>
              <a:off x="661880" y="1882520"/>
              <a:ext cx="5742432" cy="484632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E7E7E7"/>
              </a:solidFill>
              <a:prstDash val="solid"/>
            </a:ln>
          </p:spPr>
        </p:sp>
        <p:sp>
          <p:nvSpPr>
            <p:cNvPr id="58" name="Text 16"/>
            <p:cNvSpPr/>
            <p:nvPr/>
          </p:nvSpPr>
          <p:spPr>
            <a:xfrm>
              <a:off x="735032" y="1955672"/>
              <a:ext cx="1664208" cy="34747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ARR、NRR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使用量／運算成本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9" name="Shape 17"/>
            <p:cNvSpPr/>
            <p:nvPr/>
          </p:nvSpPr>
          <p:spPr>
            <a:xfrm>
              <a:off x="2563832" y="2129408"/>
              <a:ext cx="237744" cy="0"/>
            </a:xfrm>
            <a:prstGeom prst="line">
              <a:avLst/>
            </a:prstGeom>
            <a:noFill/>
            <a:ln w="12700">
              <a:solidFill>
                <a:srgbClr val="B58B45"/>
              </a:solidFill>
              <a:prstDash val="solid"/>
              <a:headEnd type="none"/>
              <a:tailEnd type="triangle"/>
            </a:ln>
          </p:spPr>
        </p:sp>
        <p:sp>
          <p:nvSpPr>
            <p:cNvPr id="60" name="Text 18"/>
            <p:cNvSpPr/>
            <p:nvPr/>
          </p:nvSpPr>
          <p:spPr>
            <a:xfrm>
              <a:off x="2920448" y="1955672"/>
              <a:ext cx="1536192" cy="34747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營收成長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毛利率／FCF 路徑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1" name="Shape 19"/>
            <p:cNvSpPr/>
            <p:nvPr/>
          </p:nvSpPr>
          <p:spPr>
            <a:xfrm>
              <a:off x="4593800" y="2129408"/>
              <a:ext cx="265176" cy="0"/>
            </a:xfrm>
            <a:prstGeom prst="line">
              <a:avLst/>
            </a:prstGeom>
            <a:noFill/>
            <a:ln w="12700">
              <a:solidFill>
                <a:srgbClr val="B58B45"/>
              </a:solidFill>
              <a:prstDash val="solid"/>
              <a:headEnd type="none"/>
              <a:tailEnd type="triangle"/>
            </a:ln>
          </p:spPr>
        </p:sp>
        <p:sp>
          <p:nvSpPr>
            <p:cNvPr id="62" name="Text 20"/>
            <p:cNvSpPr/>
            <p:nvPr/>
          </p:nvSpPr>
          <p:spPr>
            <a:xfrm>
              <a:off x="4959560" y="1955672"/>
              <a:ext cx="1271016" cy="34747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B5121B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EV/Revenue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B5121B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EV/ARR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3" name="Shape 21"/>
            <p:cNvSpPr/>
            <p:nvPr/>
          </p:nvSpPr>
          <p:spPr>
            <a:xfrm>
              <a:off x="661880" y="2385440"/>
              <a:ext cx="5742432" cy="4846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7E7E7"/>
              </a:solidFill>
              <a:prstDash val="solid"/>
            </a:ln>
          </p:spPr>
        </p:sp>
        <p:sp>
          <p:nvSpPr>
            <p:cNvPr id="67" name="Text 25"/>
            <p:cNvSpPr/>
            <p:nvPr/>
          </p:nvSpPr>
          <p:spPr>
            <a:xfrm>
              <a:off x="735032" y="2522600"/>
              <a:ext cx="1664208" cy="34747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GMV、抽成率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重複交易率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8" name="Shape 26"/>
            <p:cNvSpPr/>
            <p:nvPr/>
          </p:nvSpPr>
          <p:spPr>
            <a:xfrm>
              <a:off x="2563832" y="2696336"/>
              <a:ext cx="237744" cy="0"/>
            </a:xfrm>
            <a:prstGeom prst="line">
              <a:avLst/>
            </a:prstGeom>
            <a:noFill/>
            <a:ln w="12700">
              <a:solidFill>
                <a:srgbClr val="B58B45"/>
              </a:solidFill>
              <a:prstDash val="solid"/>
              <a:headEnd type="none"/>
              <a:tailEnd type="triangle"/>
            </a:ln>
          </p:spPr>
        </p:sp>
        <p:sp>
          <p:nvSpPr>
            <p:cNvPr id="69" name="Text 27"/>
            <p:cNvSpPr/>
            <p:nvPr/>
          </p:nvSpPr>
          <p:spPr>
            <a:xfrm>
              <a:off x="2920448" y="2522600"/>
              <a:ext cx="1536192" cy="34747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平台營收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貢獻利益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0" name="Shape 28"/>
            <p:cNvSpPr/>
            <p:nvPr/>
          </p:nvSpPr>
          <p:spPr>
            <a:xfrm>
              <a:off x="4593800" y="2696336"/>
              <a:ext cx="265176" cy="0"/>
            </a:xfrm>
            <a:prstGeom prst="line">
              <a:avLst/>
            </a:prstGeom>
            <a:noFill/>
            <a:ln w="12700">
              <a:solidFill>
                <a:srgbClr val="B58B45"/>
              </a:solidFill>
              <a:prstDash val="solid"/>
              <a:headEnd type="none"/>
              <a:tailEnd type="triangle"/>
            </a:ln>
          </p:spPr>
        </p:sp>
        <p:sp>
          <p:nvSpPr>
            <p:cNvPr id="71" name="Text 29"/>
            <p:cNvSpPr/>
            <p:nvPr/>
          </p:nvSpPr>
          <p:spPr>
            <a:xfrm>
              <a:off x="4959560" y="2522600"/>
              <a:ext cx="1271016" cy="34747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B5121B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EV/Revenue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B5121B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EV/GMV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2" name="Shape 30"/>
            <p:cNvSpPr/>
            <p:nvPr/>
          </p:nvSpPr>
          <p:spPr>
            <a:xfrm>
              <a:off x="661880" y="3016376"/>
              <a:ext cx="5742432" cy="484632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E7E7E7"/>
              </a:solidFill>
              <a:prstDash val="solid"/>
            </a:ln>
          </p:spPr>
        </p:sp>
        <p:sp>
          <p:nvSpPr>
            <p:cNvPr id="76" name="Text 34"/>
            <p:cNvSpPr/>
            <p:nvPr/>
          </p:nvSpPr>
          <p:spPr>
            <a:xfrm>
              <a:off x="735032" y="3089528"/>
              <a:ext cx="1664208" cy="34747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TPV／AUM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損失率／留存率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7" name="Shape 35"/>
            <p:cNvSpPr/>
            <p:nvPr/>
          </p:nvSpPr>
          <p:spPr>
            <a:xfrm>
              <a:off x="2563832" y="3263264"/>
              <a:ext cx="237744" cy="0"/>
            </a:xfrm>
            <a:prstGeom prst="line">
              <a:avLst/>
            </a:prstGeom>
            <a:noFill/>
            <a:ln w="12700">
              <a:solidFill>
                <a:srgbClr val="B58B45"/>
              </a:solidFill>
              <a:prstDash val="solid"/>
              <a:headEnd type="none"/>
              <a:tailEnd type="triangle"/>
            </a:ln>
          </p:spPr>
        </p:sp>
        <p:sp>
          <p:nvSpPr>
            <p:cNvPr id="78" name="Text 36"/>
            <p:cNvSpPr/>
            <p:nvPr/>
          </p:nvSpPr>
          <p:spPr>
            <a:xfrm>
              <a:off x="2920448" y="3089528"/>
              <a:ext cx="1536192" cy="34747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營收／獲利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風險成本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9" name="Shape 37"/>
            <p:cNvSpPr/>
            <p:nvPr/>
          </p:nvSpPr>
          <p:spPr>
            <a:xfrm>
              <a:off x="4593800" y="3263264"/>
              <a:ext cx="265176" cy="0"/>
            </a:xfrm>
            <a:prstGeom prst="line">
              <a:avLst/>
            </a:prstGeom>
            <a:noFill/>
            <a:ln w="12700">
              <a:solidFill>
                <a:srgbClr val="B58B45"/>
              </a:solidFill>
              <a:prstDash val="solid"/>
              <a:headEnd type="none"/>
              <a:tailEnd type="triangle"/>
            </a:ln>
          </p:spPr>
        </p:sp>
        <p:sp>
          <p:nvSpPr>
            <p:cNvPr id="80" name="Text 38"/>
            <p:cNvSpPr/>
            <p:nvPr/>
          </p:nvSpPr>
          <p:spPr>
            <a:xfrm>
              <a:off x="4959560" y="3089528"/>
              <a:ext cx="1271016" cy="347472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B5121B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依模式而異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B5121B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P/B、P/E等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81" name="Shape 39"/>
          <p:cNvSpPr/>
          <p:nvPr/>
        </p:nvSpPr>
        <p:spPr>
          <a:xfrm>
            <a:off x="438912" y="4019896"/>
            <a:ext cx="8266176" cy="960120"/>
          </a:xfrm>
          <a:prstGeom prst="roundRect">
            <a:avLst>
              <a:gd name="adj" fmla="val 7619"/>
            </a:avLst>
          </a:prstGeom>
          <a:solidFill>
            <a:schemeClr val="accent3">
              <a:lumMod val="95000"/>
            </a:schemeClr>
          </a:solidFill>
          <a:ln w="10160">
            <a:solidFill>
              <a:srgbClr val="E1C8CC"/>
            </a:solidFill>
            <a:prstDash val="solid"/>
          </a:ln>
        </p:spPr>
      </p:sp>
      <p:sp>
        <p:nvSpPr>
          <p:cNvPr id="82" name="Text 40"/>
          <p:cNvSpPr/>
          <p:nvPr/>
        </p:nvSpPr>
        <p:spPr>
          <a:xfrm>
            <a:off x="566928" y="4093048"/>
            <a:ext cx="3995928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02  同樣營收，為什麼估值倍數可以不同？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3" name="Text 41"/>
          <p:cNvSpPr/>
          <p:nvPr/>
        </p:nvSpPr>
        <p:spPr>
          <a:xfrm>
            <a:off x="3886200" y="4203936"/>
            <a:ext cx="45720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endParaRPr lang="en-US" sz="82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4" name="Shape 42"/>
          <p:cNvSpPr/>
          <p:nvPr/>
        </p:nvSpPr>
        <p:spPr>
          <a:xfrm>
            <a:off x="667512" y="4386816"/>
            <a:ext cx="1700784" cy="48234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B9BD"/>
            </a:solidFill>
            <a:prstDash val="solid"/>
          </a:ln>
        </p:spPr>
      </p:sp>
      <p:sp>
        <p:nvSpPr>
          <p:cNvPr id="85" name="Text 43"/>
          <p:cNvSpPr/>
          <p:nvPr/>
        </p:nvSpPr>
        <p:spPr>
          <a:xfrm>
            <a:off x="713232" y="4439416"/>
            <a:ext cx="1609344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成長性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6" name="Text 44"/>
          <p:cNvSpPr/>
          <p:nvPr/>
        </p:nvSpPr>
        <p:spPr>
          <a:xfrm>
            <a:off x="713232" y="4670280"/>
            <a:ext cx="1609344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成長速度與市場空間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7" name="Shape 45"/>
          <p:cNvSpPr/>
          <p:nvPr/>
        </p:nvSpPr>
        <p:spPr>
          <a:xfrm>
            <a:off x="2615184" y="4386816"/>
            <a:ext cx="1700784" cy="48234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B9BD"/>
            </a:solidFill>
            <a:prstDash val="solid"/>
          </a:ln>
        </p:spPr>
      </p:sp>
      <p:sp>
        <p:nvSpPr>
          <p:cNvPr id="88" name="Text 46"/>
          <p:cNvSpPr/>
          <p:nvPr/>
        </p:nvSpPr>
        <p:spPr>
          <a:xfrm>
            <a:off x="2660904" y="4439416"/>
            <a:ext cx="1609344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營收品質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9" name="Text 47"/>
          <p:cNvSpPr/>
          <p:nvPr/>
        </p:nvSpPr>
        <p:spPr>
          <a:xfrm>
            <a:off x="2660904" y="4670280"/>
            <a:ext cx="1609344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留存、重複收入、客戶結構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0" name="Shape 48"/>
          <p:cNvSpPr/>
          <p:nvPr/>
        </p:nvSpPr>
        <p:spPr>
          <a:xfrm>
            <a:off x="4562856" y="4386816"/>
            <a:ext cx="1700784" cy="48234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B9BD"/>
            </a:solidFill>
            <a:prstDash val="solid"/>
          </a:ln>
        </p:spPr>
      </p:sp>
      <p:sp>
        <p:nvSpPr>
          <p:cNvPr id="91" name="Text 49"/>
          <p:cNvSpPr/>
          <p:nvPr/>
        </p:nvSpPr>
        <p:spPr>
          <a:xfrm>
            <a:off x="4608576" y="4439416"/>
            <a:ext cx="1609344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獲利／現金流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2" name="Text 50"/>
          <p:cNvSpPr/>
          <p:nvPr/>
        </p:nvSpPr>
        <p:spPr>
          <a:xfrm>
            <a:off x="4608576" y="4670280"/>
            <a:ext cx="1609344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毛利率、貢獻利益、FCF</a:t>
            </a:r>
            <a:r>
              <a:rPr lang="en-US" sz="900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3" name="Shape 51"/>
          <p:cNvSpPr/>
          <p:nvPr/>
        </p:nvSpPr>
        <p:spPr>
          <a:xfrm>
            <a:off x="6510528" y="4386816"/>
            <a:ext cx="1700784" cy="48234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B9BD"/>
            </a:solidFill>
            <a:prstDash val="solid"/>
          </a:ln>
        </p:spPr>
      </p:sp>
      <p:sp>
        <p:nvSpPr>
          <p:cNvPr id="94" name="Text 52"/>
          <p:cNvSpPr/>
          <p:nvPr/>
        </p:nvSpPr>
        <p:spPr>
          <a:xfrm>
            <a:off x="6556248" y="4439416"/>
            <a:ext cx="1609344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風險與可預測性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5" name="Text 53"/>
          <p:cNvSpPr/>
          <p:nvPr/>
        </p:nvSpPr>
        <p:spPr>
          <a:xfrm>
            <a:off x="6556248" y="4670280"/>
            <a:ext cx="1609344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客戶集中、波動性、可信度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6" name="Text 55"/>
          <p:cNvSpPr/>
          <p:nvPr/>
        </p:nvSpPr>
        <p:spPr>
          <a:xfrm>
            <a:off x="566928" y="5229200"/>
            <a:ext cx="2743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03  IPO 前建立，上市後持續驗證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5" name="群組 4"/>
          <p:cNvGrpSpPr/>
          <p:nvPr/>
        </p:nvGrpSpPr>
        <p:grpSpPr>
          <a:xfrm>
            <a:off x="661880" y="5517232"/>
            <a:ext cx="7549432" cy="792088"/>
            <a:chOff x="899592" y="5700104"/>
            <a:chExt cx="6675120" cy="393192"/>
          </a:xfrm>
        </p:grpSpPr>
        <p:sp>
          <p:nvSpPr>
            <p:cNvPr id="97" name="Shape 56"/>
            <p:cNvSpPr/>
            <p:nvPr/>
          </p:nvSpPr>
          <p:spPr>
            <a:xfrm>
              <a:off x="899592" y="5700104"/>
              <a:ext cx="1645920" cy="393192"/>
            </a:xfrm>
            <a:prstGeom prst="roundRect">
              <a:avLst>
                <a:gd name="adj" fmla="val 16279"/>
              </a:avLst>
            </a:prstGeom>
            <a:solidFill>
              <a:srgbClr val="F7F1E7"/>
            </a:solidFill>
            <a:ln w="10160">
              <a:solidFill>
                <a:srgbClr val="D7D7D7"/>
              </a:solidFill>
              <a:prstDash val="solid"/>
            </a:ln>
          </p:spPr>
        </p:sp>
        <p:sp>
          <p:nvSpPr>
            <p:cNvPr id="98" name="Text 57"/>
            <p:cNvSpPr/>
            <p:nvPr/>
          </p:nvSpPr>
          <p:spPr>
            <a:xfrm>
              <a:off x="972744" y="5718392"/>
              <a:ext cx="1499616" cy="13716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IPO 前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9" name="Text 58"/>
            <p:cNvSpPr/>
            <p:nvPr/>
          </p:nvSpPr>
          <p:spPr>
            <a:xfrm>
              <a:off x="972744" y="5873840"/>
              <a:ext cx="1499616" cy="18288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建立可追蹤 KPI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與揭露口徑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0" name="Shape 59"/>
            <p:cNvSpPr/>
            <p:nvPr/>
          </p:nvSpPr>
          <p:spPr>
            <a:xfrm>
              <a:off x="2618664" y="5901272"/>
              <a:ext cx="676656" cy="0"/>
            </a:xfrm>
            <a:prstGeom prst="line">
              <a:avLst/>
            </a:prstGeom>
            <a:noFill/>
            <a:ln w="15240">
              <a:solidFill>
                <a:srgbClr val="B58B45"/>
              </a:solidFill>
              <a:prstDash val="solid"/>
              <a:headEnd type="none"/>
              <a:tailEnd type="triangle"/>
            </a:ln>
          </p:spPr>
        </p:sp>
        <p:sp>
          <p:nvSpPr>
            <p:cNvPr id="101" name="Shape 60"/>
            <p:cNvSpPr/>
            <p:nvPr/>
          </p:nvSpPr>
          <p:spPr>
            <a:xfrm>
              <a:off x="3414192" y="5700104"/>
              <a:ext cx="1645920" cy="393192"/>
            </a:xfrm>
            <a:prstGeom prst="roundRect">
              <a:avLst>
                <a:gd name="adj" fmla="val 16279"/>
              </a:avLst>
            </a:prstGeom>
            <a:solidFill>
              <a:schemeClr val="accent3">
                <a:lumMod val="95000"/>
              </a:schemeClr>
            </a:solidFill>
            <a:ln w="10160">
              <a:solidFill>
                <a:srgbClr val="D7D7D7"/>
              </a:solidFill>
              <a:prstDash val="solid"/>
            </a:ln>
          </p:spPr>
        </p:sp>
        <p:sp>
          <p:nvSpPr>
            <p:cNvPr id="102" name="Text 61"/>
            <p:cNvSpPr/>
            <p:nvPr/>
          </p:nvSpPr>
          <p:spPr>
            <a:xfrm>
              <a:off x="3487344" y="5718392"/>
              <a:ext cx="1499616" cy="13716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 smtClean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IPO/Roadshow</a:t>
              </a:r>
              <a:endParaRPr lang="en-US" sz="11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3" name="Text 62"/>
            <p:cNvSpPr/>
            <p:nvPr/>
          </p:nvSpPr>
          <p:spPr>
            <a:xfrm>
              <a:off x="3487344" y="5873840"/>
              <a:ext cx="1499616" cy="18288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建立市場理解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與比較基準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4" name="Shape 63"/>
            <p:cNvSpPr/>
            <p:nvPr/>
          </p:nvSpPr>
          <p:spPr>
            <a:xfrm>
              <a:off x="5133264" y="5901272"/>
              <a:ext cx="676656" cy="0"/>
            </a:xfrm>
            <a:prstGeom prst="line">
              <a:avLst/>
            </a:prstGeom>
            <a:noFill/>
            <a:ln w="15240">
              <a:solidFill>
                <a:srgbClr val="B58B45"/>
              </a:solidFill>
              <a:prstDash val="solid"/>
              <a:headEnd type="none"/>
              <a:tailEnd type="triangle"/>
            </a:ln>
          </p:spPr>
        </p:sp>
        <p:sp>
          <p:nvSpPr>
            <p:cNvPr id="105" name="Shape 64"/>
            <p:cNvSpPr/>
            <p:nvPr/>
          </p:nvSpPr>
          <p:spPr>
            <a:xfrm>
              <a:off x="5928792" y="5700104"/>
              <a:ext cx="1645920" cy="393192"/>
            </a:xfrm>
            <a:prstGeom prst="roundRect">
              <a:avLst>
                <a:gd name="adj" fmla="val 16279"/>
              </a:avLst>
            </a:prstGeom>
            <a:solidFill>
              <a:srgbClr val="EDF2F7"/>
            </a:solidFill>
            <a:ln w="10160">
              <a:solidFill>
                <a:srgbClr val="D7D7D7"/>
              </a:solidFill>
              <a:prstDash val="solid"/>
            </a:ln>
          </p:spPr>
        </p:sp>
        <p:sp>
          <p:nvSpPr>
            <p:cNvPr id="106" name="Text 65"/>
            <p:cNvSpPr/>
            <p:nvPr/>
          </p:nvSpPr>
          <p:spPr>
            <a:xfrm>
              <a:off x="6001944" y="5718392"/>
              <a:ext cx="1499616" cy="13716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上市後</a:t>
              </a:r>
              <a:endParaRPr 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7" name="Text 66"/>
            <p:cNvSpPr/>
            <p:nvPr/>
          </p:nvSpPr>
          <p:spPr>
            <a:xfrm>
              <a:off x="6001944" y="5873840"/>
              <a:ext cx="1499616" cy="18288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每季以營運與財務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22222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Microsoft JhengHei" pitchFamily="34" charset="-120"/>
                </a:rPr>
                <a:t>結果持續驗證</a:t>
              </a:r>
              <a:endParaRPr 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06400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 bwMode="auto">
          <a:xfrm>
            <a:off x="455376" y="395914"/>
            <a:ext cx="7312025" cy="662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>
              <a:defRPr sz="2300" b="1">
                <a:solidFill>
                  <a:srgbClr val="232323"/>
                </a:solidFill>
                <a:latin typeface="Microsoft JhengHei"/>
              </a:defRPr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Case 1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｜科技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半導體：從營運本質到資本市場定位</a:t>
            </a: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F62842A7-78B5-E9F4-16F9-3077B2E8C4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147709"/>
              </p:ext>
            </p:extLst>
          </p:nvPr>
        </p:nvGraphicFramePr>
        <p:xfrm>
          <a:off x="455378" y="1268761"/>
          <a:ext cx="8185702" cy="4958506"/>
        </p:xfrm>
        <a:graphic>
          <a:graphicData uri="http://schemas.openxmlformats.org/drawingml/2006/table">
            <a:tbl>
              <a:tblPr/>
              <a:tblGrid>
                <a:gridCol w="1461733">
                  <a:extLst>
                    <a:ext uri="{9D8B030D-6E8A-4147-A177-3AD203B41FA5}">
                      <a16:colId xmlns:a16="http://schemas.microsoft.com/office/drawing/2014/main" val="2672557303"/>
                    </a:ext>
                  </a:extLst>
                </a:gridCol>
                <a:gridCol w="2241323">
                  <a:extLst>
                    <a:ext uri="{9D8B030D-6E8A-4147-A177-3AD203B41FA5}">
                      <a16:colId xmlns:a16="http://schemas.microsoft.com/office/drawing/2014/main" val="1208718753"/>
                    </a:ext>
                  </a:extLst>
                </a:gridCol>
                <a:gridCol w="2241323">
                  <a:extLst>
                    <a:ext uri="{9D8B030D-6E8A-4147-A177-3AD203B41FA5}">
                      <a16:colId xmlns:a16="http://schemas.microsoft.com/office/drawing/2014/main" val="1833236620"/>
                    </a:ext>
                  </a:extLst>
                </a:gridCol>
                <a:gridCol w="2241323">
                  <a:extLst>
                    <a:ext uri="{9D8B030D-6E8A-4147-A177-3AD203B41FA5}">
                      <a16:colId xmlns:a16="http://schemas.microsoft.com/office/drawing/2014/main" val="1893893432"/>
                    </a:ext>
                  </a:extLst>
                </a:gridCol>
              </a:tblGrid>
              <a:tr h="2985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台新千金案件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(7751)</a:t>
                      </a:r>
                      <a:r>
                        <a:rPr kumimoji="1" lang="zh-TW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竑騰科技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(7734)</a:t>
                      </a:r>
                      <a:r>
                        <a:rPr kumimoji="1" lang="zh-TW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印能科技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(7750)</a:t>
                      </a:r>
                      <a:r>
                        <a:rPr kumimoji="1" lang="zh-TW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新代科技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667012"/>
                  </a:ext>
                </a:extLst>
              </a:tr>
              <a:tr h="743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初始市場定位</a:t>
                      </a:r>
                      <a:endParaRPr lang="en-US" altLang="zh-TW" sz="1400" b="1" dirty="0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</a:t>
                      </a:r>
                      <a:r>
                        <a:rPr lang="en-US" altLang="zh-TW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Before</a:t>
                      </a:r>
                      <a:r>
                        <a:rPr lang="zh-TW" altLang="en-US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</a:t>
                      </a:r>
                      <a:endParaRPr lang="en-US" altLang="zh-TW" sz="1400" b="1" dirty="0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TW" altLang="en-US" sz="14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半導體封裝自動化與檢測設備製造商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zh-TW" altLang="en-US" sz="1400" b="0" kern="12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高溫製程與除泡設備</a:t>
                      </a:r>
                      <a:endParaRPr lang="en-US" altLang="zh-TW" sz="1400" b="0" kern="1200" dirty="0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zh-TW" altLang="en-US" sz="1400" b="0" kern="120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解決方案供應商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工具機 </a:t>
                      </a: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CNC </a:t>
                      </a:r>
                      <a:r>
                        <a:rPr kumimoji="0" lang="zh-TW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控制器</a:t>
                      </a:r>
                      <a:endParaRPr kumimoji="0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與相關軟硬體供應商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140757"/>
                  </a:ext>
                </a:extLst>
              </a:tr>
              <a:tr h="743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興櫃時市值</a:t>
                      </a:r>
                      <a:endParaRPr lang="en-US" altLang="zh-TW" sz="1400" b="1" dirty="0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TW" altLang="en-US" sz="14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endParaRPr lang="zh-TW" altLang="en-US" sz="1400" b="0" kern="1200" dirty="0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752936"/>
                  </a:ext>
                </a:extLst>
              </a:tr>
              <a:tr h="74394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台新證券打造</a:t>
                      </a:r>
                      <a:endParaRPr lang="en-US" altLang="zh-TW" sz="1400" b="1" dirty="0">
                        <a:solidFill>
                          <a:srgbClr val="99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專屬故事線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kern="1200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&lt;</a:t>
                      </a:r>
                      <a:r>
                        <a:rPr lang="zh-TW" altLang="en-US" sz="1400" b="1" kern="1200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散熱製程的下一站</a:t>
                      </a:r>
                      <a:r>
                        <a:rPr lang="en-US" altLang="zh-TW" sz="1400" b="1" kern="1200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&gt;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kern="1200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TIM </a:t>
                      </a:r>
                      <a:r>
                        <a:rPr lang="zh-TW" altLang="en-US" sz="1400" b="1" kern="1200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關鍵製程設備</a:t>
                      </a:r>
                      <a:endParaRPr lang="en-US" altLang="zh-TW" sz="1400" b="1" kern="1200" dirty="0">
                        <a:solidFill>
                          <a:srgbClr val="99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與整線解決方案領先者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&lt;</a:t>
                      </a: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先進封裝良率關鍵</a:t>
                      </a: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&gt;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除泡</a:t>
                      </a: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×</a:t>
                      </a: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去殘留</a:t>
                      </a: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×</a:t>
                      </a: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翹曲抑制</a:t>
                      </a:r>
                      <a:endParaRPr lang="en-US" altLang="zh-TW" sz="1400" b="1" dirty="0">
                        <a:solidFill>
                          <a:srgbClr val="99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技術領先同業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&lt;</a:t>
                      </a: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聚焦機器人題材</a:t>
                      </a: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&gt;</a:t>
                      </a:r>
                    </a:p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從控制器走向一站式</a:t>
                      </a:r>
                      <a:endParaRPr lang="en-US" altLang="zh-TW" sz="1400" b="1" dirty="0">
                        <a:solidFill>
                          <a:srgbClr val="99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智慧製造</a:t>
                      </a: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雲端平台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878471"/>
                  </a:ext>
                </a:extLst>
              </a:tr>
              <a:tr h="74394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市場共識定位</a:t>
                      </a:r>
                      <a:endParaRPr lang="en-US" altLang="zh-TW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（</a:t>
                      </a:r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After</a:t>
                      </a: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</a:t>
                      </a:r>
                      <a:endParaRPr lang="en-US" altLang="zh-TW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TW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先進封裝散熱與良率整線方案核心供應商，直接受惠 </a:t>
                      </a: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AI/</a:t>
                      </a:r>
                      <a:r>
                        <a:rPr kumimoji="0" lang="en-US" altLang="zh-TW" sz="1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HPC</a:t>
                      </a: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kumimoji="0" lang="zh-TW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升級趨勢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zh-TW" altLang="en-US" sz="1400" b="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先進封裝良率關鍵環節的一站式解決方案，並切入資料中心散熱市場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zh-TW" altLang="en-US" sz="1400" b="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智慧製造整合平台，切入機器人核心系統，成為產業升級關鍵角色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454190"/>
                  </a:ext>
                </a:extLst>
              </a:tr>
              <a:tr h="547639"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zh-TW" altLang="en-US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截至 </a:t>
                      </a:r>
                      <a:r>
                        <a:rPr lang="en-US" altLang="zh-TW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9/3</a:t>
                      </a:r>
                    </a:p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zh-TW" altLang="en-US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收盤股價</a:t>
                      </a:r>
                      <a:r>
                        <a:rPr lang="en-US" altLang="zh-TW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元</a:t>
                      </a:r>
                      <a:r>
                        <a:rPr lang="en-US" altLang="zh-TW" sz="1400" b="1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400" b="1" dirty="0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en-US" altLang="zh-TW" sz="1600" b="0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1,465</a:t>
                      </a:r>
                      <a:endParaRPr lang="zh-TW" altLang="en-US" sz="1600" b="0" dirty="0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2,710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algn="ctr">
                        <a:lnSpc>
                          <a:spcPts val="1600"/>
                        </a:lnSpc>
                      </a:pPr>
                      <a:r>
                        <a:rPr lang="en-US" altLang="zh-TW" sz="16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2,200</a:t>
                      </a:r>
                      <a:endParaRPr lang="zh-TW" altLang="en-US" sz="16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217340"/>
                  </a:ext>
                </a:extLst>
              </a:tr>
              <a:tr h="54763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</a:t>
                      </a: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</a:t>
                      </a: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EPS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本益比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1" i="0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71.5</a:t>
                      </a:r>
                      <a:endParaRPr lang="zh-TW" altLang="en-US" sz="1600" b="1" i="0" dirty="0">
                        <a:solidFill>
                          <a:srgbClr val="99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86.6</a:t>
                      </a:r>
                      <a:endParaRPr kumimoji="0" lang="zh-TW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1" i="0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51.4</a:t>
                      </a:r>
                      <a:endParaRPr lang="zh-TW" altLang="en-US" sz="1600" b="1" i="0" dirty="0">
                        <a:solidFill>
                          <a:srgbClr val="99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966378"/>
                  </a:ext>
                </a:extLst>
              </a:tr>
              <a:tr h="47845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</a:t>
                      </a: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年預估</a:t>
                      </a:r>
                      <a:r>
                        <a:rPr lang="en-US" altLang="zh-TW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EPS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solidFill>
                            <a:srgbClr val="99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預估本益比</a:t>
                      </a: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b="1" i="0" dirty="0">
                        <a:solidFill>
                          <a:srgbClr val="99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16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b="1" i="0" dirty="0">
                        <a:solidFill>
                          <a:srgbClr val="99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1413" marR="91413" marT="45671" marB="45671" anchor="ctr" horzOverflow="overflow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712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02832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"/>
          <p:cNvSpPr txBox="1">
            <a:spLocks noChangeArrowheads="1"/>
          </p:cNvSpPr>
          <p:nvPr/>
        </p:nvSpPr>
        <p:spPr bwMode="auto">
          <a:xfrm>
            <a:off x="455376" y="395914"/>
            <a:ext cx="9661240" cy="662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>
              <a:defRPr sz="2300" b="1">
                <a:solidFill>
                  <a:srgbClr val="232323"/>
                </a:solidFill>
                <a:latin typeface="Microsoft JhengHei"/>
              </a:defRPr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Case 2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｜成熟產業如何創造第二成長曲線</a:t>
            </a:r>
          </a:p>
        </p:txBody>
      </p: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DFE45DE2-2FC0-4338-9A6F-1111FC38B41C}"/>
              </a:ext>
            </a:extLst>
          </p:cNvPr>
          <p:cNvCxnSpPr>
            <a:cxnSpLocks/>
          </p:cNvCxnSpPr>
          <p:nvPr/>
        </p:nvCxnSpPr>
        <p:spPr bwMode="auto">
          <a:xfrm>
            <a:off x="3101559" y="4614341"/>
            <a:ext cx="64807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26" name="群組 14">
            <a:extLst>
              <a:ext uri="{FF2B5EF4-FFF2-40B4-BE49-F238E27FC236}">
                <a16:creationId xmlns:a16="http://schemas.microsoft.com/office/drawing/2014/main" id="{0990C287-87DB-460F-8343-9EF20C21E141}"/>
              </a:ext>
            </a:extLst>
          </p:cNvPr>
          <p:cNvGrpSpPr>
            <a:grpSpLocks/>
          </p:cNvGrpSpPr>
          <p:nvPr/>
        </p:nvGrpSpPr>
        <p:grpSpPr bwMode="auto">
          <a:xfrm>
            <a:off x="251520" y="1135493"/>
            <a:ext cx="2016224" cy="484237"/>
            <a:chOff x="2123728" y="1293717"/>
            <a:chExt cx="3026327" cy="368739"/>
          </a:xfrm>
        </p:grpSpPr>
        <p:sp>
          <p:nvSpPr>
            <p:cNvPr id="27" name="平行四邊形 26">
              <a:extLst>
                <a:ext uri="{FF2B5EF4-FFF2-40B4-BE49-F238E27FC236}">
                  <a16:creationId xmlns:a16="http://schemas.microsoft.com/office/drawing/2014/main" id="{BF6919B4-E63B-4047-A567-845B67CD106B}"/>
                </a:ext>
              </a:extLst>
            </p:cNvPr>
            <p:cNvSpPr/>
            <p:nvPr/>
          </p:nvSpPr>
          <p:spPr bwMode="auto">
            <a:xfrm rot="10800000" flipV="1">
              <a:off x="2123728" y="1293717"/>
              <a:ext cx="2890497" cy="312922"/>
            </a:xfrm>
            <a:prstGeom prst="parallelogram">
              <a:avLst>
                <a:gd name="adj" fmla="val 23810"/>
              </a:avLst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28" name="平行四邊形 27">
              <a:extLst>
                <a:ext uri="{FF2B5EF4-FFF2-40B4-BE49-F238E27FC236}">
                  <a16:creationId xmlns:a16="http://schemas.microsoft.com/office/drawing/2014/main" id="{928D9856-339B-4C91-BB47-BDC98475A491}"/>
                </a:ext>
              </a:extLst>
            </p:cNvPr>
            <p:cNvSpPr/>
            <p:nvPr/>
          </p:nvSpPr>
          <p:spPr bwMode="auto">
            <a:xfrm rot="10800000" flipV="1">
              <a:off x="2259560" y="1349534"/>
              <a:ext cx="2890495" cy="312922"/>
            </a:xfrm>
            <a:prstGeom prst="parallelogram">
              <a:avLst>
                <a:gd name="adj" fmla="val 23810"/>
              </a:avLst>
            </a:prstGeom>
            <a:solidFill>
              <a:srgbClr val="A4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20000"/>
                    <a:lumOff val="80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/>
                <a:cs typeface="+mn-cs"/>
              </a:endParaRPr>
            </a:p>
          </p:txBody>
        </p: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5343E4DC-9D21-4D87-AD7F-8A324E82E333}"/>
              </a:ext>
            </a:extLst>
          </p:cNvPr>
          <p:cNvSpPr/>
          <p:nvPr/>
        </p:nvSpPr>
        <p:spPr>
          <a:xfrm>
            <a:off x="422275" y="1271945"/>
            <a:ext cx="18442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文鼎新細黑"/>
              </a:rPr>
              <a:t>宏碁集團猛虎策略</a:t>
            </a:r>
          </a:p>
        </p:txBody>
      </p:sp>
      <p:graphicFrame>
        <p:nvGraphicFramePr>
          <p:cNvPr id="30" name="表格 27">
            <a:extLst>
              <a:ext uri="{FF2B5EF4-FFF2-40B4-BE49-F238E27FC236}">
                <a16:creationId xmlns:a16="http://schemas.microsoft.com/office/drawing/2014/main" id="{6A587CE4-8A5E-4ECF-8098-E9A5A07A50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800266"/>
              </p:ext>
            </p:extLst>
          </p:nvPr>
        </p:nvGraphicFramePr>
        <p:xfrm>
          <a:off x="251520" y="2348880"/>
          <a:ext cx="8712971" cy="3888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48">
                  <a:extLst>
                    <a:ext uri="{9D8B030D-6E8A-4147-A177-3AD203B41FA5}">
                      <a16:colId xmlns:a16="http://schemas.microsoft.com/office/drawing/2014/main" val="154984363"/>
                    </a:ext>
                  </a:extLst>
                </a:gridCol>
                <a:gridCol w="743917">
                  <a:extLst>
                    <a:ext uri="{9D8B030D-6E8A-4147-A177-3AD203B41FA5}">
                      <a16:colId xmlns:a16="http://schemas.microsoft.com/office/drawing/2014/main" val="2908136427"/>
                    </a:ext>
                  </a:extLst>
                </a:gridCol>
                <a:gridCol w="3183289">
                  <a:extLst>
                    <a:ext uri="{9D8B030D-6E8A-4147-A177-3AD203B41FA5}">
                      <a16:colId xmlns:a16="http://schemas.microsoft.com/office/drawing/2014/main" val="4113387697"/>
                    </a:ext>
                  </a:extLst>
                </a:gridCol>
                <a:gridCol w="600962">
                  <a:extLst>
                    <a:ext uri="{9D8B030D-6E8A-4147-A177-3AD203B41FA5}">
                      <a16:colId xmlns:a16="http://schemas.microsoft.com/office/drawing/2014/main" val="253577975"/>
                    </a:ext>
                  </a:extLst>
                </a:gridCol>
                <a:gridCol w="638522">
                  <a:extLst>
                    <a:ext uri="{9D8B030D-6E8A-4147-A177-3AD203B41FA5}">
                      <a16:colId xmlns:a16="http://schemas.microsoft.com/office/drawing/2014/main" val="2772027469"/>
                    </a:ext>
                  </a:extLst>
                </a:gridCol>
                <a:gridCol w="638522">
                  <a:extLst>
                    <a:ext uri="{9D8B030D-6E8A-4147-A177-3AD203B41FA5}">
                      <a16:colId xmlns:a16="http://schemas.microsoft.com/office/drawing/2014/main" val="21672233"/>
                    </a:ext>
                  </a:extLst>
                </a:gridCol>
                <a:gridCol w="566430">
                  <a:extLst>
                    <a:ext uri="{9D8B030D-6E8A-4147-A177-3AD203B41FA5}">
                      <a16:colId xmlns:a16="http://schemas.microsoft.com/office/drawing/2014/main" val="3230660075"/>
                    </a:ext>
                  </a:extLst>
                </a:gridCol>
                <a:gridCol w="2014581">
                  <a:extLst>
                    <a:ext uri="{9D8B030D-6E8A-4147-A177-3AD203B41FA5}">
                      <a16:colId xmlns:a16="http://schemas.microsoft.com/office/drawing/2014/main" val="85800258"/>
                    </a:ext>
                  </a:extLst>
                </a:gridCol>
              </a:tblGrid>
              <a:tr h="811434">
                <a:tc gridSpan="8">
                  <a:txBody>
                    <a:bodyPr/>
                    <a:lstStyle/>
                    <a:p>
                      <a:pPr marL="1343025" indent="-1254125" algn="just" eaLnBrk="0" hangingPunct="0">
                        <a:spcAft>
                          <a:spcPts val="600"/>
                        </a:spcAft>
                        <a:buClr>
                          <a:srgbClr val="00664D"/>
                        </a:buClr>
                        <a:buSzPts val="1400"/>
                        <a:defRPr/>
                      </a:pPr>
                      <a:r>
                        <a:rPr lang="zh-TW" altLang="en-US" sz="14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/>
                        </a:rPr>
                        <a:t>台新扮演重要角色：</a:t>
                      </a:r>
                      <a:endParaRPr lang="en-US" altLang="zh-TW" sz="14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/>
                      </a:endParaRPr>
                    </a:p>
                    <a:p>
                      <a:pPr marL="92075" indent="-3175" algn="just" eaLnBrk="0" hangingPunct="0">
                        <a:spcAft>
                          <a:spcPts val="600"/>
                        </a:spcAft>
                        <a:buClr>
                          <a:srgbClr val="00664D"/>
                        </a:buClr>
                        <a:buSzPts val="1400"/>
                        <a:defRPr/>
                      </a:pPr>
                      <a:r>
                        <a:rPr lang="zh-TW" altLang="en-US" sz="14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/>
                        </a:rPr>
                        <a:t>提供集團完整投資銀行服務，涵蓋分拆重組合規可行性、財務業務獨立性評估、法人引薦、潛在併購標的介紹、員工激勵獎酬、輔導上市櫃、資本市場籌資，提供集團轉型強力支援，協助小金虎透過資本市場壯大</a:t>
                      </a:r>
                      <a:endParaRPr lang="en-US" altLang="zh-TW" sz="14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0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0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000104"/>
                  </a:ext>
                </a:extLst>
              </a:tr>
              <a:tr h="3477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8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公司名稱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業務範疇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板塊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IPO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承銷價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股價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(</a:t>
                      </a: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元</a:t>
                      </a: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市值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(</a:t>
                      </a: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億元</a:t>
                      </a: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台新服務業務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406444"/>
                  </a:ext>
                </a:extLst>
              </a:tr>
              <a:tr h="2199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建碁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多領域應用的商務型數位看板、工業電腦產品</a:t>
                      </a:r>
                      <a:endParaRPr lang="en-US" altLang="zh-TW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上市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56.6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44.6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SPO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、財務顧問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344897"/>
                  </a:ext>
                </a:extLst>
              </a:tr>
              <a:tr h="2199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安碁資訊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資訊安全管理，提供</a:t>
                      </a:r>
                      <a:r>
                        <a:rPr lang="en-US" altLang="zh-TW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SOC</a:t>
                      </a:r>
                      <a:r>
                        <a:rPr lang="zh-TW" altLang="en-US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營運、資安檢測、數位鑑識</a:t>
                      </a:r>
                      <a:endParaRPr lang="en-US" altLang="zh-TW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上櫃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215.5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47.3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IPO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主辦、</a:t>
                      </a: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SPO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、財務顧問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148301"/>
                  </a:ext>
                </a:extLst>
              </a:tr>
              <a:tr h="2199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展碁國際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3C</a:t>
                      </a:r>
                      <a:r>
                        <a:rPr lang="zh-TW" altLang="en-US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電子、軟體、家電專業通路代理商</a:t>
                      </a:r>
                      <a:endParaRPr lang="en-US" altLang="zh-TW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上市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56.8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46.1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849701"/>
                  </a:ext>
                </a:extLst>
              </a:tr>
              <a:tr h="2199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智聯服務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資訊系統整合商，系統規劃、建置、維運等服務</a:t>
                      </a:r>
                      <a:endParaRPr lang="en-US" altLang="zh-TW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上櫃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52.8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11.7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IPO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itchFamily="18" charset="0"/>
                        </a:rPr>
                        <a:t>協辦、子公司</a:t>
                      </a: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itchFamily="18" charset="0"/>
                        </a:rPr>
                        <a:t>IPO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itchFamily="18" charset="0"/>
                        </a:rPr>
                        <a:t>主辦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231657"/>
                  </a:ext>
                </a:extLst>
              </a:tr>
              <a:tr h="2852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宏碁資訊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提供企業雲端化技術平台、服務與產品</a:t>
                      </a:r>
                      <a:endParaRPr lang="en-US" altLang="zh-TW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上櫃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244.5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102.0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IPO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主辦、法人引薦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354045"/>
                  </a:ext>
                </a:extLst>
              </a:tr>
              <a:tr h="2199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倚天酷碁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提供跨界整合的智慧生活周邊產品</a:t>
                      </a:r>
                      <a:endParaRPr lang="en-US" altLang="zh-TW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創新板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35.4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IPO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主辦、標的引薦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633144"/>
                  </a:ext>
                </a:extLst>
              </a:tr>
              <a:tr h="2250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海伯特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多項品牌售後服務，如電子產品檢測、升級、維運等</a:t>
                      </a:r>
                      <a:endParaRPr lang="en-US" altLang="zh-TW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上櫃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63.0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IPO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協辦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873610"/>
                  </a:ext>
                </a:extLst>
              </a:tr>
              <a:tr h="2397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宏碁遊戲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娛樂性電子商品、遊戲軟體與點數及平台與網路服務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興櫃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64.8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22.7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735726"/>
                  </a:ext>
                </a:extLst>
              </a:tr>
              <a:tr h="2199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宏碁智醫 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智慧醫療</a:t>
                      </a:r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TW" altLang="en-US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輔助診斷與篩檢軟體解決方案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興櫃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155.1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23.6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IPO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itchFamily="18" charset="0"/>
                        </a:rPr>
                        <a:t>協辦、標的引薦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275616"/>
                  </a:ext>
                </a:extLst>
              </a:tr>
              <a:tr h="2199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博瑞達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橡塑膠材料之專業貿易通路商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興櫃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60.0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12.3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IPO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itchFamily="18" charset="0"/>
                        </a:rPr>
                        <a:t>協辦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536425"/>
                  </a:ext>
                </a:extLst>
              </a:tr>
              <a:tr h="2199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宏碁創達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資訊及半導體設計人力委外服務</a:t>
                      </a:r>
                      <a:endParaRPr lang="en-US" altLang="zh-TW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興櫃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71.9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7.2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IPO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主辦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108636"/>
                  </a:ext>
                </a:extLst>
              </a:tr>
              <a:tr h="2199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8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宏碁智新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居家生活家電品牌</a:t>
                      </a:r>
                      <a:endParaRPr lang="en-US" altLang="zh-TW" sz="10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上櫃</a:t>
                      </a:r>
                      <a:endParaRPr kumimoji="1" lang="en-US" altLang="zh-TW" sz="10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52.0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13.0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IPO</a:t>
                      </a:r>
                      <a:r>
                        <a:rPr kumimoji="1" lang="zh-TW" altLang="en-US" sz="1000" b="1" kern="1200" dirty="0">
                          <a:solidFill>
                            <a:srgbClr val="92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主辦</a:t>
                      </a:r>
                      <a:endParaRPr kumimoji="1" lang="en-US" altLang="zh-TW" sz="1000" b="1" kern="1200" dirty="0">
                        <a:solidFill>
                          <a:srgbClr val="92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422465"/>
                  </a:ext>
                </a:extLst>
              </a:tr>
            </a:tbl>
          </a:graphicData>
        </a:graphic>
      </p:graphicFrame>
      <p:sp>
        <p:nvSpPr>
          <p:cNvPr id="31" name="文字方塊 30">
            <a:extLst>
              <a:ext uri="{FF2B5EF4-FFF2-40B4-BE49-F238E27FC236}">
                <a16:creationId xmlns:a16="http://schemas.microsoft.com/office/drawing/2014/main" id="{ED157D00-2A60-4111-BD80-E3BF77E470E0}"/>
              </a:ext>
            </a:extLst>
          </p:cNvPr>
          <p:cNvSpPr txBox="1"/>
          <p:nvPr/>
        </p:nvSpPr>
        <p:spPr>
          <a:xfrm>
            <a:off x="2275048" y="1285198"/>
            <a:ext cx="62749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於成熟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PC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市場紅海中，加速內部創業轉型，擴大轉投資，多重事業成長引擎策略持續發酵</a:t>
            </a:r>
          </a:p>
        </p:txBody>
      </p:sp>
      <p:sp>
        <p:nvSpPr>
          <p:cNvPr id="32" name="矩形 31"/>
          <p:cNvSpPr/>
          <p:nvPr/>
        </p:nvSpPr>
        <p:spPr>
          <a:xfrm>
            <a:off x="397557" y="1598463"/>
            <a:ext cx="815245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9063" marR="0" lvl="0" indent="-119063" algn="just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自宏碁推動集團轉型計畫，要建立成為生活風格品牌概念，啟動旗下各事業體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IPO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，上市櫃後透過併購與籌資擴大營運版圖，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2022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年新事業營收占比已超過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20%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，營業利益接近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40%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2024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年上半年之營收佔比更是達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28.7%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，營業利益更超越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40%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r>
              <a:rPr kumimoji="0" lang="zh-TW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集團整體市值自</a:t>
            </a:r>
            <a:r>
              <a:rPr kumimoji="0" lang="en-US" altLang="zh-TW" sz="1200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2015</a:t>
            </a:r>
            <a:r>
              <a:rPr kumimoji="0" lang="zh-TW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年的</a:t>
            </a:r>
            <a:r>
              <a:rPr kumimoji="0" lang="en-US" altLang="zh-TW" sz="1200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403.6</a:t>
            </a:r>
            <a:r>
              <a:rPr kumimoji="0" lang="zh-TW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億元，最高</a:t>
            </a:r>
            <a:r>
              <a:rPr kumimoji="0" lang="zh-TW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成長至</a:t>
            </a:r>
            <a:r>
              <a:rPr kumimoji="0" lang="en-US" altLang="zh-TW" sz="1200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2024</a:t>
            </a:r>
            <a:r>
              <a:rPr kumimoji="0" lang="zh-TW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年的</a:t>
            </a:r>
            <a:r>
              <a:rPr kumimoji="0" lang="en-US" altLang="zh-TW" sz="1200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1,483</a:t>
            </a:r>
            <a:r>
              <a:rPr kumimoji="0" lang="zh-TW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億元 。</a:t>
            </a:r>
            <a:endParaRPr kumimoji="0" lang="zh-TW" altLang="en-US" sz="1200" i="0" u="none" strike="noStrike" kern="1200" cap="none" spc="0" normalizeH="0" baseline="0" noProof="0" dirty="0">
              <a:ln>
                <a:noFill/>
              </a:ln>
              <a:solidFill>
                <a:srgbClr val="92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4148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>
          <a:xfrm>
            <a:off x="457200" y="987552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56906"/>
              </p:ext>
            </p:extLst>
          </p:nvPr>
        </p:nvGraphicFramePr>
        <p:xfrm>
          <a:off x="455376" y="1312564"/>
          <a:ext cx="8185702" cy="23994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8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55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39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648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3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類型</a:t>
                      </a:r>
                    </a:p>
                  </a:txBody>
                  <a:tcPr anchor="ctr"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IPO </a:t>
                      </a:r>
                      <a:r>
                        <a:rPr lang="zh-TW" altLang="en-US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前核心 </a:t>
                      </a:r>
                      <a:r>
                        <a:rPr lang="en-US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KPI</a:t>
                      </a:r>
                    </a:p>
                  </a:txBody>
                  <a:tcPr anchor="ctr"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3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市場驗證</a:t>
                      </a:r>
                    </a:p>
                  </a:txBody>
                  <a:tcPr anchor="ctr">
                    <a:solidFill>
                      <a:srgbClr val="9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Re-rating </a:t>
                      </a:r>
                      <a:endParaRPr lang="zh-TW" alt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9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15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SaaS／AI</a:t>
                      </a:r>
                      <a:r>
                        <a:rPr lang="en-US" sz="13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zh-TW" altLang="en-US" sz="13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軟體</a:t>
                      </a:r>
                      <a:endParaRPr lang="zh-TW" altLang="en-US" sz="13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ARR、NRR、</a:t>
                      </a:r>
                      <a:r>
                        <a:rPr lang="zh-TW" altLang="en-US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毛利率、</a:t>
                      </a:r>
                      <a:r>
                        <a:rPr lang="en-US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CAC </a:t>
                      </a:r>
                      <a:r>
                        <a:rPr lang="zh-TW" altLang="en-US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回收期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成長是否可持續，既有客戶是否擴張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收入可預測性、毛利與 </a:t>
                      </a:r>
                      <a:r>
                        <a:rPr lang="en-US" altLang="zh-TW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FCF </a:t>
                      </a:r>
                      <a:r>
                        <a:rPr lang="zh-TW" altLang="en-US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改善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15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Marketplace／</a:t>
                      </a:r>
                      <a:r>
                        <a:rPr lang="zh-TW" altLang="en-US" sz="13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平台</a:t>
                      </a:r>
                      <a:endParaRPr lang="zh-TW" altLang="en-US" sz="13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GMV</a:t>
                      </a:r>
                      <a:r>
                        <a:rPr lang="zh-TW" altLang="en-US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、抽成率、重複交易率、貢獻毛利率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交易成長能否轉為營收與利益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抽成率提升、補貼下降、貢獻利益轉正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337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FinTech </a:t>
                      </a:r>
                      <a:r>
                        <a:rPr lang="zh-TW" altLang="en-US" sz="1300" b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金融科技</a:t>
                      </a:r>
                      <a:endParaRPr lang="zh-TW" altLang="en-US" sz="13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3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TPV</a:t>
                      </a:r>
                      <a:r>
                        <a:rPr lang="zh-TW" altLang="en-US" sz="13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／</a:t>
                      </a:r>
                      <a:r>
                        <a:rPr lang="en-US" altLang="zh-TW" sz="1300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AUM</a:t>
                      </a:r>
                      <a:r>
                        <a:rPr lang="zh-TW" altLang="en-US" sz="13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、留存率、損失率、貢獻利益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3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規模成長是否伴隨風險可控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3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風險改善、留存提升、交叉銷售增加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2930" y="3988978"/>
            <a:ext cx="7955280" cy="520142"/>
          </a:xfrm>
          <a:prstGeom prst="rect">
            <a:avLst/>
          </a:prstGeom>
          <a:noFill/>
          <a:ln>
            <a:noFill/>
          </a:ln>
        </p:spPr>
        <p:txBody>
          <a:bodyPr wrap="square" lIns="27432" tIns="13716" rIns="27432" bIns="13716" anchor="t">
            <a:spAutoFit/>
          </a:bodyPr>
          <a:lstStyle/>
          <a:p>
            <a:pPr algn="ctr">
              <a:defRPr sz="1340" b="1">
                <a:solidFill>
                  <a:srgbClr val="232323"/>
                </a:solidFill>
                <a:latin typeface="Microsoft JhengHei"/>
              </a:defRPr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輔導</a:t>
            </a:r>
            <a:r>
              <a:rPr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新經濟公司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上市櫃</a:t>
            </a:r>
            <a:r>
              <a:rPr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最重要的不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只</a:t>
            </a:r>
            <a:r>
              <a:rPr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是「選一個高估值故事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」，</a:t>
            </a:r>
            <a:r>
              <a:rPr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而是建立一套上市後仍能每季追蹤的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KPI</a:t>
            </a:r>
            <a:r>
              <a:rPr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system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1067792" y="4797152"/>
            <a:ext cx="6960870" cy="980462"/>
            <a:chOff x="720090" y="4735564"/>
            <a:chExt cx="6960870" cy="980462"/>
          </a:xfrm>
        </p:grpSpPr>
        <p:sp>
          <p:nvSpPr>
            <p:cNvPr id="9" name="Oval 8"/>
            <p:cNvSpPr/>
            <p:nvPr/>
          </p:nvSpPr>
          <p:spPr>
            <a:xfrm>
              <a:off x="891540" y="4735564"/>
              <a:ext cx="720090" cy="720090"/>
            </a:xfrm>
            <a:prstGeom prst="ellipse">
              <a:avLst/>
            </a:prstGeom>
            <a:solidFill>
              <a:srgbClr val="FFF1F1"/>
            </a:solidFill>
            <a:ln>
              <a:solidFill>
                <a:srgbClr val="D2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91540" y="4927588"/>
              <a:ext cx="720090" cy="2739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1600" b="1">
                  <a:solidFill>
                    <a:srgbClr val="D20000"/>
                  </a:solidFill>
                  <a:latin typeface="Arial"/>
                </a:defRPr>
              </a:pPr>
              <a:r>
                <a:rPr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+35%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20090" y="5503660"/>
              <a:ext cx="1062990" cy="2123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919" b="1">
                  <a:solidFill>
                    <a:srgbClr val="232323"/>
                  </a:solidFill>
                  <a:latin typeface="Microsoft JhengHei"/>
                </a:defRPr>
              </a:pPr>
              <a:r>
                <a:rPr sz="1200" dirty="0" err="1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ARR</a:t>
              </a:r>
              <a:r>
                <a:rPr sz="1200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Growth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2366010" y="4735564"/>
              <a:ext cx="720090" cy="720090"/>
            </a:xfrm>
            <a:prstGeom prst="ellipse">
              <a:avLst/>
            </a:prstGeom>
            <a:solidFill>
              <a:srgbClr val="FFF1F1"/>
            </a:solidFill>
            <a:ln>
              <a:solidFill>
                <a:srgbClr val="D2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366010" y="4927588"/>
              <a:ext cx="720090" cy="2739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1600" b="1">
                  <a:solidFill>
                    <a:srgbClr val="D20000"/>
                  </a:solidFill>
                  <a:latin typeface="Arial"/>
                </a:defRPr>
              </a:pPr>
              <a:r>
                <a:rPr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</a:t>
              </a:r>
              <a:r>
                <a:rPr lang="en-US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</a:t>
              </a:r>
              <a:r>
                <a:rPr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5%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194560" y="5503660"/>
              <a:ext cx="1062990" cy="2123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919" b="1">
                  <a:solidFill>
                    <a:srgbClr val="232323"/>
                  </a:solidFill>
                  <a:latin typeface="Microsoft JhengHei"/>
                </a:defRPr>
              </a:pPr>
              <a:r>
                <a:rPr sz="120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NRR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3840480" y="4735564"/>
              <a:ext cx="720090" cy="720090"/>
            </a:xfrm>
            <a:prstGeom prst="ellipse">
              <a:avLst/>
            </a:prstGeom>
            <a:solidFill>
              <a:srgbClr val="FFF1F1"/>
            </a:solidFill>
            <a:ln>
              <a:solidFill>
                <a:srgbClr val="D2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840480" y="4927588"/>
              <a:ext cx="720090" cy="2739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1600" b="1">
                  <a:solidFill>
                    <a:srgbClr val="D20000"/>
                  </a:solidFill>
                  <a:latin typeface="Arial"/>
                </a:defRPr>
              </a:pPr>
              <a:r>
                <a:rPr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45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669030" y="5503660"/>
              <a:ext cx="1062990" cy="2123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919" b="1">
                  <a:solidFill>
                    <a:srgbClr val="232323"/>
                  </a:solidFill>
                  <a:latin typeface="Microsoft JhengHei"/>
                </a:defRPr>
              </a:pPr>
              <a:r>
                <a:rPr sz="120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Rule of 40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5314949" y="4735564"/>
              <a:ext cx="720090" cy="720090"/>
            </a:xfrm>
            <a:prstGeom prst="ellipse">
              <a:avLst/>
            </a:prstGeom>
            <a:solidFill>
              <a:srgbClr val="FFF1F1"/>
            </a:solidFill>
            <a:ln>
              <a:solidFill>
                <a:srgbClr val="D2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314949" y="4927588"/>
              <a:ext cx="720090" cy="2739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1600" b="1">
                  <a:solidFill>
                    <a:srgbClr val="D20000"/>
                  </a:solidFill>
                  <a:latin typeface="Arial"/>
                </a:defRPr>
              </a:pPr>
              <a:r>
                <a:rPr dirty="0" err="1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12M</a:t>
              </a:r>
              <a:endParaRPr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143499" y="5503660"/>
              <a:ext cx="1062990" cy="2123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919" b="1">
                  <a:solidFill>
                    <a:srgbClr val="232323"/>
                  </a:solidFill>
                  <a:latin typeface="Microsoft JhengHei"/>
                </a:defRPr>
              </a:pPr>
              <a:r>
                <a:rPr sz="120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CAC Payback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6789420" y="4735564"/>
              <a:ext cx="720090" cy="720090"/>
            </a:xfrm>
            <a:prstGeom prst="ellipse">
              <a:avLst/>
            </a:prstGeom>
            <a:solidFill>
              <a:srgbClr val="FFF1F1"/>
            </a:solidFill>
            <a:ln>
              <a:solidFill>
                <a:srgbClr val="D2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789420" y="4927588"/>
              <a:ext cx="720090" cy="2739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1600" b="1">
                  <a:solidFill>
                    <a:srgbClr val="D20000"/>
                  </a:solidFill>
                  <a:latin typeface="Arial"/>
                </a:defRPr>
              </a:pPr>
              <a:r>
                <a:rPr lang="en-US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45</a:t>
              </a:r>
              <a:r>
                <a:rPr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%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617970" y="5503660"/>
              <a:ext cx="1062990" cy="2123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7432" tIns="13716" rIns="27432" bIns="13716" anchor="t">
              <a:spAutoFit/>
            </a:bodyPr>
            <a:lstStyle/>
            <a:p>
              <a:pPr algn="ctr">
                <a:defRPr sz="919" b="1">
                  <a:solidFill>
                    <a:srgbClr val="232323"/>
                  </a:solidFill>
                  <a:latin typeface="Microsoft JhengHei"/>
                </a:defRPr>
              </a:pPr>
              <a:r>
                <a:rPr sz="120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Gross Margin</a:t>
              </a:r>
            </a:p>
          </p:txBody>
        </p:sp>
      </p:grpSp>
      <p:sp>
        <p:nvSpPr>
          <p:cNvPr id="31" name="Rectangle 2"/>
          <p:cNvSpPr txBox="1">
            <a:spLocks noChangeArrowheads="1"/>
          </p:cNvSpPr>
          <p:nvPr/>
        </p:nvSpPr>
        <p:spPr bwMode="auto">
          <a:xfrm>
            <a:off x="455376" y="395914"/>
            <a:ext cx="10165296" cy="662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>
              <a:defRPr sz="2300" b="1">
                <a:solidFill>
                  <a:srgbClr val="232323"/>
                </a:solidFill>
                <a:latin typeface="Microsoft JhengHei"/>
              </a:defRPr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Case 3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｜新經濟公司：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前建立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Public Market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KPI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System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03593" y="5919083"/>
            <a:ext cx="287771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註：數字為示意，依照不同產業類別有不同指標</a:t>
            </a:r>
          </a:p>
        </p:txBody>
      </p:sp>
    </p:spTree>
    <p:extLst>
      <p:ext uri="{BB962C8B-B14F-4D97-AF65-F5344CB8AC3E}">
        <p14:creationId xmlns:p14="http://schemas.microsoft.com/office/powerpoint/2010/main" val="18576800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邊形 11">
            <a:extLst>
              <a:ext uri="{FF2B5EF4-FFF2-40B4-BE49-F238E27FC236}">
                <a16:creationId xmlns:a16="http://schemas.microsoft.com/office/drawing/2014/main" id="{7B1869D2-CF1B-489F-BD53-C8039EE1CB54}"/>
              </a:ext>
            </a:extLst>
          </p:cNvPr>
          <p:cNvSpPr/>
          <p:nvPr/>
        </p:nvSpPr>
        <p:spPr>
          <a:xfrm flipV="1">
            <a:off x="5856906" y="3412867"/>
            <a:ext cx="5616624" cy="1152150"/>
          </a:xfrm>
          <a:prstGeom prst="parallelogram">
            <a:avLst>
              <a:gd name="adj" fmla="val 95639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平行四邊形 10">
            <a:extLst>
              <a:ext uri="{FF2B5EF4-FFF2-40B4-BE49-F238E27FC236}">
                <a16:creationId xmlns:a16="http://schemas.microsoft.com/office/drawing/2014/main" id="{A9AFE730-5BD5-43D6-8F82-210A6602FDBD}"/>
              </a:ext>
            </a:extLst>
          </p:cNvPr>
          <p:cNvSpPr/>
          <p:nvPr/>
        </p:nvSpPr>
        <p:spPr>
          <a:xfrm flipV="1">
            <a:off x="-2016697" y="2152676"/>
            <a:ext cx="8424936" cy="936104"/>
          </a:xfrm>
          <a:prstGeom prst="parallelogram">
            <a:avLst>
              <a:gd name="adj" fmla="val 93097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9" name="圖片 18" descr="未命名">
            <a:extLst>
              <a:ext uri="{FF2B5EF4-FFF2-40B4-BE49-F238E27FC236}">
                <a16:creationId xmlns:a16="http://schemas.microsoft.com/office/drawing/2014/main" id="{51148074-7EF7-401A-8BB2-CF4751324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7" t="4184" r="2568" b="47176"/>
          <a:stretch>
            <a:fillRect/>
          </a:stretch>
        </p:blipFill>
        <p:spPr bwMode="auto">
          <a:xfrm rot="21340448">
            <a:off x="5183877" y="1420627"/>
            <a:ext cx="2457708" cy="2711632"/>
          </a:xfrm>
          <a:custGeom>
            <a:avLst/>
            <a:gdLst>
              <a:gd name="connsiteX0" fmla="*/ 765344 w 2142807"/>
              <a:gd name="connsiteY0" fmla="*/ 2072 h 2364196"/>
              <a:gd name="connsiteX1" fmla="*/ 985062 w 2142807"/>
              <a:gd name="connsiteY1" fmla="*/ 123477 h 2364196"/>
              <a:gd name="connsiteX2" fmla="*/ 2071219 w 2142807"/>
              <a:gd name="connsiteY2" fmla="*/ 1485201 h 2364196"/>
              <a:gd name="connsiteX3" fmla="*/ 2019331 w 2142807"/>
              <a:gd name="connsiteY3" fmla="*/ 1946129 h 2364196"/>
              <a:gd name="connsiteX4" fmla="*/ 1495197 w 2142807"/>
              <a:gd name="connsiteY4" fmla="*/ 2364196 h 2364196"/>
              <a:gd name="connsiteX5" fmla="*/ 0 w 2142807"/>
              <a:gd name="connsiteY5" fmla="*/ 489656 h 2364196"/>
              <a:gd name="connsiteX6" fmla="*/ 524134 w 2142807"/>
              <a:gd name="connsiteY6" fmla="*/ 71589 h 2364196"/>
              <a:gd name="connsiteX7" fmla="*/ 765344 w 2142807"/>
              <a:gd name="connsiteY7" fmla="*/ 2072 h 2364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2807" h="2364196">
                <a:moveTo>
                  <a:pt x="765344" y="2072"/>
                </a:moveTo>
                <a:cubicBezTo>
                  <a:pt x="848755" y="11461"/>
                  <a:pt x="928585" y="52672"/>
                  <a:pt x="985062" y="123477"/>
                </a:cubicBezTo>
                <a:lnTo>
                  <a:pt x="2071219" y="1485201"/>
                </a:lnTo>
                <a:cubicBezTo>
                  <a:pt x="2184173" y="1626812"/>
                  <a:pt x="2160942" y="1833176"/>
                  <a:pt x="2019331" y="1946129"/>
                </a:cubicBezTo>
                <a:lnTo>
                  <a:pt x="1495197" y="2364196"/>
                </a:lnTo>
                <a:lnTo>
                  <a:pt x="0" y="489656"/>
                </a:lnTo>
                <a:lnTo>
                  <a:pt x="524134" y="71589"/>
                </a:lnTo>
                <a:cubicBezTo>
                  <a:pt x="594939" y="15112"/>
                  <a:pt x="681933" y="-7318"/>
                  <a:pt x="765344" y="2072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圖片 19" descr="未命名">
            <a:extLst>
              <a:ext uri="{FF2B5EF4-FFF2-40B4-BE49-F238E27FC236}">
                <a16:creationId xmlns:a16="http://schemas.microsoft.com/office/drawing/2014/main" id="{C1247112-0447-41EE-A21A-7720B5C21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6" t="27738" r="10122" b="23819"/>
          <a:stretch>
            <a:fillRect/>
          </a:stretch>
        </p:blipFill>
        <p:spPr bwMode="auto">
          <a:xfrm rot="21425389">
            <a:off x="4665445" y="2346587"/>
            <a:ext cx="2382923" cy="2600675"/>
          </a:xfrm>
          <a:custGeom>
            <a:avLst/>
            <a:gdLst>
              <a:gd name="connsiteX0" fmla="*/ 639277 w 2157449"/>
              <a:gd name="connsiteY0" fmla="*/ 0 h 2354597"/>
              <a:gd name="connsiteX1" fmla="*/ 2157449 w 2157449"/>
              <a:gd name="connsiteY1" fmla="*/ 1855983 h 2354597"/>
              <a:gd name="connsiteX2" fmla="*/ 1638504 w 2157449"/>
              <a:gd name="connsiteY2" fmla="*/ 2280473 h 2354597"/>
              <a:gd name="connsiteX3" fmla="*/ 1176972 w 2157449"/>
              <a:gd name="connsiteY3" fmla="*/ 2234266 h 2354597"/>
              <a:gd name="connsiteX4" fmla="*/ 74125 w 2157449"/>
              <a:gd name="connsiteY4" fmla="*/ 886023 h 2354597"/>
              <a:gd name="connsiteX5" fmla="*/ 120332 w 2157449"/>
              <a:gd name="connsiteY5" fmla="*/ 424490 h 2354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7449" h="2354597">
                <a:moveTo>
                  <a:pt x="639277" y="0"/>
                </a:moveTo>
                <a:lnTo>
                  <a:pt x="2157449" y="1855983"/>
                </a:lnTo>
                <a:lnTo>
                  <a:pt x="1638504" y="2280473"/>
                </a:lnTo>
                <a:cubicBezTo>
                  <a:pt x="1498295" y="2395162"/>
                  <a:pt x="1291661" y="2374475"/>
                  <a:pt x="1176972" y="2234266"/>
                </a:cubicBezTo>
                <a:lnTo>
                  <a:pt x="74125" y="886023"/>
                </a:lnTo>
                <a:cubicBezTo>
                  <a:pt x="-40564" y="745814"/>
                  <a:pt x="-19877" y="539179"/>
                  <a:pt x="120332" y="424490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C1D909FD-321A-4D00-96B4-7145CFE79D51}"/>
              </a:ext>
            </a:extLst>
          </p:cNvPr>
          <p:cNvSpPr txBox="1"/>
          <p:nvPr/>
        </p:nvSpPr>
        <p:spPr>
          <a:xfrm>
            <a:off x="107504" y="2347186"/>
            <a:ext cx="5626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企業如何善用資本市場成長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865A9DA-4DCE-42A8-A16E-98A1F04410E4}"/>
              </a:ext>
            </a:extLst>
          </p:cNvPr>
          <p:cNvSpPr txBox="1"/>
          <p:nvPr/>
        </p:nvSpPr>
        <p:spPr>
          <a:xfrm>
            <a:off x="73359" y="1139247"/>
            <a:ext cx="11318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>
                <a:solidFill>
                  <a:schemeClr val="bg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05</a:t>
            </a:r>
            <a:endParaRPr lang="zh-TW" altLang="en-US" sz="6000" dirty="0">
              <a:solidFill>
                <a:schemeClr val="bg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3560610"/>
      </p:ext>
    </p:extLst>
  </p:cSld>
  <p:clrMapOvr>
    <a:masterClrMapping/>
  </p:clrMapOvr>
  <p:transition>
    <p:spli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38"/>
          <p:cNvSpPr/>
          <p:nvPr/>
        </p:nvSpPr>
        <p:spPr>
          <a:xfrm>
            <a:off x="4572000" y="3642688"/>
            <a:ext cx="0" cy="841248"/>
          </a:xfrm>
          <a:prstGeom prst="line">
            <a:avLst/>
          </a:prstGeom>
          <a:noFill/>
          <a:ln w="12700">
            <a:solidFill>
              <a:srgbClr val="B0B0B0"/>
            </a:solidFill>
            <a:prstDash val="solid"/>
            <a:headEnd type="none"/>
            <a:tailEnd type="triangle"/>
          </a:ln>
        </p:spPr>
      </p:sp>
      <p:sp>
        <p:nvSpPr>
          <p:cNvPr id="85" name="Rectangle 2"/>
          <p:cNvSpPr txBox="1">
            <a:spLocks noChangeArrowheads="1"/>
          </p:cNvSpPr>
          <p:nvPr/>
        </p:nvSpPr>
        <p:spPr bwMode="auto">
          <a:xfrm>
            <a:off x="467544" y="308198"/>
            <a:ext cx="7312025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808080">
                    <a:lumMod val="75000"/>
                  </a:srgbClr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lvl="0">
              <a:defRPr/>
            </a:pPr>
            <a:r>
              <a:rPr lang="zh-TW" altLang="en-US" dirty="0">
                <a:solidFill>
                  <a:schemeClr val="tx1"/>
                </a:solidFill>
              </a:rPr>
              <a:t>上市股票：資本市場的通行貨幣</a:t>
            </a:r>
            <a:endParaRPr lang="en-US" altLang="zh-TW" dirty="0">
              <a:solidFill>
                <a:schemeClr val="tx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57200" y="1029876"/>
            <a:ext cx="8183879" cy="22860"/>
          </a:xfrm>
          <a:prstGeom prst="rect">
            <a:avLst/>
          </a:prstGeom>
          <a:solidFill>
            <a:srgbClr val="A67F4B"/>
          </a:solidFill>
          <a:ln>
            <a:solidFill>
              <a:srgbClr val="A6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57200" y="310896"/>
            <a:ext cx="8001000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icrosoft JhengHei"/>
              </a:defRPr>
            </a:pPr>
            <a:endParaRPr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Shape 3"/>
          <p:cNvSpPr/>
          <p:nvPr/>
        </p:nvSpPr>
        <p:spPr>
          <a:xfrm>
            <a:off x="2267712" y="4719392"/>
            <a:ext cx="4608576" cy="585216"/>
          </a:xfrm>
          <a:prstGeom prst="roundRect">
            <a:avLst>
              <a:gd name="adj" fmla="val 7813"/>
            </a:avLst>
          </a:prstGeom>
          <a:solidFill>
            <a:srgbClr val="F7F1E8"/>
          </a:solidFill>
          <a:ln w="7620">
            <a:solidFill>
              <a:srgbClr val="E3D2BD"/>
            </a:solidFill>
            <a:prstDash val="solid"/>
          </a:ln>
        </p:spPr>
      </p:sp>
      <p:sp>
        <p:nvSpPr>
          <p:cNvPr id="42" name="Text 4"/>
          <p:cNvSpPr/>
          <p:nvPr/>
        </p:nvSpPr>
        <p:spPr>
          <a:xfrm>
            <a:off x="2432304" y="4853144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Public Market Infrastructure</a:t>
            </a:r>
            <a:endParaRPr lang="en-US" sz="10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 5"/>
          <p:cNvSpPr/>
          <p:nvPr/>
        </p:nvSpPr>
        <p:spPr>
          <a:xfrm>
            <a:off x="4279392" y="4853144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Liquidity  +  Market Price  +  Disclosure  +  Investor Base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Text 6"/>
          <p:cNvSpPr/>
          <p:nvPr/>
        </p:nvSpPr>
        <p:spPr>
          <a:xfrm>
            <a:off x="2514600" y="5134320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讓上市股權具備「可交易、可估值、可被投資人接受」的基礎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Shape 7"/>
          <p:cNvSpPr/>
          <p:nvPr/>
        </p:nvSpPr>
        <p:spPr>
          <a:xfrm>
            <a:off x="3822192" y="2351136"/>
            <a:ext cx="1499616" cy="1499616"/>
          </a:xfrm>
          <a:prstGeom prst="ellipse">
            <a:avLst/>
          </a:prstGeom>
          <a:solidFill>
            <a:srgbClr val="F8EAEA"/>
          </a:solidFill>
          <a:ln w="13970">
            <a:solidFill>
              <a:srgbClr val="920000"/>
            </a:solidFill>
            <a:prstDash val="solid"/>
          </a:ln>
          <a:effectLst>
            <a:outerShdw blurRad="12700" dist="50800" dir="2700000" algn="bl" rotWithShape="0">
              <a:srgbClr val="999999">
                <a:alpha val="20000"/>
              </a:srgbClr>
            </a:outerShdw>
          </a:effectLst>
        </p:spPr>
      </p:sp>
      <p:sp>
        <p:nvSpPr>
          <p:cNvPr id="46" name="Text 8"/>
          <p:cNvSpPr/>
          <p:nvPr/>
        </p:nvSpPr>
        <p:spPr>
          <a:xfrm>
            <a:off x="3950208" y="2872392"/>
            <a:ext cx="124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Listed</a:t>
            </a:r>
            <a:endParaRPr lang="en-US" sz="20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Equity</a:t>
            </a:r>
            <a:endParaRPr lang="en-US" sz="20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Text 9"/>
          <p:cNvSpPr/>
          <p:nvPr/>
        </p:nvSpPr>
        <p:spPr>
          <a:xfrm>
            <a:off x="3995928" y="3066616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4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Shape 10"/>
          <p:cNvSpPr/>
          <p:nvPr/>
        </p:nvSpPr>
        <p:spPr>
          <a:xfrm>
            <a:off x="438912" y="1740736"/>
            <a:ext cx="2999232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7620">
            <a:solidFill>
              <a:srgbClr val="D4D4D4"/>
            </a:solidFill>
            <a:prstDash val="solid"/>
          </a:ln>
          <a:effectLst>
            <a:outerShdw blurRad="1270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49" name="Shape 11"/>
          <p:cNvSpPr/>
          <p:nvPr/>
        </p:nvSpPr>
        <p:spPr>
          <a:xfrm>
            <a:off x="438912" y="1740736"/>
            <a:ext cx="50292" cy="1325880"/>
          </a:xfrm>
          <a:prstGeom prst="rect">
            <a:avLst/>
          </a:prstGeom>
          <a:solidFill>
            <a:srgbClr val="920000"/>
          </a:solidFill>
          <a:ln w="12700">
            <a:solidFill>
              <a:srgbClr val="920000"/>
            </a:solidFill>
            <a:prstDash val="solid"/>
          </a:ln>
        </p:spPr>
      </p:sp>
      <p:sp>
        <p:nvSpPr>
          <p:cNvPr id="50" name="Text 12"/>
          <p:cNvSpPr/>
          <p:nvPr/>
        </p:nvSpPr>
        <p:spPr>
          <a:xfrm>
            <a:off x="585216" y="182880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01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Text 13"/>
          <p:cNvSpPr/>
          <p:nvPr/>
        </p:nvSpPr>
        <p:spPr>
          <a:xfrm>
            <a:off x="969264" y="1849384"/>
            <a:ext cx="235915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Follow-on Financing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Text 14"/>
          <p:cNvSpPr/>
          <p:nvPr/>
        </p:nvSpPr>
        <p:spPr>
          <a:xfrm>
            <a:off x="969264" y="2179648"/>
            <a:ext cx="235915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後續籌資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Text 15"/>
          <p:cNvSpPr/>
          <p:nvPr/>
        </p:nvSpPr>
        <p:spPr>
          <a:xfrm>
            <a:off x="969264" y="2490544"/>
            <a:ext cx="23408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just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• Rights Issue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• CB/ECB/GDR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• 擴張投資、併購資金、償債與營運資金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Shape 16"/>
          <p:cNvSpPr/>
          <p:nvPr/>
        </p:nvSpPr>
        <p:spPr>
          <a:xfrm>
            <a:off x="5705856" y="1740736"/>
            <a:ext cx="2999232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7620">
            <a:solidFill>
              <a:srgbClr val="D4D4D4"/>
            </a:solidFill>
            <a:prstDash val="solid"/>
          </a:ln>
          <a:effectLst>
            <a:outerShdw blurRad="1270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55" name="Shape 17"/>
          <p:cNvSpPr/>
          <p:nvPr/>
        </p:nvSpPr>
        <p:spPr>
          <a:xfrm>
            <a:off x="5705856" y="1740736"/>
            <a:ext cx="50292" cy="1325880"/>
          </a:xfrm>
          <a:prstGeom prst="rect">
            <a:avLst/>
          </a:prstGeom>
          <a:solidFill>
            <a:srgbClr val="920000"/>
          </a:solidFill>
          <a:ln w="12700">
            <a:solidFill>
              <a:srgbClr val="920000"/>
            </a:solidFill>
            <a:prstDash val="solid"/>
          </a:ln>
        </p:spPr>
      </p:sp>
      <p:sp>
        <p:nvSpPr>
          <p:cNvPr id="56" name="Text 18"/>
          <p:cNvSpPr/>
          <p:nvPr/>
        </p:nvSpPr>
        <p:spPr>
          <a:xfrm>
            <a:off x="5852160" y="182880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02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Text 19"/>
          <p:cNvSpPr/>
          <p:nvPr/>
        </p:nvSpPr>
        <p:spPr>
          <a:xfrm>
            <a:off x="6236208" y="1849384"/>
            <a:ext cx="235915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M&amp;A Currency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Text 20"/>
          <p:cNvSpPr/>
          <p:nvPr/>
        </p:nvSpPr>
        <p:spPr>
          <a:xfrm>
            <a:off x="6236208" y="2179648"/>
            <a:ext cx="235915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併購交易對價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Text 21"/>
          <p:cNvSpPr/>
          <p:nvPr/>
        </p:nvSpPr>
        <p:spPr>
          <a:xfrm>
            <a:off x="6236208" y="2490544"/>
            <a:ext cx="23408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just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• Share Swap/Stock Consideration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• 降低現金支出壓力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• 讓賣方分享交易後長期上行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Shape 22"/>
          <p:cNvSpPr/>
          <p:nvPr/>
        </p:nvSpPr>
        <p:spPr>
          <a:xfrm>
            <a:off x="438912" y="3112336"/>
            <a:ext cx="2999232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7620">
            <a:solidFill>
              <a:srgbClr val="D4D4D4"/>
            </a:solidFill>
            <a:prstDash val="solid"/>
          </a:ln>
          <a:effectLst>
            <a:outerShdw blurRad="1270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61" name="Shape 23"/>
          <p:cNvSpPr/>
          <p:nvPr/>
        </p:nvSpPr>
        <p:spPr>
          <a:xfrm>
            <a:off x="438912" y="3112336"/>
            <a:ext cx="50292" cy="1325880"/>
          </a:xfrm>
          <a:prstGeom prst="rect">
            <a:avLst/>
          </a:prstGeom>
          <a:solidFill>
            <a:srgbClr val="920000"/>
          </a:solidFill>
          <a:ln w="12700">
            <a:solidFill>
              <a:srgbClr val="920000"/>
            </a:solidFill>
            <a:prstDash val="solid"/>
          </a:ln>
        </p:spPr>
      </p:sp>
      <p:sp>
        <p:nvSpPr>
          <p:cNvPr id="62" name="Text 24"/>
          <p:cNvSpPr/>
          <p:nvPr/>
        </p:nvSpPr>
        <p:spPr>
          <a:xfrm>
            <a:off x="585216" y="320040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03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Text 25"/>
          <p:cNvSpPr/>
          <p:nvPr/>
        </p:nvSpPr>
        <p:spPr>
          <a:xfrm>
            <a:off x="969264" y="3217536"/>
            <a:ext cx="235915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Equity-based Incentives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Text 26"/>
          <p:cNvSpPr/>
          <p:nvPr/>
        </p:nvSpPr>
        <p:spPr>
          <a:xfrm>
            <a:off x="969264" y="3551248"/>
            <a:ext cx="235915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股權激勵工具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5" name="Text 27"/>
          <p:cNvSpPr/>
          <p:nvPr/>
        </p:nvSpPr>
        <p:spPr>
          <a:xfrm>
            <a:off x="969264" y="3862144"/>
            <a:ext cx="23408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just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• ESOP/Stock Options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• Restricted Shares/</a:t>
            </a:r>
            <a:r>
              <a:rPr lang="en-US" sz="10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RSU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• 綁定核心人才與股東長期利益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6" name="Shape 28"/>
          <p:cNvSpPr/>
          <p:nvPr/>
        </p:nvSpPr>
        <p:spPr>
          <a:xfrm>
            <a:off x="5705856" y="3112336"/>
            <a:ext cx="2999232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7620">
            <a:solidFill>
              <a:srgbClr val="D4D4D4"/>
            </a:solidFill>
            <a:prstDash val="solid"/>
          </a:ln>
          <a:effectLst>
            <a:outerShdw blurRad="12700" dist="50800" dir="2700000" algn="bl" rotWithShape="0">
              <a:srgbClr val="999999">
                <a:alpha val="18000"/>
              </a:srgbClr>
            </a:outerShdw>
          </a:effectLst>
        </p:spPr>
      </p:sp>
      <p:sp>
        <p:nvSpPr>
          <p:cNvPr id="67" name="Shape 29"/>
          <p:cNvSpPr/>
          <p:nvPr/>
        </p:nvSpPr>
        <p:spPr>
          <a:xfrm>
            <a:off x="5705856" y="3112336"/>
            <a:ext cx="50292" cy="1325880"/>
          </a:xfrm>
          <a:prstGeom prst="rect">
            <a:avLst/>
          </a:prstGeom>
          <a:solidFill>
            <a:srgbClr val="920000"/>
          </a:solidFill>
          <a:ln w="12700">
            <a:solidFill>
              <a:srgbClr val="920000"/>
            </a:solidFill>
            <a:prstDash val="solid"/>
          </a:ln>
        </p:spPr>
      </p:sp>
      <p:sp>
        <p:nvSpPr>
          <p:cNvPr id="68" name="Text 30"/>
          <p:cNvSpPr/>
          <p:nvPr/>
        </p:nvSpPr>
        <p:spPr>
          <a:xfrm>
            <a:off x="5852160" y="320040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-120"/>
              </a:rPr>
              <a:t>04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Text 31"/>
          <p:cNvSpPr/>
          <p:nvPr/>
        </p:nvSpPr>
        <p:spPr>
          <a:xfrm>
            <a:off x="6236208" y="3217536"/>
            <a:ext cx="235915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Strategic Capital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Text 32"/>
          <p:cNvSpPr/>
          <p:nvPr/>
        </p:nvSpPr>
        <p:spPr>
          <a:xfrm>
            <a:off x="6236208" y="3551248"/>
            <a:ext cx="235915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策略資本合作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Text 33"/>
          <p:cNvSpPr/>
          <p:nvPr/>
        </p:nvSpPr>
        <p:spPr>
          <a:xfrm>
            <a:off x="6236208" y="3862144"/>
            <a:ext cx="23408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just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• Private Placement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• Strategic Investment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None/>
            </a:pPr>
            <a:r>
              <a:rPr lang="en-US" sz="10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• 引進產業夥伴、長期資金或合作關係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7" name="Shape 39"/>
          <p:cNvSpPr/>
          <p:nvPr/>
        </p:nvSpPr>
        <p:spPr>
          <a:xfrm>
            <a:off x="438912" y="5578944"/>
            <a:ext cx="8266176" cy="658368"/>
          </a:xfrm>
          <a:prstGeom prst="roundRect">
            <a:avLst>
              <a:gd name="adj" fmla="val 5556"/>
            </a:avLst>
          </a:prstGeom>
          <a:solidFill>
            <a:srgbClr val="F8EAEA"/>
          </a:solidFill>
          <a:ln w="5080">
            <a:solidFill>
              <a:srgbClr val="EADADA"/>
            </a:solidFill>
            <a:prstDash val="solid"/>
          </a:ln>
        </p:spPr>
      </p:sp>
      <p:sp>
        <p:nvSpPr>
          <p:cNvPr id="78" name="Shape 40"/>
          <p:cNvSpPr/>
          <p:nvPr/>
        </p:nvSpPr>
        <p:spPr>
          <a:xfrm>
            <a:off x="438912" y="5578944"/>
            <a:ext cx="50292" cy="658368"/>
          </a:xfrm>
          <a:prstGeom prst="rect">
            <a:avLst/>
          </a:prstGeom>
          <a:solidFill>
            <a:srgbClr val="920000"/>
          </a:solidFill>
          <a:ln w="12700">
            <a:solidFill>
              <a:srgbClr val="B40000"/>
            </a:solidFill>
            <a:prstDash val="solid"/>
          </a:ln>
        </p:spPr>
      </p:sp>
      <p:sp>
        <p:nvSpPr>
          <p:cNvPr id="79" name="Text 41"/>
          <p:cNvSpPr/>
          <p:nvPr/>
        </p:nvSpPr>
        <p:spPr>
          <a:xfrm>
            <a:off x="630935" y="5697816"/>
            <a:ext cx="1655065" cy="320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案例｜台灣保瑞藥業</a:t>
            </a:r>
            <a:endParaRPr lang="en-US" sz="1400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0" name="Text 42"/>
          <p:cNvSpPr/>
          <p:nvPr/>
        </p:nvSpPr>
        <p:spPr>
          <a:xfrm>
            <a:off x="2427731" y="5722960"/>
            <a:ext cx="6190488" cy="368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不</a:t>
            </a:r>
            <a:r>
              <a:rPr lang="zh-TW" alt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只</a:t>
            </a:r>
            <a:r>
              <a:rPr lang="en-US" sz="12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單次</a:t>
            </a:r>
            <a:r>
              <a:rPr lang="en-US" sz="1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IPO </a:t>
            </a:r>
            <a:r>
              <a:rPr lang="en-US" sz="1200" dirty="0" err="1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募資，而是掛牌後結合併購、後續籌資、法人溝通與轉板，形成可持續的資本運作平台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1" name="Text 43"/>
          <p:cNvSpPr/>
          <p:nvPr/>
        </p:nvSpPr>
        <p:spPr>
          <a:xfrm>
            <a:off x="2331720" y="5962992"/>
            <a:ext cx="6263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6" name="文字方塊 85"/>
          <p:cNvSpPr txBox="1"/>
          <p:nvPr/>
        </p:nvSpPr>
        <p:spPr>
          <a:xfrm>
            <a:off x="414195" y="1139183"/>
            <a:ext cx="8280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lvl="0" indent="-180975">
              <a:lnSpc>
                <a:spcPts val="1800"/>
              </a:lnSpc>
              <a:buFont typeface="Arial" panose="020B0604020202020204" pitchFamily="34" charset="0"/>
              <a:buChar char="•"/>
              <a:defRPr/>
            </a:pPr>
            <a:r>
              <a:rPr lang="zh-TW" altLang="en-US" sz="1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上市後，股票不只是交易標的，而是支撐後續融資、併購、人才激勵與策略合作的資本市場平台</a:t>
            </a:r>
          </a:p>
        </p:txBody>
      </p:sp>
    </p:spTree>
    <p:extLst>
      <p:ext uri="{BB962C8B-B14F-4D97-AF65-F5344CB8AC3E}">
        <p14:creationId xmlns:p14="http://schemas.microsoft.com/office/powerpoint/2010/main" val="39829650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D4CB4BAF-BF91-45BB-A960-DCD812D9EB2A}"/>
              </a:ext>
            </a:extLst>
          </p:cNvPr>
          <p:cNvSpPr/>
          <p:nvPr/>
        </p:nvSpPr>
        <p:spPr bwMode="auto">
          <a:xfrm>
            <a:off x="361060" y="2852936"/>
            <a:ext cx="4282948" cy="3425207"/>
          </a:xfrm>
          <a:prstGeom prst="rect">
            <a:avLst/>
          </a:prstGeom>
          <a:solidFill>
            <a:srgbClr val="D9D9D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zh-TW" altLang="en-US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12AA1091-FEEA-4D17-96D6-D9BD4A47CBFE}"/>
              </a:ext>
            </a:extLst>
          </p:cNvPr>
          <p:cNvSpPr/>
          <p:nvPr/>
        </p:nvSpPr>
        <p:spPr bwMode="auto">
          <a:xfrm>
            <a:off x="4817417" y="2696829"/>
            <a:ext cx="4219079" cy="3756507"/>
          </a:xfrm>
          <a:prstGeom prst="rect">
            <a:avLst/>
          </a:prstGeom>
          <a:solidFill>
            <a:srgbClr val="D9D9D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zh-TW" altLang="en-US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22429FB8-3FF8-4193-8DC8-E93C5384D133}"/>
              </a:ext>
            </a:extLst>
          </p:cNvPr>
          <p:cNvSpPr txBox="1"/>
          <p:nvPr/>
        </p:nvSpPr>
        <p:spPr>
          <a:xfrm>
            <a:off x="5149806" y="2733488"/>
            <a:ext cx="35986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台新投資銀行團隊扮演重要角色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D6A4F9C3-017B-4D52-9D0A-8A7CA45BF60D}"/>
              </a:ext>
            </a:extLst>
          </p:cNvPr>
          <p:cNvSpPr/>
          <p:nvPr/>
        </p:nvSpPr>
        <p:spPr>
          <a:xfrm>
            <a:off x="254338" y="2951303"/>
            <a:ext cx="46777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台新提供多元投資銀行服務，</a:t>
            </a:r>
            <a:endParaRPr lang="en-US" altLang="zh-TW" sz="1600" b="1" dirty="0">
              <a:solidFill>
                <a:srgbClr val="92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一路伴隨公司邁向營收與獲利的永續成長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E2FBA40-2854-4920-9BE6-DDA2ABCC54BF}"/>
              </a:ext>
            </a:extLst>
          </p:cNvPr>
          <p:cNvSpPr/>
          <p:nvPr/>
        </p:nvSpPr>
        <p:spPr bwMode="auto">
          <a:xfrm>
            <a:off x="920035" y="4186628"/>
            <a:ext cx="626074" cy="372641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zh-TW" altLang="en-US" sz="90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1AF95682-EBE0-4049-A074-6A3D2F734C4E}"/>
              </a:ext>
            </a:extLst>
          </p:cNvPr>
          <p:cNvSpPr/>
          <p:nvPr/>
        </p:nvSpPr>
        <p:spPr>
          <a:xfrm>
            <a:off x="787737" y="3661603"/>
            <a:ext cx="891591" cy="5087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lnSpc>
                <a:spcPct val="200000"/>
              </a:lnSpc>
            </a:pPr>
            <a:r>
              <a:rPr lang="en-US" altLang="zh-TW" sz="1600" b="1" dirty="0">
                <a:solidFill>
                  <a:srgbClr val="FFFFFF">
                    <a:lumMod val="50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8.6</a:t>
            </a:r>
            <a:r>
              <a:rPr lang="zh-TW" altLang="en-US" sz="1600" b="1" dirty="0">
                <a:solidFill>
                  <a:srgbClr val="FFFFFF">
                    <a:lumMod val="50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億元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C214A783-E7C6-4D68-A0D5-A71BE05AE8EA}"/>
              </a:ext>
            </a:extLst>
          </p:cNvPr>
          <p:cNvSpPr/>
          <p:nvPr/>
        </p:nvSpPr>
        <p:spPr bwMode="auto">
          <a:xfrm>
            <a:off x="3183887" y="3866982"/>
            <a:ext cx="674029" cy="71916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zh-TW" altLang="en-US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D4E758C5-A958-48B9-853C-C939B3746681}"/>
              </a:ext>
            </a:extLst>
          </p:cNvPr>
          <p:cNvSpPr/>
          <p:nvPr/>
        </p:nvSpPr>
        <p:spPr>
          <a:xfrm>
            <a:off x="3004705" y="3357863"/>
            <a:ext cx="1135247" cy="5087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zh-TW" sz="16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523.7</a:t>
            </a:r>
            <a:r>
              <a:rPr lang="zh-TW" altLang="en-US" sz="1600" b="1" dirty="0">
                <a:solidFill>
                  <a:srgbClr val="FFFFFF">
                    <a:lumMod val="50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億元</a:t>
            </a:r>
          </a:p>
        </p:txBody>
      </p:sp>
      <p:graphicFrame>
        <p:nvGraphicFramePr>
          <p:cNvPr id="85" name="表格 84">
            <a:extLst>
              <a:ext uri="{FF2B5EF4-FFF2-40B4-BE49-F238E27FC236}">
                <a16:creationId xmlns:a16="http://schemas.microsoft.com/office/drawing/2014/main" id="{FF863B91-8D98-4325-BB73-918696452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802214"/>
              </p:ext>
            </p:extLst>
          </p:nvPr>
        </p:nvGraphicFramePr>
        <p:xfrm>
          <a:off x="404861" y="4963638"/>
          <a:ext cx="4066224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370">
                  <a:extLst>
                    <a:ext uri="{9D8B030D-6E8A-4147-A177-3AD203B41FA5}">
                      <a16:colId xmlns:a16="http://schemas.microsoft.com/office/drawing/2014/main" val="1431827709"/>
                    </a:ext>
                  </a:extLst>
                </a:gridCol>
                <a:gridCol w="824383">
                  <a:extLst>
                    <a:ext uri="{9D8B030D-6E8A-4147-A177-3AD203B41FA5}">
                      <a16:colId xmlns:a16="http://schemas.microsoft.com/office/drawing/2014/main" val="615663122"/>
                    </a:ext>
                  </a:extLst>
                </a:gridCol>
                <a:gridCol w="928597">
                  <a:extLst>
                    <a:ext uri="{9D8B030D-6E8A-4147-A177-3AD203B41FA5}">
                      <a16:colId xmlns:a16="http://schemas.microsoft.com/office/drawing/2014/main" val="3031336244"/>
                    </a:ext>
                  </a:extLst>
                </a:gridCol>
                <a:gridCol w="927437">
                  <a:extLst>
                    <a:ext uri="{9D8B030D-6E8A-4147-A177-3AD203B41FA5}">
                      <a16:colId xmlns:a16="http://schemas.microsoft.com/office/drawing/2014/main" val="2735745837"/>
                    </a:ext>
                  </a:extLst>
                </a:gridCol>
                <a:gridCol w="927437">
                  <a:extLst>
                    <a:ext uri="{9D8B030D-6E8A-4147-A177-3AD203B41FA5}">
                      <a16:colId xmlns:a16="http://schemas.microsoft.com/office/drawing/2014/main" val="209730290"/>
                    </a:ext>
                  </a:extLst>
                </a:gridCol>
              </a:tblGrid>
              <a:tr h="240472">
                <a:tc>
                  <a:txBody>
                    <a:bodyPr/>
                    <a:lstStyle/>
                    <a:p>
                      <a:pPr algn="l"/>
                      <a:endParaRPr lang="zh-TW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2017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2024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Q2</a:t>
                      </a:r>
                      <a:endParaRPr lang="zh-TW" altLang="en-US" sz="1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209705"/>
                  </a:ext>
                </a:extLst>
              </a:tr>
              <a:tr h="213753">
                <a:tc>
                  <a:txBody>
                    <a:bodyPr/>
                    <a:lstStyle/>
                    <a:p>
                      <a:pPr algn="r"/>
                      <a:r>
                        <a:rPr lang="zh-TW" altLang="en-US" sz="10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營收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3.58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192.5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190.14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98.9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240991"/>
                  </a:ext>
                </a:extLst>
              </a:tr>
              <a:tr h="213753">
                <a:tc>
                  <a:txBody>
                    <a:bodyPr/>
                    <a:lstStyle/>
                    <a:p>
                      <a:pPr algn="r"/>
                      <a:r>
                        <a:rPr lang="zh-TW" altLang="en-US" sz="10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淨利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0.14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39.4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29.8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14.0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734085"/>
                  </a:ext>
                </a:extLst>
              </a:tr>
              <a:tr h="213753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EPS</a:t>
                      </a:r>
                      <a:endParaRPr lang="zh-TW" altLang="en-US" sz="10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0.56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38.69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23.9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4.56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942885"/>
                  </a:ext>
                </a:extLst>
              </a:tr>
              <a:tr h="213753">
                <a:tc>
                  <a:txBody>
                    <a:bodyPr/>
                    <a:lstStyle/>
                    <a:p>
                      <a:pPr algn="r"/>
                      <a:r>
                        <a:rPr lang="zh-TW" altLang="en-US" sz="10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股本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2.64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10.31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12.74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12.80</a:t>
                      </a:r>
                      <a:r>
                        <a:rPr lang="zh-TW" altLang="en-US" sz="10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億元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779109"/>
                  </a:ext>
                </a:extLst>
              </a:tr>
            </a:tbl>
          </a:graphicData>
        </a:graphic>
      </p:graphicFrame>
      <p:sp>
        <p:nvSpPr>
          <p:cNvPr id="92" name="文字方塊 91">
            <a:extLst>
              <a:ext uri="{FF2B5EF4-FFF2-40B4-BE49-F238E27FC236}">
                <a16:creationId xmlns:a16="http://schemas.microsoft.com/office/drawing/2014/main" id="{9983EA46-D1DE-42BE-BFE9-4759E4E7D281}"/>
              </a:ext>
            </a:extLst>
          </p:cNvPr>
          <p:cNvSpPr txBox="1"/>
          <p:nvPr/>
        </p:nvSpPr>
        <p:spPr>
          <a:xfrm>
            <a:off x="749351" y="4167474"/>
            <a:ext cx="957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上櫃</a:t>
            </a:r>
            <a:r>
              <a:rPr lang="en-US" altLang="zh-TW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</a:p>
          <a:p>
            <a:pPr algn="ctr"/>
            <a:r>
              <a:rPr lang="en-US" altLang="zh-TW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32.5</a:t>
            </a:r>
            <a:r>
              <a:rPr lang="zh-TW" alt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</a:p>
        </p:txBody>
      </p:sp>
      <p:sp>
        <p:nvSpPr>
          <p:cNvPr id="135" name="文字方塊 134">
            <a:extLst>
              <a:ext uri="{FF2B5EF4-FFF2-40B4-BE49-F238E27FC236}">
                <a16:creationId xmlns:a16="http://schemas.microsoft.com/office/drawing/2014/main" id="{9078A17A-6B43-4AB8-AAF8-391F22D9E710}"/>
              </a:ext>
            </a:extLst>
          </p:cNvPr>
          <p:cNvSpPr txBox="1"/>
          <p:nvPr/>
        </p:nvSpPr>
        <p:spPr>
          <a:xfrm>
            <a:off x="3002441" y="4553039"/>
            <a:ext cx="12198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</a:t>
            </a:r>
            <a:r>
              <a:rPr lang="zh-TW" altLang="en-US" sz="14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14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06</a:t>
            </a:r>
            <a:r>
              <a:rPr lang="zh-TW" altLang="en-US" sz="14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</a:p>
        </p:txBody>
      </p:sp>
      <p:cxnSp>
        <p:nvCxnSpPr>
          <p:cNvPr id="137" name="直線接點 136">
            <a:extLst>
              <a:ext uri="{FF2B5EF4-FFF2-40B4-BE49-F238E27FC236}">
                <a16:creationId xmlns:a16="http://schemas.microsoft.com/office/drawing/2014/main" id="{D7AFF01A-B187-482D-BA75-84E77B1B89C7}"/>
              </a:ext>
            </a:extLst>
          </p:cNvPr>
          <p:cNvCxnSpPr>
            <a:cxnSpLocks/>
          </p:cNvCxnSpPr>
          <p:nvPr/>
        </p:nvCxnSpPr>
        <p:spPr bwMode="auto">
          <a:xfrm>
            <a:off x="361060" y="4893071"/>
            <a:ext cx="4153828" cy="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138" name="文字方塊 137">
            <a:extLst>
              <a:ext uri="{FF2B5EF4-FFF2-40B4-BE49-F238E27FC236}">
                <a16:creationId xmlns:a16="http://schemas.microsoft.com/office/drawing/2014/main" id="{CC53304C-5EE4-47C5-B576-ADEFE452DE45}"/>
              </a:ext>
            </a:extLst>
          </p:cNvPr>
          <p:cNvSpPr txBox="1"/>
          <p:nvPr/>
        </p:nvSpPr>
        <p:spPr>
          <a:xfrm>
            <a:off x="864715" y="4542991"/>
            <a:ext cx="792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>
                <a:solidFill>
                  <a:srgbClr val="7F7F7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2017</a:t>
            </a:r>
            <a:r>
              <a:rPr lang="zh-TW" altLang="en-US" sz="1400" b="1" dirty="0">
                <a:solidFill>
                  <a:srgbClr val="7F7F7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</a:p>
        </p:txBody>
      </p:sp>
      <p:sp>
        <p:nvSpPr>
          <p:cNvPr id="139" name="箭號: 向右 241">
            <a:extLst>
              <a:ext uri="{FF2B5EF4-FFF2-40B4-BE49-F238E27FC236}">
                <a16:creationId xmlns:a16="http://schemas.microsoft.com/office/drawing/2014/main" id="{7DE9ED5F-B3F9-4881-ABD9-D8DE8D697295}"/>
              </a:ext>
            </a:extLst>
          </p:cNvPr>
          <p:cNvSpPr/>
          <p:nvPr/>
        </p:nvSpPr>
        <p:spPr bwMode="auto">
          <a:xfrm rot="20456268">
            <a:off x="1606194" y="4078180"/>
            <a:ext cx="1590957" cy="255159"/>
          </a:xfrm>
          <a:prstGeom prst="rightArrow">
            <a:avLst/>
          </a:prstGeom>
          <a:solidFill>
            <a:srgbClr val="92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zh-TW" altLang="en-US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26455D05-7C37-4927-A98A-013B6B265E15}"/>
              </a:ext>
            </a:extLst>
          </p:cNvPr>
          <p:cNvSpPr/>
          <p:nvPr/>
        </p:nvSpPr>
        <p:spPr bwMode="auto">
          <a:xfrm>
            <a:off x="4941335" y="5876837"/>
            <a:ext cx="3982834" cy="385572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en-US" altLang="zh-TW" sz="14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3883AD9-B67B-6BC5-2340-1C1E11073748}"/>
              </a:ext>
            </a:extLst>
          </p:cNvPr>
          <p:cNvSpPr txBox="1"/>
          <p:nvPr/>
        </p:nvSpPr>
        <p:spPr>
          <a:xfrm>
            <a:off x="5223916" y="5931124"/>
            <a:ext cx="3611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響應交易所推動生技指標股櫃轉市</a:t>
            </a: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4FD81B96-66E6-A3CC-61C4-F01B4E5DBC6E}"/>
              </a:ext>
            </a:extLst>
          </p:cNvPr>
          <p:cNvSpPr/>
          <p:nvPr/>
        </p:nvSpPr>
        <p:spPr bwMode="auto">
          <a:xfrm>
            <a:off x="4941335" y="5418304"/>
            <a:ext cx="3982834" cy="385572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en-US" altLang="zh-TW" sz="140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1" name="文字方塊 130">
            <a:extLst>
              <a:ext uri="{FF2B5EF4-FFF2-40B4-BE49-F238E27FC236}">
                <a16:creationId xmlns:a16="http://schemas.microsoft.com/office/drawing/2014/main" id="{BC88726C-F830-D4E8-6F43-2883A94AA28F}"/>
              </a:ext>
            </a:extLst>
          </p:cNvPr>
          <p:cNvSpPr txBox="1"/>
          <p:nvPr/>
        </p:nvSpPr>
        <p:spPr>
          <a:xfrm>
            <a:off x="5223917" y="5472591"/>
            <a:ext cx="35592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持續協助集團子公司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業務，建立旗艦艦隊</a:t>
            </a: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5306EBFD-5D1D-E6C3-216F-952F3AE8D671}"/>
              </a:ext>
            </a:extLst>
          </p:cNvPr>
          <p:cNvSpPr/>
          <p:nvPr/>
        </p:nvSpPr>
        <p:spPr bwMode="auto">
          <a:xfrm>
            <a:off x="4941335" y="4959774"/>
            <a:ext cx="3982834" cy="385572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en-US" altLang="zh-TW" sz="140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3" name="文字方塊 142">
            <a:extLst>
              <a:ext uri="{FF2B5EF4-FFF2-40B4-BE49-F238E27FC236}">
                <a16:creationId xmlns:a16="http://schemas.microsoft.com/office/drawing/2014/main" id="{5A0C0DFF-D41A-D9F8-5D9B-E3D4CF897F6A}"/>
              </a:ext>
            </a:extLst>
          </p:cNvPr>
          <p:cNvSpPr txBox="1"/>
          <p:nvPr/>
        </p:nvSpPr>
        <p:spPr>
          <a:xfrm>
            <a:off x="5223917" y="5014061"/>
            <a:ext cx="3347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積極引薦機構法人，提升法人持股比例</a:t>
            </a: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7712089D-F657-C167-A407-1B1F8FB82967}"/>
              </a:ext>
            </a:extLst>
          </p:cNvPr>
          <p:cNvSpPr/>
          <p:nvPr/>
        </p:nvSpPr>
        <p:spPr bwMode="auto">
          <a:xfrm>
            <a:off x="4941335" y="4501244"/>
            <a:ext cx="3982834" cy="385572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en-US" altLang="zh-TW" sz="140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9" name="文字方塊 148">
            <a:extLst>
              <a:ext uri="{FF2B5EF4-FFF2-40B4-BE49-F238E27FC236}">
                <a16:creationId xmlns:a16="http://schemas.microsoft.com/office/drawing/2014/main" id="{D332C383-064D-76D0-9725-18F77B7E1A07}"/>
              </a:ext>
            </a:extLst>
          </p:cNvPr>
          <p:cNvSpPr txBox="1"/>
          <p:nvPr/>
        </p:nvSpPr>
        <p:spPr>
          <a:xfrm>
            <a:off x="5223918" y="4555531"/>
            <a:ext cx="3583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共同設立併購基金，增加資金彈性</a:t>
            </a: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F9F60EDB-C0EB-0AF3-6859-068C50F35D98}"/>
              </a:ext>
            </a:extLst>
          </p:cNvPr>
          <p:cNvSpPr/>
          <p:nvPr/>
        </p:nvSpPr>
        <p:spPr bwMode="auto">
          <a:xfrm>
            <a:off x="4941335" y="4042714"/>
            <a:ext cx="3982834" cy="385572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en-US" altLang="zh-TW" sz="140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2" name="文字方塊 151">
            <a:extLst>
              <a:ext uri="{FF2B5EF4-FFF2-40B4-BE49-F238E27FC236}">
                <a16:creationId xmlns:a16="http://schemas.microsoft.com/office/drawing/2014/main" id="{195542B2-7DB3-12D5-6004-CA193C26C7C4}"/>
              </a:ext>
            </a:extLst>
          </p:cNvPr>
          <p:cNvSpPr txBox="1"/>
          <p:nvPr/>
        </p:nvSpPr>
        <p:spPr>
          <a:xfrm>
            <a:off x="5223918" y="4097001"/>
            <a:ext cx="3583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資本市場募資，提供即時資金支援，以利併購布局</a:t>
            </a: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A0FDAAB4-9F19-6E66-34EE-BE04EBA98FB0}"/>
              </a:ext>
            </a:extLst>
          </p:cNvPr>
          <p:cNvSpPr/>
          <p:nvPr/>
        </p:nvSpPr>
        <p:spPr bwMode="auto">
          <a:xfrm>
            <a:off x="4941335" y="3584184"/>
            <a:ext cx="3982834" cy="385572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en-US" altLang="zh-TW" sz="140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5" name="文字方塊 154">
            <a:extLst>
              <a:ext uri="{FF2B5EF4-FFF2-40B4-BE49-F238E27FC236}">
                <a16:creationId xmlns:a16="http://schemas.microsoft.com/office/drawing/2014/main" id="{B99F4319-2B14-6776-EDD5-9796E1CA30D3}"/>
              </a:ext>
            </a:extLst>
          </p:cNvPr>
          <p:cNvSpPr txBox="1"/>
          <p:nvPr/>
        </p:nvSpPr>
        <p:spPr>
          <a:xfrm>
            <a:off x="5223916" y="3638471"/>
            <a:ext cx="3611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多起潛在併購標的之財務顧問</a:t>
            </a: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841B3029-9307-097E-0419-C8EDD8062508}"/>
              </a:ext>
            </a:extLst>
          </p:cNvPr>
          <p:cNvSpPr/>
          <p:nvPr/>
        </p:nvSpPr>
        <p:spPr bwMode="auto">
          <a:xfrm>
            <a:off x="4941335" y="3125654"/>
            <a:ext cx="3982834" cy="385572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eaLnBrk="1" hangingPunct="1">
              <a:lnSpc>
                <a:spcPct val="200000"/>
              </a:lnSpc>
            </a:pPr>
            <a:endParaRPr lang="en-US" altLang="zh-TW" sz="140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9" name="文字方塊 158">
            <a:extLst>
              <a:ext uri="{FF2B5EF4-FFF2-40B4-BE49-F238E27FC236}">
                <a16:creationId xmlns:a16="http://schemas.microsoft.com/office/drawing/2014/main" id="{68E66C35-3A2B-CFBF-3885-0A82AC8E8772}"/>
              </a:ext>
            </a:extLst>
          </p:cNvPr>
          <p:cNvSpPr txBox="1"/>
          <p:nvPr/>
        </p:nvSpPr>
        <p:spPr>
          <a:xfrm>
            <a:off x="5223917" y="3179941"/>
            <a:ext cx="3347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協助進行集團組織架構調整規劃諮詢</a:t>
            </a:r>
          </a:p>
        </p:txBody>
      </p:sp>
      <p:pic>
        <p:nvPicPr>
          <p:cNvPr id="72" name="圖片 71">
            <a:extLst>
              <a:ext uri="{FF2B5EF4-FFF2-40B4-BE49-F238E27FC236}">
                <a16:creationId xmlns:a16="http://schemas.microsoft.com/office/drawing/2014/main" id="{C63B9490-69DC-41D1-9238-73303B64E7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51932">
            <a:off x="4683878" y="2885799"/>
            <a:ext cx="512908" cy="425369"/>
          </a:xfrm>
          <a:prstGeom prst="rect">
            <a:avLst/>
          </a:prstGeom>
        </p:spPr>
      </p:pic>
      <p:pic>
        <p:nvPicPr>
          <p:cNvPr id="160" name="圖片 159">
            <a:extLst>
              <a:ext uri="{FF2B5EF4-FFF2-40B4-BE49-F238E27FC236}">
                <a16:creationId xmlns:a16="http://schemas.microsoft.com/office/drawing/2014/main" id="{DAC3E679-37C3-E138-45B1-EC735C7C8B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51932">
            <a:off x="4683878" y="3348417"/>
            <a:ext cx="512908" cy="425369"/>
          </a:xfrm>
          <a:prstGeom prst="rect">
            <a:avLst/>
          </a:prstGeom>
        </p:spPr>
      </p:pic>
      <p:pic>
        <p:nvPicPr>
          <p:cNvPr id="161" name="圖片 160">
            <a:extLst>
              <a:ext uri="{FF2B5EF4-FFF2-40B4-BE49-F238E27FC236}">
                <a16:creationId xmlns:a16="http://schemas.microsoft.com/office/drawing/2014/main" id="{04E5BA39-152D-9854-D14B-71614ECA58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51932">
            <a:off x="4683878" y="3811035"/>
            <a:ext cx="512908" cy="425369"/>
          </a:xfrm>
          <a:prstGeom prst="rect">
            <a:avLst/>
          </a:prstGeom>
        </p:spPr>
      </p:pic>
      <p:pic>
        <p:nvPicPr>
          <p:cNvPr id="162" name="圖片 161">
            <a:extLst>
              <a:ext uri="{FF2B5EF4-FFF2-40B4-BE49-F238E27FC236}">
                <a16:creationId xmlns:a16="http://schemas.microsoft.com/office/drawing/2014/main" id="{A945E302-DED9-0310-3914-F3E483138D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51932">
            <a:off x="4683878" y="4273653"/>
            <a:ext cx="512908" cy="425369"/>
          </a:xfrm>
          <a:prstGeom prst="rect">
            <a:avLst/>
          </a:prstGeom>
        </p:spPr>
      </p:pic>
      <p:pic>
        <p:nvPicPr>
          <p:cNvPr id="163" name="圖片 162">
            <a:extLst>
              <a:ext uri="{FF2B5EF4-FFF2-40B4-BE49-F238E27FC236}">
                <a16:creationId xmlns:a16="http://schemas.microsoft.com/office/drawing/2014/main" id="{9961E077-D157-2D7F-F350-9A67B5004F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51932">
            <a:off x="4683878" y="4736271"/>
            <a:ext cx="512908" cy="425369"/>
          </a:xfrm>
          <a:prstGeom prst="rect">
            <a:avLst/>
          </a:prstGeom>
        </p:spPr>
      </p:pic>
      <p:pic>
        <p:nvPicPr>
          <p:cNvPr id="164" name="圖片 163">
            <a:extLst>
              <a:ext uri="{FF2B5EF4-FFF2-40B4-BE49-F238E27FC236}">
                <a16:creationId xmlns:a16="http://schemas.microsoft.com/office/drawing/2014/main" id="{714640E6-DB85-FBD8-F8E8-D1F676DD25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51932">
            <a:off x="4683878" y="5198889"/>
            <a:ext cx="512908" cy="425369"/>
          </a:xfrm>
          <a:prstGeom prst="rect">
            <a:avLst/>
          </a:prstGeom>
        </p:spPr>
      </p:pic>
      <p:pic>
        <p:nvPicPr>
          <p:cNvPr id="165" name="圖片 164">
            <a:extLst>
              <a:ext uri="{FF2B5EF4-FFF2-40B4-BE49-F238E27FC236}">
                <a16:creationId xmlns:a16="http://schemas.microsoft.com/office/drawing/2014/main" id="{B3F40FE1-0BB7-0CBF-834A-9859E35DCC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51932">
            <a:off x="4683878" y="5661508"/>
            <a:ext cx="512908" cy="425369"/>
          </a:xfrm>
          <a:prstGeom prst="rect">
            <a:avLst/>
          </a:prstGeom>
        </p:spPr>
      </p:pic>
      <p:grpSp>
        <p:nvGrpSpPr>
          <p:cNvPr id="2" name="群組 1"/>
          <p:cNvGrpSpPr/>
          <p:nvPr/>
        </p:nvGrpSpPr>
        <p:grpSpPr>
          <a:xfrm>
            <a:off x="1878828" y="3666310"/>
            <a:ext cx="964455" cy="952432"/>
            <a:chOff x="9840761" y="1772816"/>
            <a:chExt cx="964455" cy="952432"/>
          </a:xfrm>
        </p:grpSpPr>
        <p:sp>
          <p:nvSpPr>
            <p:cNvPr id="134" name="橢圓 133">
              <a:extLst>
                <a:ext uri="{FF2B5EF4-FFF2-40B4-BE49-F238E27FC236}">
                  <a16:creationId xmlns:a16="http://schemas.microsoft.com/office/drawing/2014/main" id="{3FEC7175-64DD-43FB-88DC-0BBFF6F85433}"/>
                </a:ext>
              </a:extLst>
            </p:cNvPr>
            <p:cNvSpPr/>
            <p:nvPr/>
          </p:nvSpPr>
          <p:spPr bwMode="auto">
            <a:xfrm>
              <a:off x="9852784" y="1772816"/>
              <a:ext cx="952432" cy="952432"/>
            </a:xfrm>
            <a:prstGeom prst="ellipse">
              <a:avLst/>
            </a:prstGeom>
            <a:solidFill>
              <a:srgbClr val="92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 eaLnBrk="1" hangingPunct="1">
                <a:lnSpc>
                  <a:spcPct val="200000"/>
                </a:lnSpc>
              </a:pPr>
              <a:endParaRPr lang="zh-TW" altLang="en-US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994105B2-07F1-4DCA-9625-74E32372EDDB}"/>
                </a:ext>
              </a:extLst>
            </p:cNvPr>
            <p:cNvSpPr/>
            <p:nvPr/>
          </p:nvSpPr>
          <p:spPr>
            <a:xfrm>
              <a:off x="9840761" y="1971832"/>
              <a:ext cx="963725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TW" altLang="en-US" sz="14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市值提升</a:t>
              </a:r>
              <a:endParaRPr lang="en-US" altLang="zh-TW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lang="en-US" altLang="zh-TW" sz="20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60.9</a:t>
              </a:r>
              <a:r>
                <a:rPr lang="zh-TW" altLang="en-US" sz="20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倍</a:t>
              </a:r>
            </a:p>
          </p:txBody>
        </p:sp>
      </p:grpSp>
      <p:pic>
        <p:nvPicPr>
          <p:cNvPr id="61" name="Picture 2" descr="Vitruvias Therapeutics Inc.授權保瑞藥業臺灣竹南廠區生產ANDA藥品氯 ...">
            <a:extLst>
              <a:ext uri="{FF2B5EF4-FFF2-40B4-BE49-F238E27FC236}">
                <a16:creationId xmlns:a16="http://schemas.microsoft.com/office/drawing/2014/main" id="{04723898-56BD-483A-B9A2-7294C7787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17" y="345879"/>
            <a:ext cx="690361" cy="64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文字方塊 70">
            <a:extLst>
              <a:ext uri="{FF2B5EF4-FFF2-40B4-BE49-F238E27FC236}">
                <a16:creationId xmlns:a16="http://schemas.microsoft.com/office/drawing/2014/main" id="{9983EA46-D1DE-42BE-BFE9-4759E4E7D281}"/>
              </a:ext>
            </a:extLst>
          </p:cNvPr>
          <p:cNvSpPr txBox="1"/>
          <p:nvPr/>
        </p:nvSpPr>
        <p:spPr>
          <a:xfrm>
            <a:off x="3047628" y="3985373"/>
            <a:ext cx="957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現股價格</a:t>
            </a:r>
            <a:endParaRPr lang="en-US" altLang="zh-TW" sz="12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410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</a:p>
        </p:txBody>
      </p:sp>
      <p:sp>
        <p:nvSpPr>
          <p:cNvPr id="7" name="矩形 6"/>
          <p:cNvSpPr/>
          <p:nvPr/>
        </p:nvSpPr>
        <p:spPr>
          <a:xfrm>
            <a:off x="4803769" y="1233075"/>
            <a:ext cx="394469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</a:t>
            </a:r>
            <a:r>
              <a:rPr lang="en-US" altLang="zh-TW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“</a:t>
            </a:r>
            <a:r>
              <a:rPr lang="zh-TW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台新證券協助保瑞</a:t>
            </a:r>
            <a:r>
              <a:rPr lang="en-US" altLang="zh-TW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IPO</a:t>
            </a:r>
            <a:r>
              <a:rPr lang="zh-TW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後，持續提供財顧諮詢，共同評估潛在標的及併購可行性，</a:t>
            </a:r>
            <a:r>
              <a:rPr lang="zh-TW" alt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近</a:t>
            </a:r>
            <a:r>
              <a:rPr lang="en-US" altLang="zh-TW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11</a:t>
            </a:r>
            <a:r>
              <a:rPr lang="zh-TW" alt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年完成</a:t>
            </a:r>
            <a:r>
              <a:rPr lang="en-US" altLang="zh-TW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11</a:t>
            </a:r>
            <a:r>
              <a:rPr lang="zh-TW" alt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起併購案，</a:t>
            </a:r>
            <a:r>
              <a:rPr lang="zh-TW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成為國際級的</a:t>
            </a:r>
            <a:r>
              <a:rPr lang="en-US" altLang="zh-TW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CDMO</a:t>
            </a:r>
            <a:r>
              <a:rPr lang="zh-TW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藥廠，亦持續提供公司強力資金來源，</a:t>
            </a:r>
            <a:r>
              <a:rPr lang="zh-TW" alt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協助公司自資本市場籌資</a:t>
            </a:r>
            <a:r>
              <a:rPr lang="en-US" altLang="zh-TW" sz="1400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</a:t>
            </a:r>
            <a:r>
              <a:rPr lang="zh-TW" alt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次，募資</a:t>
            </a:r>
            <a:r>
              <a:rPr lang="en-US" altLang="zh-TW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&gt;100</a:t>
            </a:r>
            <a:r>
              <a:rPr lang="zh-TW" alt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億元，</a:t>
            </a:r>
            <a:r>
              <a:rPr lang="en-US" altLang="zh-TW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2021</a:t>
            </a:r>
            <a:r>
              <a:rPr lang="zh-TW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年更與台新共同成立私募基金，創新券商與產業合作模式</a:t>
            </a:r>
            <a:r>
              <a:rPr lang="en-US" altLang="zh-TW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”</a:t>
            </a:r>
            <a:endParaRPr lang="zh-TW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文字方塊 3"/>
          <p:cNvSpPr txBox="1">
            <a:spLocks noChangeArrowheads="1"/>
          </p:cNvSpPr>
          <p:nvPr/>
        </p:nvSpPr>
        <p:spPr bwMode="auto">
          <a:xfrm>
            <a:off x="382131" y="1136190"/>
            <a:ext cx="4045853" cy="1869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19063" indent="-119063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119063" marR="0" lvl="0" indent="-119063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保瑞藥業</a:t>
            </a:r>
            <a:r>
              <a:rPr kumimoji="1" lang="zh-TW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股份有限公司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(6472)</a:t>
            </a:r>
          </a:p>
          <a:p>
            <a:pPr marL="119063" marR="0" lvl="0" indent="-119063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主要產品：藥品製造、西藥及保健保養品代理及銷售，</a:t>
            </a:r>
            <a:r>
              <a:rPr lang="zh-TW" altLang="en-US" sz="1200" b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現為台灣最大的</a:t>
            </a:r>
            <a:r>
              <a:rPr lang="en-US" altLang="zh-TW" sz="1200" b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CDMO</a:t>
            </a:r>
            <a:r>
              <a:rPr lang="zh-TW" altLang="en-US" sz="1200" b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製藥廠</a:t>
            </a:r>
            <a:endParaRPr kumimoji="1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9063" marR="0" lvl="0" indent="-119063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目前資本額：新台幣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10.35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億元</a:t>
            </a:r>
            <a:endParaRPr kumimoji="1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119063" marR="0" lvl="0" indent="-119063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掛牌市場：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2023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12</a:t>
            </a:r>
            <a:r>
              <a:rPr lang="zh-TW" altLang="en-US" sz="1200" b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月轉板至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台灣證券交易所</a:t>
            </a:r>
          </a:p>
          <a:p>
            <a:pPr marL="119063" marR="0" lvl="0" indent="-119063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TW" sz="1200" b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IPO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承銷價格：</a:t>
            </a:r>
            <a:r>
              <a:rPr kumimoji="0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2017</a:t>
            </a: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每股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32.5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元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市值</a:t>
            </a:r>
            <a:r>
              <a:rPr lang="zh-TW" altLang="en-US" sz="1200" b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8.6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億元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  <a:p>
            <a:pPr marL="119063" marR="0" lvl="0" indent="-119063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掛牌後最高價格：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 charset="0"/>
              </a:rPr>
              <a:t>1030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元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市值</a:t>
            </a:r>
            <a:r>
              <a:rPr lang="zh-TW" altLang="en-US" sz="1200" b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785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億元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kumimoji="1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19063" marR="0" lvl="0" indent="-119063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5" name="Rectangle 2">
            <a:extLst>
              <a:ext uri="{FF2B5EF4-FFF2-40B4-BE49-F238E27FC236}">
                <a16:creationId xmlns:a16="http://schemas.microsoft.com/office/drawing/2014/main" id="{EDA1187E-EB8E-401C-820B-B8F19D2BF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395914"/>
            <a:ext cx="9373208" cy="6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 攜手台新善用投行服務、創造倍數的營運績效表現</a:t>
            </a:r>
          </a:p>
        </p:txBody>
      </p:sp>
    </p:spTree>
    <p:extLst>
      <p:ext uri="{BB962C8B-B14F-4D97-AF65-F5344CB8AC3E}">
        <p14:creationId xmlns:p14="http://schemas.microsoft.com/office/powerpoint/2010/main" val="1935051955"/>
      </p:ext>
    </p:extLst>
  </p:cSld>
  <p:clrMapOvr>
    <a:masterClrMapping/>
  </p:clrMapOvr>
  <p:transition>
    <p:spli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211" name="i$liḋê"/>
          <p:cNvGrpSpPr>
            <a:grpSpLocks/>
          </p:cNvGrpSpPr>
          <p:nvPr/>
        </p:nvGrpSpPr>
        <p:grpSpPr bwMode="auto">
          <a:xfrm>
            <a:off x="261640" y="1538288"/>
            <a:ext cx="3374256" cy="4166974"/>
            <a:chOff x="4186071" y="1714500"/>
            <a:chExt cx="3819858" cy="4858959"/>
          </a:xfrm>
        </p:grpSpPr>
        <p:grpSp>
          <p:nvGrpSpPr>
            <p:cNvPr id="48" name="îşľíḑé"/>
            <p:cNvGrpSpPr/>
            <p:nvPr/>
          </p:nvGrpSpPr>
          <p:grpSpPr>
            <a:xfrm>
              <a:off x="4186071" y="1714500"/>
              <a:ext cx="3819858" cy="4858959"/>
              <a:chOff x="4656000" y="2298045"/>
              <a:chExt cx="2880000" cy="3663437"/>
            </a:xfrm>
            <a:solidFill>
              <a:schemeClr val="bg1">
                <a:lumMod val="95000"/>
              </a:schemeClr>
            </a:solidFill>
          </p:grpSpPr>
          <p:sp>
            <p:nvSpPr>
              <p:cNvPr id="62" name="iṧlíḑe"/>
              <p:cNvSpPr/>
              <p:nvPr/>
            </p:nvSpPr>
            <p:spPr>
              <a:xfrm>
                <a:off x="4656000" y="2298045"/>
                <a:ext cx="2880000" cy="2880000"/>
              </a:xfrm>
              <a:prstGeom prst="ellipse">
                <a:avLst/>
              </a:prstGeom>
              <a:grpFill/>
              <a:ln w="571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anchor="ctr">
                <a:normAutofit/>
              </a:bodyPr>
              <a:lstStyle/>
              <a:p>
                <a:pPr marL="0" marR="0" lvl="0" indent="0" algn="ctr" defTabSz="685324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63" name="îsḻiḓê"/>
              <p:cNvSpPr/>
              <p:nvPr/>
            </p:nvSpPr>
            <p:spPr>
              <a:xfrm>
                <a:off x="5164181" y="5548877"/>
                <a:ext cx="1900629" cy="41260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anchor="ctr">
                <a:normAutofit/>
              </a:bodyPr>
              <a:lstStyle/>
              <a:p>
                <a:pPr marL="0" marR="0" lvl="0" indent="0" algn="ctr" defTabSz="685324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TW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優良的服務品質</a:t>
                </a:r>
                <a:endParaRPr kumimoji="0" lang="zh-CN" alt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64" name="îślïḑè"/>
              <p:cNvSpPr/>
              <p:nvPr/>
            </p:nvSpPr>
            <p:spPr>
              <a:xfrm>
                <a:off x="5929970" y="5178045"/>
                <a:ext cx="324000" cy="36682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anchor="ctr">
                <a:normAutofit/>
              </a:bodyPr>
              <a:lstStyle/>
              <a:p>
                <a:pPr marL="0" marR="0" lvl="0" indent="0" algn="ctr" defTabSz="685324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49" name="íŝļiḍe"/>
            <p:cNvSpPr/>
            <p:nvPr/>
          </p:nvSpPr>
          <p:spPr bwMode="auto">
            <a:xfrm flipH="1">
              <a:off x="6097747" y="2030359"/>
              <a:ext cx="1801590" cy="1902059"/>
            </a:xfrm>
            <a:custGeom>
              <a:avLst/>
              <a:gdLst>
                <a:gd name="T0" fmla="*/ 1063 w 1063"/>
                <a:gd name="T1" fmla="*/ 360 h 1121"/>
                <a:gd name="T2" fmla="*/ 568 w 1063"/>
                <a:gd name="T3" fmla="*/ 0 h 1121"/>
                <a:gd name="T4" fmla="*/ 0 w 1063"/>
                <a:gd name="T5" fmla="*/ 941 h 1121"/>
                <a:gd name="T6" fmla="*/ 15 w 1063"/>
                <a:gd name="T7" fmla="*/ 1121 h 1121"/>
                <a:gd name="T8" fmla="*/ 510 w 1063"/>
                <a:gd name="T9" fmla="*/ 761 h 1121"/>
                <a:gd name="T10" fmla="*/ 1063 w 1063"/>
                <a:gd name="T11" fmla="*/ 360 h 1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63" h="1121">
                  <a:moveTo>
                    <a:pt x="1063" y="360"/>
                  </a:moveTo>
                  <a:cubicBezTo>
                    <a:pt x="568" y="0"/>
                    <a:pt x="568" y="0"/>
                    <a:pt x="568" y="0"/>
                  </a:cubicBezTo>
                  <a:cubicBezTo>
                    <a:pt x="230" y="178"/>
                    <a:pt x="0" y="533"/>
                    <a:pt x="0" y="941"/>
                  </a:cubicBezTo>
                  <a:cubicBezTo>
                    <a:pt x="0" y="1002"/>
                    <a:pt x="5" y="1062"/>
                    <a:pt x="15" y="1121"/>
                  </a:cubicBezTo>
                  <a:cubicBezTo>
                    <a:pt x="510" y="761"/>
                    <a:pt x="510" y="761"/>
                    <a:pt x="510" y="761"/>
                  </a:cubicBezTo>
                  <a:cubicBezTo>
                    <a:pt x="1063" y="360"/>
                    <a:pt x="1063" y="360"/>
                    <a:pt x="1063" y="360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txBody>
            <a:bodyPr lIns="68580" tIns="34290" rIns="68580" bIns="34290">
              <a:normAutofit/>
            </a:bodyPr>
            <a:lstStyle/>
            <a:p>
              <a:pPr marL="0" marR="0" lvl="0" indent="0" algn="l" defTabSz="685324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0" name="íš1îḍé"/>
            <p:cNvSpPr/>
            <p:nvPr/>
          </p:nvSpPr>
          <p:spPr bwMode="auto">
            <a:xfrm flipH="1">
              <a:off x="4841354" y="1824964"/>
              <a:ext cx="2095155" cy="1496447"/>
            </a:xfrm>
            <a:custGeom>
              <a:avLst/>
              <a:gdLst>
                <a:gd name="T0" fmla="*/ 1048 w 1236"/>
                <a:gd name="T1" fmla="*/ 883 h 883"/>
                <a:gd name="T2" fmla="*/ 1236 w 1236"/>
                <a:gd name="T3" fmla="*/ 302 h 883"/>
                <a:gd name="T4" fmla="*/ 495 w 1236"/>
                <a:gd name="T5" fmla="*/ 0 h 883"/>
                <a:gd name="T6" fmla="*/ 0 w 1236"/>
                <a:gd name="T7" fmla="*/ 122 h 883"/>
                <a:gd name="T8" fmla="*/ 495 w 1236"/>
                <a:gd name="T9" fmla="*/ 482 h 883"/>
                <a:gd name="T10" fmla="*/ 1048 w 1236"/>
                <a:gd name="T11" fmla="*/ 883 h 8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6" h="883">
                  <a:moveTo>
                    <a:pt x="1048" y="883"/>
                  </a:moveTo>
                  <a:cubicBezTo>
                    <a:pt x="1236" y="302"/>
                    <a:pt x="1236" y="302"/>
                    <a:pt x="1236" y="302"/>
                  </a:cubicBezTo>
                  <a:cubicBezTo>
                    <a:pt x="1045" y="115"/>
                    <a:pt x="783" y="0"/>
                    <a:pt x="495" y="0"/>
                  </a:cubicBezTo>
                  <a:cubicBezTo>
                    <a:pt x="316" y="0"/>
                    <a:pt x="148" y="45"/>
                    <a:pt x="0" y="122"/>
                  </a:cubicBezTo>
                  <a:cubicBezTo>
                    <a:pt x="495" y="482"/>
                    <a:pt x="495" y="482"/>
                    <a:pt x="495" y="482"/>
                  </a:cubicBezTo>
                  <a:cubicBezTo>
                    <a:pt x="1048" y="883"/>
                    <a:pt x="1048" y="883"/>
                    <a:pt x="1048" y="883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txBody>
            <a:bodyPr lIns="68580" tIns="34290" rIns="68580" bIns="34290">
              <a:normAutofit/>
            </a:bodyPr>
            <a:lstStyle/>
            <a:p>
              <a:pPr marL="0" marR="0" lvl="0" indent="0" algn="l" defTabSz="685324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1" name="í$lïḑê"/>
            <p:cNvSpPr/>
            <p:nvPr/>
          </p:nvSpPr>
          <p:spPr bwMode="auto">
            <a:xfrm flipH="1">
              <a:off x="4296159" y="2335862"/>
              <a:ext cx="1223193" cy="2088468"/>
            </a:xfrm>
            <a:custGeom>
              <a:avLst/>
              <a:gdLst>
                <a:gd name="T0" fmla="*/ 400 w 721"/>
                <a:gd name="T1" fmla="*/ 0 h 1231"/>
                <a:gd name="T2" fmla="*/ 212 w 721"/>
                <a:gd name="T3" fmla="*/ 581 h 1231"/>
                <a:gd name="T4" fmla="*/ 0 w 721"/>
                <a:gd name="T5" fmla="*/ 1231 h 1231"/>
                <a:gd name="T6" fmla="*/ 612 w 721"/>
                <a:gd name="T7" fmla="*/ 1231 h 1231"/>
                <a:gd name="T8" fmla="*/ 721 w 721"/>
                <a:gd name="T9" fmla="*/ 761 h 1231"/>
                <a:gd name="T10" fmla="*/ 400 w 721"/>
                <a:gd name="T11" fmla="*/ 0 h 1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1" h="1231">
                  <a:moveTo>
                    <a:pt x="400" y="0"/>
                  </a:moveTo>
                  <a:cubicBezTo>
                    <a:pt x="212" y="581"/>
                    <a:pt x="212" y="581"/>
                    <a:pt x="212" y="581"/>
                  </a:cubicBezTo>
                  <a:cubicBezTo>
                    <a:pt x="0" y="1231"/>
                    <a:pt x="0" y="1231"/>
                    <a:pt x="0" y="1231"/>
                  </a:cubicBezTo>
                  <a:cubicBezTo>
                    <a:pt x="612" y="1231"/>
                    <a:pt x="612" y="1231"/>
                    <a:pt x="612" y="1231"/>
                  </a:cubicBezTo>
                  <a:cubicBezTo>
                    <a:pt x="682" y="1090"/>
                    <a:pt x="721" y="930"/>
                    <a:pt x="721" y="761"/>
                  </a:cubicBezTo>
                  <a:cubicBezTo>
                    <a:pt x="721" y="463"/>
                    <a:pt x="598" y="193"/>
                    <a:pt x="400" y="0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txBody>
            <a:bodyPr lIns="68580" tIns="34290" rIns="68580" bIns="34290">
              <a:normAutofit/>
            </a:bodyPr>
            <a:lstStyle/>
            <a:p>
              <a:pPr marL="0" marR="0" lvl="0" indent="0" algn="l" defTabSz="685324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2" name="íṩḻîḋé"/>
            <p:cNvSpPr/>
            <p:nvPr/>
          </p:nvSpPr>
          <p:spPr bwMode="auto">
            <a:xfrm flipH="1">
              <a:off x="6356365" y="3321412"/>
              <a:ext cx="1518508" cy="2088468"/>
            </a:xfrm>
            <a:custGeom>
              <a:avLst/>
              <a:gdLst>
                <a:gd name="T0" fmla="*/ 706 w 895"/>
                <a:gd name="T1" fmla="*/ 650 h 1232"/>
                <a:gd name="T2" fmla="*/ 495 w 895"/>
                <a:gd name="T3" fmla="*/ 0 h 1232"/>
                <a:gd name="T4" fmla="*/ 0 w 895"/>
                <a:gd name="T5" fmla="*/ 360 h 1232"/>
                <a:gd name="T6" fmla="*/ 895 w 895"/>
                <a:gd name="T7" fmla="*/ 1232 h 1232"/>
                <a:gd name="T8" fmla="*/ 706 w 895"/>
                <a:gd name="T9" fmla="*/ 650 h 1232"/>
                <a:gd name="T10" fmla="*/ 706 w 895"/>
                <a:gd name="T11" fmla="*/ 650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5" h="1232">
                  <a:moveTo>
                    <a:pt x="706" y="650"/>
                  </a:moveTo>
                  <a:cubicBezTo>
                    <a:pt x="495" y="0"/>
                    <a:pt x="495" y="0"/>
                    <a:pt x="495" y="0"/>
                  </a:cubicBezTo>
                  <a:cubicBezTo>
                    <a:pt x="0" y="360"/>
                    <a:pt x="0" y="360"/>
                    <a:pt x="0" y="360"/>
                  </a:cubicBezTo>
                  <a:cubicBezTo>
                    <a:pt x="77" y="812"/>
                    <a:pt x="439" y="1166"/>
                    <a:pt x="895" y="1232"/>
                  </a:cubicBezTo>
                  <a:cubicBezTo>
                    <a:pt x="706" y="650"/>
                    <a:pt x="706" y="650"/>
                    <a:pt x="706" y="650"/>
                  </a:cubicBezTo>
                  <a:cubicBezTo>
                    <a:pt x="706" y="650"/>
                    <a:pt x="706" y="650"/>
                    <a:pt x="706" y="650"/>
                  </a:cubicBezTo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txBody>
            <a:bodyPr lIns="68580" tIns="34290" rIns="68580" bIns="34290">
              <a:normAutofit/>
            </a:bodyPr>
            <a:lstStyle/>
            <a:p>
              <a:pPr marL="0" marR="0" lvl="0" indent="0" algn="l" defTabSz="685324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3" name="îśľíḑe"/>
            <p:cNvSpPr/>
            <p:nvPr/>
          </p:nvSpPr>
          <p:spPr bwMode="auto">
            <a:xfrm flipH="1">
              <a:off x="4481385" y="4424331"/>
              <a:ext cx="2196505" cy="1004536"/>
            </a:xfrm>
            <a:custGeom>
              <a:avLst/>
              <a:gdLst>
                <a:gd name="T0" fmla="*/ 0 w 1295"/>
                <a:gd name="T1" fmla="*/ 0 h 593"/>
                <a:gd name="T2" fmla="*/ 0 w 1295"/>
                <a:gd name="T3" fmla="*/ 0 h 593"/>
                <a:gd name="T4" fmla="*/ 189 w 1295"/>
                <a:gd name="T5" fmla="*/ 582 h 593"/>
                <a:gd name="T6" fmla="*/ 342 w 1295"/>
                <a:gd name="T7" fmla="*/ 593 h 593"/>
                <a:gd name="T8" fmla="*/ 1295 w 1295"/>
                <a:gd name="T9" fmla="*/ 0 h 593"/>
                <a:gd name="T10" fmla="*/ 683 w 1295"/>
                <a:gd name="T11" fmla="*/ 0 h 593"/>
                <a:gd name="T12" fmla="*/ 0 w 1295"/>
                <a:gd name="T13" fmla="*/ 0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95" h="593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89" y="582"/>
                    <a:pt x="189" y="582"/>
                    <a:pt x="189" y="582"/>
                  </a:cubicBezTo>
                  <a:cubicBezTo>
                    <a:pt x="239" y="589"/>
                    <a:pt x="290" y="593"/>
                    <a:pt x="342" y="593"/>
                  </a:cubicBezTo>
                  <a:cubicBezTo>
                    <a:pt x="760" y="593"/>
                    <a:pt x="1121" y="351"/>
                    <a:pt x="1295" y="0"/>
                  </a:cubicBezTo>
                  <a:cubicBezTo>
                    <a:pt x="683" y="0"/>
                    <a:pt x="683" y="0"/>
                    <a:pt x="683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txBody>
            <a:bodyPr lIns="68580" tIns="34290" rIns="68580" bIns="34290">
              <a:normAutofit/>
            </a:bodyPr>
            <a:lstStyle/>
            <a:p>
              <a:pPr marL="0" marR="0" lvl="0" indent="0" algn="l" defTabSz="685324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4223" name="îş1iḑé"/>
            <p:cNvSpPr>
              <a:spLocks/>
            </p:cNvSpPr>
            <p:nvPr/>
          </p:nvSpPr>
          <p:spPr bwMode="auto">
            <a:xfrm>
              <a:off x="5165399" y="2134068"/>
              <a:ext cx="604909" cy="611725"/>
            </a:xfrm>
            <a:custGeom>
              <a:avLst/>
              <a:gdLst>
                <a:gd name="T0" fmla="*/ 2147483647 w 150"/>
                <a:gd name="T1" fmla="*/ 2147483647 h 151"/>
                <a:gd name="T2" fmla="*/ 2147483647 w 150"/>
                <a:gd name="T3" fmla="*/ 2147483647 h 151"/>
                <a:gd name="T4" fmla="*/ 2147483647 w 150"/>
                <a:gd name="T5" fmla="*/ 2147483647 h 151"/>
                <a:gd name="T6" fmla="*/ 2147483647 w 150"/>
                <a:gd name="T7" fmla="*/ 2147483647 h 151"/>
                <a:gd name="T8" fmla="*/ 2147483647 w 150"/>
                <a:gd name="T9" fmla="*/ 2147483647 h 151"/>
                <a:gd name="T10" fmla="*/ 2147483647 w 150"/>
                <a:gd name="T11" fmla="*/ 2147483647 h 151"/>
                <a:gd name="T12" fmla="*/ 2147483647 w 150"/>
                <a:gd name="T13" fmla="*/ 2147483647 h 151"/>
                <a:gd name="T14" fmla="*/ 2147483647 w 150"/>
                <a:gd name="T15" fmla="*/ 2147483647 h 151"/>
                <a:gd name="T16" fmla="*/ 2147483647 w 150"/>
                <a:gd name="T17" fmla="*/ 2147483647 h 151"/>
                <a:gd name="T18" fmla="*/ 2147483647 w 150"/>
                <a:gd name="T19" fmla="*/ 2147483647 h 151"/>
                <a:gd name="T20" fmla="*/ 2147483647 w 150"/>
                <a:gd name="T21" fmla="*/ 2147483647 h 151"/>
                <a:gd name="T22" fmla="*/ 2147483647 w 150"/>
                <a:gd name="T23" fmla="*/ 2147483647 h 151"/>
                <a:gd name="T24" fmla="*/ 2147483647 w 150"/>
                <a:gd name="T25" fmla="*/ 2147483647 h 151"/>
                <a:gd name="T26" fmla="*/ 2147483647 w 150"/>
                <a:gd name="T27" fmla="*/ 2147483647 h 151"/>
                <a:gd name="T28" fmla="*/ 2147483647 w 150"/>
                <a:gd name="T29" fmla="*/ 2147483647 h 151"/>
                <a:gd name="T30" fmla="*/ 2147483647 w 150"/>
                <a:gd name="T31" fmla="*/ 2147483647 h 15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50" h="151">
                  <a:moveTo>
                    <a:pt x="102" y="22"/>
                  </a:moveTo>
                  <a:cubicBezTo>
                    <a:pt x="80" y="0"/>
                    <a:pt x="44" y="0"/>
                    <a:pt x="22" y="22"/>
                  </a:cubicBezTo>
                  <a:cubicBezTo>
                    <a:pt x="0" y="44"/>
                    <a:pt x="0" y="79"/>
                    <a:pt x="22" y="101"/>
                  </a:cubicBezTo>
                  <a:cubicBezTo>
                    <a:pt x="41" y="121"/>
                    <a:pt x="71" y="123"/>
                    <a:pt x="93" y="108"/>
                  </a:cubicBezTo>
                  <a:cubicBezTo>
                    <a:pt x="94" y="110"/>
                    <a:pt x="95" y="112"/>
                    <a:pt x="97" y="114"/>
                  </a:cubicBezTo>
                  <a:cubicBezTo>
                    <a:pt x="128" y="146"/>
                    <a:pt x="128" y="146"/>
                    <a:pt x="128" y="146"/>
                  </a:cubicBezTo>
                  <a:cubicBezTo>
                    <a:pt x="133" y="151"/>
                    <a:pt x="141" y="151"/>
                    <a:pt x="145" y="146"/>
                  </a:cubicBezTo>
                  <a:cubicBezTo>
                    <a:pt x="150" y="142"/>
                    <a:pt x="150" y="134"/>
                    <a:pt x="145" y="129"/>
                  </a:cubicBezTo>
                  <a:cubicBezTo>
                    <a:pt x="114" y="97"/>
                    <a:pt x="114" y="97"/>
                    <a:pt x="114" y="97"/>
                  </a:cubicBezTo>
                  <a:cubicBezTo>
                    <a:pt x="112" y="96"/>
                    <a:pt x="110" y="94"/>
                    <a:pt x="108" y="94"/>
                  </a:cubicBezTo>
                  <a:cubicBezTo>
                    <a:pt x="123" y="72"/>
                    <a:pt x="121" y="42"/>
                    <a:pt x="102" y="22"/>
                  </a:cubicBezTo>
                  <a:close/>
                  <a:moveTo>
                    <a:pt x="91" y="92"/>
                  </a:moveTo>
                  <a:cubicBezTo>
                    <a:pt x="75" y="108"/>
                    <a:pt x="48" y="108"/>
                    <a:pt x="32" y="91"/>
                  </a:cubicBezTo>
                  <a:cubicBezTo>
                    <a:pt x="15" y="75"/>
                    <a:pt x="16" y="48"/>
                    <a:pt x="32" y="32"/>
                  </a:cubicBezTo>
                  <a:cubicBezTo>
                    <a:pt x="48" y="16"/>
                    <a:pt x="75" y="16"/>
                    <a:pt x="91" y="32"/>
                  </a:cubicBezTo>
                  <a:cubicBezTo>
                    <a:pt x="108" y="49"/>
                    <a:pt x="108" y="75"/>
                    <a:pt x="91" y="9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55" name="íṣliḍe"/>
            <p:cNvGrpSpPr/>
            <p:nvPr/>
          </p:nvGrpSpPr>
          <p:grpSpPr>
            <a:xfrm>
              <a:off x="7007808" y="3932250"/>
              <a:ext cx="613430" cy="620245"/>
              <a:chOff x="9349366" y="2935970"/>
              <a:chExt cx="857717" cy="867247"/>
            </a:xfrm>
            <a:solidFill>
              <a:schemeClr val="bg1"/>
            </a:solidFill>
          </p:grpSpPr>
          <p:sp>
            <p:nvSpPr>
              <p:cNvPr id="59" name="íSľiďé"/>
              <p:cNvSpPr/>
              <p:nvPr/>
            </p:nvSpPr>
            <p:spPr bwMode="auto">
              <a:xfrm>
                <a:off x="9349366" y="2935970"/>
                <a:ext cx="857717" cy="867247"/>
              </a:xfrm>
              <a:custGeom>
                <a:avLst/>
                <a:gdLst>
                  <a:gd name="T0" fmla="*/ 76 w 152"/>
                  <a:gd name="T1" fmla="*/ 0 h 153"/>
                  <a:gd name="T2" fmla="*/ 0 w 152"/>
                  <a:gd name="T3" fmla="*/ 77 h 153"/>
                  <a:gd name="T4" fmla="*/ 76 w 152"/>
                  <a:gd name="T5" fmla="*/ 153 h 153"/>
                  <a:gd name="T6" fmla="*/ 152 w 152"/>
                  <a:gd name="T7" fmla="*/ 77 h 153"/>
                  <a:gd name="T8" fmla="*/ 76 w 152"/>
                  <a:gd name="T9" fmla="*/ 0 h 153"/>
                  <a:gd name="T10" fmla="*/ 76 w 152"/>
                  <a:gd name="T11" fmla="*/ 137 h 153"/>
                  <a:gd name="T12" fmla="*/ 16 w 152"/>
                  <a:gd name="T13" fmla="*/ 77 h 153"/>
                  <a:gd name="T14" fmla="*/ 76 w 152"/>
                  <a:gd name="T15" fmla="*/ 16 h 153"/>
                  <a:gd name="T16" fmla="*/ 136 w 152"/>
                  <a:gd name="T17" fmla="*/ 77 h 153"/>
                  <a:gd name="T18" fmla="*/ 76 w 152"/>
                  <a:gd name="T19" fmla="*/ 137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2" h="153">
                    <a:moveTo>
                      <a:pt x="76" y="0"/>
                    </a:moveTo>
                    <a:cubicBezTo>
                      <a:pt x="34" y="0"/>
                      <a:pt x="0" y="34"/>
                      <a:pt x="0" y="77"/>
                    </a:cubicBezTo>
                    <a:cubicBezTo>
                      <a:pt x="0" y="119"/>
                      <a:pt x="34" y="153"/>
                      <a:pt x="76" y="153"/>
                    </a:cubicBezTo>
                    <a:cubicBezTo>
                      <a:pt x="118" y="153"/>
                      <a:pt x="152" y="119"/>
                      <a:pt x="152" y="77"/>
                    </a:cubicBezTo>
                    <a:cubicBezTo>
                      <a:pt x="152" y="34"/>
                      <a:pt x="118" y="0"/>
                      <a:pt x="76" y="0"/>
                    </a:cubicBezTo>
                    <a:close/>
                    <a:moveTo>
                      <a:pt x="76" y="137"/>
                    </a:moveTo>
                    <a:cubicBezTo>
                      <a:pt x="43" y="137"/>
                      <a:pt x="16" y="110"/>
                      <a:pt x="16" y="77"/>
                    </a:cubicBezTo>
                    <a:cubicBezTo>
                      <a:pt x="16" y="43"/>
                      <a:pt x="43" y="16"/>
                      <a:pt x="76" y="16"/>
                    </a:cubicBezTo>
                    <a:cubicBezTo>
                      <a:pt x="109" y="16"/>
                      <a:pt x="136" y="43"/>
                      <a:pt x="136" y="77"/>
                    </a:cubicBezTo>
                    <a:cubicBezTo>
                      <a:pt x="136" y="110"/>
                      <a:pt x="109" y="137"/>
                      <a:pt x="76" y="13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68580" tIns="34290" rIns="68580" bIns="34290">
                <a:normAutofit/>
              </a:bodyPr>
              <a:lstStyle/>
              <a:p>
                <a:pPr marL="0" marR="0" lvl="0" indent="0" algn="l" defTabSz="685324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60" name="ïşḷíḓé"/>
              <p:cNvSpPr/>
              <p:nvPr/>
            </p:nvSpPr>
            <p:spPr bwMode="auto">
              <a:xfrm>
                <a:off x="9704366" y="3326707"/>
                <a:ext cx="140570" cy="312114"/>
              </a:xfrm>
              <a:custGeom>
                <a:avLst/>
                <a:gdLst>
                  <a:gd name="T0" fmla="*/ 21 w 25"/>
                  <a:gd name="T1" fmla="*/ 0 h 55"/>
                  <a:gd name="T2" fmla="*/ 5 w 25"/>
                  <a:gd name="T3" fmla="*/ 0 h 55"/>
                  <a:gd name="T4" fmla="*/ 0 w 25"/>
                  <a:gd name="T5" fmla="*/ 5 h 55"/>
                  <a:gd name="T6" fmla="*/ 0 w 25"/>
                  <a:gd name="T7" fmla="*/ 51 h 55"/>
                  <a:gd name="T8" fmla="*/ 5 w 25"/>
                  <a:gd name="T9" fmla="*/ 55 h 55"/>
                  <a:gd name="T10" fmla="*/ 21 w 25"/>
                  <a:gd name="T11" fmla="*/ 55 h 55"/>
                  <a:gd name="T12" fmla="*/ 25 w 25"/>
                  <a:gd name="T13" fmla="*/ 51 h 55"/>
                  <a:gd name="T14" fmla="*/ 25 w 25"/>
                  <a:gd name="T15" fmla="*/ 5 h 55"/>
                  <a:gd name="T16" fmla="*/ 21 w 25"/>
                  <a:gd name="T17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" h="55">
                    <a:moveTo>
                      <a:pt x="21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3"/>
                      <a:pt x="2" y="55"/>
                      <a:pt x="5" y="55"/>
                    </a:cubicBezTo>
                    <a:cubicBezTo>
                      <a:pt x="21" y="55"/>
                      <a:pt x="21" y="55"/>
                      <a:pt x="21" y="55"/>
                    </a:cubicBezTo>
                    <a:cubicBezTo>
                      <a:pt x="23" y="55"/>
                      <a:pt x="25" y="53"/>
                      <a:pt x="25" y="51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5" y="2"/>
                      <a:pt x="23" y="0"/>
                      <a:pt x="2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lIns="68580" tIns="34290" rIns="68580" bIns="34290">
                <a:normAutofit fontScale="62500" lnSpcReduction="20000"/>
              </a:bodyPr>
              <a:lstStyle/>
              <a:p>
                <a:pPr marL="0" marR="0" lvl="0" indent="0" algn="l" defTabSz="685324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61" name="ïšḷíḑe"/>
              <p:cNvSpPr/>
              <p:nvPr/>
            </p:nvSpPr>
            <p:spPr bwMode="auto">
              <a:xfrm>
                <a:off x="9699601" y="3100365"/>
                <a:ext cx="157248" cy="152483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lIns="68580" tIns="34290" rIns="68580" bIns="34290">
                <a:normAutofit fontScale="25000" lnSpcReduction="20000"/>
              </a:bodyPr>
              <a:lstStyle/>
              <a:p>
                <a:pPr marL="0" marR="0" lvl="0" indent="0" algn="l" defTabSz="685324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94225" name="íṧľïḍe"/>
            <p:cNvSpPr>
              <a:spLocks/>
            </p:cNvSpPr>
            <p:nvPr/>
          </p:nvSpPr>
          <p:spPr bwMode="auto">
            <a:xfrm>
              <a:off x="4481589" y="3499441"/>
              <a:ext cx="746338" cy="742930"/>
            </a:xfrm>
            <a:custGeom>
              <a:avLst/>
              <a:gdLst>
                <a:gd name="T0" fmla="*/ 370471 w 738457"/>
                <a:gd name="T1" fmla="*/ 823954 h 735085"/>
                <a:gd name="T2" fmla="*/ 365316 w 738457"/>
                <a:gd name="T3" fmla="*/ 569904 h 735085"/>
                <a:gd name="T4" fmla="*/ 416862 w 738457"/>
                <a:gd name="T5" fmla="*/ 611382 h 735085"/>
                <a:gd name="T6" fmla="*/ 499344 w 738457"/>
                <a:gd name="T7" fmla="*/ 616566 h 735085"/>
                <a:gd name="T8" fmla="*/ 509654 w 738457"/>
                <a:gd name="T9" fmla="*/ 683965 h 735085"/>
                <a:gd name="T10" fmla="*/ 561202 w 738457"/>
                <a:gd name="T11" fmla="*/ 746182 h 735085"/>
                <a:gd name="T12" fmla="*/ 519962 w 738457"/>
                <a:gd name="T13" fmla="*/ 798030 h 735085"/>
                <a:gd name="T14" fmla="*/ 514809 w 738457"/>
                <a:gd name="T15" fmla="*/ 886171 h 735085"/>
                <a:gd name="T16" fmla="*/ 447795 w 738457"/>
                <a:gd name="T17" fmla="*/ 891353 h 735085"/>
                <a:gd name="T18" fmla="*/ 380779 w 738457"/>
                <a:gd name="T19" fmla="*/ 948388 h 735085"/>
                <a:gd name="T20" fmla="*/ 329227 w 738457"/>
                <a:gd name="T21" fmla="*/ 906910 h 735085"/>
                <a:gd name="T22" fmla="*/ 246751 w 738457"/>
                <a:gd name="T23" fmla="*/ 901726 h 735085"/>
                <a:gd name="T24" fmla="*/ 236441 w 738457"/>
                <a:gd name="T25" fmla="*/ 834322 h 735085"/>
                <a:gd name="T26" fmla="*/ 184891 w 738457"/>
                <a:gd name="T27" fmla="*/ 772108 h 735085"/>
                <a:gd name="T28" fmla="*/ 226134 w 738457"/>
                <a:gd name="T29" fmla="*/ 715074 h 735085"/>
                <a:gd name="T30" fmla="*/ 231285 w 738457"/>
                <a:gd name="T31" fmla="*/ 632120 h 735085"/>
                <a:gd name="T32" fmla="*/ 298302 w 738457"/>
                <a:gd name="T33" fmla="*/ 621746 h 735085"/>
                <a:gd name="T34" fmla="*/ 365316 w 738457"/>
                <a:gd name="T35" fmla="*/ 569904 h 735085"/>
                <a:gd name="T36" fmla="*/ 725565 w 738457"/>
                <a:gd name="T37" fmla="*/ 606428 h 735085"/>
                <a:gd name="T38" fmla="*/ 720401 w 738457"/>
                <a:gd name="T39" fmla="*/ 291478 h 735085"/>
                <a:gd name="T40" fmla="*/ 803006 w 738457"/>
                <a:gd name="T41" fmla="*/ 353435 h 735085"/>
                <a:gd name="T42" fmla="*/ 885619 w 738457"/>
                <a:gd name="T43" fmla="*/ 363761 h 735085"/>
                <a:gd name="T44" fmla="*/ 895943 w 738457"/>
                <a:gd name="T45" fmla="*/ 461860 h 735085"/>
                <a:gd name="T46" fmla="*/ 952737 w 738457"/>
                <a:gd name="T47" fmla="*/ 523815 h 735085"/>
                <a:gd name="T48" fmla="*/ 890781 w 738457"/>
                <a:gd name="T49" fmla="*/ 606428 h 735085"/>
                <a:gd name="T50" fmla="*/ 880455 w 738457"/>
                <a:gd name="T51" fmla="*/ 689039 h 735085"/>
                <a:gd name="T52" fmla="*/ 782354 w 738457"/>
                <a:gd name="T53" fmla="*/ 699363 h 735085"/>
                <a:gd name="T54" fmla="*/ 715237 w 738457"/>
                <a:gd name="T55" fmla="*/ 756157 h 735085"/>
                <a:gd name="T56" fmla="*/ 637789 w 738457"/>
                <a:gd name="T57" fmla="*/ 694198 h 735085"/>
                <a:gd name="T58" fmla="*/ 550017 w 738457"/>
                <a:gd name="T59" fmla="*/ 689039 h 735085"/>
                <a:gd name="T60" fmla="*/ 544851 w 738457"/>
                <a:gd name="T61" fmla="*/ 590936 h 735085"/>
                <a:gd name="T62" fmla="*/ 482894 w 738457"/>
                <a:gd name="T63" fmla="*/ 523815 h 735085"/>
                <a:gd name="T64" fmla="*/ 544851 w 738457"/>
                <a:gd name="T65" fmla="*/ 446375 h 735085"/>
                <a:gd name="T66" fmla="*/ 555178 w 738457"/>
                <a:gd name="T67" fmla="*/ 358596 h 735085"/>
                <a:gd name="T68" fmla="*/ 653278 w 738457"/>
                <a:gd name="T69" fmla="*/ 343110 h 735085"/>
                <a:gd name="T70" fmla="*/ 720401 w 738457"/>
                <a:gd name="T71" fmla="*/ 291478 h 735085"/>
                <a:gd name="T72" fmla="*/ 283176 w 738457"/>
                <a:gd name="T73" fmla="*/ 383385 h 735085"/>
                <a:gd name="T74" fmla="*/ 252283 w 738457"/>
                <a:gd name="T75" fmla="*/ 0 h 735085"/>
                <a:gd name="T76" fmla="*/ 339812 w 738457"/>
                <a:gd name="T77" fmla="*/ 56990 h 735085"/>
                <a:gd name="T78" fmla="*/ 458230 w 738457"/>
                <a:gd name="T79" fmla="*/ 62172 h 735085"/>
                <a:gd name="T80" fmla="*/ 483972 w 738457"/>
                <a:gd name="T81" fmla="*/ 165790 h 735085"/>
                <a:gd name="T82" fmla="*/ 561203 w 738457"/>
                <a:gd name="T83" fmla="*/ 253862 h 735085"/>
                <a:gd name="T84" fmla="*/ 504568 w 738457"/>
                <a:gd name="T85" fmla="*/ 341944 h 735085"/>
                <a:gd name="T86" fmla="*/ 504568 w 738457"/>
                <a:gd name="T87" fmla="*/ 461103 h 735085"/>
                <a:gd name="T88" fmla="*/ 396444 w 738457"/>
                <a:gd name="T89" fmla="*/ 481825 h 735085"/>
                <a:gd name="T90" fmla="*/ 308920 w 738457"/>
                <a:gd name="T91" fmla="*/ 569904 h 735085"/>
                <a:gd name="T92" fmla="*/ 216241 w 738457"/>
                <a:gd name="T93" fmla="*/ 502550 h 735085"/>
                <a:gd name="T94" fmla="*/ 102969 w 738457"/>
                <a:gd name="T95" fmla="*/ 507731 h 735085"/>
                <a:gd name="T96" fmla="*/ 82380 w 738457"/>
                <a:gd name="T97" fmla="*/ 393750 h 735085"/>
                <a:gd name="T98" fmla="*/ 0 w 738457"/>
                <a:gd name="T99" fmla="*/ 316034 h 735085"/>
                <a:gd name="T100" fmla="*/ 56634 w 738457"/>
                <a:gd name="T101" fmla="*/ 222779 h 735085"/>
                <a:gd name="T102" fmla="*/ 56634 w 738457"/>
                <a:gd name="T103" fmla="*/ 103620 h 735085"/>
                <a:gd name="T104" fmla="*/ 164754 w 738457"/>
                <a:gd name="T105" fmla="*/ 82894 h 735085"/>
                <a:gd name="T106" fmla="*/ 252283 w 738457"/>
                <a:gd name="T107" fmla="*/ 0 h 735085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738457" h="735085">
                  <a:moveTo>
                    <a:pt x="291143" y="534154"/>
                  </a:moveTo>
                  <a:cubicBezTo>
                    <a:pt x="263174" y="534154"/>
                    <a:pt x="239201" y="558265"/>
                    <a:pt x="239201" y="586396"/>
                  </a:cubicBezTo>
                  <a:cubicBezTo>
                    <a:pt x="235205" y="614526"/>
                    <a:pt x="259178" y="638638"/>
                    <a:pt x="287147" y="638638"/>
                  </a:cubicBezTo>
                  <a:cubicBezTo>
                    <a:pt x="319111" y="638638"/>
                    <a:pt x="343084" y="618545"/>
                    <a:pt x="343084" y="586396"/>
                  </a:cubicBezTo>
                  <a:cubicBezTo>
                    <a:pt x="343084" y="558265"/>
                    <a:pt x="319111" y="534154"/>
                    <a:pt x="291143" y="534154"/>
                  </a:cubicBezTo>
                  <a:close/>
                  <a:moveTo>
                    <a:pt x="283151" y="441725"/>
                  </a:moveTo>
                  <a:cubicBezTo>
                    <a:pt x="283151" y="441725"/>
                    <a:pt x="283151" y="441725"/>
                    <a:pt x="303129" y="441725"/>
                  </a:cubicBezTo>
                  <a:cubicBezTo>
                    <a:pt x="311120" y="441725"/>
                    <a:pt x="319111" y="449762"/>
                    <a:pt x="319111" y="457800"/>
                  </a:cubicBezTo>
                  <a:cubicBezTo>
                    <a:pt x="319111" y="457800"/>
                    <a:pt x="319111" y="457800"/>
                    <a:pt x="323107" y="473874"/>
                  </a:cubicBezTo>
                  <a:cubicBezTo>
                    <a:pt x="331098" y="473874"/>
                    <a:pt x="343084" y="477893"/>
                    <a:pt x="351075" y="485930"/>
                  </a:cubicBezTo>
                  <a:cubicBezTo>
                    <a:pt x="351075" y="485930"/>
                    <a:pt x="351075" y="485930"/>
                    <a:pt x="359066" y="477893"/>
                  </a:cubicBezTo>
                  <a:cubicBezTo>
                    <a:pt x="367057" y="469856"/>
                    <a:pt x="379044" y="469856"/>
                    <a:pt x="387035" y="477893"/>
                  </a:cubicBezTo>
                  <a:cubicBezTo>
                    <a:pt x="387035" y="477893"/>
                    <a:pt x="387035" y="477893"/>
                    <a:pt x="399022" y="493967"/>
                  </a:cubicBezTo>
                  <a:cubicBezTo>
                    <a:pt x="407013" y="502005"/>
                    <a:pt x="407013" y="510042"/>
                    <a:pt x="403017" y="518079"/>
                  </a:cubicBezTo>
                  <a:cubicBezTo>
                    <a:pt x="403017" y="518079"/>
                    <a:pt x="403017" y="518079"/>
                    <a:pt x="395026" y="530135"/>
                  </a:cubicBezTo>
                  <a:cubicBezTo>
                    <a:pt x="399022" y="538172"/>
                    <a:pt x="403017" y="546210"/>
                    <a:pt x="403017" y="558265"/>
                  </a:cubicBezTo>
                  <a:cubicBezTo>
                    <a:pt x="403017" y="558265"/>
                    <a:pt x="403017" y="558265"/>
                    <a:pt x="418999" y="558265"/>
                  </a:cubicBezTo>
                  <a:cubicBezTo>
                    <a:pt x="426990" y="562284"/>
                    <a:pt x="434981" y="570321"/>
                    <a:pt x="434981" y="578359"/>
                  </a:cubicBezTo>
                  <a:cubicBezTo>
                    <a:pt x="434981" y="578359"/>
                    <a:pt x="434981" y="578359"/>
                    <a:pt x="434981" y="598452"/>
                  </a:cubicBezTo>
                  <a:cubicBezTo>
                    <a:pt x="434981" y="610508"/>
                    <a:pt x="426990" y="618545"/>
                    <a:pt x="415004" y="618545"/>
                  </a:cubicBezTo>
                  <a:cubicBezTo>
                    <a:pt x="415004" y="618545"/>
                    <a:pt x="415004" y="618545"/>
                    <a:pt x="403017" y="618545"/>
                  </a:cubicBezTo>
                  <a:cubicBezTo>
                    <a:pt x="403017" y="630601"/>
                    <a:pt x="399022" y="638638"/>
                    <a:pt x="391031" y="646675"/>
                  </a:cubicBezTo>
                  <a:cubicBezTo>
                    <a:pt x="391031" y="646675"/>
                    <a:pt x="391031" y="646675"/>
                    <a:pt x="399022" y="658731"/>
                  </a:cubicBezTo>
                  <a:cubicBezTo>
                    <a:pt x="407013" y="666769"/>
                    <a:pt x="407013" y="678824"/>
                    <a:pt x="399022" y="686862"/>
                  </a:cubicBezTo>
                  <a:cubicBezTo>
                    <a:pt x="399022" y="686862"/>
                    <a:pt x="399022" y="686862"/>
                    <a:pt x="383039" y="698918"/>
                  </a:cubicBezTo>
                  <a:cubicBezTo>
                    <a:pt x="375048" y="706955"/>
                    <a:pt x="367057" y="706955"/>
                    <a:pt x="359066" y="702936"/>
                  </a:cubicBezTo>
                  <a:cubicBezTo>
                    <a:pt x="359066" y="702936"/>
                    <a:pt x="359066" y="702936"/>
                    <a:pt x="347080" y="690880"/>
                  </a:cubicBezTo>
                  <a:cubicBezTo>
                    <a:pt x="339089" y="698918"/>
                    <a:pt x="327102" y="698918"/>
                    <a:pt x="319111" y="702936"/>
                  </a:cubicBezTo>
                  <a:cubicBezTo>
                    <a:pt x="319111" y="702936"/>
                    <a:pt x="319111" y="702936"/>
                    <a:pt x="315116" y="719011"/>
                  </a:cubicBezTo>
                  <a:cubicBezTo>
                    <a:pt x="315116" y="727048"/>
                    <a:pt x="307125" y="735085"/>
                    <a:pt x="295138" y="735085"/>
                  </a:cubicBezTo>
                  <a:cubicBezTo>
                    <a:pt x="295138" y="735085"/>
                    <a:pt x="295138" y="735085"/>
                    <a:pt x="275160" y="735085"/>
                  </a:cubicBezTo>
                  <a:cubicBezTo>
                    <a:pt x="267169" y="735085"/>
                    <a:pt x="259178" y="727048"/>
                    <a:pt x="255183" y="719011"/>
                  </a:cubicBezTo>
                  <a:cubicBezTo>
                    <a:pt x="255183" y="719011"/>
                    <a:pt x="255183" y="719011"/>
                    <a:pt x="255183" y="702936"/>
                  </a:cubicBezTo>
                  <a:cubicBezTo>
                    <a:pt x="247192" y="698918"/>
                    <a:pt x="239201" y="694899"/>
                    <a:pt x="227214" y="690880"/>
                  </a:cubicBezTo>
                  <a:cubicBezTo>
                    <a:pt x="227214" y="690880"/>
                    <a:pt x="227214" y="690880"/>
                    <a:pt x="215228" y="698918"/>
                  </a:cubicBezTo>
                  <a:cubicBezTo>
                    <a:pt x="207237" y="706955"/>
                    <a:pt x="199246" y="702936"/>
                    <a:pt x="191254" y="698918"/>
                  </a:cubicBezTo>
                  <a:cubicBezTo>
                    <a:pt x="191254" y="698918"/>
                    <a:pt x="191254" y="698918"/>
                    <a:pt x="175272" y="682843"/>
                  </a:cubicBezTo>
                  <a:cubicBezTo>
                    <a:pt x="171277" y="674806"/>
                    <a:pt x="171277" y="662750"/>
                    <a:pt x="175272" y="654713"/>
                  </a:cubicBezTo>
                  <a:cubicBezTo>
                    <a:pt x="175272" y="654713"/>
                    <a:pt x="175272" y="654713"/>
                    <a:pt x="183263" y="646675"/>
                  </a:cubicBezTo>
                  <a:cubicBezTo>
                    <a:pt x="179268" y="638638"/>
                    <a:pt x="175272" y="626582"/>
                    <a:pt x="175272" y="618545"/>
                  </a:cubicBezTo>
                  <a:cubicBezTo>
                    <a:pt x="175272" y="618545"/>
                    <a:pt x="175272" y="618545"/>
                    <a:pt x="159290" y="618545"/>
                  </a:cubicBezTo>
                  <a:cubicBezTo>
                    <a:pt x="151299" y="614526"/>
                    <a:pt x="143308" y="606489"/>
                    <a:pt x="143308" y="598452"/>
                  </a:cubicBezTo>
                  <a:cubicBezTo>
                    <a:pt x="143308" y="598452"/>
                    <a:pt x="143308" y="598452"/>
                    <a:pt x="143308" y="578359"/>
                  </a:cubicBezTo>
                  <a:cubicBezTo>
                    <a:pt x="143308" y="566303"/>
                    <a:pt x="151299" y="558265"/>
                    <a:pt x="159290" y="558265"/>
                  </a:cubicBezTo>
                  <a:lnTo>
                    <a:pt x="175272" y="554247"/>
                  </a:lnTo>
                  <a:cubicBezTo>
                    <a:pt x="175272" y="546210"/>
                    <a:pt x="179268" y="538172"/>
                    <a:pt x="187259" y="526116"/>
                  </a:cubicBezTo>
                  <a:cubicBezTo>
                    <a:pt x="187259" y="526116"/>
                    <a:pt x="187259" y="526116"/>
                    <a:pt x="179268" y="518079"/>
                  </a:cubicBezTo>
                  <a:cubicBezTo>
                    <a:pt x="171277" y="510042"/>
                    <a:pt x="171277" y="497986"/>
                    <a:pt x="179268" y="489949"/>
                  </a:cubicBezTo>
                  <a:cubicBezTo>
                    <a:pt x="179268" y="489949"/>
                    <a:pt x="179268" y="489949"/>
                    <a:pt x="195250" y="477893"/>
                  </a:cubicBezTo>
                  <a:cubicBezTo>
                    <a:pt x="199246" y="469856"/>
                    <a:pt x="211232" y="469856"/>
                    <a:pt x="219223" y="473874"/>
                  </a:cubicBezTo>
                  <a:cubicBezTo>
                    <a:pt x="219223" y="473874"/>
                    <a:pt x="219223" y="473874"/>
                    <a:pt x="231210" y="481911"/>
                  </a:cubicBezTo>
                  <a:cubicBezTo>
                    <a:pt x="239201" y="477893"/>
                    <a:pt x="251187" y="473874"/>
                    <a:pt x="259178" y="469856"/>
                  </a:cubicBezTo>
                  <a:cubicBezTo>
                    <a:pt x="259178" y="469856"/>
                    <a:pt x="259178" y="469856"/>
                    <a:pt x="263174" y="457800"/>
                  </a:cubicBezTo>
                  <a:cubicBezTo>
                    <a:pt x="263174" y="449762"/>
                    <a:pt x="271165" y="441725"/>
                    <a:pt x="283151" y="441725"/>
                  </a:cubicBezTo>
                  <a:close/>
                  <a:moveTo>
                    <a:pt x="550369" y="341975"/>
                  </a:moveTo>
                  <a:cubicBezTo>
                    <a:pt x="518354" y="345977"/>
                    <a:pt x="490341" y="373990"/>
                    <a:pt x="494343" y="410007"/>
                  </a:cubicBezTo>
                  <a:cubicBezTo>
                    <a:pt x="494343" y="446024"/>
                    <a:pt x="526358" y="474038"/>
                    <a:pt x="562375" y="470036"/>
                  </a:cubicBezTo>
                  <a:cubicBezTo>
                    <a:pt x="598391" y="466034"/>
                    <a:pt x="622403" y="434019"/>
                    <a:pt x="622403" y="402004"/>
                  </a:cubicBezTo>
                  <a:cubicBezTo>
                    <a:pt x="618401" y="365987"/>
                    <a:pt x="586386" y="337973"/>
                    <a:pt x="550369" y="341975"/>
                  </a:cubicBezTo>
                  <a:close/>
                  <a:moveTo>
                    <a:pt x="558373" y="225921"/>
                  </a:moveTo>
                  <a:cubicBezTo>
                    <a:pt x="570378" y="225921"/>
                    <a:pt x="578382" y="233925"/>
                    <a:pt x="578382" y="241928"/>
                  </a:cubicBezTo>
                  <a:cubicBezTo>
                    <a:pt x="578382" y="241928"/>
                    <a:pt x="578382" y="241928"/>
                    <a:pt x="582384" y="261938"/>
                  </a:cubicBezTo>
                  <a:cubicBezTo>
                    <a:pt x="598391" y="261938"/>
                    <a:pt x="610397" y="265940"/>
                    <a:pt x="622403" y="273943"/>
                  </a:cubicBezTo>
                  <a:cubicBezTo>
                    <a:pt x="622403" y="273943"/>
                    <a:pt x="622403" y="273943"/>
                    <a:pt x="634408" y="261938"/>
                  </a:cubicBezTo>
                  <a:cubicBezTo>
                    <a:pt x="642412" y="253934"/>
                    <a:pt x="654418" y="253934"/>
                    <a:pt x="662422" y="257936"/>
                  </a:cubicBezTo>
                  <a:cubicBezTo>
                    <a:pt x="662422" y="257936"/>
                    <a:pt x="662422" y="257936"/>
                    <a:pt x="686433" y="281947"/>
                  </a:cubicBezTo>
                  <a:cubicBezTo>
                    <a:pt x="694437" y="285949"/>
                    <a:pt x="694437" y="297955"/>
                    <a:pt x="690435" y="305958"/>
                  </a:cubicBezTo>
                  <a:cubicBezTo>
                    <a:pt x="690435" y="305958"/>
                    <a:pt x="690435" y="305958"/>
                    <a:pt x="678429" y="321966"/>
                  </a:cubicBezTo>
                  <a:cubicBezTo>
                    <a:pt x="686433" y="333972"/>
                    <a:pt x="690435" y="345977"/>
                    <a:pt x="694437" y="357983"/>
                  </a:cubicBezTo>
                  <a:cubicBezTo>
                    <a:pt x="694437" y="357983"/>
                    <a:pt x="694437" y="357983"/>
                    <a:pt x="714446" y="357983"/>
                  </a:cubicBezTo>
                  <a:cubicBezTo>
                    <a:pt x="726452" y="357983"/>
                    <a:pt x="734455" y="365987"/>
                    <a:pt x="734455" y="373990"/>
                  </a:cubicBezTo>
                  <a:cubicBezTo>
                    <a:pt x="734455" y="373990"/>
                    <a:pt x="734455" y="373990"/>
                    <a:pt x="738457" y="406005"/>
                  </a:cubicBezTo>
                  <a:cubicBezTo>
                    <a:pt x="738457" y="418011"/>
                    <a:pt x="730453" y="426015"/>
                    <a:pt x="722450" y="430017"/>
                  </a:cubicBezTo>
                  <a:cubicBezTo>
                    <a:pt x="722450" y="430017"/>
                    <a:pt x="722450" y="430017"/>
                    <a:pt x="702440" y="434019"/>
                  </a:cubicBezTo>
                  <a:cubicBezTo>
                    <a:pt x="698438" y="446024"/>
                    <a:pt x="694437" y="458030"/>
                    <a:pt x="690435" y="470036"/>
                  </a:cubicBezTo>
                  <a:cubicBezTo>
                    <a:pt x="690435" y="470036"/>
                    <a:pt x="690435" y="470036"/>
                    <a:pt x="702440" y="482041"/>
                  </a:cubicBezTo>
                  <a:cubicBezTo>
                    <a:pt x="710444" y="490045"/>
                    <a:pt x="710444" y="502051"/>
                    <a:pt x="706442" y="510055"/>
                  </a:cubicBezTo>
                  <a:cubicBezTo>
                    <a:pt x="706442" y="510055"/>
                    <a:pt x="706442" y="510055"/>
                    <a:pt x="682431" y="534066"/>
                  </a:cubicBezTo>
                  <a:cubicBezTo>
                    <a:pt x="678429" y="542070"/>
                    <a:pt x="666423" y="546071"/>
                    <a:pt x="658420" y="538068"/>
                  </a:cubicBezTo>
                  <a:cubicBezTo>
                    <a:pt x="658420" y="538068"/>
                    <a:pt x="658420" y="538068"/>
                    <a:pt x="638410" y="526062"/>
                  </a:cubicBezTo>
                  <a:cubicBezTo>
                    <a:pt x="630407" y="534066"/>
                    <a:pt x="618401" y="538068"/>
                    <a:pt x="606395" y="542070"/>
                  </a:cubicBezTo>
                  <a:cubicBezTo>
                    <a:pt x="606395" y="542070"/>
                    <a:pt x="606395" y="542070"/>
                    <a:pt x="606395" y="566081"/>
                  </a:cubicBezTo>
                  <a:cubicBezTo>
                    <a:pt x="606395" y="574085"/>
                    <a:pt x="598391" y="582088"/>
                    <a:pt x="586386" y="586090"/>
                  </a:cubicBezTo>
                  <a:cubicBezTo>
                    <a:pt x="586386" y="586090"/>
                    <a:pt x="586386" y="586090"/>
                    <a:pt x="554371" y="586090"/>
                  </a:cubicBezTo>
                  <a:cubicBezTo>
                    <a:pt x="546367" y="590092"/>
                    <a:pt x="534361" y="582088"/>
                    <a:pt x="534361" y="570083"/>
                  </a:cubicBezTo>
                  <a:cubicBezTo>
                    <a:pt x="534361" y="570083"/>
                    <a:pt x="534361" y="570083"/>
                    <a:pt x="530360" y="550073"/>
                  </a:cubicBezTo>
                  <a:cubicBezTo>
                    <a:pt x="518354" y="546071"/>
                    <a:pt x="506348" y="542070"/>
                    <a:pt x="494343" y="538068"/>
                  </a:cubicBezTo>
                  <a:cubicBezTo>
                    <a:pt x="494343" y="538068"/>
                    <a:pt x="494343" y="538068"/>
                    <a:pt x="478335" y="554075"/>
                  </a:cubicBezTo>
                  <a:cubicBezTo>
                    <a:pt x="470331" y="562079"/>
                    <a:pt x="458326" y="562079"/>
                    <a:pt x="454324" y="554075"/>
                  </a:cubicBezTo>
                  <a:cubicBezTo>
                    <a:pt x="454324" y="554075"/>
                    <a:pt x="454324" y="554075"/>
                    <a:pt x="426311" y="534066"/>
                  </a:cubicBezTo>
                  <a:cubicBezTo>
                    <a:pt x="418307" y="526062"/>
                    <a:pt x="418307" y="514056"/>
                    <a:pt x="422309" y="506053"/>
                  </a:cubicBezTo>
                  <a:cubicBezTo>
                    <a:pt x="422309" y="506053"/>
                    <a:pt x="422309" y="506053"/>
                    <a:pt x="438316" y="490045"/>
                  </a:cubicBezTo>
                  <a:cubicBezTo>
                    <a:pt x="430313" y="478040"/>
                    <a:pt x="426311" y="470036"/>
                    <a:pt x="422309" y="458030"/>
                  </a:cubicBezTo>
                  <a:cubicBezTo>
                    <a:pt x="422309" y="458030"/>
                    <a:pt x="422309" y="458030"/>
                    <a:pt x="398298" y="458030"/>
                  </a:cubicBezTo>
                  <a:cubicBezTo>
                    <a:pt x="386292" y="458030"/>
                    <a:pt x="378288" y="450026"/>
                    <a:pt x="378288" y="438020"/>
                  </a:cubicBezTo>
                  <a:cubicBezTo>
                    <a:pt x="378288" y="438020"/>
                    <a:pt x="378288" y="438020"/>
                    <a:pt x="374286" y="406005"/>
                  </a:cubicBezTo>
                  <a:cubicBezTo>
                    <a:pt x="374286" y="398002"/>
                    <a:pt x="382290" y="385996"/>
                    <a:pt x="390294" y="385996"/>
                  </a:cubicBezTo>
                  <a:cubicBezTo>
                    <a:pt x="390294" y="385996"/>
                    <a:pt x="390294" y="385996"/>
                    <a:pt x="414305" y="381994"/>
                  </a:cubicBezTo>
                  <a:cubicBezTo>
                    <a:pt x="414305" y="369989"/>
                    <a:pt x="418307" y="357983"/>
                    <a:pt x="422309" y="345977"/>
                  </a:cubicBezTo>
                  <a:cubicBezTo>
                    <a:pt x="422309" y="345977"/>
                    <a:pt x="422309" y="345977"/>
                    <a:pt x="410303" y="329970"/>
                  </a:cubicBezTo>
                  <a:cubicBezTo>
                    <a:pt x="402299" y="321966"/>
                    <a:pt x="402299" y="309960"/>
                    <a:pt x="410303" y="305958"/>
                  </a:cubicBezTo>
                  <a:cubicBezTo>
                    <a:pt x="410303" y="305958"/>
                    <a:pt x="410303" y="305958"/>
                    <a:pt x="430313" y="277945"/>
                  </a:cubicBezTo>
                  <a:cubicBezTo>
                    <a:pt x="434314" y="269942"/>
                    <a:pt x="446320" y="269942"/>
                    <a:pt x="454324" y="273943"/>
                  </a:cubicBezTo>
                  <a:cubicBezTo>
                    <a:pt x="454324" y="273943"/>
                    <a:pt x="454324" y="273943"/>
                    <a:pt x="470331" y="285949"/>
                  </a:cubicBezTo>
                  <a:cubicBezTo>
                    <a:pt x="482337" y="277945"/>
                    <a:pt x="494343" y="273943"/>
                    <a:pt x="506348" y="265940"/>
                  </a:cubicBezTo>
                  <a:cubicBezTo>
                    <a:pt x="506348" y="265940"/>
                    <a:pt x="506348" y="265940"/>
                    <a:pt x="506348" y="249932"/>
                  </a:cubicBezTo>
                  <a:cubicBezTo>
                    <a:pt x="506348" y="237927"/>
                    <a:pt x="514352" y="229923"/>
                    <a:pt x="526358" y="229923"/>
                  </a:cubicBezTo>
                  <a:cubicBezTo>
                    <a:pt x="526358" y="229923"/>
                    <a:pt x="526358" y="229923"/>
                    <a:pt x="558373" y="225921"/>
                  </a:cubicBezTo>
                  <a:close/>
                  <a:moveTo>
                    <a:pt x="219487" y="140549"/>
                  </a:moveTo>
                  <a:cubicBezTo>
                    <a:pt x="175589" y="140549"/>
                    <a:pt x="139673" y="176690"/>
                    <a:pt x="139673" y="216847"/>
                  </a:cubicBezTo>
                  <a:cubicBezTo>
                    <a:pt x="139673" y="261019"/>
                    <a:pt x="175589" y="297160"/>
                    <a:pt x="219487" y="297160"/>
                  </a:cubicBezTo>
                  <a:cubicBezTo>
                    <a:pt x="263384" y="297160"/>
                    <a:pt x="295309" y="261019"/>
                    <a:pt x="295309" y="216847"/>
                  </a:cubicBezTo>
                  <a:cubicBezTo>
                    <a:pt x="295309" y="176690"/>
                    <a:pt x="263384" y="140549"/>
                    <a:pt x="219487" y="140549"/>
                  </a:cubicBezTo>
                  <a:close/>
                  <a:moveTo>
                    <a:pt x="195543" y="0"/>
                  </a:moveTo>
                  <a:cubicBezTo>
                    <a:pt x="195543" y="0"/>
                    <a:pt x="195543" y="0"/>
                    <a:pt x="243431" y="0"/>
                  </a:cubicBezTo>
                  <a:cubicBezTo>
                    <a:pt x="251412" y="0"/>
                    <a:pt x="259393" y="8031"/>
                    <a:pt x="263384" y="16063"/>
                  </a:cubicBezTo>
                  <a:cubicBezTo>
                    <a:pt x="263384" y="16063"/>
                    <a:pt x="263384" y="16063"/>
                    <a:pt x="263384" y="44172"/>
                  </a:cubicBezTo>
                  <a:cubicBezTo>
                    <a:pt x="279346" y="48188"/>
                    <a:pt x="295309" y="56219"/>
                    <a:pt x="307281" y="64251"/>
                  </a:cubicBezTo>
                  <a:cubicBezTo>
                    <a:pt x="307281" y="64251"/>
                    <a:pt x="307281" y="64251"/>
                    <a:pt x="331225" y="48188"/>
                  </a:cubicBezTo>
                  <a:cubicBezTo>
                    <a:pt x="339206" y="40157"/>
                    <a:pt x="347188" y="40157"/>
                    <a:pt x="355169" y="48188"/>
                  </a:cubicBezTo>
                  <a:cubicBezTo>
                    <a:pt x="355169" y="48188"/>
                    <a:pt x="355169" y="48188"/>
                    <a:pt x="391085" y="80314"/>
                  </a:cubicBezTo>
                  <a:cubicBezTo>
                    <a:pt x="395076" y="88345"/>
                    <a:pt x="399066" y="100392"/>
                    <a:pt x="391085" y="108423"/>
                  </a:cubicBezTo>
                  <a:cubicBezTo>
                    <a:pt x="391085" y="108423"/>
                    <a:pt x="391085" y="108423"/>
                    <a:pt x="375122" y="128502"/>
                  </a:cubicBezTo>
                  <a:cubicBezTo>
                    <a:pt x="379113" y="144564"/>
                    <a:pt x="387094" y="156611"/>
                    <a:pt x="391085" y="172674"/>
                  </a:cubicBezTo>
                  <a:cubicBezTo>
                    <a:pt x="391085" y="172674"/>
                    <a:pt x="391085" y="172674"/>
                    <a:pt x="419020" y="176690"/>
                  </a:cubicBezTo>
                  <a:cubicBezTo>
                    <a:pt x="427001" y="176690"/>
                    <a:pt x="434982" y="184721"/>
                    <a:pt x="434982" y="196768"/>
                  </a:cubicBezTo>
                  <a:cubicBezTo>
                    <a:pt x="434982" y="196768"/>
                    <a:pt x="434982" y="196768"/>
                    <a:pt x="434982" y="240941"/>
                  </a:cubicBezTo>
                  <a:cubicBezTo>
                    <a:pt x="434982" y="252988"/>
                    <a:pt x="427001" y="261019"/>
                    <a:pt x="419020" y="261019"/>
                  </a:cubicBezTo>
                  <a:cubicBezTo>
                    <a:pt x="419020" y="261019"/>
                    <a:pt x="419020" y="261019"/>
                    <a:pt x="391085" y="265035"/>
                  </a:cubicBezTo>
                  <a:cubicBezTo>
                    <a:pt x="387094" y="281098"/>
                    <a:pt x="379113" y="293145"/>
                    <a:pt x="371132" y="309207"/>
                  </a:cubicBezTo>
                  <a:cubicBezTo>
                    <a:pt x="371132" y="309207"/>
                    <a:pt x="371132" y="309207"/>
                    <a:pt x="391085" y="333301"/>
                  </a:cubicBezTo>
                  <a:cubicBezTo>
                    <a:pt x="399066" y="341333"/>
                    <a:pt x="395076" y="349364"/>
                    <a:pt x="391085" y="357396"/>
                  </a:cubicBezTo>
                  <a:cubicBezTo>
                    <a:pt x="391085" y="357396"/>
                    <a:pt x="391085" y="357396"/>
                    <a:pt x="355169" y="393537"/>
                  </a:cubicBezTo>
                  <a:cubicBezTo>
                    <a:pt x="347188" y="397552"/>
                    <a:pt x="339206" y="401568"/>
                    <a:pt x="331225" y="393537"/>
                  </a:cubicBezTo>
                  <a:cubicBezTo>
                    <a:pt x="331225" y="393537"/>
                    <a:pt x="331225" y="393537"/>
                    <a:pt x="307281" y="373458"/>
                  </a:cubicBezTo>
                  <a:cubicBezTo>
                    <a:pt x="291318" y="381490"/>
                    <a:pt x="279346" y="389521"/>
                    <a:pt x="263384" y="393537"/>
                  </a:cubicBezTo>
                  <a:cubicBezTo>
                    <a:pt x="263384" y="393537"/>
                    <a:pt x="263384" y="393537"/>
                    <a:pt x="259393" y="421646"/>
                  </a:cubicBezTo>
                  <a:cubicBezTo>
                    <a:pt x="259393" y="433693"/>
                    <a:pt x="251412" y="441725"/>
                    <a:pt x="239440" y="441725"/>
                  </a:cubicBezTo>
                  <a:cubicBezTo>
                    <a:pt x="239440" y="441725"/>
                    <a:pt x="239440" y="441725"/>
                    <a:pt x="191552" y="441725"/>
                  </a:cubicBezTo>
                  <a:cubicBezTo>
                    <a:pt x="183571" y="441725"/>
                    <a:pt x="175589" y="433693"/>
                    <a:pt x="171599" y="421646"/>
                  </a:cubicBezTo>
                  <a:cubicBezTo>
                    <a:pt x="171599" y="421646"/>
                    <a:pt x="171599" y="421646"/>
                    <a:pt x="167608" y="389521"/>
                  </a:cubicBezTo>
                  <a:cubicBezTo>
                    <a:pt x="155636" y="385505"/>
                    <a:pt x="143664" y="381490"/>
                    <a:pt x="127701" y="373458"/>
                  </a:cubicBezTo>
                  <a:cubicBezTo>
                    <a:pt x="127701" y="373458"/>
                    <a:pt x="127701" y="373458"/>
                    <a:pt x="103757" y="393537"/>
                  </a:cubicBezTo>
                  <a:cubicBezTo>
                    <a:pt x="95776" y="397552"/>
                    <a:pt x="87794" y="397552"/>
                    <a:pt x="79813" y="393537"/>
                  </a:cubicBezTo>
                  <a:cubicBezTo>
                    <a:pt x="79813" y="393537"/>
                    <a:pt x="79813" y="393537"/>
                    <a:pt x="43897" y="357396"/>
                  </a:cubicBezTo>
                  <a:cubicBezTo>
                    <a:pt x="39906" y="349364"/>
                    <a:pt x="35916" y="337317"/>
                    <a:pt x="43897" y="329286"/>
                  </a:cubicBezTo>
                  <a:cubicBezTo>
                    <a:pt x="43897" y="329286"/>
                    <a:pt x="43897" y="329286"/>
                    <a:pt x="63850" y="305192"/>
                  </a:cubicBezTo>
                  <a:cubicBezTo>
                    <a:pt x="55869" y="293145"/>
                    <a:pt x="51878" y="281098"/>
                    <a:pt x="47888" y="269051"/>
                  </a:cubicBezTo>
                  <a:lnTo>
                    <a:pt x="15962" y="265035"/>
                  </a:lnTo>
                  <a:cubicBezTo>
                    <a:pt x="7981" y="265035"/>
                    <a:pt x="0" y="252988"/>
                    <a:pt x="0" y="244956"/>
                  </a:cubicBezTo>
                  <a:cubicBezTo>
                    <a:pt x="0" y="244956"/>
                    <a:pt x="0" y="244956"/>
                    <a:pt x="0" y="196768"/>
                  </a:cubicBezTo>
                  <a:cubicBezTo>
                    <a:pt x="0" y="188737"/>
                    <a:pt x="7981" y="176690"/>
                    <a:pt x="15962" y="176690"/>
                  </a:cubicBezTo>
                  <a:cubicBezTo>
                    <a:pt x="15962" y="176690"/>
                    <a:pt x="15962" y="176690"/>
                    <a:pt x="43897" y="172674"/>
                  </a:cubicBezTo>
                  <a:cubicBezTo>
                    <a:pt x="47888" y="160627"/>
                    <a:pt x="55869" y="144564"/>
                    <a:pt x="63850" y="132517"/>
                  </a:cubicBezTo>
                  <a:cubicBezTo>
                    <a:pt x="63850" y="132517"/>
                    <a:pt x="63850" y="132517"/>
                    <a:pt x="43897" y="108423"/>
                  </a:cubicBezTo>
                  <a:cubicBezTo>
                    <a:pt x="35916" y="100392"/>
                    <a:pt x="39906" y="88345"/>
                    <a:pt x="43897" y="80314"/>
                  </a:cubicBezTo>
                  <a:cubicBezTo>
                    <a:pt x="43897" y="80314"/>
                    <a:pt x="43897" y="80314"/>
                    <a:pt x="79813" y="48188"/>
                  </a:cubicBezTo>
                  <a:cubicBezTo>
                    <a:pt x="87794" y="40157"/>
                    <a:pt x="95776" y="40157"/>
                    <a:pt x="103757" y="48188"/>
                  </a:cubicBezTo>
                  <a:cubicBezTo>
                    <a:pt x="103757" y="48188"/>
                    <a:pt x="103757" y="48188"/>
                    <a:pt x="127701" y="64251"/>
                  </a:cubicBezTo>
                  <a:cubicBezTo>
                    <a:pt x="139673" y="56219"/>
                    <a:pt x="155636" y="48188"/>
                    <a:pt x="171599" y="44172"/>
                  </a:cubicBezTo>
                  <a:cubicBezTo>
                    <a:pt x="171599" y="44172"/>
                    <a:pt x="171599" y="44172"/>
                    <a:pt x="175589" y="16063"/>
                  </a:cubicBezTo>
                  <a:cubicBezTo>
                    <a:pt x="175589" y="8031"/>
                    <a:pt x="183571" y="0"/>
                    <a:pt x="1955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4226" name="îslidè"/>
            <p:cNvSpPr>
              <a:spLocks/>
            </p:cNvSpPr>
            <p:nvPr/>
          </p:nvSpPr>
          <p:spPr bwMode="auto">
            <a:xfrm>
              <a:off x="6751645" y="2336245"/>
              <a:ext cx="451552" cy="661141"/>
            </a:xfrm>
            <a:custGeom>
              <a:avLst/>
              <a:gdLst>
                <a:gd name="T0" fmla="*/ 2147483647 w 112"/>
                <a:gd name="T1" fmla="*/ 2147483647 h 163"/>
                <a:gd name="T2" fmla="*/ 2147483647 w 112"/>
                <a:gd name="T3" fmla="*/ 2147483647 h 163"/>
                <a:gd name="T4" fmla="*/ 2147483647 w 112"/>
                <a:gd name="T5" fmla="*/ 0 h 163"/>
                <a:gd name="T6" fmla="*/ 0 w 112"/>
                <a:gd name="T7" fmla="*/ 2147483647 h 163"/>
                <a:gd name="T8" fmla="*/ 0 w 112"/>
                <a:gd name="T9" fmla="*/ 2147483647 h 163"/>
                <a:gd name="T10" fmla="*/ 0 w 112"/>
                <a:gd name="T11" fmla="*/ 2147483647 h 163"/>
                <a:gd name="T12" fmla="*/ 2147483647 w 112"/>
                <a:gd name="T13" fmla="*/ 2147483647 h 163"/>
                <a:gd name="T14" fmla="*/ 2147483647 w 112"/>
                <a:gd name="T15" fmla="*/ 2147483647 h 163"/>
                <a:gd name="T16" fmla="*/ 2147483647 w 112"/>
                <a:gd name="T17" fmla="*/ 2147483647 h 163"/>
                <a:gd name="T18" fmla="*/ 2147483647 w 112"/>
                <a:gd name="T19" fmla="*/ 2147483647 h 163"/>
                <a:gd name="T20" fmla="*/ 2147483647 w 112"/>
                <a:gd name="T21" fmla="*/ 2147483647 h 163"/>
                <a:gd name="T22" fmla="*/ 2147483647 w 112"/>
                <a:gd name="T23" fmla="*/ 2147483647 h 163"/>
                <a:gd name="T24" fmla="*/ 2147483647 w 112"/>
                <a:gd name="T25" fmla="*/ 2147483647 h 163"/>
                <a:gd name="T26" fmla="*/ 2147483647 w 112"/>
                <a:gd name="T27" fmla="*/ 2147483647 h 163"/>
                <a:gd name="T28" fmla="*/ 2147483647 w 112"/>
                <a:gd name="T29" fmla="*/ 2147483647 h 163"/>
                <a:gd name="T30" fmla="*/ 2147483647 w 112"/>
                <a:gd name="T31" fmla="*/ 2147483647 h 163"/>
                <a:gd name="T32" fmla="*/ 2147483647 w 112"/>
                <a:gd name="T33" fmla="*/ 2147483647 h 163"/>
                <a:gd name="T34" fmla="*/ 2147483647 w 112"/>
                <a:gd name="T35" fmla="*/ 2147483647 h 163"/>
                <a:gd name="T36" fmla="*/ 2147483647 w 112"/>
                <a:gd name="T37" fmla="*/ 2147483647 h 163"/>
                <a:gd name="T38" fmla="*/ 2147483647 w 112"/>
                <a:gd name="T39" fmla="*/ 2147483647 h 163"/>
                <a:gd name="T40" fmla="*/ 2147483647 w 112"/>
                <a:gd name="T41" fmla="*/ 2147483647 h 16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12" h="163">
                  <a:moveTo>
                    <a:pt x="109" y="41"/>
                  </a:moveTo>
                  <a:cubicBezTo>
                    <a:pt x="109" y="38"/>
                    <a:pt x="108" y="36"/>
                    <a:pt x="107" y="34"/>
                  </a:cubicBezTo>
                  <a:cubicBezTo>
                    <a:pt x="96" y="9"/>
                    <a:pt x="74" y="0"/>
                    <a:pt x="55" y="0"/>
                  </a:cubicBezTo>
                  <a:cubicBezTo>
                    <a:pt x="30" y="0"/>
                    <a:pt x="3" y="16"/>
                    <a:pt x="0" y="51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8"/>
                    <a:pt x="0" y="60"/>
                    <a:pt x="0" y="62"/>
                  </a:cubicBezTo>
                  <a:cubicBezTo>
                    <a:pt x="2" y="78"/>
                    <a:pt x="15" y="95"/>
                    <a:pt x="24" y="111"/>
                  </a:cubicBezTo>
                  <a:cubicBezTo>
                    <a:pt x="35" y="129"/>
                    <a:pt x="45" y="146"/>
                    <a:pt x="56" y="163"/>
                  </a:cubicBezTo>
                  <a:cubicBezTo>
                    <a:pt x="62" y="152"/>
                    <a:pt x="69" y="141"/>
                    <a:pt x="75" y="130"/>
                  </a:cubicBezTo>
                  <a:cubicBezTo>
                    <a:pt x="77" y="127"/>
                    <a:pt x="79" y="123"/>
                    <a:pt x="81" y="120"/>
                  </a:cubicBezTo>
                  <a:cubicBezTo>
                    <a:pt x="82" y="118"/>
                    <a:pt x="84" y="116"/>
                    <a:pt x="85" y="114"/>
                  </a:cubicBezTo>
                  <a:cubicBezTo>
                    <a:pt x="96" y="96"/>
                    <a:pt x="112" y="76"/>
                    <a:pt x="112" y="58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2" y="48"/>
                    <a:pt x="110" y="41"/>
                    <a:pt x="109" y="41"/>
                  </a:cubicBezTo>
                  <a:close/>
                  <a:moveTo>
                    <a:pt x="56" y="75"/>
                  </a:moveTo>
                  <a:cubicBezTo>
                    <a:pt x="48" y="75"/>
                    <a:pt x="40" y="72"/>
                    <a:pt x="36" y="62"/>
                  </a:cubicBezTo>
                  <a:cubicBezTo>
                    <a:pt x="36" y="60"/>
                    <a:pt x="36" y="57"/>
                    <a:pt x="36" y="57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6" y="40"/>
                    <a:pt x="47" y="34"/>
                    <a:pt x="56" y="34"/>
                  </a:cubicBezTo>
                  <a:cubicBezTo>
                    <a:pt x="68" y="34"/>
                    <a:pt x="77" y="43"/>
                    <a:pt x="77" y="55"/>
                  </a:cubicBezTo>
                  <a:cubicBezTo>
                    <a:pt x="77" y="66"/>
                    <a:pt x="67" y="75"/>
                    <a:pt x="56" y="7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4227" name="îsļîḍé"/>
            <p:cNvSpPr>
              <a:spLocks/>
            </p:cNvSpPr>
            <p:nvPr/>
          </p:nvSpPr>
          <p:spPr bwMode="auto">
            <a:xfrm>
              <a:off x="5519062" y="4599684"/>
              <a:ext cx="557199" cy="564015"/>
            </a:xfrm>
            <a:custGeom>
              <a:avLst/>
              <a:gdLst>
                <a:gd name="T0" fmla="*/ 243094 w 551315"/>
                <a:gd name="T1" fmla="*/ 495485 h 558059"/>
                <a:gd name="T2" fmla="*/ 483467 w 551315"/>
                <a:gd name="T3" fmla="*/ 495485 h 558059"/>
                <a:gd name="T4" fmla="*/ 504373 w 551315"/>
                <a:gd name="T5" fmla="*/ 517213 h 558059"/>
                <a:gd name="T6" fmla="*/ 483467 w 551315"/>
                <a:gd name="T7" fmla="*/ 544370 h 558059"/>
                <a:gd name="T8" fmla="*/ 243094 w 551315"/>
                <a:gd name="T9" fmla="*/ 544370 h 558059"/>
                <a:gd name="T10" fmla="*/ 222192 w 551315"/>
                <a:gd name="T11" fmla="*/ 517213 h 558059"/>
                <a:gd name="T12" fmla="*/ 243094 w 551315"/>
                <a:gd name="T13" fmla="*/ 495485 h 558059"/>
                <a:gd name="T14" fmla="*/ 194415 w 551315"/>
                <a:gd name="T15" fmla="*/ 395503 h 558059"/>
                <a:gd name="T16" fmla="*/ 532145 w 551315"/>
                <a:gd name="T17" fmla="*/ 395503 h 558059"/>
                <a:gd name="T18" fmla="*/ 553254 w 551315"/>
                <a:gd name="T19" fmla="*/ 422163 h 558059"/>
                <a:gd name="T20" fmla="*/ 532145 w 551315"/>
                <a:gd name="T21" fmla="*/ 448827 h 558059"/>
                <a:gd name="T22" fmla="*/ 194415 w 551315"/>
                <a:gd name="T23" fmla="*/ 448827 h 558059"/>
                <a:gd name="T24" fmla="*/ 173310 w 551315"/>
                <a:gd name="T25" fmla="*/ 422163 h 558059"/>
                <a:gd name="T26" fmla="*/ 194415 w 551315"/>
                <a:gd name="T27" fmla="*/ 395503 h 558059"/>
                <a:gd name="T28" fmla="*/ 152682 w 551315"/>
                <a:gd name="T29" fmla="*/ 338625 h 558059"/>
                <a:gd name="T30" fmla="*/ 110562 w 551315"/>
                <a:gd name="T31" fmla="*/ 375663 h 558059"/>
                <a:gd name="T32" fmla="*/ 110562 w 551315"/>
                <a:gd name="T33" fmla="*/ 582013 h 558059"/>
                <a:gd name="T34" fmla="*/ 152682 w 551315"/>
                <a:gd name="T35" fmla="*/ 619049 h 558059"/>
                <a:gd name="T36" fmla="*/ 573878 w 551315"/>
                <a:gd name="T37" fmla="*/ 619049 h 558059"/>
                <a:gd name="T38" fmla="*/ 616001 w 551315"/>
                <a:gd name="T39" fmla="*/ 582013 h 558059"/>
                <a:gd name="T40" fmla="*/ 616001 w 551315"/>
                <a:gd name="T41" fmla="*/ 375663 h 558059"/>
                <a:gd name="T42" fmla="*/ 573878 w 551315"/>
                <a:gd name="T43" fmla="*/ 338625 h 558059"/>
                <a:gd name="T44" fmla="*/ 152682 w 551315"/>
                <a:gd name="T45" fmla="*/ 338625 h 558059"/>
                <a:gd name="T46" fmla="*/ 211081 w 551315"/>
                <a:gd name="T47" fmla="*/ 0 h 558059"/>
                <a:gd name="T48" fmla="*/ 515483 w 551315"/>
                <a:gd name="T49" fmla="*/ 0 h 558059"/>
                <a:gd name="T50" fmla="*/ 515483 w 551315"/>
                <a:gd name="T51" fmla="*/ 121863 h 558059"/>
                <a:gd name="T52" fmla="*/ 499737 w 551315"/>
                <a:gd name="T53" fmla="*/ 137761 h 558059"/>
                <a:gd name="T54" fmla="*/ 226826 w 551315"/>
                <a:gd name="T55" fmla="*/ 137761 h 558059"/>
                <a:gd name="T56" fmla="*/ 211081 w 551315"/>
                <a:gd name="T57" fmla="*/ 121863 h 558059"/>
                <a:gd name="T58" fmla="*/ 211081 w 551315"/>
                <a:gd name="T59" fmla="*/ 0 h 558059"/>
                <a:gd name="T60" fmla="*/ 68442 w 551315"/>
                <a:gd name="T61" fmla="*/ 0 h 558059"/>
                <a:gd name="T62" fmla="*/ 163214 w 551315"/>
                <a:gd name="T63" fmla="*/ 0 h 558059"/>
                <a:gd name="T64" fmla="*/ 163214 w 551315"/>
                <a:gd name="T65" fmla="*/ 121694 h 558059"/>
                <a:gd name="T66" fmla="*/ 226393 w 551315"/>
                <a:gd name="T67" fmla="*/ 185185 h 558059"/>
                <a:gd name="T68" fmla="*/ 500174 w 551315"/>
                <a:gd name="T69" fmla="*/ 185185 h 558059"/>
                <a:gd name="T70" fmla="*/ 563349 w 551315"/>
                <a:gd name="T71" fmla="*/ 121694 h 558059"/>
                <a:gd name="T72" fmla="*/ 563349 w 551315"/>
                <a:gd name="T73" fmla="*/ 31746 h 558059"/>
                <a:gd name="T74" fmla="*/ 716033 w 551315"/>
                <a:gd name="T75" fmla="*/ 185185 h 558059"/>
                <a:gd name="T76" fmla="*/ 726562 w 551315"/>
                <a:gd name="T77" fmla="*/ 211641 h 558059"/>
                <a:gd name="T78" fmla="*/ 726562 w 551315"/>
                <a:gd name="T79" fmla="*/ 666671 h 558059"/>
                <a:gd name="T80" fmla="*/ 658120 w 551315"/>
                <a:gd name="T81" fmla="*/ 735450 h 558059"/>
                <a:gd name="T82" fmla="*/ 68442 w 551315"/>
                <a:gd name="T83" fmla="*/ 735450 h 558059"/>
                <a:gd name="T84" fmla="*/ 0 w 551315"/>
                <a:gd name="T85" fmla="*/ 666671 h 558059"/>
                <a:gd name="T86" fmla="*/ 0 w 551315"/>
                <a:gd name="T87" fmla="*/ 68782 h 558059"/>
                <a:gd name="T88" fmla="*/ 68442 w 551315"/>
                <a:gd name="T89" fmla="*/ 0 h 55805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551315" h="558059">
                  <a:moveTo>
                    <a:pt x="184459" y="375973"/>
                  </a:moveTo>
                  <a:cubicBezTo>
                    <a:pt x="184459" y="375973"/>
                    <a:pt x="184459" y="375973"/>
                    <a:pt x="366857" y="375973"/>
                  </a:cubicBezTo>
                  <a:cubicBezTo>
                    <a:pt x="374787" y="375973"/>
                    <a:pt x="382717" y="384216"/>
                    <a:pt x="382717" y="392459"/>
                  </a:cubicBezTo>
                  <a:cubicBezTo>
                    <a:pt x="382717" y="404823"/>
                    <a:pt x="374787" y="413065"/>
                    <a:pt x="366857" y="413065"/>
                  </a:cubicBezTo>
                  <a:cubicBezTo>
                    <a:pt x="366857" y="413065"/>
                    <a:pt x="366857" y="413065"/>
                    <a:pt x="184459" y="413065"/>
                  </a:cubicBezTo>
                  <a:cubicBezTo>
                    <a:pt x="176529" y="413065"/>
                    <a:pt x="168598" y="404823"/>
                    <a:pt x="168598" y="392459"/>
                  </a:cubicBezTo>
                  <a:cubicBezTo>
                    <a:pt x="168598" y="384216"/>
                    <a:pt x="176529" y="375973"/>
                    <a:pt x="184459" y="375973"/>
                  </a:cubicBezTo>
                  <a:close/>
                  <a:moveTo>
                    <a:pt x="147524" y="300104"/>
                  </a:moveTo>
                  <a:cubicBezTo>
                    <a:pt x="147524" y="300104"/>
                    <a:pt x="147524" y="300104"/>
                    <a:pt x="403792" y="300104"/>
                  </a:cubicBezTo>
                  <a:cubicBezTo>
                    <a:pt x="411801" y="300104"/>
                    <a:pt x="419809" y="308197"/>
                    <a:pt x="419809" y="320336"/>
                  </a:cubicBezTo>
                  <a:cubicBezTo>
                    <a:pt x="419809" y="332475"/>
                    <a:pt x="411801" y="340567"/>
                    <a:pt x="403792" y="340567"/>
                  </a:cubicBezTo>
                  <a:cubicBezTo>
                    <a:pt x="403792" y="340567"/>
                    <a:pt x="403792" y="340567"/>
                    <a:pt x="147524" y="340567"/>
                  </a:cubicBezTo>
                  <a:cubicBezTo>
                    <a:pt x="139515" y="340567"/>
                    <a:pt x="131507" y="332475"/>
                    <a:pt x="131507" y="320336"/>
                  </a:cubicBezTo>
                  <a:cubicBezTo>
                    <a:pt x="131507" y="308197"/>
                    <a:pt x="139515" y="300104"/>
                    <a:pt x="147524" y="300104"/>
                  </a:cubicBezTo>
                  <a:close/>
                  <a:moveTo>
                    <a:pt x="115856" y="256948"/>
                  </a:moveTo>
                  <a:cubicBezTo>
                    <a:pt x="99876" y="256948"/>
                    <a:pt x="83896" y="268993"/>
                    <a:pt x="83896" y="285052"/>
                  </a:cubicBezTo>
                  <a:cubicBezTo>
                    <a:pt x="83896" y="285052"/>
                    <a:pt x="83896" y="285052"/>
                    <a:pt x="83896" y="441630"/>
                  </a:cubicBezTo>
                  <a:cubicBezTo>
                    <a:pt x="83896" y="457689"/>
                    <a:pt x="99876" y="469733"/>
                    <a:pt x="115856" y="469733"/>
                  </a:cubicBezTo>
                  <a:cubicBezTo>
                    <a:pt x="115856" y="469733"/>
                    <a:pt x="115856" y="469733"/>
                    <a:pt x="435459" y="469733"/>
                  </a:cubicBezTo>
                  <a:cubicBezTo>
                    <a:pt x="451439" y="469733"/>
                    <a:pt x="467419" y="457689"/>
                    <a:pt x="467419" y="441630"/>
                  </a:cubicBezTo>
                  <a:lnTo>
                    <a:pt x="467419" y="285052"/>
                  </a:lnTo>
                  <a:cubicBezTo>
                    <a:pt x="467419" y="268993"/>
                    <a:pt x="451439" y="256948"/>
                    <a:pt x="435459" y="256948"/>
                  </a:cubicBezTo>
                  <a:cubicBezTo>
                    <a:pt x="435459" y="256948"/>
                    <a:pt x="435459" y="256948"/>
                    <a:pt x="115856" y="256948"/>
                  </a:cubicBezTo>
                  <a:close/>
                  <a:moveTo>
                    <a:pt x="160168" y="0"/>
                  </a:moveTo>
                  <a:cubicBezTo>
                    <a:pt x="160168" y="0"/>
                    <a:pt x="160168" y="0"/>
                    <a:pt x="391147" y="0"/>
                  </a:cubicBezTo>
                  <a:cubicBezTo>
                    <a:pt x="391147" y="0"/>
                    <a:pt x="391147" y="0"/>
                    <a:pt x="391147" y="92470"/>
                  </a:cubicBezTo>
                  <a:cubicBezTo>
                    <a:pt x="391147" y="100511"/>
                    <a:pt x="383182" y="104531"/>
                    <a:pt x="379200" y="104531"/>
                  </a:cubicBezTo>
                  <a:cubicBezTo>
                    <a:pt x="379200" y="104531"/>
                    <a:pt x="379200" y="104531"/>
                    <a:pt x="172115" y="104531"/>
                  </a:cubicBezTo>
                  <a:cubicBezTo>
                    <a:pt x="168133" y="104531"/>
                    <a:pt x="160168" y="100511"/>
                    <a:pt x="160168" y="92470"/>
                  </a:cubicBezTo>
                  <a:cubicBezTo>
                    <a:pt x="160168" y="92470"/>
                    <a:pt x="160168" y="92470"/>
                    <a:pt x="160168" y="0"/>
                  </a:cubicBezTo>
                  <a:close/>
                  <a:moveTo>
                    <a:pt x="51935" y="0"/>
                  </a:moveTo>
                  <a:cubicBezTo>
                    <a:pt x="51935" y="0"/>
                    <a:pt x="51935" y="0"/>
                    <a:pt x="123846" y="0"/>
                  </a:cubicBezTo>
                  <a:cubicBezTo>
                    <a:pt x="123846" y="0"/>
                    <a:pt x="123846" y="0"/>
                    <a:pt x="123846" y="92341"/>
                  </a:cubicBezTo>
                  <a:cubicBezTo>
                    <a:pt x="123846" y="120445"/>
                    <a:pt x="147816" y="140519"/>
                    <a:pt x="171787" y="140519"/>
                  </a:cubicBezTo>
                  <a:cubicBezTo>
                    <a:pt x="171787" y="140519"/>
                    <a:pt x="171787" y="140519"/>
                    <a:pt x="379529" y="140519"/>
                  </a:cubicBezTo>
                  <a:cubicBezTo>
                    <a:pt x="403499" y="140519"/>
                    <a:pt x="427469" y="120445"/>
                    <a:pt x="427469" y="92341"/>
                  </a:cubicBezTo>
                  <a:cubicBezTo>
                    <a:pt x="427469" y="92341"/>
                    <a:pt x="427469" y="92341"/>
                    <a:pt x="427469" y="24089"/>
                  </a:cubicBezTo>
                  <a:cubicBezTo>
                    <a:pt x="427469" y="24089"/>
                    <a:pt x="427469" y="24089"/>
                    <a:pt x="543325" y="140519"/>
                  </a:cubicBezTo>
                  <a:cubicBezTo>
                    <a:pt x="547320" y="148548"/>
                    <a:pt x="551315" y="152563"/>
                    <a:pt x="551315" y="160593"/>
                  </a:cubicBezTo>
                  <a:cubicBezTo>
                    <a:pt x="551315" y="160593"/>
                    <a:pt x="551315" y="160593"/>
                    <a:pt x="551315" y="505867"/>
                  </a:cubicBezTo>
                  <a:cubicBezTo>
                    <a:pt x="551315" y="533970"/>
                    <a:pt x="527345" y="558059"/>
                    <a:pt x="499380" y="558059"/>
                  </a:cubicBezTo>
                  <a:cubicBezTo>
                    <a:pt x="499380" y="558059"/>
                    <a:pt x="499380" y="558059"/>
                    <a:pt x="51935" y="558059"/>
                  </a:cubicBezTo>
                  <a:cubicBezTo>
                    <a:pt x="23970" y="558059"/>
                    <a:pt x="0" y="533970"/>
                    <a:pt x="0" y="505867"/>
                  </a:cubicBezTo>
                  <a:cubicBezTo>
                    <a:pt x="0" y="505867"/>
                    <a:pt x="0" y="505867"/>
                    <a:pt x="0" y="52193"/>
                  </a:cubicBezTo>
                  <a:cubicBezTo>
                    <a:pt x="0" y="24089"/>
                    <a:pt x="23970" y="0"/>
                    <a:pt x="5193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pic>
        <p:nvPicPr>
          <p:cNvPr id="94212" name="Picture 4" descr="ç¸éåç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792" y="2852936"/>
            <a:ext cx="6635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0" name="文字方塊 3"/>
          <p:cNvSpPr txBox="1">
            <a:spLocks noChangeArrowheads="1"/>
          </p:cNvSpPr>
          <p:nvPr/>
        </p:nvSpPr>
        <p:spPr bwMode="auto">
          <a:xfrm>
            <a:off x="3799695" y="1556792"/>
            <a:ext cx="4948769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4625" indent="-174625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361950" marR="0" lvl="0" indent="-1841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75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每年成功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主辦承銷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30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件案子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75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，近年主辦案件數業界領先，豐富經驗可提供最專業且具品質的服務</a:t>
            </a:r>
            <a:endParaRPr kumimoji="1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srgbClr val="808080">
                  <a:lumMod val="75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1950" marR="0" lvl="0" indent="-1841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承作多件產業第一家</a:t>
            </a:r>
            <a:r>
              <a:rPr lang="en-US" altLang="zh-TW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案件、集團子公司</a:t>
            </a:r>
            <a:r>
              <a:rPr lang="en-US" altLang="zh-TW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IPO</a:t>
            </a:r>
            <a:r>
              <a:rPr lang="zh-TW" altLang="en-US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案件</a:t>
            </a:r>
            <a:endParaRPr lang="en-US" altLang="zh-TW" sz="1400" b="1" dirty="0">
              <a:solidFill>
                <a:srgbClr val="808080">
                  <a:lumMod val="7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1" name="文字方塊 8"/>
          <p:cNvSpPr txBox="1">
            <a:spLocks noChangeArrowheads="1"/>
          </p:cNvSpPr>
          <p:nvPr/>
        </p:nvSpPr>
        <p:spPr bwMode="auto">
          <a:xfrm>
            <a:off x="3799695" y="2761764"/>
            <a:ext cx="4948769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4625" indent="-174625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361950" indent="-184150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TW" altLang="zh-TW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資本市場處與主管機關保持良好合作關係</a:t>
            </a:r>
            <a:endParaRPr lang="en-US" altLang="zh-TW" sz="1400" b="1" dirty="0">
              <a:solidFill>
                <a:srgbClr val="808080">
                  <a:lumMod val="7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61950" indent="-184150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TW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75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台</a:t>
            </a:r>
            <a:r>
              <a:rPr lang="zh-TW" altLang="zh-TW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新金控吳光雄</a:t>
            </a:r>
            <a:r>
              <a:rPr lang="zh-TW" altLang="en-US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顧問</a:t>
            </a:r>
            <a:r>
              <a:rPr lang="zh-TW" altLang="zh-TW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曾任台灣證券交易所總經理，</a:t>
            </a:r>
            <a:r>
              <a:rPr lang="zh-TW" altLang="en-US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台新證券郭嘉宏董事長為</a:t>
            </a:r>
            <a:r>
              <a:rPr lang="zh-TW" altLang="zh-TW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現任櫃買中心</a:t>
            </a:r>
            <a:r>
              <a:rPr lang="zh-TW" altLang="en-US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董事</a:t>
            </a:r>
            <a:endParaRPr lang="en-US" altLang="zh-TW" sz="1400" b="1" dirty="0">
              <a:solidFill>
                <a:srgbClr val="808080">
                  <a:lumMod val="7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3" name="文字方塊 11"/>
          <p:cNvSpPr txBox="1">
            <a:spLocks noChangeArrowheads="1"/>
          </p:cNvSpPr>
          <p:nvPr/>
        </p:nvSpPr>
        <p:spPr bwMode="auto">
          <a:xfrm>
            <a:off x="3808158" y="4058488"/>
            <a:ext cx="4940306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4625" indent="-174625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361950" marR="0" lvl="0" indent="-18415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zh-TW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台新金控法人金融與個人金融業務均居</a:t>
            </a:r>
            <a:r>
              <a:rPr lang="zh-TW" altLang="zh-TW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業界前三名</a:t>
            </a:r>
            <a:r>
              <a:rPr lang="zh-TW" altLang="zh-TW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，具備直接投資、融資服務、現金管理、承銷輔導、財務顧問等服務</a:t>
            </a:r>
          </a:p>
        </p:txBody>
      </p:sp>
      <p:sp>
        <p:nvSpPr>
          <p:cNvPr id="134" name="文字方塊 12"/>
          <p:cNvSpPr txBox="1">
            <a:spLocks noChangeArrowheads="1"/>
          </p:cNvSpPr>
          <p:nvPr/>
        </p:nvSpPr>
        <p:spPr bwMode="auto">
          <a:xfrm>
            <a:off x="3779514" y="5282624"/>
            <a:ext cx="496895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4625" indent="-174625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361950" indent="-184150" eaLnBrk="1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TW" altLang="zh-TW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與國內外投資法人與投資銀行具良好合作關係</a:t>
            </a:r>
            <a:r>
              <a:rPr lang="zh-TW" altLang="zh-TW" sz="1400" b="1" dirty="0">
                <a:solidFill>
                  <a:srgbClr val="808080">
                    <a:lumMod val="75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，透過精準定位、專業造勢與媒體公關活動，彰顯公司投資價值，造就公司、台新與投資人三贏</a:t>
            </a:r>
            <a:endParaRPr lang="en-US" altLang="zh-TW" sz="1400" b="1" dirty="0">
              <a:solidFill>
                <a:srgbClr val="808080">
                  <a:lumMod val="75000"/>
                </a:srgb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Rectangle 2"/>
          <p:cNvSpPr txBox="1">
            <a:spLocks noChangeArrowheads="1"/>
          </p:cNvSpPr>
          <p:nvPr/>
        </p:nvSpPr>
        <p:spPr bwMode="auto">
          <a:xfrm>
            <a:off x="467544" y="308198"/>
            <a:ext cx="7312025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808080">
                    <a:lumMod val="75000"/>
                  </a:srgbClr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Arial"/>
                <a:ea typeface="微軟正黑體" pitchFamily="34" charset="-120"/>
                <a:cs typeface="+mj-cs"/>
              </a:rPr>
              <a:t>首選台新</a:t>
            </a: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 pitchFamily="34" charset="-120"/>
                <a:cs typeface="+mj-cs"/>
              </a:rPr>
              <a:t>-</a:t>
            </a:r>
            <a:r>
              <a:rPr lang="zh-TW" altLang="en-US" dirty="0">
                <a:solidFill>
                  <a:schemeClr val="tx1"/>
                </a:solidFill>
              </a:rPr>
              <a:t>資本市場最佳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微軟正黑體" pitchFamily="34" charset="-120"/>
                <a:cs typeface="+mj-cs"/>
              </a:rPr>
              <a:t>合作夥伴</a:t>
            </a:r>
            <a:endParaRPr kumimoji="1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微軟正黑體" pitchFamily="34" charset="-120"/>
              <a:cs typeface="+mj-cs"/>
            </a:endParaRPr>
          </a:p>
        </p:txBody>
      </p:sp>
      <p:sp>
        <p:nvSpPr>
          <p:cNvPr id="28" name="圓角矩形 27"/>
          <p:cNvSpPr/>
          <p:nvPr/>
        </p:nvSpPr>
        <p:spPr>
          <a:xfrm>
            <a:off x="3934954" y="1210484"/>
            <a:ext cx="4813510" cy="327804"/>
          </a:xfrm>
          <a:prstGeom prst="roundRect">
            <a:avLst/>
          </a:prstGeom>
          <a:solidFill>
            <a:srgbClr val="92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defTabSz="457200">
              <a:spcBef>
                <a:spcPts val="300"/>
              </a:spcBef>
              <a:defRPr/>
            </a:pPr>
            <a:r>
              <a:rPr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具各產業</a:t>
            </a:r>
            <a:r>
              <a:rPr lang="en-US" altLang="zh-TW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IPO</a:t>
            </a:r>
            <a:r>
              <a:rPr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先行者經驗、承作多起集團子公司</a:t>
            </a:r>
            <a:r>
              <a:rPr lang="en-US" altLang="zh-TW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IPO</a:t>
            </a:r>
            <a:endParaRPr lang="zh-TW" altLang="en-US" sz="14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9" name="圓角矩形 28"/>
          <p:cNvSpPr/>
          <p:nvPr/>
        </p:nvSpPr>
        <p:spPr>
          <a:xfrm>
            <a:off x="3934954" y="2420888"/>
            <a:ext cx="4813510" cy="322874"/>
          </a:xfrm>
          <a:prstGeom prst="roundRect">
            <a:avLst/>
          </a:prstGeom>
          <a:solidFill>
            <a:srgbClr val="92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457200">
              <a:spcBef>
                <a:spcPts val="300"/>
              </a:spcBef>
              <a:defRPr/>
            </a:pPr>
            <a:r>
              <a:rPr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主管機關關係佳</a:t>
            </a:r>
            <a:r>
              <a:rPr lang="zh-TW" altLang="zh-TW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，確保申請案件順利過關</a:t>
            </a:r>
          </a:p>
        </p:txBody>
      </p:sp>
      <p:sp>
        <p:nvSpPr>
          <p:cNvPr id="30" name="圓角矩形 29"/>
          <p:cNvSpPr/>
          <p:nvPr/>
        </p:nvSpPr>
        <p:spPr>
          <a:xfrm>
            <a:off x="3923927" y="3731400"/>
            <a:ext cx="4824537" cy="327088"/>
          </a:xfrm>
          <a:prstGeom prst="roundRect">
            <a:avLst/>
          </a:prstGeom>
          <a:solidFill>
            <a:srgbClr val="92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kumimoji="1"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投行架構提供全方位金融服務，滿足客戶各階段需求</a:t>
            </a:r>
            <a:endParaRPr kumimoji="1"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圓角矩形 30"/>
          <p:cNvSpPr/>
          <p:nvPr/>
        </p:nvSpPr>
        <p:spPr>
          <a:xfrm>
            <a:off x="3923928" y="4935735"/>
            <a:ext cx="4824536" cy="328885"/>
          </a:xfrm>
          <a:prstGeom prst="roundRect">
            <a:avLst/>
          </a:prstGeom>
          <a:solidFill>
            <a:srgbClr val="92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kumimoji="1"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配售通路與造勢能力優異，協助公司創造價值極大化</a:t>
            </a:r>
          </a:p>
        </p:txBody>
      </p:sp>
    </p:spTree>
    <p:extLst>
      <p:ext uri="{BB962C8B-B14F-4D97-AF65-F5344CB8AC3E}">
        <p14:creationId xmlns:p14="http://schemas.microsoft.com/office/powerpoint/2010/main" val="1836471495"/>
      </p:ext>
    </p:extLst>
  </p:cSld>
  <p:clrMapOvr>
    <a:masterClrMapping/>
  </p:clrMapOvr>
  <p:transition>
    <p:spli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圓角矩形 5">
            <a:extLst>
              <a:ext uri="{FF2B5EF4-FFF2-40B4-BE49-F238E27FC236}">
                <a16:creationId xmlns:a16="http://schemas.microsoft.com/office/drawing/2014/main" id="{24468F9D-62E2-4329-BD22-0B483E51B81F}"/>
              </a:ext>
            </a:extLst>
          </p:cNvPr>
          <p:cNvSpPr/>
          <p:nvPr/>
        </p:nvSpPr>
        <p:spPr>
          <a:xfrm>
            <a:off x="4587353" y="1495898"/>
            <a:ext cx="3948447" cy="1757111"/>
          </a:xfrm>
          <a:prstGeom prst="roundRect">
            <a:avLst>
              <a:gd name="adj" fmla="val 6030"/>
            </a:avLst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5" name="圓角矩形 5">
            <a:extLst>
              <a:ext uri="{FF2B5EF4-FFF2-40B4-BE49-F238E27FC236}">
                <a16:creationId xmlns:a16="http://schemas.microsoft.com/office/drawing/2014/main" id="{6137D480-F89F-4D8C-B844-1B2DB633DD44}"/>
              </a:ext>
            </a:extLst>
          </p:cNvPr>
          <p:cNvSpPr/>
          <p:nvPr/>
        </p:nvSpPr>
        <p:spPr>
          <a:xfrm>
            <a:off x="479537" y="1485482"/>
            <a:ext cx="3948447" cy="1757111"/>
          </a:xfrm>
          <a:prstGeom prst="roundRect">
            <a:avLst>
              <a:gd name="adj" fmla="val 6030"/>
            </a:avLst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9" name="圓角矩形 18"/>
          <p:cNvSpPr/>
          <p:nvPr/>
        </p:nvSpPr>
        <p:spPr bwMode="auto">
          <a:xfrm>
            <a:off x="500063" y="3717032"/>
            <a:ext cx="8078453" cy="2528029"/>
          </a:xfrm>
          <a:prstGeom prst="roundRect">
            <a:avLst>
              <a:gd name="adj" fmla="val 9693"/>
            </a:avLst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標楷體" pitchFamily="65" charset="-120"/>
              <a:cs typeface="+mn-cs"/>
            </a:endParaRPr>
          </a:p>
        </p:txBody>
      </p:sp>
      <p:sp>
        <p:nvSpPr>
          <p:cNvPr id="20" name="Shape 822"/>
          <p:cNvSpPr txBox="1">
            <a:spLocks/>
          </p:cNvSpPr>
          <p:nvPr/>
        </p:nvSpPr>
        <p:spPr bwMode="auto">
          <a:xfrm>
            <a:off x="436563" y="476250"/>
            <a:ext cx="8239893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Wingdings 2" pitchFamily="18" charset="2"/>
              </a:rPr>
              <a:t>公司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Wingdings 2" pitchFamily="18" charset="2"/>
              </a:rPr>
              <a:t>優異經營實績加上台新包裝，成功吸引投資人認同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4BD812D-36F8-41D9-B22C-12FA07376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54" y="3939311"/>
            <a:ext cx="1142934" cy="2158182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407BBA21-CF9D-4603-8F9E-0DCB0A77CF9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50" t="1277" r="5060" b="52751"/>
          <a:stretch/>
        </p:blipFill>
        <p:spPr>
          <a:xfrm>
            <a:off x="2827319" y="4024809"/>
            <a:ext cx="1929950" cy="207268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4C4C85F6-4A82-643D-8B3E-7F2A9CDF9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0697" y="4721056"/>
            <a:ext cx="3384376" cy="1461921"/>
          </a:xfrm>
          <a:prstGeom prst="rect">
            <a:avLst/>
          </a:prstGeom>
        </p:spPr>
      </p:pic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88170EDE-A0FB-41A9-82E1-11943B9D9F71}"/>
              </a:ext>
            </a:extLst>
          </p:cNvPr>
          <p:cNvSpPr/>
          <p:nvPr/>
        </p:nvSpPr>
        <p:spPr>
          <a:xfrm>
            <a:off x="645781" y="3520395"/>
            <a:ext cx="3347078" cy="340519"/>
          </a:xfrm>
          <a:prstGeom prst="roundRect">
            <a:avLst/>
          </a:prstGeom>
          <a:solidFill>
            <a:srgbClr val="920000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 panose="020B0604030504040204" pitchFamily="34" charset="-120"/>
                <a:cs typeface="+mn-cs"/>
              </a:rPr>
              <a:t>創新造勢方式，吸引投資人目光及耳朵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8B8E6CAF-9985-439F-B8A7-44E3B4B16B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196" y="3765599"/>
            <a:ext cx="3507220" cy="932034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FBD66E01-5DC8-4D5F-A592-0D1C9D6FAC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2531" y="3939311"/>
            <a:ext cx="1064788" cy="2174309"/>
          </a:xfrm>
          <a:prstGeom prst="rect">
            <a:avLst/>
          </a:prstGeom>
        </p:spPr>
      </p:pic>
      <p:sp>
        <p:nvSpPr>
          <p:cNvPr id="22" name="文字方塊 3">
            <a:extLst>
              <a:ext uri="{FF2B5EF4-FFF2-40B4-BE49-F238E27FC236}">
                <a16:creationId xmlns:a16="http://schemas.microsoft.com/office/drawing/2014/main" id="{811C8E85-8F47-44A7-A9B9-5B068F25A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2357" y="1561542"/>
            <a:ext cx="4013443" cy="1685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19063" indent="-119063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119063" marR="0" lvl="0" indent="-119063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具備機器人、智慧製造、工業</a:t>
            </a:r>
            <a:r>
              <a:rPr kumimoji="1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4.0</a:t>
            </a:r>
            <a:r>
              <a:rPr kumimoji="1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之題材</a:t>
            </a:r>
            <a:endParaRPr kumimoji="1" lang="en-US" altLang="zh-TW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60363" marR="0" lvl="0" indent="-185738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專注於智慧製造的「大腦」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—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控制器領域，並穩居中系品牌中國市占第一，產品性能媲美日德三大廠</a:t>
            </a:r>
          </a:p>
          <a:p>
            <a:pPr marL="360363" marR="0" lvl="0" indent="-185738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打造「控制器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+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機器手臂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+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雲端方案」的一站式智慧控制平台，實現從單機、單元到整線虛實整合的智慧製造願景</a:t>
            </a:r>
            <a:endParaRPr kumimoji="1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360363" marR="0" lvl="0" indent="-185738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積極擴大全球產能，隨著蘇州二廠與馬來西亞二廠產能陸續開出，將能為未來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3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至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5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年業績成長作準備</a:t>
            </a:r>
          </a:p>
        </p:txBody>
      </p:sp>
      <p:sp>
        <p:nvSpPr>
          <p:cNvPr id="23" name="文字方塊 3">
            <a:extLst>
              <a:ext uri="{FF2B5EF4-FFF2-40B4-BE49-F238E27FC236}">
                <a16:creationId xmlns:a16="http://schemas.microsoft.com/office/drawing/2014/main" id="{5A29F4FC-D2EF-4E84-BA8E-A38DF5037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326" y="1650228"/>
            <a:ext cx="3638515" cy="1500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19063" indent="-119063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360363" marR="0" lvl="0" indent="-185738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營收集中度高，對中國市場高度依賴</a:t>
            </a:r>
            <a:r>
              <a:rPr kumimoji="1" lang="en-US" altLang="zh-TW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(&gt;95%)</a:t>
            </a:r>
          </a:p>
          <a:p>
            <a:pPr marL="360363" marR="0" lvl="0" indent="-185738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工具機產業近年受關稅及匯率負面影響，產業經營較為辛苦</a:t>
            </a:r>
            <a:endParaRPr kumimoji="1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360363" marR="0" lvl="0" indent="-185738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產品定位受德日大廠夾擊，亦受到中國本土品牌的價格競爭</a:t>
            </a:r>
            <a:endParaRPr kumimoji="1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360363" marR="0" lvl="0" indent="-185738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TW" altLang="en-US" sz="1200" b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核心</a:t>
            </a:r>
            <a:r>
              <a:rPr kumimoji="1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產品工具機控制器相較市場主流認識的人型機器人，更需要和投資人介紹</a:t>
            </a:r>
          </a:p>
        </p:txBody>
      </p:sp>
      <p:sp>
        <p:nvSpPr>
          <p:cNvPr id="30" name="Arrow: Pentagon 3">
            <a:extLst>
              <a:ext uri="{FF2B5EF4-FFF2-40B4-BE49-F238E27FC236}">
                <a16:creationId xmlns:a16="http://schemas.microsoft.com/office/drawing/2014/main" id="{2ACBA0DA-C405-4B14-8B4E-6D968134E930}"/>
              </a:ext>
            </a:extLst>
          </p:cNvPr>
          <p:cNvSpPr/>
          <p:nvPr/>
        </p:nvSpPr>
        <p:spPr>
          <a:xfrm>
            <a:off x="5502422" y="223554"/>
            <a:ext cx="2964534" cy="381224"/>
          </a:xfrm>
          <a:prstGeom prst="homePlate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1722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客戶經營實績</a:t>
            </a: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+</a:t>
            </a: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台新包裝定位</a:t>
            </a: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8F9C5D4B-1F62-4C56-8E9C-AC662D1A528E}"/>
              </a:ext>
            </a:extLst>
          </p:cNvPr>
          <p:cNvSpPr/>
          <p:nvPr/>
        </p:nvSpPr>
        <p:spPr>
          <a:xfrm>
            <a:off x="4600764" y="1175288"/>
            <a:ext cx="3935035" cy="340519"/>
          </a:xfrm>
          <a:prstGeom prst="roundRect">
            <a:avLst/>
          </a:prstGeom>
          <a:solidFill>
            <a:srgbClr val="920000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台新包裝定位</a:t>
            </a: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0B21B072-16AC-4E0E-B06A-8276F522EC67}"/>
              </a:ext>
            </a:extLst>
          </p:cNvPr>
          <p:cNvSpPr/>
          <p:nvPr/>
        </p:nvSpPr>
        <p:spPr>
          <a:xfrm>
            <a:off x="500063" y="1166731"/>
            <a:ext cx="3935035" cy="340519"/>
          </a:xfrm>
          <a:prstGeom prst="roundRect">
            <a:avLst/>
          </a:prstGeom>
          <a:solidFill>
            <a:schemeClr val="accent4">
              <a:lumMod val="50000"/>
              <a:lumOff val="5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新代營運本質</a:t>
            </a:r>
          </a:p>
        </p:txBody>
      </p:sp>
    </p:spTree>
    <p:extLst>
      <p:ext uri="{BB962C8B-B14F-4D97-AF65-F5344CB8AC3E}">
        <p14:creationId xmlns:p14="http://schemas.microsoft.com/office/powerpoint/2010/main" val="3821196502"/>
      </p:ext>
    </p:extLst>
  </p:cSld>
  <p:clrMapOvr>
    <a:masterClrMapping/>
  </p:clrMapOvr>
  <p:transition>
    <p:spli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AEE1EBA-2C53-4C8B-925A-A24952253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88" y="308198"/>
            <a:ext cx="8351684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台新證券豐富半導體</a:t>
            </a: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科技業主辦案值得您信賴</a:t>
            </a:r>
          </a:p>
        </p:txBody>
      </p:sp>
      <p:sp>
        <p:nvSpPr>
          <p:cNvPr id="4" name="五邊形 18">
            <a:extLst>
              <a:ext uri="{FF2B5EF4-FFF2-40B4-BE49-F238E27FC236}">
                <a16:creationId xmlns:a16="http://schemas.microsoft.com/office/drawing/2014/main" id="{5A9FE8B0-C66A-4F91-A34D-A6D15637D87F}"/>
              </a:ext>
            </a:extLst>
          </p:cNvPr>
          <p:cNvSpPr/>
          <p:nvPr/>
        </p:nvSpPr>
        <p:spPr bwMode="auto">
          <a:xfrm>
            <a:off x="360964" y="2851011"/>
            <a:ext cx="8226896" cy="190851"/>
          </a:xfrm>
          <a:prstGeom prst="homePlate">
            <a:avLst/>
          </a:prstGeom>
          <a:solidFill>
            <a:schemeClr val="bg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3200" b="0" i="0" u="none" strike="noStrike" kern="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1B3080D-0F0E-4629-B77E-00D70B40E319}"/>
              </a:ext>
            </a:extLst>
          </p:cNvPr>
          <p:cNvSpPr/>
          <p:nvPr/>
        </p:nvSpPr>
        <p:spPr>
          <a:xfrm>
            <a:off x="307155" y="3057611"/>
            <a:ext cx="7938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2021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2146F1A-07C9-430A-847C-4DDDB06EE48D}"/>
              </a:ext>
            </a:extLst>
          </p:cNvPr>
          <p:cNvSpPr/>
          <p:nvPr/>
        </p:nvSpPr>
        <p:spPr>
          <a:xfrm>
            <a:off x="2267744" y="2452826"/>
            <a:ext cx="7938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2022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7" name="组合 5">
            <a:extLst>
              <a:ext uri="{FF2B5EF4-FFF2-40B4-BE49-F238E27FC236}">
                <a16:creationId xmlns:a16="http://schemas.microsoft.com/office/drawing/2014/main" id="{D0745FE3-1294-4B07-8988-66237F0D9369}"/>
              </a:ext>
            </a:extLst>
          </p:cNvPr>
          <p:cNvGrpSpPr/>
          <p:nvPr/>
        </p:nvGrpSpPr>
        <p:grpSpPr>
          <a:xfrm>
            <a:off x="539552" y="2523508"/>
            <a:ext cx="178862" cy="529065"/>
            <a:chOff x="4408188" y="2169881"/>
            <a:chExt cx="166255" cy="484253"/>
          </a:xfrm>
          <a:solidFill>
            <a:schemeClr val="bg1">
              <a:lumMod val="50000"/>
            </a:schemeClr>
          </a:solidFill>
        </p:grpSpPr>
        <p:sp>
          <p:nvSpPr>
            <p:cNvPr id="8" name="椭圆 42">
              <a:extLst>
                <a:ext uri="{FF2B5EF4-FFF2-40B4-BE49-F238E27FC236}">
                  <a16:creationId xmlns:a16="http://schemas.microsoft.com/office/drawing/2014/main" id="{B713B03E-4473-42A4-8D7E-FB048816A9E2}"/>
                </a:ext>
              </a:extLst>
            </p:cNvPr>
            <p:cNvSpPr/>
            <p:nvPr/>
          </p:nvSpPr>
          <p:spPr>
            <a:xfrm>
              <a:off x="4408188" y="2487879"/>
              <a:ext cx="166255" cy="166255"/>
            </a:xfrm>
            <a:prstGeom prst="ellipse">
              <a:avLst/>
            </a:prstGeom>
            <a:grpFill/>
            <a:ln w="12700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9" name="直线连接符 58">
              <a:extLst>
                <a:ext uri="{FF2B5EF4-FFF2-40B4-BE49-F238E27FC236}">
                  <a16:creationId xmlns:a16="http://schemas.microsoft.com/office/drawing/2014/main" id="{750D248D-E745-457E-8901-E70C8B325EFC}"/>
                </a:ext>
              </a:extLst>
            </p:cNvPr>
            <p:cNvCxnSpPr/>
            <p:nvPr/>
          </p:nvCxnSpPr>
          <p:spPr>
            <a:xfrm flipV="1">
              <a:off x="4491315" y="2169881"/>
              <a:ext cx="0" cy="317998"/>
            </a:xfrm>
            <a:prstGeom prst="line">
              <a:avLst/>
            </a:prstGeom>
            <a:grpFill/>
            <a:ln w="19050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tailEnd type="oval" w="lg" len="lg"/>
            </a:ln>
            <a:effectLst/>
          </p:spPr>
        </p:cxnSp>
      </p:grpSp>
      <p:grpSp>
        <p:nvGrpSpPr>
          <p:cNvPr id="10" name="组合 4">
            <a:extLst>
              <a:ext uri="{FF2B5EF4-FFF2-40B4-BE49-F238E27FC236}">
                <a16:creationId xmlns:a16="http://schemas.microsoft.com/office/drawing/2014/main" id="{3A4615A2-AF2B-4A13-BD26-88982D6F791E}"/>
              </a:ext>
            </a:extLst>
          </p:cNvPr>
          <p:cNvGrpSpPr/>
          <p:nvPr/>
        </p:nvGrpSpPr>
        <p:grpSpPr>
          <a:xfrm>
            <a:off x="2555776" y="2878143"/>
            <a:ext cx="178863" cy="494663"/>
            <a:chOff x="2525772" y="2487879"/>
            <a:chExt cx="166255" cy="492092"/>
          </a:xfrm>
          <a:solidFill>
            <a:schemeClr val="bg2"/>
          </a:solidFill>
        </p:grpSpPr>
        <p:sp>
          <p:nvSpPr>
            <p:cNvPr id="11" name="椭圆 41">
              <a:extLst>
                <a:ext uri="{FF2B5EF4-FFF2-40B4-BE49-F238E27FC236}">
                  <a16:creationId xmlns:a16="http://schemas.microsoft.com/office/drawing/2014/main" id="{33528268-49A6-4311-83CD-44505A75C512}"/>
                </a:ext>
              </a:extLst>
            </p:cNvPr>
            <p:cNvSpPr/>
            <p:nvPr/>
          </p:nvSpPr>
          <p:spPr>
            <a:xfrm>
              <a:off x="2525772" y="2487879"/>
              <a:ext cx="166255" cy="166255"/>
            </a:xfrm>
            <a:prstGeom prst="ellipse">
              <a:avLst/>
            </a:prstGeom>
            <a:grpFill/>
            <a:ln w="12700" cap="flat" cmpd="sng" algn="ctr">
              <a:solidFill>
                <a:schemeClr val="bg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2" name="直线连接符 54">
              <a:extLst>
                <a:ext uri="{FF2B5EF4-FFF2-40B4-BE49-F238E27FC236}">
                  <a16:creationId xmlns:a16="http://schemas.microsoft.com/office/drawing/2014/main" id="{1E39BF20-24F6-48C8-A7FC-CD440778146A}"/>
                </a:ext>
              </a:extLst>
            </p:cNvPr>
            <p:cNvCxnSpPr/>
            <p:nvPr/>
          </p:nvCxnSpPr>
          <p:spPr>
            <a:xfrm>
              <a:off x="2608900" y="2644980"/>
              <a:ext cx="0" cy="334991"/>
            </a:xfrm>
            <a:prstGeom prst="line">
              <a:avLst/>
            </a:prstGeom>
            <a:grpFill/>
            <a:ln w="19050" cap="flat" cmpd="sng" algn="ctr">
              <a:solidFill>
                <a:schemeClr val="bg2"/>
              </a:solidFill>
              <a:prstDash val="solid"/>
              <a:miter lim="800000"/>
              <a:tailEnd type="oval" w="lg" len="lg"/>
            </a:ln>
            <a:effectLst/>
          </p:spPr>
        </p:cxn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BC16690E-4A1F-4FC8-B973-9D1E90865375}"/>
              </a:ext>
            </a:extLst>
          </p:cNvPr>
          <p:cNvSpPr/>
          <p:nvPr/>
        </p:nvSpPr>
        <p:spPr>
          <a:xfrm>
            <a:off x="4558642" y="2391271"/>
            <a:ext cx="9156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202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92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5D7DB1C-2E40-478D-B624-CFEAE2657ADB}"/>
              </a:ext>
            </a:extLst>
          </p:cNvPr>
          <p:cNvSpPr/>
          <p:nvPr/>
        </p:nvSpPr>
        <p:spPr>
          <a:xfrm>
            <a:off x="4442244" y="4735650"/>
            <a:ext cx="33355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矽科宏晟</a:t>
            </a: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(6725)</a:t>
            </a:r>
            <a:r>
              <a:rPr lang="zh-TW" alt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</a:t>
            </a: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櫃</a:t>
            </a:r>
            <a:r>
              <a:rPr kumimoji="0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－半導體廠務整合工程</a:t>
            </a:r>
            <a:endParaRPr kumimoji="0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3D2E64E-111A-4A66-A642-50F00C01447D}"/>
              </a:ext>
            </a:extLst>
          </p:cNvPr>
          <p:cNvSpPr/>
          <p:nvPr/>
        </p:nvSpPr>
        <p:spPr>
          <a:xfrm>
            <a:off x="723553" y="1803040"/>
            <a:ext cx="208262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5725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迅得機械</a:t>
            </a: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(6438)</a:t>
            </a: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櫃轉市</a:t>
            </a:r>
            <a:endParaRPr kumimoji="0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srgbClr val="92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5725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0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－半導體自動化設備</a:t>
            </a:r>
            <a:endParaRPr kumimoji="0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6" name="组合 4">
            <a:extLst>
              <a:ext uri="{FF2B5EF4-FFF2-40B4-BE49-F238E27FC236}">
                <a16:creationId xmlns:a16="http://schemas.microsoft.com/office/drawing/2014/main" id="{9DB2897F-3731-4F8D-A7E0-91B437EB798B}"/>
              </a:ext>
            </a:extLst>
          </p:cNvPr>
          <p:cNvGrpSpPr/>
          <p:nvPr/>
        </p:nvGrpSpPr>
        <p:grpSpPr>
          <a:xfrm>
            <a:off x="4900283" y="2875369"/>
            <a:ext cx="198967" cy="532844"/>
            <a:chOff x="2525772" y="2487879"/>
            <a:chExt cx="166255" cy="492092"/>
          </a:xfrm>
          <a:solidFill>
            <a:srgbClr val="920000"/>
          </a:solidFill>
        </p:grpSpPr>
        <p:sp>
          <p:nvSpPr>
            <p:cNvPr id="17" name="椭圆 41">
              <a:extLst>
                <a:ext uri="{FF2B5EF4-FFF2-40B4-BE49-F238E27FC236}">
                  <a16:creationId xmlns:a16="http://schemas.microsoft.com/office/drawing/2014/main" id="{70FE7CC6-E9CE-4EDA-BB12-A6F7A8A1DB2C}"/>
                </a:ext>
              </a:extLst>
            </p:cNvPr>
            <p:cNvSpPr/>
            <p:nvPr/>
          </p:nvSpPr>
          <p:spPr>
            <a:xfrm>
              <a:off x="2525772" y="2487879"/>
              <a:ext cx="166255" cy="166255"/>
            </a:xfrm>
            <a:prstGeom prst="ellipse">
              <a:avLst/>
            </a:prstGeom>
            <a:grpFill/>
            <a:ln w="12700" cap="flat" cmpd="sng" algn="ctr">
              <a:solidFill>
                <a:srgbClr val="92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8" name="直线连接符 54">
              <a:extLst>
                <a:ext uri="{FF2B5EF4-FFF2-40B4-BE49-F238E27FC236}">
                  <a16:creationId xmlns:a16="http://schemas.microsoft.com/office/drawing/2014/main" id="{34A8E1EA-96C6-4C83-9606-09952D1F9D72}"/>
                </a:ext>
              </a:extLst>
            </p:cNvPr>
            <p:cNvCxnSpPr/>
            <p:nvPr/>
          </p:nvCxnSpPr>
          <p:spPr>
            <a:xfrm>
              <a:off x="2608900" y="2644980"/>
              <a:ext cx="0" cy="334991"/>
            </a:xfrm>
            <a:prstGeom prst="line">
              <a:avLst/>
            </a:prstGeom>
            <a:grpFill/>
            <a:ln w="19050" cap="flat" cmpd="sng" algn="ctr">
              <a:solidFill>
                <a:srgbClr val="920000"/>
              </a:solidFill>
              <a:prstDash val="solid"/>
              <a:miter lim="800000"/>
              <a:tailEnd type="oval" w="lg" len="lg"/>
            </a:ln>
            <a:effectLst/>
          </p:spPr>
        </p:cxnSp>
      </p:grpSp>
      <p:pic>
        <p:nvPicPr>
          <p:cNvPr id="19" name="Picture 7" descr="TEEIA 台灣電子設備協會">
            <a:extLst>
              <a:ext uri="{FF2B5EF4-FFF2-40B4-BE49-F238E27FC236}">
                <a16:creationId xmlns:a16="http://schemas.microsoft.com/office/drawing/2014/main" id="{CCDE05D7-5CD0-494D-8998-1CA5BBECB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00" y="1915989"/>
            <a:ext cx="605341" cy="303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9D8459ED-4DA6-4AF7-BD4F-E16ACF70FCE2}"/>
              </a:ext>
            </a:extLst>
          </p:cNvPr>
          <p:cNvSpPr/>
          <p:nvPr/>
        </p:nvSpPr>
        <p:spPr>
          <a:xfrm>
            <a:off x="727311" y="1302067"/>
            <a:ext cx="168187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5725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全訊</a:t>
            </a: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(5222)</a:t>
            </a: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上市</a:t>
            </a:r>
            <a:endParaRPr kumimoji="0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srgbClr val="92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5725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0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sym typeface="Arial Bold" panose="020B0704020202020204" pitchFamily="34" charset="0"/>
              </a:rPr>
              <a:t>－國防半導體元件品牌</a:t>
            </a: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C1C35899-4E07-4C98-8721-E103F127E4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30" y="1317835"/>
            <a:ext cx="570316" cy="46064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5D1B0BA9-0D48-4C40-92CD-5C0B6F86B40E}"/>
              </a:ext>
            </a:extLst>
          </p:cNvPr>
          <p:cNvSpPr/>
          <p:nvPr/>
        </p:nvSpPr>
        <p:spPr>
          <a:xfrm>
            <a:off x="1979712" y="3414570"/>
            <a:ext cx="22380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汎銓科技</a:t>
            </a: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(6830)</a:t>
            </a: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上市</a:t>
            </a:r>
            <a:endParaRPr kumimoji="0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srgbClr val="92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5725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0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－半導體技術分析明日之星</a:t>
            </a:r>
            <a:endParaRPr kumimoji="0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5725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endParaRPr kumimoji="0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3" name="Picture 5">
            <a:extLst>
              <a:ext uri="{FF2B5EF4-FFF2-40B4-BE49-F238E27FC236}">
                <a16:creationId xmlns:a16="http://schemas.microsoft.com/office/drawing/2014/main" id="{5A34235D-732B-4AFE-B9E9-3674501B50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6238" r="-101" b="32752"/>
          <a:stretch/>
        </p:blipFill>
        <p:spPr bwMode="auto">
          <a:xfrm>
            <a:off x="1259632" y="3431250"/>
            <a:ext cx="857894" cy="351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5" descr="內嵌影像">
            <a:extLst>
              <a:ext uri="{FF2B5EF4-FFF2-40B4-BE49-F238E27FC236}">
                <a16:creationId xmlns:a16="http://schemas.microsoft.com/office/drawing/2014/main" id="{4D8A12D8-3DC8-4155-A312-94FCB843B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022" y="4659122"/>
            <a:ext cx="421891" cy="421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群組 24">
            <a:extLst>
              <a:ext uri="{FF2B5EF4-FFF2-40B4-BE49-F238E27FC236}">
                <a16:creationId xmlns:a16="http://schemas.microsoft.com/office/drawing/2014/main" id="{B00C79C7-3479-47B8-A912-FF193776DB1B}"/>
              </a:ext>
            </a:extLst>
          </p:cNvPr>
          <p:cNvGrpSpPr/>
          <p:nvPr/>
        </p:nvGrpSpPr>
        <p:grpSpPr>
          <a:xfrm>
            <a:off x="3923928" y="3457721"/>
            <a:ext cx="3861532" cy="1392192"/>
            <a:chOff x="5209601" y="2921831"/>
            <a:chExt cx="3861532" cy="1392192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99C1DC66-B4DE-4CCE-A57B-4DD95A25AF29}"/>
                </a:ext>
              </a:extLst>
            </p:cNvPr>
            <p:cNvSpPr/>
            <p:nvPr/>
          </p:nvSpPr>
          <p:spPr>
            <a:xfrm>
              <a:off x="5733914" y="3289814"/>
              <a:ext cx="3337219" cy="3758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85725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70000"/>
                <a:buFontTx/>
                <a:buNone/>
                <a:tabLst>
                  <a:tab pos="85725" algn="l"/>
                </a:tabLst>
                <a:defRPr/>
              </a:pPr>
              <a:r>
                <a:rPr kumimoji="0" lang="zh-TW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92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光焱科技</a:t>
              </a:r>
              <a:r>
                <a:rPr kumimoji="0" lang="en-US" altLang="zh-TW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92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(7728)</a:t>
              </a:r>
              <a:r>
                <a:rPr lang="zh-TW" altLang="en-US" sz="14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上</a:t>
              </a:r>
              <a:r>
                <a:rPr kumimoji="0" lang="zh-TW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92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櫃</a:t>
              </a:r>
              <a:r>
                <a:rPr kumimoji="0" lang="zh-TW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－晶片測試解決方案</a:t>
              </a:r>
              <a:endParaRPr kumimoji="0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F91A0E68-0D8F-4286-BAF9-8EF9C6157607}"/>
                </a:ext>
              </a:extLst>
            </p:cNvPr>
            <p:cNvSpPr/>
            <p:nvPr/>
          </p:nvSpPr>
          <p:spPr>
            <a:xfrm>
              <a:off x="5733914" y="2921831"/>
              <a:ext cx="3337219" cy="3758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85725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70000"/>
                <a:buFontTx/>
                <a:buNone/>
                <a:tabLst>
                  <a:tab pos="85725" algn="l"/>
                </a:tabLst>
                <a:defRPr/>
              </a:pPr>
              <a:r>
                <a:rPr kumimoji="0" lang="zh-TW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92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印能科技</a:t>
              </a:r>
              <a:r>
                <a:rPr kumimoji="0" lang="en-US" altLang="zh-TW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92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(7734)</a:t>
              </a:r>
              <a:r>
                <a:rPr lang="zh-TW" altLang="en-US" sz="14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上</a:t>
              </a:r>
              <a:r>
                <a:rPr kumimoji="0" lang="zh-TW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92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櫃</a:t>
              </a:r>
              <a:r>
                <a:rPr kumimoji="0" lang="zh-TW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－製程解決方案提供者</a:t>
              </a:r>
              <a:endParaRPr kumimoji="0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28" name="Picture 2" descr="內嵌影像">
              <a:extLst>
                <a:ext uri="{FF2B5EF4-FFF2-40B4-BE49-F238E27FC236}">
                  <a16:creationId xmlns:a16="http://schemas.microsoft.com/office/drawing/2014/main" id="{D6B551D1-1796-4C82-905D-80411C7150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5543" y="3327224"/>
              <a:ext cx="514143" cy="514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" name="Picture 4" descr="內嵌影像">
              <a:extLst>
                <a:ext uri="{FF2B5EF4-FFF2-40B4-BE49-F238E27FC236}">
                  <a16:creationId xmlns:a16="http://schemas.microsoft.com/office/drawing/2014/main" id="{390E9FE6-DAC1-4EE0-8221-23FC2DFA59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6792" y="2957518"/>
              <a:ext cx="414733" cy="473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AAD68CA9-6CCF-4BAC-AD1A-EB3B19335473}"/>
                </a:ext>
              </a:extLst>
            </p:cNvPr>
            <p:cNvSpPr/>
            <p:nvPr/>
          </p:nvSpPr>
          <p:spPr>
            <a:xfrm>
              <a:off x="5733914" y="3705312"/>
              <a:ext cx="3337219" cy="3758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85725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70000"/>
                <a:buFontTx/>
                <a:buNone/>
                <a:tabLst>
                  <a:tab pos="85725" algn="l"/>
                </a:tabLst>
                <a:defRPr/>
              </a:pPr>
              <a:r>
                <a:rPr kumimoji="0" lang="zh-TW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92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竑騰科技</a:t>
              </a:r>
              <a:r>
                <a:rPr kumimoji="0" lang="en-US" altLang="zh-TW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92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(7751)</a:t>
              </a:r>
              <a:r>
                <a:rPr lang="zh-TW" altLang="en-US" sz="1400" b="1" dirty="0">
                  <a:solidFill>
                    <a:srgbClr val="92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上</a:t>
              </a:r>
              <a:r>
                <a:rPr kumimoji="0" lang="zh-TW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9200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櫃</a:t>
              </a:r>
              <a:r>
                <a:rPr kumimoji="0" lang="zh-TW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－半導體封測高階設備</a:t>
              </a:r>
              <a:endParaRPr kumimoji="0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31" name="Picture 3" descr="內嵌影像">
              <a:extLst>
                <a:ext uri="{FF2B5EF4-FFF2-40B4-BE49-F238E27FC236}">
                  <a16:creationId xmlns:a16="http://schemas.microsoft.com/office/drawing/2014/main" id="{923F5C92-847D-43DA-812B-F4A00C4787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9601" y="3548820"/>
              <a:ext cx="791672" cy="765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5" name="矩形 34">
            <a:extLst>
              <a:ext uri="{FF2B5EF4-FFF2-40B4-BE49-F238E27FC236}">
                <a16:creationId xmlns:a16="http://schemas.microsoft.com/office/drawing/2014/main" id="{D00C71AA-4A80-4C2F-8E72-1367A380A834}"/>
              </a:ext>
            </a:extLst>
          </p:cNvPr>
          <p:cNvSpPr/>
          <p:nvPr/>
        </p:nvSpPr>
        <p:spPr>
          <a:xfrm>
            <a:off x="6543788" y="3100765"/>
            <a:ext cx="25647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2026</a:t>
            </a: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To be continued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172DCE2-F9A9-4D57-98EC-1D39119C7E11}"/>
              </a:ext>
            </a:extLst>
          </p:cNvPr>
          <p:cNvSpPr/>
          <p:nvPr/>
        </p:nvSpPr>
        <p:spPr>
          <a:xfrm>
            <a:off x="4447063" y="1295856"/>
            <a:ext cx="1976595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旭誼工程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(7849)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興櫃</a:t>
            </a:r>
            <a:endParaRPr kumimoji="1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srgbClr val="92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5725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1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kumimoji="1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OT</a:t>
            </a:r>
            <a:r>
              <a:rPr kumimoji="1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無塵室、機電空調</a:t>
            </a:r>
            <a:endParaRPr kumimoji="1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9" name="圖片 38">
            <a:extLst>
              <a:ext uri="{FF2B5EF4-FFF2-40B4-BE49-F238E27FC236}">
                <a16:creationId xmlns:a16="http://schemas.microsoft.com/office/drawing/2014/main" id="{745BDD66-4D06-4F23-963B-03A7DB5686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5850" y="1344209"/>
            <a:ext cx="402197" cy="402197"/>
          </a:xfrm>
          <a:prstGeom prst="rect">
            <a:avLst/>
          </a:prstGeom>
        </p:spPr>
      </p:pic>
      <p:pic>
        <p:nvPicPr>
          <p:cNvPr id="40" name="图片 71" descr="图形用户界面&#10;&#10;AI 生成的内容可能不正确。">
            <a:extLst>
              <a:ext uri="{FF2B5EF4-FFF2-40B4-BE49-F238E27FC236}">
                <a16:creationId xmlns:a16="http://schemas.microsoft.com/office/drawing/2014/main" id="{8DDD71E7-4495-47F8-A511-64708866434F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53580" b="-18315"/>
          <a:stretch/>
        </p:blipFill>
        <p:spPr>
          <a:xfrm>
            <a:off x="6810283" y="1139012"/>
            <a:ext cx="492985" cy="501692"/>
          </a:xfrm>
          <a:prstGeom prst="rect">
            <a:avLst/>
          </a:prstGeom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8F136370-34FF-4718-B993-9F3C41F7D858}"/>
              </a:ext>
            </a:extLst>
          </p:cNvPr>
          <p:cNvSpPr/>
          <p:nvPr/>
        </p:nvSpPr>
        <p:spPr>
          <a:xfrm>
            <a:off x="7184537" y="1142095"/>
            <a:ext cx="2945905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耀穎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(7772)</a:t>
            </a:r>
            <a:r>
              <a:rPr kumimoji="1" lang="zh-TW" alt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櫃</a:t>
            </a:r>
            <a:endParaRPr kumimoji="1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srgbClr val="92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5725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1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kumimoji="1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 半導體光學鍍膜</a:t>
            </a:r>
            <a:endParaRPr kumimoji="1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CD32FD4-CD8D-49F3-BF6F-B5036A9F7FC9}"/>
              </a:ext>
            </a:extLst>
          </p:cNvPr>
          <p:cNvSpPr/>
          <p:nvPr/>
        </p:nvSpPr>
        <p:spPr>
          <a:xfrm>
            <a:off x="469270" y="4161541"/>
            <a:ext cx="3088641" cy="307777"/>
          </a:xfrm>
          <a:prstGeom prst="rect">
            <a:avLst/>
          </a:prstGeom>
          <a:solidFill>
            <a:srgbClr val="920000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Tx/>
              <a:buNone/>
              <a:tabLst/>
              <a:defRPr/>
            </a:pP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台新輔導中之半導體案件</a:t>
            </a:r>
          </a:p>
        </p:txBody>
      </p:sp>
      <p:pic>
        <p:nvPicPr>
          <p:cNvPr id="46" name="Picture 2" descr="佳宸科技-半導體製程設備設計及製造">
            <a:extLst>
              <a:ext uri="{FF2B5EF4-FFF2-40B4-BE49-F238E27FC236}">
                <a16:creationId xmlns:a16="http://schemas.microsoft.com/office/drawing/2014/main" id="{050976AF-AB57-4D98-84F5-589F6A4E2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428" y="4557800"/>
            <a:ext cx="1020543" cy="431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ïşḻïďê-文本框 64">
            <a:extLst>
              <a:ext uri="{FF2B5EF4-FFF2-40B4-BE49-F238E27FC236}">
                <a16:creationId xmlns:a16="http://schemas.microsoft.com/office/drawing/2014/main" id="{A15435E1-B4F4-4A59-8DF1-D29E52600438}"/>
              </a:ext>
            </a:extLst>
          </p:cNvPr>
          <p:cNvSpPr txBox="1"/>
          <p:nvPr/>
        </p:nvSpPr>
        <p:spPr>
          <a:xfrm>
            <a:off x="602700" y="5026542"/>
            <a:ext cx="1188000" cy="2880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txBody>
          <a:bodyPr wrap="non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佳宸科技</a:t>
            </a:r>
            <a:endParaRPr kumimoji="0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矩形 1">
            <a:extLst>
              <a:ext uri="{FF2B5EF4-FFF2-40B4-BE49-F238E27FC236}">
                <a16:creationId xmlns:a16="http://schemas.microsoft.com/office/drawing/2014/main" id="{12166830-61F3-4C61-95FA-6754BD4B6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6596" y="4649868"/>
            <a:ext cx="1260772" cy="531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lvl="0" algn="just">
              <a:lnSpc>
                <a:spcPts val="1800"/>
              </a:lnSpc>
              <a:spcBef>
                <a:spcPts val="600"/>
              </a:spcBef>
              <a:buNone/>
              <a:defRPr/>
            </a:pPr>
            <a:r>
              <a: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半導體自動化設備設計及製造</a:t>
            </a:r>
            <a:endParaRPr lang="en-US" altLang="zh-TW" sz="11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1" name="Picture 4" descr="中華立鼎光電股份有限公司">
            <a:extLst>
              <a:ext uri="{FF2B5EF4-FFF2-40B4-BE49-F238E27FC236}">
                <a16:creationId xmlns:a16="http://schemas.microsoft.com/office/drawing/2014/main" id="{609D5E98-744B-4A23-AB90-5203838A2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2951" y="1622232"/>
            <a:ext cx="478290" cy="45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ïşḻïďê-文本框 64">
            <a:extLst>
              <a:ext uri="{FF2B5EF4-FFF2-40B4-BE49-F238E27FC236}">
                <a16:creationId xmlns:a16="http://schemas.microsoft.com/office/drawing/2014/main" id="{262F3975-9D85-424C-AF87-CF80E54FDC9C}"/>
              </a:ext>
            </a:extLst>
          </p:cNvPr>
          <p:cNvSpPr txBox="1"/>
          <p:nvPr/>
        </p:nvSpPr>
        <p:spPr>
          <a:xfrm>
            <a:off x="602699" y="5868466"/>
            <a:ext cx="1188000" cy="2880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txBody>
          <a:bodyPr wrap="non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大易橙</a:t>
            </a:r>
            <a:endParaRPr kumimoji="0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矩形 1">
            <a:extLst>
              <a:ext uri="{FF2B5EF4-FFF2-40B4-BE49-F238E27FC236}">
                <a16:creationId xmlns:a16="http://schemas.microsoft.com/office/drawing/2014/main" id="{BEC2E4DD-0C9E-4370-BB35-85B8C7794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7706" y="5455465"/>
            <a:ext cx="1720206" cy="762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lvl="0" algn="just">
              <a:lnSpc>
                <a:spcPts val="1800"/>
              </a:lnSpc>
              <a:spcBef>
                <a:spcPts val="600"/>
              </a:spcBef>
              <a:buNone/>
              <a:defRPr/>
            </a:pPr>
            <a:r>
              <a:rPr lang="zh-TW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半導體廠電力工程承攬商，主營二次配電、內連線工程及高壓設備</a:t>
            </a:r>
            <a:endParaRPr lang="en-US" altLang="zh-TW" sz="11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8" name="圖片 57">
            <a:extLst>
              <a:ext uri="{FF2B5EF4-FFF2-40B4-BE49-F238E27FC236}">
                <a16:creationId xmlns:a16="http://schemas.microsoft.com/office/drawing/2014/main" id="{6E5436AA-7D94-45F8-951E-F61A42C134F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898" y="5406311"/>
            <a:ext cx="811602" cy="385931"/>
          </a:xfrm>
          <a:prstGeom prst="rect">
            <a:avLst/>
          </a:prstGeom>
        </p:spPr>
      </p:pic>
      <p:pic>
        <p:nvPicPr>
          <p:cNvPr id="59" name="圖片 58">
            <a:extLst>
              <a:ext uri="{FF2B5EF4-FFF2-40B4-BE49-F238E27FC236}">
                <a16:creationId xmlns:a16="http://schemas.microsoft.com/office/drawing/2014/main" id="{26B5E72A-B655-4FFF-80A9-16FD0C178001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23" t="35005" r="62707" b="34982"/>
          <a:stretch/>
        </p:blipFill>
        <p:spPr>
          <a:xfrm>
            <a:off x="4204783" y="1908817"/>
            <a:ext cx="334570" cy="349790"/>
          </a:xfrm>
          <a:prstGeom prst="rect">
            <a:avLst/>
          </a:prstGeom>
        </p:spPr>
      </p:pic>
      <p:sp>
        <p:nvSpPr>
          <p:cNvPr id="52" name="矩形 51">
            <a:extLst>
              <a:ext uri="{FF2B5EF4-FFF2-40B4-BE49-F238E27FC236}">
                <a16:creationId xmlns:a16="http://schemas.microsoft.com/office/drawing/2014/main" id="{043241FA-85EE-4890-81DA-E290790B4FB6}"/>
              </a:ext>
            </a:extLst>
          </p:cNvPr>
          <p:cNvSpPr/>
          <p:nvPr/>
        </p:nvSpPr>
        <p:spPr>
          <a:xfrm>
            <a:off x="4442244" y="1803040"/>
            <a:ext cx="2080007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錸恩帕斯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(7907)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興櫃</a:t>
            </a:r>
            <a:endParaRPr kumimoji="1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srgbClr val="92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5725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1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kumimoji="1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半導體高科技管線工程整合</a:t>
            </a:r>
            <a:endParaRPr kumimoji="1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55" name="组合 5">
            <a:extLst>
              <a:ext uri="{FF2B5EF4-FFF2-40B4-BE49-F238E27FC236}">
                <a16:creationId xmlns:a16="http://schemas.microsoft.com/office/drawing/2014/main" id="{A1E7A1A3-C9CE-4944-91FD-6FB1F88BD99F}"/>
              </a:ext>
            </a:extLst>
          </p:cNvPr>
          <p:cNvGrpSpPr/>
          <p:nvPr/>
        </p:nvGrpSpPr>
        <p:grpSpPr>
          <a:xfrm>
            <a:off x="6985426" y="2540209"/>
            <a:ext cx="178862" cy="529065"/>
            <a:chOff x="4408188" y="2169881"/>
            <a:chExt cx="166255" cy="484253"/>
          </a:xfrm>
          <a:solidFill>
            <a:schemeClr val="bg1">
              <a:lumMod val="50000"/>
            </a:schemeClr>
          </a:solidFill>
        </p:grpSpPr>
        <p:sp>
          <p:nvSpPr>
            <p:cNvPr id="60" name="椭圆 42">
              <a:extLst>
                <a:ext uri="{FF2B5EF4-FFF2-40B4-BE49-F238E27FC236}">
                  <a16:creationId xmlns:a16="http://schemas.microsoft.com/office/drawing/2014/main" id="{E646D65F-ABC7-4B7B-A8AC-E01CE4A7E11B}"/>
                </a:ext>
              </a:extLst>
            </p:cNvPr>
            <p:cNvSpPr/>
            <p:nvPr/>
          </p:nvSpPr>
          <p:spPr>
            <a:xfrm>
              <a:off x="4408188" y="2487879"/>
              <a:ext cx="166255" cy="166255"/>
            </a:xfrm>
            <a:prstGeom prst="ellipse">
              <a:avLst/>
            </a:prstGeom>
            <a:grpFill/>
            <a:ln w="12700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61" name="直线连接符 58">
              <a:extLst>
                <a:ext uri="{FF2B5EF4-FFF2-40B4-BE49-F238E27FC236}">
                  <a16:creationId xmlns:a16="http://schemas.microsoft.com/office/drawing/2014/main" id="{88257B1A-F255-4C9D-B0AE-96AE4D2AF358}"/>
                </a:ext>
              </a:extLst>
            </p:cNvPr>
            <p:cNvCxnSpPr/>
            <p:nvPr/>
          </p:nvCxnSpPr>
          <p:spPr>
            <a:xfrm flipV="1">
              <a:off x="4491315" y="2169881"/>
              <a:ext cx="0" cy="317998"/>
            </a:xfrm>
            <a:prstGeom prst="line">
              <a:avLst/>
            </a:prstGeom>
            <a:grpFill/>
            <a:ln w="19050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tailEnd type="oval" w="lg" len="lg"/>
            </a:ln>
            <a:effectLst/>
          </p:spPr>
        </p:cxnSp>
      </p:grpSp>
      <p:sp>
        <p:nvSpPr>
          <p:cNvPr id="62" name="矩形 61">
            <a:extLst>
              <a:ext uri="{FF2B5EF4-FFF2-40B4-BE49-F238E27FC236}">
                <a16:creationId xmlns:a16="http://schemas.microsoft.com/office/drawing/2014/main" id="{2300FED6-43A9-47DC-8DE5-EB8977BC8E61}"/>
              </a:ext>
            </a:extLst>
          </p:cNvPr>
          <p:cNvSpPr/>
          <p:nvPr/>
        </p:nvSpPr>
        <p:spPr>
          <a:xfrm>
            <a:off x="7184537" y="1589405"/>
            <a:ext cx="1910969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中華立鼎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(7926)</a:t>
            </a:r>
            <a:r>
              <a:rPr kumimoji="1" lang="zh-TW" alt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興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櫃</a:t>
            </a:r>
            <a:endParaRPr kumimoji="1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srgbClr val="92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5725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1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kumimoji="1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 砷化銦鎵感測器</a:t>
            </a:r>
            <a:endParaRPr kumimoji="1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3" name="圖片 52">
            <a:extLst>
              <a:ext uri="{FF2B5EF4-FFF2-40B4-BE49-F238E27FC236}">
                <a16:creationId xmlns:a16="http://schemas.microsoft.com/office/drawing/2014/main" id="{A8EDFBDD-AB2C-44D4-B7E4-2ECE8CF398A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18957" y="2164576"/>
            <a:ext cx="512622" cy="256311"/>
          </a:xfrm>
          <a:prstGeom prst="rect">
            <a:avLst/>
          </a:prstGeom>
        </p:spPr>
      </p:pic>
      <p:sp>
        <p:nvSpPr>
          <p:cNvPr id="54" name="矩形 53">
            <a:extLst>
              <a:ext uri="{FF2B5EF4-FFF2-40B4-BE49-F238E27FC236}">
                <a16:creationId xmlns:a16="http://schemas.microsoft.com/office/drawing/2014/main" id="{611AE9D5-ED35-41AA-A029-F8500DEB47D8}"/>
              </a:ext>
            </a:extLst>
          </p:cNvPr>
          <p:cNvSpPr/>
          <p:nvPr/>
        </p:nvSpPr>
        <p:spPr>
          <a:xfrm>
            <a:off x="7189987" y="2055879"/>
            <a:ext cx="206659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合聖科技*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(7928)</a:t>
            </a:r>
            <a:r>
              <a:rPr kumimoji="1" lang="zh-TW" altLang="en-US" sz="1400" b="1" dirty="0">
                <a:solidFill>
                  <a:srgbClr val="92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興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2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櫃</a:t>
            </a:r>
            <a:endParaRPr kumimoji="1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srgbClr val="92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5725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0000"/>
              <a:buFontTx/>
              <a:buNone/>
              <a:tabLst>
                <a:tab pos="85725" algn="l"/>
              </a:tabLst>
              <a:defRPr/>
            </a:pPr>
            <a:r>
              <a:rPr kumimoji="1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kumimoji="1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100" dirty="0">
                <a:solidFill>
                  <a:srgbClr val="33333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矽光子</a:t>
            </a:r>
            <a:r>
              <a:rPr kumimoji="1" lang="zh-TW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等關鍵零組件</a:t>
            </a:r>
            <a:endParaRPr kumimoji="1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49671829"/>
      </p:ext>
    </p:extLst>
  </p:cSld>
  <p:clrMapOvr>
    <a:masterClrMapping/>
  </p:clrMapOvr>
  <p:transition>
    <p:spli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">
            <a:extLst>
              <a:ext uri="{FF2B5EF4-FFF2-40B4-BE49-F238E27FC236}">
                <a16:creationId xmlns:a16="http://schemas.microsoft.com/office/drawing/2014/main" id="{94D7F702-0B38-4E8D-8CC7-324CE99F6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376" y="332656"/>
            <a:ext cx="8221080" cy="6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IPO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rPr>
              <a:t>案例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j-cs"/>
              </a:rPr>
              <a:t>：亞洲投資銀行</a:t>
            </a: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j-cs"/>
              </a:rPr>
              <a:t>-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軟正黑體" panose="020B0604030504040204" pitchFamily="34" charset="-120"/>
                <a:cs typeface="+mj-cs"/>
              </a:rPr>
              <a:t>台灣年度最佳案件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C6F8582-147D-4F2D-A347-F430329C454C}"/>
              </a:ext>
            </a:extLst>
          </p:cNvPr>
          <p:cNvSpPr txBox="1"/>
          <p:nvPr/>
        </p:nvSpPr>
        <p:spPr>
          <a:xfrm>
            <a:off x="988184" y="2334140"/>
            <a:ext cx="797630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9063" marR="0" lvl="0" indent="-1190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00664D"/>
              </a:buClr>
              <a:buSzPts val="1400"/>
              <a:buFontTx/>
              <a:buNone/>
              <a:tabLst/>
              <a:defRPr/>
            </a:pPr>
            <a:r>
              <a:rPr kumimoji="1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思維 </a:t>
            </a:r>
            <a:r>
              <a:rPr kumimoji="1" lang="en-US" altLang="zh-TW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:</a:t>
            </a:r>
            <a:r>
              <a:rPr kumimoji="1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 </a:t>
            </a:r>
            <a:r>
              <a:rPr kumimoji="1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獲利表現</a:t>
            </a:r>
            <a:r>
              <a:rPr kumimoji="1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與</a:t>
            </a:r>
            <a:r>
              <a:rPr kumimoji="1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本益比</a:t>
            </a:r>
            <a:r>
              <a:rPr kumimoji="1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將影響公司價值</a:t>
            </a:r>
            <a:endParaRPr kumimoji="1" lang="en-US" altLang="zh-TW" sz="13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軟正黑體" pitchFamily="34" charset="-120"/>
              <a:ea typeface="微軟正黑體"/>
              <a:cs typeface="+mn-cs"/>
            </a:endParaRP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DFE45DE2-2FC0-4338-9A6F-1111FC38B41C}"/>
              </a:ext>
            </a:extLst>
          </p:cNvPr>
          <p:cNvCxnSpPr>
            <a:cxnSpLocks/>
          </p:cNvCxnSpPr>
          <p:nvPr/>
        </p:nvCxnSpPr>
        <p:spPr bwMode="auto">
          <a:xfrm>
            <a:off x="3101559" y="4716285"/>
            <a:ext cx="64807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3" name="群組 14">
            <a:extLst>
              <a:ext uri="{FF2B5EF4-FFF2-40B4-BE49-F238E27FC236}">
                <a16:creationId xmlns:a16="http://schemas.microsoft.com/office/drawing/2014/main" id="{0990C287-87DB-460F-8343-9EF20C21E141}"/>
              </a:ext>
            </a:extLst>
          </p:cNvPr>
          <p:cNvGrpSpPr>
            <a:grpSpLocks/>
          </p:cNvGrpSpPr>
          <p:nvPr/>
        </p:nvGrpSpPr>
        <p:grpSpPr bwMode="auto">
          <a:xfrm>
            <a:off x="606213" y="1136306"/>
            <a:ext cx="1950714" cy="348477"/>
            <a:chOff x="2123728" y="1293717"/>
            <a:chExt cx="3026327" cy="368739"/>
          </a:xfrm>
        </p:grpSpPr>
        <p:sp>
          <p:nvSpPr>
            <p:cNvPr id="14" name="平行四邊形 13">
              <a:extLst>
                <a:ext uri="{FF2B5EF4-FFF2-40B4-BE49-F238E27FC236}">
                  <a16:creationId xmlns:a16="http://schemas.microsoft.com/office/drawing/2014/main" id="{BF6919B4-E63B-4047-A567-845B67CD106B}"/>
                </a:ext>
              </a:extLst>
            </p:cNvPr>
            <p:cNvSpPr/>
            <p:nvPr/>
          </p:nvSpPr>
          <p:spPr bwMode="auto">
            <a:xfrm rot="10800000" flipV="1">
              <a:off x="2123728" y="1293717"/>
              <a:ext cx="2890497" cy="312922"/>
            </a:xfrm>
            <a:prstGeom prst="parallelogram">
              <a:avLst>
                <a:gd name="adj" fmla="val 23810"/>
              </a:avLst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endParaRPr>
            </a:p>
          </p:txBody>
        </p:sp>
        <p:sp>
          <p:nvSpPr>
            <p:cNvPr id="15" name="平行四邊形 14">
              <a:extLst>
                <a:ext uri="{FF2B5EF4-FFF2-40B4-BE49-F238E27FC236}">
                  <a16:creationId xmlns:a16="http://schemas.microsoft.com/office/drawing/2014/main" id="{928D9856-339B-4C91-BB47-BDC98475A491}"/>
                </a:ext>
              </a:extLst>
            </p:cNvPr>
            <p:cNvSpPr/>
            <p:nvPr/>
          </p:nvSpPr>
          <p:spPr bwMode="auto">
            <a:xfrm rot="10800000" flipV="1">
              <a:off x="2259560" y="1349534"/>
              <a:ext cx="2890495" cy="312922"/>
            </a:xfrm>
            <a:prstGeom prst="parallelogram">
              <a:avLst>
                <a:gd name="adj" fmla="val 23810"/>
              </a:avLst>
            </a:prstGeom>
            <a:solidFill>
              <a:srgbClr val="A4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20000"/>
                    <a:lumOff val="80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/>
                <a:cs typeface="+mn-cs"/>
              </a:endParaRPr>
            </a:p>
          </p:txBody>
        </p: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5343E4DC-9D21-4D87-AD7F-8A324E82E333}"/>
              </a:ext>
            </a:extLst>
          </p:cNvPr>
          <p:cNvSpPr/>
          <p:nvPr/>
        </p:nvSpPr>
        <p:spPr>
          <a:xfrm>
            <a:off x="741182" y="1198950"/>
            <a:ext cx="1815745" cy="285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r>
              <a:rPr kumimoji="1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文鼎新細黑"/>
              </a:rPr>
              <a:t>台新本次造勢策略</a:t>
            </a:r>
          </a:p>
        </p:txBody>
      </p:sp>
      <p:sp>
        <p:nvSpPr>
          <p:cNvPr id="17" name="Freeform 108">
            <a:extLst>
              <a:ext uri="{FF2B5EF4-FFF2-40B4-BE49-F238E27FC236}">
                <a16:creationId xmlns:a16="http://schemas.microsoft.com/office/drawing/2014/main" id="{E9EE4D28-A247-4306-AE54-E5D1B934627C}"/>
              </a:ext>
            </a:extLst>
          </p:cNvPr>
          <p:cNvSpPr/>
          <p:nvPr/>
        </p:nvSpPr>
        <p:spPr>
          <a:xfrm>
            <a:off x="643125" y="2204864"/>
            <a:ext cx="341005" cy="376812"/>
          </a:xfrm>
          <a:custGeom>
            <a:avLst/>
            <a:gdLst/>
            <a:ahLst/>
            <a:cxnLst/>
            <a:rect l="l" t="t" r="r" b="b"/>
            <a:pathLst>
              <a:path w="341005" h="376812">
                <a:moveTo>
                  <a:pt x="179590" y="105941"/>
                </a:moveTo>
                <a:cubicBezTo>
                  <a:pt x="189466" y="103284"/>
                  <a:pt x="200229" y="106383"/>
                  <a:pt x="207502" y="113978"/>
                </a:cubicBezTo>
                <a:lnTo>
                  <a:pt x="205155" y="116193"/>
                </a:lnTo>
                <a:cubicBezTo>
                  <a:pt x="198727" y="109493"/>
                  <a:pt x="189244" y="106732"/>
                  <a:pt x="180543" y="109027"/>
                </a:cubicBezTo>
                <a:cubicBezTo>
                  <a:pt x="171284" y="111470"/>
                  <a:pt x="164597" y="119184"/>
                  <a:pt x="163491" y="128699"/>
                </a:cubicBezTo>
                <a:lnTo>
                  <a:pt x="160301" y="128192"/>
                </a:lnTo>
                <a:cubicBezTo>
                  <a:pt x="160626" y="125509"/>
                  <a:pt x="161343" y="122953"/>
                  <a:pt x="162397" y="120583"/>
                </a:cubicBezTo>
                <a:cubicBezTo>
                  <a:pt x="163188" y="118806"/>
                  <a:pt x="164168" y="117134"/>
                  <a:pt x="165317" y="115593"/>
                </a:cubicBezTo>
                <a:close/>
                <a:moveTo>
                  <a:pt x="184774" y="76800"/>
                </a:moveTo>
                <a:cubicBezTo>
                  <a:pt x="189722" y="75892"/>
                  <a:pt x="194950" y="76276"/>
                  <a:pt x="199898" y="78055"/>
                </a:cubicBezTo>
                <a:lnTo>
                  <a:pt x="198784" y="81085"/>
                </a:lnTo>
                <a:cubicBezTo>
                  <a:pt x="190044" y="77951"/>
                  <a:pt x="180324" y="79705"/>
                  <a:pt x="173557" y="85636"/>
                </a:cubicBezTo>
                <a:cubicBezTo>
                  <a:pt x="166357" y="91948"/>
                  <a:pt x="163808" y="101834"/>
                  <a:pt x="167057" y="110845"/>
                </a:cubicBezTo>
                <a:lnTo>
                  <a:pt x="163976" y="111813"/>
                </a:lnTo>
                <a:cubicBezTo>
                  <a:pt x="161264" y="104174"/>
                  <a:pt x="162206" y="95982"/>
                  <a:pt x="166259" y="89343"/>
                </a:cubicBezTo>
                <a:lnTo>
                  <a:pt x="171329" y="83298"/>
                </a:lnTo>
                <a:cubicBezTo>
                  <a:pt x="175158" y="79908"/>
                  <a:pt x="179826" y="77708"/>
                  <a:pt x="184774" y="76800"/>
                </a:cubicBezTo>
                <a:close/>
                <a:moveTo>
                  <a:pt x="179076" y="24908"/>
                </a:moveTo>
                <a:cubicBezTo>
                  <a:pt x="173882" y="25821"/>
                  <a:pt x="169065" y="28595"/>
                  <a:pt x="165693" y="33023"/>
                </a:cubicBezTo>
                <a:lnTo>
                  <a:pt x="165081" y="32645"/>
                </a:lnTo>
                <a:lnTo>
                  <a:pt x="164343" y="33841"/>
                </a:lnTo>
                <a:lnTo>
                  <a:pt x="159156" y="28989"/>
                </a:lnTo>
                <a:cubicBezTo>
                  <a:pt x="147650" y="21890"/>
                  <a:pt x="132568" y="25462"/>
                  <a:pt x="125468" y="36968"/>
                </a:cubicBezTo>
                <a:cubicBezTo>
                  <a:pt x="125028" y="37682"/>
                  <a:pt x="124628" y="38410"/>
                  <a:pt x="124607" y="39302"/>
                </a:cubicBezTo>
                <a:cubicBezTo>
                  <a:pt x="121192" y="53871"/>
                  <a:pt x="126621" y="67918"/>
                  <a:pt x="137512" y="72288"/>
                </a:cubicBezTo>
                <a:lnTo>
                  <a:pt x="136408" y="75373"/>
                </a:lnTo>
                <a:cubicBezTo>
                  <a:pt x="125065" y="70889"/>
                  <a:pt x="118824" y="57470"/>
                  <a:pt x="120792" y="42874"/>
                </a:cubicBezTo>
                <a:cubicBezTo>
                  <a:pt x="110219" y="38045"/>
                  <a:pt x="97555" y="41998"/>
                  <a:pt x="91229" y="52250"/>
                </a:cubicBezTo>
                <a:cubicBezTo>
                  <a:pt x="86215" y="60377"/>
                  <a:pt x="87164" y="68019"/>
                  <a:pt x="90995" y="75559"/>
                </a:cubicBezTo>
                <a:cubicBezTo>
                  <a:pt x="88405" y="77546"/>
                  <a:pt x="86197" y="80074"/>
                  <a:pt x="84391" y="83001"/>
                </a:cubicBezTo>
                <a:cubicBezTo>
                  <a:pt x="75261" y="97799"/>
                  <a:pt x="79855" y="117197"/>
                  <a:pt x="94653" y="126328"/>
                </a:cubicBezTo>
                <a:cubicBezTo>
                  <a:pt x="99603" y="129383"/>
                  <a:pt x="105068" y="130901"/>
                  <a:pt x="110449" y="130283"/>
                </a:cubicBezTo>
                <a:cubicBezTo>
                  <a:pt x="111461" y="121556"/>
                  <a:pt x="114239" y="112980"/>
                  <a:pt x="118788" y="105103"/>
                </a:cubicBezTo>
                <a:lnTo>
                  <a:pt x="122060" y="106993"/>
                </a:lnTo>
                <a:cubicBezTo>
                  <a:pt x="117549" y="114804"/>
                  <a:pt x="114885" y="123345"/>
                  <a:pt x="114602" y="132066"/>
                </a:cubicBezTo>
                <a:cubicBezTo>
                  <a:pt x="118189" y="142541"/>
                  <a:pt x="127538" y="149533"/>
                  <a:pt x="138054" y="150704"/>
                </a:cubicBezTo>
                <a:lnTo>
                  <a:pt x="138622" y="157584"/>
                </a:lnTo>
                <a:cubicBezTo>
                  <a:pt x="141809" y="168599"/>
                  <a:pt x="152592" y="175355"/>
                  <a:pt x="163536" y="173320"/>
                </a:cubicBezTo>
                <a:lnTo>
                  <a:pt x="163736" y="174011"/>
                </a:lnTo>
                <a:lnTo>
                  <a:pt x="165086" y="173621"/>
                </a:lnTo>
                <a:lnTo>
                  <a:pt x="165671" y="180699"/>
                </a:lnTo>
                <a:cubicBezTo>
                  <a:pt x="169429" y="193686"/>
                  <a:pt x="183003" y="201168"/>
                  <a:pt x="195990" y="197411"/>
                </a:cubicBezTo>
                <a:cubicBezTo>
                  <a:pt x="196796" y="197178"/>
                  <a:pt x="197581" y="196907"/>
                  <a:pt x="198196" y="196260"/>
                </a:cubicBezTo>
                <a:cubicBezTo>
                  <a:pt x="209934" y="188156"/>
                  <a:pt x="215400" y="175007"/>
                  <a:pt x="211155" y="164763"/>
                </a:cubicBezTo>
                <a:cubicBezTo>
                  <a:pt x="205121" y="170199"/>
                  <a:pt x="196738" y="172687"/>
                  <a:pt x="188343" y="171472"/>
                </a:cubicBezTo>
                <a:lnTo>
                  <a:pt x="188829" y="168281"/>
                </a:lnTo>
                <a:cubicBezTo>
                  <a:pt x="198020" y="169602"/>
                  <a:pt x="207192" y="165939"/>
                  <a:pt x="212635" y="158774"/>
                </a:cubicBezTo>
                <a:cubicBezTo>
                  <a:pt x="218427" y="151149"/>
                  <a:pt x="218946" y="140953"/>
                  <a:pt x="213960" y="132774"/>
                </a:cubicBezTo>
                <a:lnTo>
                  <a:pt x="216785" y="131210"/>
                </a:lnTo>
                <a:cubicBezTo>
                  <a:pt x="222366" y="140465"/>
                  <a:pt x="221779" y="151983"/>
                  <a:pt x="215286" y="160619"/>
                </a:cubicBezTo>
                <a:lnTo>
                  <a:pt x="213805" y="162105"/>
                </a:lnTo>
                <a:cubicBezTo>
                  <a:pt x="218946" y="172938"/>
                  <a:pt x="214526" y="186813"/>
                  <a:pt x="203421" y="196175"/>
                </a:cubicBezTo>
                <a:cubicBezTo>
                  <a:pt x="208012" y="206854"/>
                  <a:pt x="220050" y="212429"/>
                  <a:pt x="231622" y="209082"/>
                </a:cubicBezTo>
                <a:cubicBezTo>
                  <a:pt x="239377" y="206838"/>
                  <a:pt x="243741" y="201989"/>
                  <a:pt x="246092" y="195539"/>
                </a:cubicBezTo>
                <a:cubicBezTo>
                  <a:pt x="255042" y="199507"/>
                  <a:pt x="265290" y="198199"/>
                  <a:pt x="272958" y="192601"/>
                </a:cubicBezTo>
                <a:lnTo>
                  <a:pt x="276795" y="193971"/>
                </a:lnTo>
                <a:cubicBezTo>
                  <a:pt x="289009" y="194016"/>
                  <a:pt x="298363" y="193248"/>
                  <a:pt x="304258" y="183694"/>
                </a:cubicBezTo>
                <a:cubicBezTo>
                  <a:pt x="309343" y="175453"/>
                  <a:pt x="308953" y="165378"/>
                  <a:pt x="303795" y="157923"/>
                </a:cubicBezTo>
                <a:cubicBezTo>
                  <a:pt x="298315" y="164420"/>
                  <a:pt x="291041" y="168177"/>
                  <a:pt x="283702" y="168174"/>
                </a:cubicBezTo>
                <a:lnTo>
                  <a:pt x="283555" y="164527"/>
                </a:lnTo>
                <a:cubicBezTo>
                  <a:pt x="293404" y="164978"/>
                  <a:pt x="303289" y="157339"/>
                  <a:pt x="308110" y="145450"/>
                </a:cubicBezTo>
                <a:cubicBezTo>
                  <a:pt x="311022" y="136198"/>
                  <a:pt x="308752" y="126109"/>
                  <a:pt x="302169" y="119023"/>
                </a:cubicBezTo>
                <a:cubicBezTo>
                  <a:pt x="296249" y="127191"/>
                  <a:pt x="286098" y="131525"/>
                  <a:pt x="275782" y="130309"/>
                </a:cubicBezTo>
                <a:lnTo>
                  <a:pt x="276183" y="127106"/>
                </a:lnTo>
                <a:cubicBezTo>
                  <a:pt x="285405" y="128184"/>
                  <a:pt x="294478" y="124281"/>
                  <a:pt x="299730" y="116974"/>
                </a:cubicBezTo>
                <a:lnTo>
                  <a:pt x="300207" y="116045"/>
                </a:lnTo>
                <a:cubicBezTo>
                  <a:pt x="300079" y="107222"/>
                  <a:pt x="295342" y="98867"/>
                  <a:pt x="287259" y="93880"/>
                </a:cubicBezTo>
                <a:cubicBezTo>
                  <a:pt x="284295" y="92051"/>
                  <a:pt x="281129" y="90828"/>
                  <a:pt x="277855" y="90561"/>
                </a:cubicBezTo>
                <a:cubicBezTo>
                  <a:pt x="271916" y="104194"/>
                  <a:pt x="259881" y="112708"/>
                  <a:pt x="248172" y="111695"/>
                </a:cubicBezTo>
                <a:cubicBezTo>
                  <a:pt x="248002" y="114741"/>
                  <a:pt x="246936" y="117719"/>
                  <a:pt x="245089" y="120348"/>
                </a:cubicBezTo>
                <a:cubicBezTo>
                  <a:pt x="241307" y="125729"/>
                  <a:pt x="234825" y="128827"/>
                  <a:pt x="228007" y="128511"/>
                </a:cubicBezTo>
                <a:lnTo>
                  <a:pt x="228158" y="125380"/>
                </a:lnTo>
                <a:cubicBezTo>
                  <a:pt x="233848" y="125642"/>
                  <a:pt x="239262" y="123097"/>
                  <a:pt x="242439" y="118667"/>
                </a:cubicBezTo>
                <a:cubicBezTo>
                  <a:pt x="244071" y="116391"/>
                  <a:pt x="244987" y="113796"/>
                  <a:pt x="245116" y="111152"/>
                </a:cubicBezTo>
                <a:lnTo>
                  <a:pt x="243716" y="110904"/>
                </a:lnTo>
                <a:lnTo>
                  <a:pt x="244539" y="108155"/>
                </a:lnTo>
                <a:cubicBezTo>
                  <a:pt x="244792" y="106166"/>
                  <a:pt x="244131" y="104285"/>
                  <a:pt x="243078" y="102544"/>
                </a:cubicBezTo>
                <a:cubicBezTo>
                  <a:pt x="240257" y="97875"/>
                  <a:pt x="235048" y="94922"/>
                  <a:pt x="229344" y="94755"/>
                </a:cubicBezTo>
                <a:lnTo>
                  <a:pt x="229436" y="91621"/>
                </a:lnTo>
                <a:cubicBezTo>
                  <a:pt x="236268" y="91821"/>
                  <a:pt x="242499" y="95409"/>
                  <a:pt x="245850" y="101072"/>
                </a:cubicBezTo>
                <a:cubicBezTo>
                  <a:pt x="247129" y="103235"/>
                  <a:pt x="247915" y="105575"/>
                  <a:pt x="248037" y="107973"/>
                </a:cubicBezTo>
                <a:cubicBezTo>
                  <a:pt x="258268" y="109553"/>
                  <a:pt x="268981" y="102051"/>
                  <a:pt x="274232" y="89778"/>
                </a:cubicBezTo>
                <a:cubicBezTo>
                  <a:pt x="278708" y="77339"/>
                  <a:pt x="274020" y="63056"/>
                  <a:pt x="262316" y="55834"/>
                </a:cubicBezTo>
                <a:cubicBezTo>
                  <a:pt x="257734" y="53007"/>
                  <a:pt x="252666" y="51626"/>
                  <a:pt x="247691" y="52231"/>
                </a:cubicBezTo>
                <a:cubicBezTo>
                  <a:pt x="248705" y="60913"/>
                  <a:pt x="245967" y="69020"/>
                  <a:pt x="239739" y="74185"/>
                </a:cubicBezTo>
                <a:lnTo>
                  <a:pt x="237649" y="71664"/>
                </a:lnTo>
                <a:cubicBezTo>
                  <a:pt x="244579" y="65918"/>
                  <a:pt x="246481" y="55888"/>
                  <a:pt x="243151" y="45920"/>
                </a:cubicBezTo>
                <a:cubicBezTo>
                  <a:pt x="241194" y="40124"/>
                  <a:pt x="237183" y="35004"/>
                  <a:pt x="231542" y="31523"/>
                </a:cubicBezTo>
                <a:cubicBezTo>
                  <a:pt x="221392" y="25261"/>
                  <a:pt x="208864" y="26095"/>
                  <a:pt x="199763" y="32668"/>
                </a:cubicBezTo>
                <a:lnTo>
                  <a:pt x="194721" y="27952"/>
                </a:lnTo>
                <a:cubicBezTo>
                  <a:pt x="189842" y="24941"/>
                  <a:pt x="184271" y="23995"/>
                  <a:pt x="179076" y="24908"/>
                </a:cubicBezTo>
                <a:close/>
                <a:moveTo>
                  <a:pt x="190632" y="62"/>
                </a:moveTo>
                <a:cubicBezTo>
                  <a:pt x="300121" y="2329"/>
                  <a:pt x="391248" y="125645"/>
                  <a:pt x="309641" y="225160"/>
                </a:cubicBezTo>
                <a:cubicBezTo>
                  <a:pt x="282892" y="251229"/>
                  <a:pt x="279266" y="288859"/>
                  <a:pt x="302841" y="374772"/>
                </a:cubicBezTo>
                <a:lnTo>
                  <a:pt x="121266" y="376812"/>
                </a:lnTo>
                <a:lnTo>
                  <a:pt x="109025" y="322355"/>
                </a:lnTo>
                <a:cubicBezTo>
                  <a:pt x="76580" y="333165"/>
                  <a:pt x="40716" y="329924"/>
                  <a:pt x="28778" y="318327"/>
                </a:cubicBezTo>
                <a:cubicBezTo>
                  <a:pt x="22923" y="311868"/>
                  <a:pt x="25422" y="291738"/>
                  <a:pt x="32859" y="276164"/>
                </a:cubicBezTo>
                <a:cubicBezTo>
                  <a:pt x="35235" y="270344"/>
                  <a:pt x="23179" y="268321"/>
                  <a:pt x="20618" y="259843"/>
                </a:cubicBezTo>
                <a:cubicBezTo>
                  <a:pt x="19440" y="251965"/>
                  <a:pt x="27377" y="251682"/>
                  <a:pt x="30757" y="247602"/>
                </a:cubicBezTo>
                <a:lnTo>
                  <a:pt x="18516" y="238938"/>
                </a:lnTo>
                <a:cubicBezTo>
                  <a:pt x="12669" y="232923"/>
                  <a:pt x="25811" y="221592"/>
                  <a:pt x="29458" y="212919"/>
                </a:cubicBezTo>
                <a:cubicBezTo>
                  <a:pt x="16679" y="208924"/>
                  <a:pt x="7006" y="203466"/>
                  <a:pt x="307" y="196983"/>
                </a:cubicBezTo>
                <a:cubicBezTo>
                  <a:pt x="-2572" y="186228"/>
                  <a:pt x="15339" y="171234"/>
                  <a:pt x="31089" y="151672"/>
                </a:cubicBezTo>
                <a:cubicBezTo>
                  <a:pt x="47602" y="132201"/>
                  <a:pt x="33821" y="117353"/>
                  <a:pt x="46470" y="75544"/>
                </a:cubicBezTo>
                <a:cubicBezTo>
                  <a:pt x="66559" y="23813"/>
                  <a:pt x="114124" y="-1423"/>
                  <a:pt x="190632" y="62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굴림" panose="020B0600000101010101" pitchFamily="34" charset="-127"/>
              <a:cs typeface="+mn-cs"/>
            </a:endParaRPr>
          </a:p>
        </p:txBody>
      </p:sp>
      <p:graphicFrame>
        <p:nvGraphicFramePr>
          <p:cNvPr id="19" name="表格 19">
            <a:extLst>
              <a:ext uri="{FF2B5EF4-FFF2-40B4-BE49-F238E27FC236}">
                <a16:creationId xmlns:a16="http://schemas.microsoft.com/office/drawing/2014/main" id="{87F0501F-1913-4DBD-9266-7BD03B076329}"/>
              </a:ext>
            </a:extLst>
          </p:cNvPr>
          <p:cNvGraphicFramePr>
            <a:graphicFrameLocks noGrp="1"/>
          </p:cNvGraphicFramePr>
          <p:nvPr/>
        </p:nvGraphicFramePr>
        <p:xfrm>
          <a:off x="661202" y="2655388"/>
          <a:ext cx="7976304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3591">
                  <a:extLst>
                    <a:ext uri="{9D8B030D-6E8A-4147-A177-3AD203B41FA5}">
                      <a16:colId xmlns:a16="http://schemas.microsoft.com/office/drawing/2014/main" val="2296632083"/>
                    </a:ext>
                  </a:extLst>
                </a:gridCol>
                <a:gridCol w="2614561">
                  <a:extLst>
                    <a:ext uri="{9D8B030D-6E8A-4147-A177-3AD203B41FA5}">
                      <a16:colId xmlns:a16="http://schemas.microsoft.com/office/drawing/2014/main" val="404413058"/>
                    </a:ext>
                  </a:extLst>
                </a:gridCol>
                <a:gridCol w="1506211">
                  <a:extLst>
                    <a:ext uri="{9D8B030D-6E8A-4147-A177-3AD203B41FA5}">
                      <a16:colId xmlns:a16="http://schemas.microsoft.com/office/drawing/2014/main" val="4268807872"/>
                    </a:ext>
                  </a:extLst>
                </a:gridCol>
                <a:gridCol w="2481941">
                  <a:extLst>
                    <a:ext uri="{9D8B030D-6E8A-4147-A177-3AD203B41FA5}">
                      <a16:colId xmlns:a16="http://schemas.microsoft.com/office/drawing/2014/main" val="628878628"/>
                    </a:ext>
                  </a:extLst>
                </a:gridCol>
              </a:tblGrid>
              <a:tr h="208981">
                <a:tc gridSpan="4">
                  <a:txBody>
                    <a:bodyPr/>
                    <a:lstStyle/>
                    <a:p>
                      <a:pPr algn="ctr"/>
                      <a:r>
                        <a:rPr kumimoji="1" lang="zh-TW" altLang="en-US" sz="11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台新為公司塑造專屬故事，將提升投資人對公司之認同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zh-TW" altLang="en-US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351240"/>
                  </a:ext>
                </a:extLst>
              </a:tr>
              <a:tr h="208981">
                <a:tc rowSpan="4">
                  <a:txBody>
                    <a:bodyPr/>
                    <a:lstStyle/>
                    <a:p>
                      <a:pPr algn="ctr"/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台新看到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的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亮點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汽車龍頭</a:t>
                      </a:r>
                      <a:r>
                        <a:rPr kumimoji="1" lang="zh-TW" altLang="en-US" sz="1100" b="1" kern="1200" dirty="0">
                          <a:solidFill>
                            <a:srgbClr val="86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和泰集團</a:t>
                      </a: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子公司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亮點提升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的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投資價值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集團奧援可享</a:t>
                      </a:r>
                      <a:r>
                        <a:rPr kumimoji="1" lang="zh-TW" altLang="en-US" sz="1100" b="1" kern="1200" dirty="0">
                          <a:solidFill>
                            <a:srgbClr val="86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較同業高的本益比</a:t>
                      </a:r>
                      <a:endParaRPr kumimoji="1" lang="en-US" altLang="zh-TW" sz="1100" b="1" kern="1200" dirty="0">
                        <a:solidFill>
                          <a:srgbClr val="86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15405"/>
                  </a:ext>
                </a:extLst>
              </a:tr>
              <a:tr h="208981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獲利能力以及報酬率</a:t>
                      </a:r>
                      <a:r>
                        <a:rPr kumimoji="1" lang="zh-TW" altLang="en-US" sz="1100" b="1" kern="1200" dirty="0">
                          <a:solidFill>
                            <a:srgbClr val="86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表現高於同業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打造</a:t>
                      </a:r>
                      <a:r>
                        <a:rPr kumimoji="1" lang="zh-TW" altLang="en-US" sz="1100" b="1" kern="1200" dirty="0">
                          <a:solidFill>
                            <a:srgbClr val="86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高殖利率</a:t>
                      </a: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概念股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202569"/>
                  </a:ext>
                </a:extLst>
              </a:tr>
              <a:tr h="208981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100" b="1" kern="1200" dirty="0">
                          <a:solidFill>
                            <a:srgbClr val="86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海外市場與服務多角化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未來前景可期</a:t>
                      </a:r>
                      <a:r>
                        <a:rPr kumimoji="1" lang="zh-TW" altLang="en-US" sz="1100" b="1" kern="1200" dirty="0">
                          <a:solidFill>
                            <a:srgbClr val="86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提升成長性</a:t>
                      </a:r>
                      <a:endParaRPr kumimoji="1" lang="en-US" altLang="zh-TW" sz="1100" b="1" kern="1200" dirty="0">
                        <a:solidFill>
                          <a:srgbClr val="86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360051"/>
                  </a:ext>
                </a:extLst>
              </a:tr>
              <a:tr h="208981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股東結構堅強且</a:t>
                      </a:r>
                      <a:r>
                        <a:rPr kumimoji="1" lang="zh-TW" altLang="en-US" sz="1100" b="1" kern="1200" dirty="0">
                          <a:solidFill>
                            <a:srgbClr val="86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籌碼安定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可吸引</a:t>
                      </a:r>
                      <a:r>
                        <a:rPr kumimoji="1" lang="zh-TW" altLang="en-US" sz="1100" b="1" kern="1200" dirty="0">
                          <a:solidFill>
                            <a:srgbClr val="86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大型投資法人進入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23221"/>
                  </a:ext>
                </a:extLst>
              </a:tr>
            </a:tbl>
          </a:graphicData>
        </a:graphic>
      </p:graphicFrame>
      <p:sp>
        <p:nvSpPr>
          <p:cNvPr id="21" name="Donut 24">
            <a:extLst>
              <a:ext uri="{FF2B5EF4-FFF2-40B4-BE49-F238E27FC236}">
                <a16:creationId xmlns:a16="http://schemas.microsoft.com/office/drawing/2014/main" id="{246DBB2F-377A-4BAA-BA02-18EE5447D952}"/>
              </a:ext>
            </a:extLst>
          </p:cNvPr>
          <p:cNvSpPr/>
          <p:nvPr/>
        </p:nvSpPr>
        <p:spPr>
          <a:xfrm>
            <a:off x="643125" y="4039765"/>
            <a:ext cx="411690" cy="376812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23" name="Freeform 141">
            <a:extLst>
              <a:ext uri="{FF2B5EF4-FFF2-40B4-BE49-F238E27FC236}">
                <a16:creationId xmlns:a16="http://schemas.microsoft.com/office/drawing/2014/main" id="{4F622370-10B4-41B7-83B2-04CB5BF2F44A}"/>
              </a:ext>
            </a:extLst>
          </p:cNvPr>
          <p:cNvSpPr/>
          <p:nvPr/>
        </p:nvSpPr>
        <p:spPr>
          <a:xfrm>
            <a:off x="1192971" y="2990918"/>
            <a:ext cx="293808" cy="265564"/>
          </a:xfrm>
          <a:custGeom>
            <a:avLst/>
            <a:gdLst/>
            <a:ahLst/>
            <a:cxnLst/>
            <a:rect l="l" t="t" r="r" b="b"/>
            <a:pathLst>
              <a:path w="432708" h="432707">
                <a:moveTo>
                  <a:pt x="216354" y="0"/>
                </a:moveTo>
                <a:cubicBezTo>
                  <a:pt x="255606" y="0"/>
                  <a:pt x="291806" y="9672"/>
                  <a:pt x="324953" y="29016"/>
                </a:cubicBezTo>
                <a:cubicBezTo>
                  <a:pt x="358101" y="48360"/>
                  <a:pt x="384347" y="74606"/>
                  <a:pt x="403692" y="107754"/>
                </a:cubicBezTo>
                <a:cubicBezTo>
                  <a:pt x="423036" y="140902"/>
                  <a:pt x="432708" y="177102"/>
                  <a:pt x="432708" y="216353"/>
                </a:cubicBezTo>
                <a:cubicBezTo>
                  <a:pt x="432708" y="255605"/>
                  <a:pt x="423036" y="291805"/>
                  <a:pt x="403692" y="324953"/>
                </a:cubicBezTo>
                <a:cubicBezTo>
                  <a:pt x="384347" y="358101"/>
                  <a:pt x="358101" y="384347"/>
                  <a:pt x="324953" y="403691"/>
                </a:cubicBezTo>
                <a:cubicBezTo>
                  <a:pt x="291806" y="423035"/>
                  <a:pt x="255606" y="432707"/>
                  <a:pt x="216354" y="432707"/>
                </a:cubicBezTo>
                <a:cubicBezTo>
                  <a:pt x="177102" y="432707"/>
                  <a:pt x="140903" y="423035"/>
                  <a:pt x="107755" y="403691"/>
                </a:cubicBezTo>
                <a:cubicBezTo>
                  <a:pt x="74607" y="384347"/>
                  <a:pt x="48361" y="358101"/>
                  <a:pt x="29017" y="324953"/>
                </a:cubicBezTo>
                <a:cubicBezTo>
                  <a:pt x="9673" y="291805"/>
                  <a:pt x="0" y="255605"/>
                  <a:pt x="0" y="216353"/>
                </a:cubicBezTo>
                <a:cubicBezTo>
                  <a:pt x="0" y="177102"/>
                  <a:pt x="9673" y="140902"/>
                  <a:pt x="29017" y="107754"/>
                </a:cubicBezTo>
                <a:cubicBezTo>
                  <a:pt x="48361" y="74606"/>
                  <a:pt x="74607" y="48360"/>
                  <a:pt x="107755" y="29016"/>
                </a:cubicBezTo>
                <a:cubicBezTo>
                  <a:pt x="140903" y="9672"/>
                  <a:pt x="177102" y="0"/>
                  <a:pt x="216354" y="0"/>
                </a:cubicBezTo>
                <a:close/>
                <a:moveTo>
                  <a:pt x="318333" y="127051"/>
                </a:moveTo>
                <a:cubicBezTo>
                  <a:pt x="313450" y="127051"/>
                  <a:pt x="309225" y="128836"/>
                  <a:pt x="305656" y="132404"/>
                </a:cubicBezTo>
                <a:lnTo>
                  <a:pt x="190718" y="247060"/>
                </a:lnTo>
                <a:lnTo>
                  <a:pt x="127052" y="183393"/>
                </a:lnTo>
                <a:cubicBezTo>
                  <a:pt x="123483" y="179825"/>
                  <a:pt x="119258" y="178041"/>
                  <a:pt x="114375" y="178041"/>
                </a:cubicBezTo>
                <a:cubicBezTo>
                  <a:pt x="109492" y="178041"/>
                  <a:pt x="105266" y="179825"/>
                  <a:pt x="101698" y="183393"/>
                </a:cubicBezTo>
                <a:lnTo>
                  <a:pt x="76062" y="208747"/>
                </a:lnTo>
                <a:cubicBezTo>
                  <a:pt x="72682" y="212128"/>
                  <a:pt x="70991" y="216447"/>
                  <a:pt x="70991" y="221706"/>
                </a:cubicBezTo>
                <a:cubicBezTo>
                  <a:pt x="70991" y="226777"/>
                  <a:pt x="72682" y="231002"/>
                  <a:pt x="76062" y="234383"/>
                </a:cubicBezTo>
                <a:lnTo>
                  <a:pt x="178041" y="336362"/>
                </a:lnTo>
                <a:cubicBezTo>
                  <a:pt x="181610" y="339931"/>
                  <a:pt x="185835" y="341715"/>
                  <a:pt x="190718" y="341715"/>
                </a:cubicBezTo>
                <a:cubicBezTo>
                  <a:pt x="195789" y="341715"/>
                  <a:pt x="200109" y="339931"/>
                  <a:pt x="203677" y="336362"/>
                </a:cubicBezTo>
                <a:lnTo>
                  <a:pt x="356646" y="183393"/>
                </a:lnTo>
                <a:cubicBezTo>
                  <a:pt x="360026" y="180013"/>
                  <a:pt x="361717" y="175787"/>
                  <a:pt x="361717" y="170716"/>
                </a:cubicBezTo>
                <a:cubicBezTo>
                  <a:pt x="361717" y="165458"/>
                  <a:pt x="360026" y="161138"/>
                  <a:pt x="356646" y="157758"/>
                </a:cubicBezTo>
                <a:lnTo>
                  <a:pt x="331010" y="132404"/>
                </a:lnTo>
                <a:cubicBezTo>
                  <a:pt x="327442" y="128836"/>
                  <a:pt x="323216" y="127051"/>
                  <a:pt x="318333" y="127051"/>
                </a:cubicBezTo>
                <a:close/>
              </a:path>
            </a:pathLst>
          </a:custGeom>
          <a:solidFill>
            <a:srgbClr val="A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3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Freeform 345">
            <a:extLst>
              <a:ext uri="{FF2B5EF4-FFF2-40B4-BE49-F238E27FC236}">
                <a16:creationId xmlns:a16="http://schemas.microsoft.com/office/drawing/2014/main" id="{BEA0FFEA-E9CC-491F-B111-7C2A06FFEDF6}"/>
              </a:ext>
            </a:extLst>
          </p:cNvPr>
          <p:cNvSpPr/>
          <p:nvPr/>
        </p:nvSpPr>
        <p:spPr>
          <a:xfrm>
            <a:off x="5220072" y="2990918"/>
            <a:ext cx="293808" cy="265564"/>
          </a:xfrm>
          <a:custGeom>
            <a:avLst/>
            <a:gdLst>
              <a:gd name="connsiteX0" fmla="*/ 9015 w 504825"/>
              <a:gd name="connsiteY0" fmla="*/ 360589 h 432707"/>
              <a:gd name="connsiteX1" fmla="*/ 63103 w 504825"/>
              <a:gd name="connsiteY1" fmla="*/ 360589 h 432707"/>
              <a:gd name="connsiteX2" fmla="*/ 69583 w 504825"/>
              <a:gd name="connsiteY2" fmla="*/ 363125 h 432707"/>
              <a:gd name="connsiteX3" fmla="*/ 72118 w 504825"/>
              <a:gd name="connsiteY3" fmla="*/ 369604 h 432707"/>
              <a:gd name="connsiteX4" fmla="*/ 72118 w 504825"/>
              <a:gd name="connsiteY4" fmla="*/ 423692 h 432707"/>
              <a:gd name="connsiteX5" fmla="*/ 69583 w 504825"/>
              <a:gd name="connsiteY5" fmla="*/ 430172 h 432707"/>
              <a:gd name="connsiteX6" fmla="*/ 63103 w 504825"/>
              <a:gd name="connsiteY6" fmla="*/ 432707 h 432707"/>
              <a:gd name="connsiteX7" fmla="*/ 9015 w 504825"/>
              <a:gd name="connsiteY7" fmla="*/ 432707 h 432707"/>
              <a:gd name="connsiteX8" fmla="*/ 2535 w 504825"/>
              <a:gd name="connsiteY8" fmla="*/ 430172 h 432707"/>
              <a:gd name="connsiteX9" fmla="*/ 0 w 504825"/>
              <a:gd name="connsiteY9" fmla="*/ 423692 h 432707"/>
              <a:gd name="connsiteX10" fmla="*/ 0 w 504825"/>
              <a:gd name="connsiteY10" fmla="*/ 369604 h 432707"/>
              <a:gd name="connsiteX11" fmla="*/ 2535 w 504825"/>
              <a:gd name="connsiteY11" fmla="*/ 363125 h 432707"/>
              <a:gd name="connsiteX12" fmla="*/ 9015 w 504825"/>
              <a:gd name="connsiteY12" fmla="*/ 360589 h 432707"/>
              <a:gd name="connsiteX13" fmla="*/ 117192 w 504825"/>
              <a:gd name="connsiteY13" fmla="*/ 324530 h 432707"/>
              <a:gd name="connsiteX14" fmla="*/ 171280 w 504825"/>
              <a:gd name="connsiteY14" fmla="*/ 324530 h 432707"/>
              <a:gd name="connsiteX15" fmla="*/ 177759 w 504825"/>
              <a:gd name="connsiteY15" fmla="*/ 327066 h 432707"/>
              <a:gd name="connsiteX16" fmla="*/ 180295 w 504825"/>
              <a:gd name="connsiteY16" fmla="*/ 333545 h 432707"/>
              <a:gd name="connsiteX17" fmla="*/ 180295 w 504825"/>
              <a:gd name="connsiteY17" fmla="*/ 423692 h 432707"/>
              <a:gd name="connsiteX18" fmla="*/ 177759 w 504825"/>
              <a:gd name="connsiteY18" fmla="*/ 430172 h 432707"/>
              <a:gd name="connsiteX19" fmla="*/ 171280 w 504825"/>
              <a:gd name="connsiteY19" fmla="*/ 432707 h 432707"/>
              <a:gd name="connsiteX20" fmla="*/ 117192 w 504825"/>
              <a:gd name="connsiteY20" fmla="*/ 432707 h 432707"/>
              <a:gd name="connsiteX21" fmla="*/ 110712 w 504825"/>
              <a:gd name="connsiteY21" fmla="*/ 430172 h 432707"/>
              <a:gd name="connsiteX22" fmla="*/ 108177 w 504825"/>
              <a:gd name="connsiteY22" fmla="*/ 423692 h 432707"/>
              <a:gd name="connsiteX23" fmla="*/ 108177 w 504825"/>
              <a:gd name="connsiteY23" fmla="*/ 333545 h 432707"/>
              <a:gd name="connsiteX24" fmla="*/ 110712 w 504825"/>
              <a:gd name="connsiteY24" fmla="*/ 327066 h 432707"/>
              <a:gd name="connsiteX25" fmla="*/ 117192 w 504825"/>
              <a:gd name="connsiteY25" fmla="*/ 324530 h 432707"/>
              <a:gd name="connsiteX26" fmla="*/ 225368 w 504825"/>
              <a:gd name="connsiteY26" fmla="*/ 252412 h 432707"/>
              <a:gd name="connsiteX27" fmla="*/ 279457 w 504825"/>
              <a:gd name="connsiteY27" fmla="*/ 252412 h 432707"/>
              <a:gd name="connsiteX28" fmla="*/ 285936 w 504825"/>
              <a:gd name="connsiteY28" fmla="*/ 254948 h 432707"/>
              <a:gd name="connsiteX29" fmla="*/ 288472 w 504825"/>
              <a:gd name="connsiteY29" fmla="*/ 261427 h 432707"/>
              <a:gd name="connsiteX30" fmla="*/ 288472 w 504825"/>
              <a:gd name="connsiteY30" fmla="*/ 423692 h 432707"/>
              <a:gd name="connsiteX31" fmla="*/ 285936 w 504825"/>
              <a:gd name="connsiteY31" fmla="*/ 430172 h 432707"/>
              <a:gd name="connsiteX32" fmla="*/ 279457 w 504825"/>
              <a:gd name="connsiteY32" fmla="*/ 432707 h 432707"/>
              <a:gd name="connsiteX33" fmla="*/ 225368 w 504825"/>
              <a:gd name="connsiteY33" fmla="*/ 432707 h 432707"/>
              <a:gd name="connsiteX34" fmla="*/ 218889 w 504825"/>
              <a:gd name="connsiteY34" fmla="*/ 430172 h 432707"/>
              <a:gd name="connsiteX35" fmla="*/ 216354 w 504825"/>
              <a:gd name="connsiteY35" fmla="*/ 423692 h 432707"/>
              <a:gd name="connsiteX36" fmla="*/ 216354 w 504825"/>
              <a:gd name="connsiteY36" fmla="*/ 261427 h 432707"/>
              <a:gd name="connsiteX37" fmla="*/ 218889 w 504825"/>
              <a:gd name="connsiteY37" fmla="*/ 254948 h 432707"/>
              <a:gd name="connsiteX38" fmla="*/ 225368 w 504825"/>
              <a:gd name="connsiteY38" fmla="*/ 252412 h 432707"/>
              <a:gd name="connsiteX39" fmla="*/ 333545 w 504825"/>
              <a:gd name="connsiteY39" fmla="*/ 144236 h 432707"/>
              <a:gd name="connsiteX40" fmla="*/ 387633 w 504825"/>
              <a:gd name="connsiteY40" fmla="*/ 144236 h 432707"/>
              <a:gd name="connsiteX41" fmla="*/ 394113 w 504825"/>
              <a:gd name="connsiteY41" fmla="*/ 146771 h 432707"/>
              <a:gd name="connsiteX42" fmla="*/ 396648 w 504825"/>
              <a:gd name="connsiteY42" fmla="*/ 153250 h 432707"/>
              <a:gd name="connsiteX43" fmla="*/ 396648 w 504825"/>
              <a:gd name="connsiteY43" fmla="*/ 423692 h 432707"/>
              <a:gd name="connsiteX44" fmla="*/ 394113 w 504825"/>
              <a:gd name="connsiteY44" fmla="*/ 430172 h 432707"/>
              <a:gd name="connsiteX45" fmla="*/ 387633 w 504825"/>
              <a:gd name="connsiteY45" fmla="*/ 432707 h 432707"/>
              <a:gd name="connsiteX46" fmla="*/ 333545 w 504825"/>
              <a:gd name="connsiteY46" fmla="*/ 432707 h 432707"/>
              <a:gd name="connsiteX47" fmla="*/ 327066 w 504825"/>
              <a:gd name="connsiteY47" fmla="*/ 430172 h 432707"/>
              <a:gd name="connsiteX48" fmla="*/ 324530 w 504825"/>
              <a:gd name="connsiteY48" fmla="*/ 423692 h 432707"/>
              <a:gd name="connsiteX49" fmla="*/ 324530 w 504825"/>
              <a:gd name="connsiteY49" fmla="*/ 153250 h 432707"/>
              <a:gd name="connsiteX50" fmla="*/ 327066 w 504825"/>
              <a:gd name="connsiteY50" fmla="*/ 146771 h 432707"/>
              <a:gd name="connsiteX51" fmla="*/ 333545 w 504825"/>
              <a:gd name="connsiteY51" fmla="*/ 144236 h 432707"/>
              <a:gd name="connsiteX52" fmla="*/ 441722 w 504825"/>
              <a:gd name="connsiteY52" fmla="*/ 0 h 432707"/>
              <a:gd name="connsiteX53" fmla="*/ 495810 w 504825"/>
              <a:gd name="connsiteY53" fmla="*/ 0 h 432707"/>
              <a:gd name="connsiteX54" fmla="*/ 502290 w 504825"/>
              <a:gd name="connsiteY54" fmla="*/ 2535 h 432707"/>
              <a:gd name="connsiteX55" fmla="*/ 504825 w 504825"/>
              <a:gd name="connsiteY55" fmla="*/ 9015 h 432707"/>
              <a:gd name="connsiteX56" fmla="*/ 504825 w 504825"/>
              <a:gd name="connsiteY56" fmla="*/ 423692 h 432707"/>
              <a:gd name="connsiteX57" fmla="*/ 502290 w 504825"/>
              <a:gd name="connsiteY57" fmla="*/ 430172 h 432707"/>
              <a:gd name="connsiteX58" fmla="*/ 495810 w 504825"/>
              <a:gd name="connsiteY58" fmla="*/ 432707 h 432707"/>
              <a:gd name="connsiteX59" fmla="*/ 441722 w 504825"/>
              <a:gd name="connsiteY59" fmla="*/ 432707 h 432707"/>
              <a:gd name="connsiteX60" fmla="*/ 435243 w 504825"/>
              <a:gd name="connsiteY60" fmla="*/ 430172 h 432707"/>
              <a:gd name="connsiteX61" fmla="*/ 432707 w 504825"/>
              <a:gd name="connsiteY61" fmla="*/ 423692 h 432707"/>
              <a:gd name="connsiteX62" fmla="*/ 432707 w 504825"/>
              <a:gd name="connsiteY62" fmla="*/ 9015 h 432707"/>
              <a:gd name="connsiteX63" fmla="*/ 435243 w 504825"/>
              <a:gd name="connsiteY63" fmla="*/ 2535 h 432707"/>
              <a:gd name="connsiteX64" fmla="*/ 441722 w 504825"/>
              <a:gd name="connsiteY64" fmla="*/ 0 h 432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504825" h="432707">
                <a:moveTo>
                  <a:pt x="9015" y="360589"/>
                </a:moveTo>
                <a:lnTo>
                  <a:pt x="63103" y="360589"/>
                </a:lnTo>
                <a:cubicBezTo>
                  <a:pt x="65732" y="360589"/>
                  <a:pt x="67892" y="361434"/>
                  <a:pt x="69583" y="363125"/>
                </a:cubicBezTo>
                <a:cubicBezTo>
                  <a:pt x="71273" y="364815"/>
                  <a:pt x="72118" y="366975"/>
                  <a:pt x="72118" y="369604"/>
                </a:cubicBezTo>
                <a:lnTo>
                  <a:pt x="72118" y="423692"/>
                </a:lnTo>
                <a:cubicBezTo>
                  <a:pt x="72118" y="426322"/>
                  <a:pt x="71273" y="428481"/>
                  <a:pt x="69583" y="430172"/>
                </a:cubicBezTo>
                <a:cubicBezTo>
                  <a:pt x="67892" y="431862"/>
                  <a:pt x="65732" y="432707"/>
                  <a:pt x="63103" y="432707"/>
                </a:cubicBezTo>
                <a:lnTo>
                  <a:pt x="9015" y="432707"/>
                </a:lnTo>
                <a:cubicBezTo>
                  <a:pt x="6385" y="432707"/>
                  <a:pt x="4226" y="431862"/>
                  <a:pt x="2535" y="430172"/>
                </a:cubicBezTo>
                <a:cubicBezTo>
                  <a:pt x="845" y="428481"/>
                  <a:pt x="0" y="426322"/>
                  <a:pt x="0" y="423692"/>
                </a:cubicBezTo>
                <a:lnTo>
                  <a:pt x="0" y="369604"/>
                </a:lnTo>
                <a:cubicBezTo>
                  <a:pt x="0" y="366975"/>
                  <a:pt x="845" y="364815"/>
                  <a:pt x="2535" y="363125"/>
                </a:cubicBezTo>
                <a:cubicBezTo>
                  <a:pt x="4226" y="361434"/>
                  <a:pt x="6385" y="360589"/>
                  <a:pt x="9015" y="360589"/>
                </a:cubicBezTo>
                <a:close/>
                <a:moveTo>
                  <a:pt x="117192" y="324530"/>
                </a:moveTo>
                <a:lnTo>
                  <a:pt x="171280" y="324530"/>
                </a:lnTo>
                <a:cubicBezTo>
                  <a:pt x="173909" y="324530"/>
                  <a:pt x="176069" y="325375"/>
                  <a:pt x="177759" y="327066"/>
                </a:cubicBezTo>
                <a:cubicBezTo>
                  <a:pt x="179450" y="328756"/>
                  <a:pt x="180295" y="330916"/>
                  <a:pt x="180295" y="333545"/>
                </a:cubicBezTo>
                <a:lnTo>
                  <a:pt x="180295" y="423692"/>
                </a:lnTo>
                <a:cubicBezTo>
                  <a:pt x="180295" y="426322"/>
                  <a:pt x="179450" y="428481"/>
                  <a:pt x="177759" y="430172"/>
                </a:cubicBezTo>
                <a:cubicBezTo>
                  <a:pt x="176069" y="431862"/>
                  <a:pt x="173909" y="432707"/>
                  <a:pt x="171280" y="432707"/>
                </a:cubicBezTo>
                <a:lnTo>
                  <a:pt x="117192" y="432707"/>
                </a:lnTo>
                <a:cubicBezTo>
                  <a:pt x="114562" y="432707"/>
                  <a:pt x="112403" y="431862"/>
                  <a:pt x="110712" y="430172"/>
                </a:cubicBezTo>
                <a:cubicBezTo>
                  <a:pt x="109022" y="428481"/>
                  <a:pt x="108177" y="426322"/>
                  <a:pt x="108177" y="423692"/>
                </a:cubicBezTo>
                <a:lnTo>
                  <a:pt x="108177" y="333545"/>
                </a:lnTo>
                <a:cubicBezTo>
                  <a:pt x="108177" y="330916"/>
                  <a:pt x="109022" y="328756"/>
                  <a:pt x="110712" y="327066"/>
                </a:cubicBezTo>
                <a:cubicBezTo>
                  <a:pt x="112403" y="325375"/>
                  <a:pt x="114562" y="324530"/>
                  <a:pt x="117192" y="324530"/>
                </a:cubicBezTo>
                <a:close/>
                <a:moveTo>
                  <a:pt x="225368" y="252412"/>
                </a:moveTo>
                <a:lnTo>
                  <a:pt x="279457" y="252412"/>
                </a:lnTo>
                <a:cubicBezTo>
                  <a:pt x="282086" y="252412"/>
                  <a:pt x="284246" y="253258"/>
                  <a:pt x="285936" y="254948"/>
                </a:cubicBezTo>
                <a:cubicBezTo>
                  <a:pt x="287627" y="256638"/>
                  <a:pt x="288472" y="258798"/>
                  <a:pt x="288472" y="261427"/>
                </a:cubicBezTo>
                <a:lnTo>
                  <a:pt x="288472" y="423692"/>
                </a:lnTo>
                <a:cubicBezTo>
                  <a:pt x="288472" y="426322"/>
                  <a:pt x="287627" y="428481"/>
                  <a:pt x="285936" y="430172"/>
                </a:cubicBezTo>
                <a:cubicBezTo>
                  <a:pt x="284246" y="431862"/>
                  <a:pt x="282086" y="432707"/>
                  <a:pt x="279457" y="432707"/>
                </a:cubicBezTo>
                <a:lnTo>
                  <a:pt x="225368" y="432707"/>
                </a:lnTo>
                <a:cubicBezTo>
                  <a:pt x="222739" y="432707"/>
                  <a:pt x="220579" y="431862"/>
                  <a:pt x="218889" y="430172"/>
                </a:cubicBezTo>
                <a:cubicBezTo>
                  <a:pt x="217199" y="428481"/>
                  <a:pt x="216354" y="426322"/>
                  <a:pt x="216354" y="423692"/>
                </a:cubicBezTo>
                <a:lnTo>
                  <a:pt x="216354" y="261427"/>
                </a:lnTo>
                <a:cubicBezTo>
                  <a:pt x="216354" y="258798"/>
                  <a:pt x="217199" y="256638"/>
                  <a:pt x="218889" y="254948"/>
                </a:cubicBezTo>
                <a:cubicBezTo>
                  <a:pt x="220579" y="253258"/>
                  <a:pt x="222739" y="252412"/>
                  <a:pt x="225368" y="252412"/>
                </a:cubicBezTo>
                <a:close/>
                <a:moveTo>
                  <a:pt x="333545" y="144236"/>
                </a:moveTo>
                <a:lnTo>
                  <a:pt x="387633" y="144236"/>
                </a:lnTo>
                <a:cubicBezTo>
                  <a:pt x="390263" y="144236"/>
                  <a:pt x="392423" y="145081"/>
                  <a:pt x="394113" y="146771"/>
                </a:cubicBezTo>
                <a:cubicBezTo>
                  <a:pt x="395803" y="148461"/>
                  <a:pt x="396648" y="150621"/>
                  <a:pt x="396648" y="153250"/>
                </a:cubicBezTo>
                <a:lnTo>
                  <a:pt x="396648" y="423692"/>
                </a:lnTo>
                <a:cubicBezTo>
                  <a:pt x="396648" y="426322"/>
                  <a:pt x="395803" y="428481"/>
                  <a:pt x="394113" y="430172"/>
                </a:cubicBezTo>
                <a:cubicBezTo>
                  <a:pt x="392423" y="431862"/>
                  <a:pt x="390263" y="432707"/>
                  <a:pt x="387633" y="432707"/>
                </a:cubicBezTo>
                <a:lnTo>
                  <a:pt x="333545" y="432707"/>
                </a:lnTo>
                <a:cubicBezTo>
                  <a:pt x="330916" y="432707"/>
                  <a:pt x="328756" y="431862"/>
                  <a:pt x="327066" y="430172"/>
                </a:cubicBezTo>
                <a:cubicBezTo>
                  <a:pt x="325376" y="428481"/>
                  <a:pt x="324530" y="426322"/>
                  <a:pt x="324530" y="423692"/>
                </a:cubicBezTo>
                <a:lnTo>
                  <a:pt x="324530" y="153250"/>
                </a:lnTo>
                <a:cubicBezTo>
                  <a:pt x="324530" y="150621"/>
                  <a:pt x="325376" y="148461"/>
                  <a:pt x="327066" y="146771"/>
                </a:cubicBezTo>
                <a:cubicBezTo>
                  <a:pt x="328756" y="145081"/>
                  <a:pt x="330916" y="144236"/>
                  <a:pt x="333545" y="144236"/>
                </a:cubicBezTo>
                <a:close/>
                <a:moveTo>
                  <a:pt x="441722" y="0"/>
                </a:moveTo>
                <a:lnTo>
                  <a:pt x="495810" y="0"/>
                </a:lnTo>
                <a:cubicBezTo>
                  <a:pt x="498440" y="0"/>
                  <a:pt x="500600" y="845"/>
                  <a:pt x="502290" y="2535"/>
                </a:cubicBezTo>
                <a:cubicBezTo>
                  <a:pt x="503980" y="4226"/>
                  <a:pt x="504825" y="6385"/>
                  <a:pt x="504825" y="9015"/>
                </a:cubicBezTo>
                <a:lnTo>
                  <a:pt x="504825" y="423692"/>
                </a:lnTo>
                <a:cubicBezTo>
                  <a:pt x="504825" y="426322"/>
                  <a:pt x="503980" y="428481"/>
                  <a:pt x="502290" y="430172"/>
                </a:cubicBezTo>
                <a:cubicBezTo>
                  <a:pt x="500600" y="431862"/>
                  <a:pt x="498440" y="432707"/>
                  <a:pt x="495810" y="432707"/>
                </a:cubicBezTo>
                <a:lnTo>
                  <a:pt x="441722" y="432707"/>
                </a:lnTo>
                <a:cubicBezTo>
                  <a:pt x="439093" y="432707"/>
                  <a:pt x="436933" y="431862"/>
                  <a:pt x="435243" y="430172"/>
                </a:cubicBezTo>
                <a:cubicBezTo>
                  <a:pt x="433552" y="428481"/>
                  <a:pt x="432707" y="426322"/>
                  <a:pt x="432707" y="423692"/>
                </a:cubicBezTo>
                <a:lnTo>
                  <a:pt x="432707" y="9015"/>
                </a:lnTo>
                <a:cubicBezTo>
                  <a:pt x="432707" y="6385"/>
                  <a:pt x="433552" y="4226"/>
                  <a:pt x="435243" y="2535"/>
                </a:cubicBezTo>
                <a:cubicBezTo>
                  <a:pt x="436933" y="845"/>
                  <a:pt x="439093" y="0"/>
                  <a:pt x="441722" y="0"/>
                </a:cubicBezTo>
                <a:close/>
              </a:path>
            </a:pathLst>
          </a:custGeom>
          <a:solidFill>
            <a:srgbClr val="A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3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16FA64-052B-4010-A34E-504C848AA465}"/>
              </a:ext>
            </a:extLst>
          </p:cNvPr>
          <p:cNvSpPr/>
          <p:nvPr/>
        </p:nvSpPr>
        <p:spPr>
          <a:xfrm>
            <a:off x="988184" y="4081302"/>
            <a:ext cx="5094312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思維 </a:t>
            </a:r>
            <a:r>
              <a:rPr kumimoji="1" lang="en-US" altLang="zh-TW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:</a:t>
            </a:r>
            <a:r>
              <a:rPr kumimoji="1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 利用</a:t>
            </a:r>
            <a:r>
              <a:rPr kumimoji="1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統計資料鎖定適合投資人</a:t>
            </a:r>
            <a:r>
              <a:rPr kumimoji="1" lang="zh-TW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軟正黑體" pitchFamily="34" charset="-120"/>
                <a:ea typeface="微軟正黑體"/>
                <a:cs typeface="+mn-cs"/>
              </a:rPr>
              <a:t>，強化股權結構</a:t>
            </a:r>
            <a:endParaRPr kumimoji="1" lang="en-US" altLang="zh-TW" sz="13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軟正黑體" pitchFamily="34" charset="-120"/>
              <a:ea typeface="微軟正黑體"/>
              <a:cs typeface="+mn-cs"/>
            </a:endParaRPr>
          </a:p>
        </p:txBody>
      </p:sp>
      <p:graphicFrame>
        <p:nvGraphicFramePr>
          <p:cNvPr id="27" name="表格 27">
            <a:extLst>
              <a:ext uri="{FF2B5EF4-FFF2-40B4-BE49-F238E27FC236}">
                <a16:creationId xmlns:a16="http://schemas.microsoft.com/office/drawing/2014/main" id="{6A587CE4-8A5E-4ECF-8098-E9A5A07A50BC}"/>
              </a:ext>
            </a:extLst>
          </p:cNvPr>
          <p:cNvGraphicFramePr>
            <a:graphicFrameLocks noGrp="1"/>
          </p:cNvGraphicFramePr>
          <p:nvPr/>
        </p:nvGraphicFramePr>
        <p:xfrm>
          <a:off x="650479" y="4465334"/>
          <a:ext cx="7968778" cy="181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3">
                  <a:extLst>
                    <a:ext uri="{9D8B030D-6E8A-4147-A177-3AD203B41FA5}">
                      <a16:colId xmlns:a16="http://schemas.microsoft.com/office/drawing/2014/main" val="15498436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908136427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4113387697"/>
                    </a:ext>
                  </a:extLst>
                </a:gridCol>
                <a:gridCol w="1056005">
                  <a:extLst>
                    <a:ext uri="{9D8B030D-6E8A-4147-A177-3AD203B41FA5}">
                      <a16:colId xmlns:a16="http://schemas.microsoft.com/office/drawing/2014/main" val="1421331387"/>
                    </a:ext>
                  </a:extLst>
                </a:gridCol>
                <a:gridCol w="3096348">
                  <a:extLst>
                    <a:ext uri="{9D8B030D-6E8A-4147-A177-3AD203B41FA5}">
                      <a16:colId xmlns:a16="http://schemas.microsoft.com/office/drawing/2014/main" val="3230660075"/>
                    </a:ext>
                  </a:extLst>
                </a:gridCol>
              </a:tblGrid>
              <a:tr h="138705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chemeClr val="bg1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台新透過不同階段的曝光，成功募集台灣最大案件</a:t>
                      </a:r>
                      <a:endParaRPr kumimoji="1" lang="en-US" altLang="zh-TW" sz="1100" b="1" kern="12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0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0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chemeClr val="bg1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1000104"/>
                  </a:ext>
                </a:extLst>
              </a:tr>
              <a:tr h="1387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市場大眾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興櫃前於媒體圈適度曝光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預期達成效益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增加投資圈對公司營運模式產生好奇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344897"/>
                  </a:ext>
                </a:extLst>
              </a:tr>
              <a:tr h="1387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壽險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計畫引進長期穩定籌碼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籌碼</a:t>
                      </a: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逐步墊高公司市值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849701"/>
                  </a:ext>
                </a:extLst>
              </a:tr>
              <a:tr h="1778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外資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吸引國際級資金進入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外資曝光並為進入</a:t>
                      </a:r>
                      <a:r>
                        <a:rPr kumimoji="1" lang="en-US" altLang="zh-TW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MSCI</a:t>
                      </a: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建立關係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231657"/>
                  </a:ext>
                </a:extLst>
              </a:tr>
              <a:tr h="1387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金控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金控認證加持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金融機構投入提升投資人對該公司之信心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354045"/>
                  </a:ext>
                </a:extLst>
              </a:tr>
              <a:tr h="1387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專業投資人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創投、上市櫃投資部與中實戶進入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增加具有流動性籌碼，增加市場活絡度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633144"/>
                  </a:ext>
                </a:extLst>
              </a:tr>
              <a:tr h="1778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市場大眾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競拍前密集媒體發佈新聞稿與相關資料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100" b="1" kern="1200" dirty="0">
                          <a:solidFill>
                            <a:srgbClr val="000000"/>
                          </a:solidFill>
                          <a:latin typeface="微軟正黑體" pitchFamily="34" charset="-120"/>
                          <a:ea typeface="微軟正黑體" pitchFamily="34" charset="-120"/>
                          <a:cs typeface="Times New Roman" pitchFamily="18" charset="0"/>
                        </a:rPr>
                        <a:t>提升討論度，讓眾多投資人投入競拍</a:t>
                      </a:r>
                      <a:endParaRPr kumimoji="1" lang="en-US" altLang="zh-TW" sz="11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873610"/>
                  </a:ext>
                </a:extLst>
              </a:tr>
            </a:tbl>
          </a:graphicData>
        </a:graphic>
      </p:graphicFrame>
      <p:sp>
        <p:nvSpPr>
          <p:cNvPr id="29" name="文字方塊 28">
            <a:extLst>
              <a:ext uri="{FF2B5EF4-FFF2-40B4-BE49-F238E27FC236}">
                <a16:creationId xmlns:a16="http://schemas.microsoft.com/office/drawing/2014/main" id="{4680423C-BB73-44A1-9917-1530A270E044}"/>
              </a:ext>
            </a:extLst>
          </p:cNvPr>
          <p:cNvSpPr txBox="1"/>
          <p:nvPr/>
        </p:nvSpPr>
        <p:spPr>
          <a:xfrm>
            <a:off x="3938587" y="3467672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D157D00-2A60-4111-BD80-E3BF77E470E0}"/>
              </a:ext>
            </a:extLst>
          </p:cNvPr>
          <p:cNvSpPr txBox="1"/>
          <p:nvPr/>
        </p:nvSpPr>
        <p:spPr>
          <a:xfrm>
            <a:off x="2693898" y="1168172"/>
            <a:ext cx="58438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成功完成當時台灣史上最大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IPO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案，公開申購期間凍結資金逾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520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/>
                <a:ea typeface="微軟正黑體"/>
                <a:cs typeface="+mn-cs"/>
              </a:rPr>
              <a:t>億元</a:t>
            </a:r>
          </a:p>
        </p:txBody>
      </p:sp>
      <p:sp>
        <p:nvSpPr>
          <p:cNvPr id="22" name="Rectangle 8"/>
          <p:cNvSpPr>
            <a:spLocks noChangeArrowheads="1"/>
          </p:cNvSpPr>
          <p:nvPr/>
        </p:nvSpPr>
        <p:spPr bwMode="auto">
          <a:xfrm>
            <a:off x="422275" y="419100"/>
            <a:ext cx="8686800" cy="6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                    </a:t>
            </a:r>
            <a:r>
              <a: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itchFamily="34" charset="-120"/>
                <a:ea typeface="微軟正黑體" pitchFamily="34" charset="-120"/>
                <a:cs typeface="+mn-cs"/>
              </a:rPr>
              <a:t> 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2BE22942-D232-4F46-8BC4-15693C016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47" y="1733153"/>
            <a:ext cx="1487553" cy="402371"/>
          </a:xfrm>
          <a:prstGeom prst="rect">
            <a:avLst/>
          </a:prstGeom>
        </p:spPr>
      </p:pic>
      <p:graphicFrame>
        <p:nvGraphicFramePr>
          <p:cNvPr id="32" name="表格 27">
            <a:extLst>
              <a:ext uri="{FF2B5EF4-FFF2-40B4-BE49-F238E27FC236}">
                <a16:creationId xmlns:a16="http://schemas.microsoft.com/office/drawing/2014/main" id="{84F7B097-9B8F-44B7-B658-99603B24B063}"/>
              </a:ext>
            </a:extLst>
          </p:cNvPr>
          <p:cNvGraphicFramePr>
            <a:graphicFrameLocks noGrp="1"/>
          </p:cNvGraphicFramePr>
          <p:nvPr/>
        </p:nvGraphicFramePr>
        <p:xfrm>
          <a:off x="2655934" y="1730710"/>
          <a:ext cx="59898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7354">
                  <a:extLst>
                    <a:ext uri="{9D8B030D-6E8A-4147-A177-3AD203B41FA5}">
                      <a16:colId xmlns:a16="http://schemas.microsoft.com/office/drawing/2014/main" val="154984363"/>
                    </a:ext>
                  </a:extLst>
                </a:gridCol>
                <a:gridCol w="2267589">
                  <a:extLst>
                    <a:ext uri="{9D8B030D-6E8A-4147-A177-3AD203B41FA5}">
                      <a16:colId xmlns:a16="http://schemas.microsoft.com/office/drawing/2014/main" val="2908136427"/>
                    </a:ext>
                  </a:extLst>
                </a:gridCol>
                <a:gridCol w="8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48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63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主要產品</a:t>
                      </a:r>
                      <a:endParaRPr kumimoji="1" lang="en-US" altLang="zh-TW" sz="9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各種車輛設備之分期買賣及租賃</a:t>
                      </a:r>
                      <a:endParaRPr kumimoji="1" lang="en-US" altLang="zh-TW" sz="9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目前資本額</a:t>
                      </a:r>
                      <a:endParaRPr kumimoji="1" lang="en-US" altLang="zh-TW" sz="9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  <a:sym typeface="Wingdings" pitchFamily="2" charset="2"/>
                        </a:rPr>
                        <a:t>72.3</a:t>
                      </a: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  <a:sym typeface="Wingdings" pitchFamily="2" charset="2"/>
                        </a:rPr>
                        <a:t>億元</a:t>
                      </a:r>
                      <a:endParaRPr kumimoji="1" lang="en-US" altLang="zh-TW" sz="9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344897"/>
                  </a:ext>
                </a:extLst>
              </a:tr>
              <a:tr h="2263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案件特色</a:t>
                      </a:r>
                      <a:endParaRPr kumimoji="1" lang="en-US" altLang="zh-TW" sz="9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深耕兩岸汽車金融、設備分期租賃</a:t>
                      </a:r>
                      <a:endParaRPr lang="en-US" altLang="zh-TW" sz="900" b="0" dirty="0">
                        <a:solidFill>
                          <a:srgbClr val="000000"/>
                        </a:solidFill>
                        <a:latin typeface="+mn-lt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  <a:sym typeface="Wingdings" pitchFamily="2" charset="2"/>
                        </a:rPr>
                        <a:t>目前股價</a:t>
                      </a:r>
                      <a:endParaRPr kumimoji="1" lang="en-US" altLang="zh-TW" sz="900" b="1" kern="1200" dirty="0">
                        <a:solidFill>
                          <a:srgbClr val="000000"/>
                        </a:solidFill>
                        <a:latin typeface="微軟正黑體" pitchFamily="34" charset="-120"/>
                        <a:ea typeface="微軟正黑體" pitchFamily="34" charset="-12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  <a:sym typeface="Wingdings" pitchFamily="2" charset="2"/>
                        </a:rPr>
                        <a:t>每股</a:t>
                      </a:r>
                      <a:r>
                        <a:rPr lang="en-US" altLang="zh-TW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  <a:sym typeface="Wingdings" pitchFamily="2" charset="2"/>
                        </a:rPr>
                        <a:t>59.9</a:t>
                      </a: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元</a:t>
                      </a:r>
                      <a:r>
                        <a:rPr lang="en-US" altLang="zh-TW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(</a:t>
                      </a: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市值約</a:t>
                      </a:r>
                      <a:r>
                        <a:rPr lang="en-US" altLang="zh-TW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433</a:t>
                      </a:r>
                      <a:r>
                        <a:rPr lang="zh-TW" altLang="en-US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億元</a:t>
                      </a:r>
                      <a:r>
                        <a:rPr lang="en-US" altLang="zh-TW" sz="900" b="0" dirty="0">
                          <a:solidFill>
                            <a:srgbClr val="000000"/>
                          </a:solidFill>
                          <a:latin typeface="+mn-lt"/>
                          <a:ea typeface="微軟正黑體" pitchFamily="34" charset="-120"/>
                          <a:cs typeface="Times New Roman" pitchFamily="18" charset="0"/>
                        </a:rPr>
                        <a:t>)</a:t>
                      </a:r>
                      <a:endParaRPr lang="zh-TW" altLang="en-US" sz="900" b="0" dirty="0">
                        <a:solidFill>
                          <a:srgbClr val="000000"/>
                        </a:solidFill>
                        <a:latin typeface="+mn-lt"/>
                        <a:ea typeface="微軟正黑體" pitchFamily="34" charset="-120"/>
                        <a:cs typeface="Times New Roman" pitchFamily="18" charset="0"/>
                        <a:sym typeface="Wingdings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849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511144"/>
      </p:ext>
    </p:extLst>
  </p:cSld>
  <p:clrMapOvr>
    <a:masterClrMapping/>
  </p:clrMapOvr>
  <p:transition>
    <p:spli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35" name="Rectangle 3"/>
          <p:cNvSpPr>
            <a:spLocks noChangeArrowheads="1"/>
          </p:cNvSpPr>
          <p:nvPr/>
        </p:nvSpPr>
        <p:spPr bwMode="auto">
          <a:xfrm>
            <a:off x="469081" y="1077566"/>
            <a:ext cx="8207375" cy="1083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 marL="285750" indent="-285750" algn="l">
              <a:spcBef>
                <a:spcPct val="15000"/>
              </a:spcBef>
              <a:spcAft>
                <a:spcPct val="15000"/>
              </a:spcAft>
              <a:buFont typeface="Arial" panose="020B0604020202020204" pitchFamily="34" charset="0"/>
              <a:buChar char="•"/>
              <a:defRPr/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台新承銷秉持精緻服務及客製化規劃之精神，服務內涵及專業能力深獲客戶肯定</a:t>
            </a:r>
          </a:p>
          <a:p>
            <a:pPr marL="285750" indent="-285750" algn="l">
              <a:spcBef>
                <a:spcPct val="15000"/>
              </a:spcBef>
              <a:spcAft>
                <a:spcPct val="15000"/>
              </a:spcAft>
              <a:buFont typeface="Arial" panose="020B0604020202020204" pitchFamily="34" charset="0"/>
              <a:buChar char="•"/>
              <a:defRPr/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以公司角度出發，事前完整規劃並推演各種可能問題，細緻的服務內涵，切合大型集團企業對於案件執行過程之高度要求，提供公司完整而深入之規劃建議</a:t>
            </a:r>
          </a:p>
          <a:p>
            <a:pPr marL="285750" indent="-285750" algn="l">
              <a:spcBef>
                <a:spcPct val="15000"/>
              </a:spcBef>
              <a:spcAft>
                <a:spcPct val="15000"/>
              </a:spcAft>
              <a:buFont typeface="Arial" panose="020B0604020202020204" pitchFamily="34" charset="0"/>
              <a:buChar char="•"/>
              <a:defRPr/>
            </a:pPr>
            <a:r>
              <a:rPr lang="zh-TW" altLang="en-US" sz="1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承銷團隊相關之輔導集團經驗：</a:t>
            </a:r>
            <a:endParaRPr lang="en-US" altLang="zh-TW" sz="1600" b="0" dirty="0">
              <a:latin typeface="+mn-lt"/>
              <a:ea typeface="微軟正黑體" panose="020B0604030504040204" pitchFamily="34" charset="-120"/>
            </a:endParaRP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E95309C1-ECFE-A80B-DF2C-3E384B7A6DF2}"/>
              </a:ext>
            </a:extLst>
          </p:cNvPr>
          <p:cNvGrpSpPr/>
          <p:nvPr/>
        </p:nvGrpSpPr>
        <p:grpSpPr>
          <a:xfrm>
            <a:off x="5585444" y="4349435"/>
            <a:ext cx="1440000" cy="720000"/>
            <a:chOff x="4719871" y="4293994"/>
            <a:chExt cx="1440000" cy="720000"/>
          </a:xfrm>
        </p:grpSpPr>
        <p:sp>
          <p:nvSpPr>
            <p:cNvPr id="46" name="Text Box 30"/>
            <p:cNvSpPr txBox="1">
              <a:spLocks noChangeArrowheads="1"/>
            </p:cNvSpPr>
            <p:nvPr/>
          </p:nvSpPr>
          <p:spPr bwMode="auto">
            <a:xfrm>
              <a:off x="4719871" y="4293994"/>
              <a:ext cx="1440000" cy="7200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維熹科技上市案</a:t>
              </a:r>
            </a:p>
          </p:txBody>
        </p:sp>
        <p:pic>
          <p:nvPicPr>
            <p:cNvPr id="45" name="Picture 1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2588" y="4632067"/>
              <a:ext cx="1129719" cy="2988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ECE09A6D-E3F4-6776-9F96-7990F6B0ECB8}"/>
              </a:ext>
            </a:extLst>
          </p:cNvPr>
          <p:cNvGrpSpPr/>
          <p:nvPr/>
        </p:nvGrpSpPr>
        <p:grpSpPr>
          <a:xfrm>
            <a:off x="2283740" y="4337061"/>
            <a:ext cx="1440000" cy="720000"/>
            <a:chOff x="971663" y="4293994"/>
            <a:chExt cx="1440000" cy="720000"/>
          </a:xfrm>
        </p:grpSpPr>
        <p:sp>
          <p:nvSpPr>
            <p:cNvPr id="51" name="Text Box 22"/>
            <p:cNvSpPr txBox="1">
              <a:spLocks noChangeArrowheads="1"/>
            </p:cNvSpPr>
            <p:nvPr/>
          </p:nvSpPr>
          <p:spPr bwMode="auto">
            <a:xfrm>
              <a:off x="971663" y="4293994"/>
              <a:ext cx="1440000" cy="7200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安可光電上櫃案</a:t>
              </a:r>
            </a:p>
          </p:txBody>
        </p:sp>
        <p:pic>
          <p:nvPicPr>
            <p:cNvPr id="52" name="Picture 3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6633" y="4520414"/>
              <a:ext cx="1001532" cy="4679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E443B5CD-E54A-4012-7490-1C806575EB9D}"/>
              </a:ext>
            </a:extLst>
          </p:cNvPr>
          <p:cNvGrpSpPr/>
          <p:nvPr/>
        </p:nvGrpSpPr>
        <p:grpSpPr>
          <a:xfrm>
            <a:off x="5623474" y="5314509"/>
            <a:ext cx="1440000" cy="720000"/>
            <a:chOff x="6588400" y="5309354"/>
            <a:chExt cx="1440000" cy="720000"/>
          </a:xfrm>
        </p:grpSpPr>
        <p:sp>
          <p:nvSpPr>
            <p:cNvPr id="58" name="Text Box 37"/>
            <p:cNvSpPr txBox="1">
              <a:spLocks noChangeArrowheads="1"/>
            </p:cNvSpPr>
            <p:nvPr/>
          </p:nvSpPr>
          <p:spPr bwMode="auto">
            <a:xfrm>
              <a:off x="6588400" y="5309354"/>
              <a:ext cx="1440000" cy="7200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台灣類比上櫃案</a:t>
              </a:r>
            </a:p>
          </p:txBody>
        </p:sp>
        <p:pic>
          <p:nvPicPr>
            <p:cNvPr id="57" name="Picture 1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17922" y="5608556"/>
              <a:ext cx="844595" cy="375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F5089EAA-93D2-2D8A-4203-8D179F597A00}"/>
              </a:ext>
            </a:extLst>
          </p:cNvPr>
          <p:cNvGrpSpPr/>
          <p:nvPr/>
        </p:nvGrpSpPr>
        <p:grpSpPr>
          <a:xfrm>
            <a:off x="3934592" y="4349435"/>
            <a:ext cx="1440000" cy="720000"/>
            <a:chOff x="2843909" y="4293994"/>
            <a:chExt cx="1584000" cy="849600"/>
          </a:xfrm>
        </p:grpSpPr>
        <p:sp>
          <p:nvSpPr>
            <p:cNvPr id="61" name="Text Box 39"/>
            <p:cNvSpPr txBox="1">
              <a:spLocks noChangeArrowheads="1"/>
            </p:cNvSpPr>
            <p:nvPr/>
          </p:nvSpPr>
          <p:spPr bwMode="auto">
            <a:xfrm>
              <a:off x="2843909" y="4293994"/>
              <a:ext cx="1584000" cy="8496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揚明光學上市案</a:t>
              </a:r>
            </a:p>
          </p:txBody>
        </p:sp>
        <p:pic>
          <p:nvPicPr>
            <p:cNvPr id="60" name="Picture 17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3952" y="4652322"/>
              <a:ext cx="1458684" cy="383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F8B1E232-BF34-E0B5-DAA7-7029ADF5943D}"/>
              </a:ext>
            </a:extLst>
          </p:cNvPr>
          <p:cNvGrpSpPr/>
          <p:nvPr/>
        </p:nvGrpSpPr>
        <p:grpSpPr>
          <a:xfrm>
            <a:off x="2321770" y="5314509"/>
            <a:ext cx="1440000" cy="720000"/>
            <a:chOff x="2843909" y="5309354"/>
            <a:chExt cx="1440000" cy="720000"/>
          </a:xfrm>
        </p:grpSpPr>
        <p:sp>
          <p:nvSpPr>
            <p:cNvPr id="63" name="Text Box 40"/>
            <p:cNvSpPr txBox="1">
              <a:spLocks noChangeArrowheads="1"/>
            </p:cNvSpPr>
            <p:nvPr/>
          </p:nvSpPr>
          <p:spPr bwMode="auto">
            <a:xfrm>
              <a:off x="2843909" y="5309354"/>
              <a:ext cx="1440000" cy="7200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熒茂光學上櫃案</a:t>
              </a:r>
            </a:p>
          </p:txBody>
        </p:sp>
        <p:pic>
          <p:nvPicPr>
            <p:cNvPr id="64" name="Picture 4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2510" y="5602357"/>
              <a:ext cx="861814" cy="372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C17A63F9-3845-6A95-F29F-37E004692A7D}"/>
              </a:ext>
            </a:extLst>
          </p:cNvPr>
          <p:cNvGrpSpPr/>
          <p:nvPr/>
        </p:nvGrpSpPr>
        <p:grpSpPr>
          <a:xfrm>
            <a:off x="670918" y="5314509"/>
            <a:ext cx="1440000" cy="720000"/>
            <a:chOff x="971663" y="5309354"/>
            <a:chExt cx="1584000" cy="849600"/>
          </a:xfrm>
        </p:grpSpPr>
        <p:sp>
          <p:nvSpPr>
            <p:cNvPr id="66" name="Text Box 44"/>
            <p:cNvSpPr txBox="1">
              <a:spLocks noChangeArrowheads="1"/>
            </p:cNvSpPr>
            <p:nvPr/>
          </p:nvSpPr>
          <p:spPr bwMode="auto">
            <a:xfrm>
              <a:off x="971663" y="5309354"/>
              <a:ext cx="1584000" cy="8496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彩富電子上櫃案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凌華科技上市案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zh-TW" sz="1400" dirty="0">
                <a:solidFill>
                  <a:srgbClr val="000000"/>
                </a:solidFill>
                <a:latin typeface="+mn-lt"/>
                <a:ea typeface="微軟正黑體" panose="020B0604030504040204" pitchFamily="34" charset="-120"/>
              </a:endParaRPr>
            </a:p>
          </p:txBody>
        </p:sp>
        <p:pic>
          <p:nvPicPr>
            <p:cNvPr id="67" name="Picture 45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6902" y="5858076"/>
              <a:ext cx="673487" cy="247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4BAE6ACA-62C6-A8E6-C600-74F2A34D293A}"/>
              </a:ext>
            </a:extLst>
          </p:cNvPr>
          <p:cNvGrpSpPr/>
          <p:nvPr/>
        </p:nvGrpSpPr>
        <p:grpSpPr>
          <a:xfrm>
            <a:off x="2283740" y="2309464"/>
            <a:ext cx="1440000" cy="720000"/>
            <a:chOff x="971663" y="2277533"/>
            <a:chExt cx="1584000" cy="849600"/>
          </a:xfrm>
        </p:grpSpPr>
        <p:sp>
          <p:nvSpPr>
            <p:cNvPr id="78" name="Text Box 27">
              <a:extLst>
                <a:ext uri="{FF2B5EF4-FFF2-40B4-BE49-F238E27FC236}">
                  <a16:creationId xmlns:a16="http://schemas.microsoft.com/office/drawing/2014/main" id="{9845E1C8-83DD-45A5-9868-6E8BE8D212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663" y="2277533"/>
              <a:ext cx="1584000" cy="8496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和潤企業上市案</a:t>
              </a:r>
            </a:p>
          </p:txBody>
        </p:sp>
        <p:pic>
          <p:nvPicPr>
            <p:cNvPr id="79" name="Picture 2" descr="「和泰汽車」的圖片搜尋結果">
              <a:extLst>
                <a:ext uri="{FF2B5EF4-FFF2-40B4-BE49-F238E27FC236}">
                  <a16:creationId xmlns:a16="http://schemas.microsoft.com/office/drawing/2014/main" id="{8B39A5B6-7D52-4109-BBB0-464716369A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8170" y="2636912"/>
              <a:ext cx="1231200" cy="3784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CCB1C3E5-8B9F-6330-19BB-4C7326C36048}"/>
              </a:ext>
            </a:extLst>
          </p:cNvPr>
          <p:cNvGrpSpPr/>
          <p:nvPr/>
        </p:nvGrpSpPr>
        <p:grpSpPr>
          <a:xfrm>
            <a:off x="3937844" y="2313064"/>
            <a:ext cx="1440000" cy="720000"/>
            <a:chOff x="2843909" y="2277533"/>
            <a:chExt cx="1584000" cy="849600"/>
          </a:xfrm>
        </p:grpSpPr>
        <p:sp>
          <p:nvSpPr>
            <p:cNvPr id="77" name="Text Box 35">
              <a:extLst>
                <a:ext uri="{FF2B5EF4-FFF2-40B4-BE49-F238E27FC236}">
                  <a16:creationId xmlns:a16="http://schemas.microsoft.com/office/drawing/2014/main" id="{2F02B6A1-FE83-45D5-8EAB-4D1247797E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3909" y="2277533"/>
              <a:ext cx="1584000" cy="8496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安碁資訊上櫃案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zh-TW" sz="1400" dirty="0">
                <a:solidFill>
                  <a:srgbClr val="000000"/>
                </a:solidFill>
                <a:latin typeface="+mn-lt"/>
                <a:ea typeface="微軟正黑體" panose="020B0604030504040204" pitchFamily="34" charset="-120"/>
              </a:endParaRPr>
            </a:p>
          </p:txBody>
        </p:sp>
        <p:pic>
          <p:nvPicPr>
            <p:cNvPr id="80" name="Picture 4" descr="「宏碁」的圖片搜尋結果">
              <a:extLst>
                <a:ext uri="{FF2B5EF4-FFF2-40B4-BE49-F238E27FC236}">
                  <a16:creationId xmlns:a16="http://schemas.microsoft.com/office/drawing/2014/main" id="{FB7F399C-57D3-4AE9-871F-99F2614252E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176" b="20933"/>
            <a:stretch/>
          </p:blipFill>
          <p:spPr bwMode="auto">
            <a:xfrm>
              <a:off x="3052768" y="2654299"/>
              <a:ext cx="1231200" cy="381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2BEDD876-686C-3D54-68B3-E4621A45B2EC}"/>
              </a:ext>
            </a:extLst>
          </p:cNvPr>
          <p:cNvGrpSpPr/>
          <p:nvPr/>
        </p:nvGrpSpPr>
        <p:grpSpPr>
          <a:xfrm>
            <a:off x="5585444" y="3321365"/>
            <a:ext cx="1440000" cy="720000"/>
            <a:chOff x="4719871" y="3285834"/>
            <a:chExt cx="1584000" cy="849600"/>
          </a:xfrm>
        </p:grpSpPr>
        <p:sp>
          <p:nvSpPr>
            <p:cNvPr id="76" name="Text Box 30">
              <a:extLst>
                <a:ext uri="{FF2B5EF4-FFF2-40B4-BE49-F238E27FC236}">
                  <a16:creationId xmlns:a16="http://schemas.microsoft.com/office/drawing/2014/main" id="{75BCA52D-4B43-4EBE-A825-93913CF7C3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9871" y="3285834"/>
              <a:ext cx="1584000" cy="8496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東捷資訊上櫃案</a:t>
              </a:r>
            </a:p>
          </p:txBody>
        </p:sp>
        <p:pic>
          <p:nvPicPr>
            <p:cNvPr id="81" name="Picture 6" descr="「東元」的圖片搜尋結果">
              <a:extLst>
                <a:ext uri="{FF2B5EF4-FFF2-40B4-BE49-F238E27FC236}">
                  <a16:creationId xmlns:a16="http://schemas.microsoft.com/office/drawing/2014/main" id="{33561E28-70CC-4289-8072-EA5900F1EA6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651" b="37664"/>
            <a:stretch/>
          </p:blipFill>
          <p:spPr bwMode="auto">
            <a:xfrm>
              <a:off x="4924976" y="3646725"/>
              <a:ext cx="1231200" cy="4024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5" name="Rectangle 2">
            <a:extLst>
              <a:ext uri="{FF2B5EF4-FFF2-40B4-BE49-F238E27FC236}">
                <a16:creationId xmlns:a16="http://schemas.microsoft.com/office/drawing/2014/main" id="{5513A6FA-1C44-4F5B-AE67-7C58517F1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376" y="395914"/>
            <a:ext cx="8221080" cy="6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標楷體" pitchFamily="65" charset="-120"/>
                <a:ea typeface="新細明體" pitchFamily="18" charset="-120"/>
              </a:defRPr>
            </a:lvl9pPr>
          </a:lstStyle>
          <a:p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服務各類大型企業擁有深厚經驗</a:t>
            </a: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178F2867-498C-EF6C-2143-B16FD9647101}"/>
              </a:ext>
            </a:extLst>
          </p:cNvPr>
          <p:cNvGrpSpPr/>
          <p:nvPr/>
        </p:nvGrpSpPr>
        <p:grpSpPr>
          <a:xfrm>
            <a:off x="2283740" y="3329237"/>
            <a:ext cx="1440000" cy="720000"/>
            <a:chOff x="971663" y="3285834"/>
            <a:chExt cx="1584000" cy="849600"/>
          </a:xfrm>
        </p:grpSpPr>
        <p:sp>
          <p:nvSpPr>
            <p:cNvPr id="74" name="Text Box 58"/>
            <p:cNvSpPr txBox="1">
              <a:spLocks noChangeArrowheads="1"/>
            </p:cNvSpPr>
            <p:nvPr/>
          </p:nvSpPr>
          <p:spPr bwMode="auto">
            <a:xfrm>
              <a:off x="971663" y="3285834"/>
              <a:ext cx="1584000" cy="8496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明揚上櫃案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zh-TW" sz="1400" dirty="0">
                <a:solidFill>
                  <a:srgbClr val="000000"/>
                </a:solidFill>
                <a:latin typeface="+mn-lt"/>
                <a:ea typeface="微軟正黑體" panose="020B0604030504040204" pitchFamily="34" charset="-120"/>
              </a:endParaRPr>
            </a:p>
          </p:txBody>
        </p:sp>
        <p:pic>
          <p:nvPicPr>
            <p:cNvPr id="26629" name="Picture 5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824" y="3573017"/>
              <a:ext cx="648072" cy="505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4AEEF3A7-3155-7123-5230-6C33DA843838}"/>
              </a:ext>
            </a:extLst>
          </p:cNvPr>
          <p:cNvGrpSpPr/>
          <p:nvPr/>
        </p:nvGrpSpPr>
        <p:grpSpPr>
          <a:xfrm>
            <a:off x="3937844" y="3321365"/>
            <a:ext cx="1440000" cy="720000"/>
            <a:chOff x="2843909" y="3285834"/>
            <a:chExt cx="1584000" cy="849600"/>
          </a:xfrm>
        </p:grpSpPr>
        <p:sp>
          <p:nvSpPr>
            <p:cNvPr id="72" name="Text Box 58"/>
            <p:cNvSpPr txBox="1">
              <a:spLocks noChangeArrowheads="1"/>
            </p:cNvSpPr>
            <p:nvPr/>
          </p:nvSpPr>
          <p:spPr bwMode="auto">
            <a:xfrm>
              <a:off x="2843909" y="3285834"/>
              <a:ext cx="1584000" cy="8496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廣穎電通上櫃案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zh-TW" sz="1400" dirty="0">
                <a:solidFill>
                  <a:srgbClr val="000000"/>
                </a:solidFill>
                <a:latin typeface="+mn-lt"/>
                <a:ea typeface="微軟正黑體" panose="020B0604030504040204" pitchFamily="34" charset="-120"/>
              </a:endParaRPr>
            </a:p>
          </p:txBody>
        </p:sp>
        <p:pic>
          <p:nvPicPr>
            <p:cNvPr id="26631" name="Picture 7" descr="Sitronix 矽創電子股份有限公司– Latest Jobs | CakeResume Job Search"/>
            <p:cNvPicPr>
              <a:picLocks noChangeAspect="1" noChangeArrowheads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5691" r="553" b="36941"/>
            <a:stretch/>
          </p:blipFill>
          <p:spPr bwMode="auto">
            <a:xfrm>
              <a:off x="2984260" y="3645024"/>
              <a:ext cx="1296144" cy="3567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6B1C2A9C-5B4E-1857-B67B-B25BB82F8EA5}"/>
              </a:ext>
            </a:extLst>
          </p:cNvPr>
          <p:cNvGrpSpPr/>
          <p:nvPr/>
        </p:nvGrpSpPr>
        <p:grpSpPr>
          <a:xfrm>
            <a:off x="3972622" y="5314509"/>
            <a:ext cx="1440000" cy="720000"/>
            <a:chOff x="4719871" y="5309354"/>
            <a:chExt cx="1584000" cy="849600"/>
          </a:xfrm>
        </p:grpSpPr>
        <p:sp>
          <p:nvSpPr>
            <p:cNvPr id="69" name="Text Box 27"/>
            <p:cNvSpPr txBox="1">
              <a:spLocks noChangeArrowheads="1"/>
            </p:cNvSpPr>
            <p:nvPr/>
          </p:nvSpPr>
          <p:spPr bwMode="auto">
            <a:xfrm>
              <a:off x="4719871" y="5309354"/>
              <a:ext cx="1584000" cy="8496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信昌化工上市案</a:t>
              </a:r>
            </a:p>
          </p:txBody>
        </p:sp>
        <p:pic>
          <p:nvPicPr>
            <p:cNvPr id="26635" name="Picture 11" descr="台灣水泥"/>
            <p:cNvPicPr>
              <a:picLocks noChangeAspect="1" noChangeArrowheads="1"/>
            </p:cNvPicPr>
            <p:nvPr/>
          </p:nvPicPr>
          <p:blipFill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38" t="17451" r="8449" b="19217"/>
            <a:stretch/>
          </p:blipFill>
          <p:spPr bwMode="auto">
            <a:xfrm>
              <a:off x="4860208" y="5589240"/>
              <a:ext cx="1296144" cy="5197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9319ADBC-41FE-918A-B92D-3017DAA5FD86}"/>
              </a:ext>
            </a:extLst>
          </p:cNvPr>
          <p:cNvGrpSpPr/>
          <p:nvPr/>
        </p:nvGrpSpPr>
        <p:grpSpPr>
          <a:xfrm>
            <a:off x="7228626" y="3332266"/>
            <a:ext cx="1440000" cy="720000"/>
            <a:chOff x="6588400" y="3287335"/>
            <a:chExt cx="1440000" cy="720000"/>
          </a:xfrm>
        </p:grpSpPr>
        <p:sp>
          <p:nvSpPr>
            <p:cNvPr id="38" name="Text Box 35"/>
            <p:cNvSpPr txBox="1">
              <a:spLocks noChangeArrowheads="1"/>
            </p:cNvSpPr>
            <p:nvPr/>
          </p:nvSpPr>
          <p:spPr bwMode="auto">
            <a:xfrm>
              <a:off x="6588400" y="3287335"/>
              <a:ext cx="1440000" cy="7200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醫揚上櫃案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zh-TW" sz="1400" dirty="0">
                <a:solidFill>
                  <a:srgbClr val="000000"/>
                </a:solidFill>
                <a:latin typeface="+mn-lt"/>
                <a:ea typeface="微軟正黑體" panose="020B0604030504040204" pitchFamily="34" charset="-120"/>
              </a:endParaRPr>
            </a:p>
          </p:txBody>
        </p:sp>
        <p:pic>
          <p:nvPicPr>
            <p:cNvPr id="39" name="Picture 4" descr="File:ASUS Logo.svg - 維基百科，自由的百科全書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4620" y="3618770"/>
              <a:ext cx="1231200" cy="2452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4260037D-835E-97C9-37E3-290F5401007F}"/>
              </a:ext>
            </a:extLst>
          </p:cNvPr>
          <p:cNvGrpSpPr/>
          <p:nvPr/>
        </p:nvGrpSpPr>
        <p:grpSpPr>
          <a:xfrm>
            <a:off x="5585444" y="2313064"/>
            <a:ext cx="1440000" cy="720000"/>
            <a:chOff x="4719871" y="2277533"/>
            <a:chExt cx="1584000" cy="849600"/>
          </a:xfrm>
        </p:grpSpPr>
        <p:sp>
          <p:nvSpPr>
            <p:cNvPr id="37" name="Text Box 30">
              <a:extLst>
                <a:ext uri="{FF2B5EF4-FFF2-40B4-BE49-F238E27FC236}">
                  <a16:creationId xmlns:a16="http://schemas.microsoft.com/office/drawing/2014/main" id="{75BCA52D-4B43-4EBE-A825-93913CF7C3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9871" y="2277533"/>
              <a:ext cx="1584000" cy="8496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宏碁資訊上櫃案</a:t>
              </a:r>
            </a:p>
          </p:txBody>
        </p:sp>
        <p:pic>
          <p:nvPicPr>
            <p:cNvPr id="41" name="Picture 4" descr="「宏碁」的圖片搜尋結果">
              <a:extLst>
                <a:ext uri="{FF2B5EF4-FFF2-40B4-BE49-F238E27FC236}">
                  <a16:creationId xmlns:a16="http://schemas.microsoft.com/office/drawing/2014/main" id="{FB7F399C-57D3-4AE9-871F-99F2614252E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176" b="20933"/>
            <a:stretch/>
          </p:blipFill>
          <p:spPr bwMode="auto">
            <a:xfrm>
              <a:off x="4924976" y="2649612"/>
              <a:ext cx="1231200" cy="381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F83188BB-8273-1CE5-CB65-797F89D54082}"/>
              </a:ext>
            </a:extLst>
          </p:cNvPr>
          <p:cNvGrpSpPr/>
          <p:nvPr/>
        </p:nvGrpSpPr>
        <p:grpSpPr>
          <a:xfrm>
            <a:off x="7228626" y="4351468"/>
            <a:ext cx="1440000" cy="720000"/>
            <a:chOff x="6588400" y="4293994"/>
            <a:chExt cx="1440000" cy="720000"/>
          </a:xfrm>
        </p:grpSpPr>
        <p:sp>
          <p:nvSpPr>
            <p:cNvPr id="49" name="Text Box 32"/>
            <p:cNvSpPr txBox="1">
              <a:spLocks noChangeArrowheads="1"/>
            </p:cNvSpPr>
            <p:nvPr/>
          </p:nvSpPr>
          <p:spPr bwMode="auto">
            <a:xfrm>
              <a:off x="6588400" y="4293994"/>
              <a:ext cx="1440000" cy="7200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通嘉科技上市案</a:t>
              </a:r>
            </a:p>
          </p:txBody>
        </p:sp>
        <p:pic>
          <p:nvPicPr>
            <p:cNvPr id="29702" name="Picture 6" descr="台積電Logo上的黑點代表什麼？鄉民神回笑翻一票人！ | 網路人氣話題| DailyView 網路溫度計"/>
            <p:cNvPicPr>
              <a:picLocks noChangeAspect="1" noChangeArrowheads="1"/>
            </p:cNvPicPr>
            <p:nvPr/>
          </p:nvPicPr>
          <p:blipFill rotWithShape="1"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625" r="46652" b="17075"/>
            <a:stretch/>
          </p:blipFill>
          <p:spPr bwMode="auto">
            <a:xfrm>
              <a:off x="7072923" y="4585078"/>
              <a:ext cx="470954" cy="392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群組 5">
            <a:extLst>
              <a:ext uri="{FF2B5EF4-FFF2-40B4-BE49-F238E27FC236}">
                <a16:creationId xmlns:a16="http://schemas.microsoft.com/office/drawing/2014/main" id="{A02A9A38-22ED-BF8A-D8B8-5846D6FDC2A0}"/>
              </a:ext>
            </a:extLst>
          </p:cNvPr>
          <p:cNvGrpSpPr/>
          <p:nvPr/>
        </p:nvGrpSpPr>
        <p:grpSpPr>
          <a:xfrm>
            <a:off x="7228626" y="2313064"/>
            <a:ext cx="1440000" cy="720000"/>
            <a:chOff x="6588400" y="2277533"/>
            <a:chExt cx="1440000" cy="720000"/>
          </a:xfrm>
        </p:grpSpPr>
        <p:sp>
          <p:nvSpPr>
            <p:cNvPr id="36" name="Text Box 35"/>
            <p:cNvSpPr txBox="1">
              <a:spLocks noChangeArrowheads="1"/>
            </p:cNvSpPr>
            <p:nvPr/>
          </p:nvSpPr>
          <p:spPr bwMode="auto">
            <a:xfrm>
              <a:off x="6588400" y="2277533"/>
              <a:ext cx="1440000" cy="7200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易華電子上市案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zh-TW" sz="1400" dirty="0">
                <a:solidFill>
                  <a:srgbClr val="000000"/>
                </a:solidFill>
                <a:latin typeface="+mn-lt"/>
                <a:ea typeface="微軟正黑體" panose="020B0604030504040204" pitchFamily="34" charset="-120"/>
              </a:endParaRPr>
            </a:p>
          </p:txBody>
        </p:sp>
        <p:pic>
          <p:nvPicPr>
            <p:cNvPr id="29704" name="Picture 8" descr="CWE 長華電材- 官方網站"/>
            <p:cNvPicPr>
              <a:picLocks noChangeAspect="1" noChangeArrowheads="1"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71" r="7817" b="53991"/>
            <a:stretch/>
          </p:blipFill>
          <p:spPr bwMode="auto">
            <a:xfrm>
              <a:off x="6826272" y="2592854"/>
              <a:ext cx="998946" cy="3361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63FF2ED1-FF3F-C855-59EF-D9796FFF58E6}"/>
              </a:ext>
            </a:extLst>
          </p:cNvPr>
          <p:cNvGrpSpPr/>
          <p:nvPr/>
        </p:nvGrpSpPr>
        <p:grpSpPr>
          <a:xfrm>
            <a:off x="670918" y="2301073"/>
            <a:ext cx="1440000" cy="720000"/>
            <a:chOff x="670918" y="2301073"/>
            <a:chExt cx="1440000" cy="720000"/>
          </a:xfrm>
        </p:grpSpPr>
        <p:sp>
          <p:nvSpPr>
            <p:cNvPr id="25" name="Text Box 27">
              <a:extLst>
                <a:ext uri="{FF2B5EF4-FFF2-40B4-BE49-F238E27FC236}">
                  <a16:creationId xmlns:a16="http://schemas.microsoft.com/office/drawing/2014/main" id="{F94279E6-4669-2A21-9937-8A34F2B1B5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918" y="2301073"/>
              <a:ext cx="1440000" cy="7200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倚天酷碁上市案</a:t>
              </a:r>
            </a:p>
          </p:txBody>
        </p:sp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6C6ABC56-9B01-6DED-876F-B5132EDA84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backgroundRemoval t="29000" b="72200" l="0" r="97400">
                          <a14:foregroundMark x1="59000" y1="65600" x2="88000" y2="66800"/>
                          <a14:foregroundMark x1="56400" y1="63600" x2="88400" y2="61400"/>
                          <a14:foregroundMark x1="57600" y1="60400" x2="89400" y2="62600"/>
                          <a14:foregroundMark x1="58000" y1="67800" x2="89000" y2="68200"/>
                        </a14:backgroundRemoval>
                      </a14:imgEffect>
                    </a14:imgLayer>
                  </a14:imgProps>
                </a:ext>
              </a:extLst>
            </a:blip>
            <a:srcRect t="27320" b="22784"/>
            <a:stretch/>
          </p:blipFill>
          <p:spPr>
            <a:xfrm>
              <a:off x="970481" y="2583389"/>
              <a:ext cx="877204" cy="437684"/>
            </a:xfrm>
            <a:prstGeom prst="rect">
              <a:avLst/>
            </a:prstGeom>
          </p:spPr>
        </p:pic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A9CFE519-31BA-33F6-07BC-5C2D65704848}"/>
              </a:ext>
            </a:extLst>
          </p:cNvPr>
          <p:cNvGrpSpPr/>
          <p:nvPr/>
        </p:nvGrpSpPr>
        <p:grpSpPr>
          <a:xfrm>
            <a:off x="670918" y="3320846"/>
            <a:ext cx="1440000" cy="720000"/>
            <a:chOff x="670918" y="3320846"/>
            <a:chExt cx="1440000" cy="720000"/>
          </a:xfrm>
        </p:grpSpPr>
        <p:sp>
          <p:nvSpPr>
            <p:cNvPr id="28" name="Text Box 58">
              <a:extLst>
                <a:ext uri="{FF2B5EF4-FFF2-40B4-BE49-F238E27FC236}">
                  <a16:creationId xmlns:a16="http://schemas.microsoft.com/office/drawing/2014/main" id="{45E0A57A-F4CF-64E7-4043-A73027A3C1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918" y="3320846"/>
              <a:ext cx="1440000" cy="7200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台灣虎航上市案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zh-TW" sz="1400" dirty="0">
                <a:solidFill>
                  <a:srgbClr val="000000"/>
                </a:solidFill>
                <a:latin typeface="+mn-lt"/>
                <a:ea typeface="微軟正黑體" panose="020B0604030504040204" pitchFamily="34" charset="-120"/>
              </a:endParaRPr>
            </a:p>
          </p:txBody>
        </p:sp>
        <p:pic>
          <p:nvPicPr>
            <p:cNvPr id="32" name="圖片 31">
              <a:extLst>
                <a:ext uri="{FF2B5EF4-FFF2-40B4-BE49-F238E27FC236}">
                  <a16:creationId xmlns:a16="http://schemas.microsoft.com/office/drawing/2014/main" id="{2107998A-6E64-D9E0-E9FF-4BB7C8E7B8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/>
            <a:srcRect t="34305" b="38229"/>
            <a:stretch/>
          </p:blipFill>
          <p:spPr>
            <a:xfrm>
              <a:off x="737195" y="3606619"/>
              <a:ext cx="1344428" cy="280840"/>
            </a:xfrm>
            <a:prstGeom prst="rect">
              <a:avLst/>
            </a:prstGeom>
          </p:spPr>
        </p:pic>
      </p:grp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278A662A-DD07-A180-EF47-FE7649BFE2E4}"/>
              </a:ext>
            </a:extLst>
          </p:cNvPr>
          <p:cNvGrpSpPr/>
          <p:nvPr/>
        </p:nvGrpSpPr>
        <p:grpSpPr>
          <a:xfrm>
            <a:off x="670918" y="4328670"/>
            <a:ext cx="1440000" cy="720000"/>
            <a:chOff x="670918" y="4328670"/>
            <a:chExt cx="1440000" cy="720000"/>
          </a:xfrm>
        </p:grpSpPr>
        <p:sp>
          <p:nvSpPr>
            <p:cNvPr id="19" name="Text Box 22">
              <a:extLst>
                <a:ext uri="{FF2B5EF4-FFF2-40B4-BE49-F238E27FC236}">
                  <a16:creationId xmlns:a16="http://schemas.microsoft.com/office/drawing/2014/main" id="{6E218B20-86C0-1589-0C53-A53459294C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918" y="4328670"/>
              <a:ext cx="1440000" cy="72000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TW" altLang="en-US" sz="140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富世達</a:t>
              </a:r>
              <a:r>
                <a:rPr lang="zh-TW" altLang="en-US" sz="1400" dirty="0">
                  <a:solidFill>
                    <a:srgbClr val="000000"/>
                  </a:solidFill>
                  <a:latin typeface="+mn-lt"/>
                  <a:ea typeface="微軟正黑體" panose="020B0604030504040204" pitchFamily="34" charset="-120"/>
                </a:rPr>
                <a:t>上市案</a:t>
              </a:r>
            </a:p>
          </p:txBody>
        </p:sp>
        <p:pic>
          <p:nvPicPr>
            <p:cNvPr id="34" name="圖片 33">
              <a:extLst>
                <a:ext uri="{FF2B5EF4-FFF2-40B4-BE49-F238E27FC236}">
                  <a16:creationId xmlns:a16="http://schemas.microsoft.com/office/drawing/2014/main" id="{3408E535-0796-7043-2B03-F320159693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/>
            <a:srcRect b="21775"/>
            <a:stretch/>
          </p:blipFill>
          <p:spPr>
            <a:xfrm>
              <a:off x="1048246" y="4654770"/>
              <a:ext cx="685343" cy="3216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5730253"/>
      </p:ext>
    </p:extLst>
  </p:cSld>
  <p:clrMapOvr>
    <a:masterClrMapping/>
  </p:clrMapOvr>
  <p:transition>
    <p:spli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F7D46F-0FA8-D6D0-FA54-2CF0FA7E6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1859"/>
            <a:ext cx="6491288" cy="633412"/>
          </a:xfrm>
          <a:solidFill>
            <a:schemeClr val="bg1"/>
          </a:solidFill>
        </p:spPr>
        <p:txBody>
          <a:bodyPr/>
          <a:lstStyle/>
          <a:p>
            <a:r>
              <a:rPr lang="zh-TW" altLang="en-US" sz="2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推動品牌企業邁向資本市場掛牌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Freeform: Shape 32">
            <a:extLst>
              <a:ext uri="{FF2B5EF4-FFF2-40B4-BE49-F238E27FC236}">
                <a16:creationId xmlns:a16="http://schemas.microsoft.com/office/drawing/2014/main" id="{C9C4E448-100B-5747-B7D8-6CA4098239BE}"/>
              </a:ext>
            </a:extLst>
          </p:cNvPr>
          <p:cNvSpPr/>
          <p:nvPr/>
        </p:nvSpPr>
        <p:spPr>
          <a:xfrm>
            <a:off x="1746944" y="4184636"/>
            <a:ext cx="841509" cy="355208"/>
          </a:xfrm>
          <a:custGeom>
            <a:avLst/>
            <a:gdLst>
              <a:gd name="connsiteX0" fmla="*/ 0 w 1122012"/>
              <a:gd name="connsiteY0" fmla="*/ 0 h 473610"/>
              <a:gd name="connsiteX1" fmla="*/ 4 w 1122012"/>
              <a:gd name="connsiteY1" fmla="*/ 0 h 473610"/>
              <a:gd name="connsiteX2" fmla="*/ 158074 w 1122012"/>
              <a:gd name="connsiteY2" fmla="*/ 157870 h 473610"/>
              <a:gd name="connsiteX3" fmla="*/ 518035 w 1122012"/>
              <a:gd name="connsiteY3" fmla="*/ 157870 h 473610"/>
              <a:gd name="connsiteX4" fmla="*/ 873590 w 1122012"/>
              <a:gd name="connsiteY4" fmla="*/ 157870 h 473610"/>
              <a:gd name="connsiteX5" fmla="*/ 963942 w 1122012"/>
              <a:gd name="connsiteY5" fmla="*/ 157870 h 473610"/>
              <a:gd name="connsiteX6" fmla="*/ 1122012 w 1122012"/>
              <a:gd name="connsiteY6" fmla="*/ 315740 h 473610"/>
              <a:gd name="connsiteX7" fmla="*/ 963942 w 1122012"/>
              <a:gd name="connsiteY7" fmla="*/ 473610 h 473610"/>
              <a:gd name="connsiteX8" fmla="*/ 3 w 1122012"/>
              <a:gd name="connsiteY8" fmla="*/ 473610 h 473610"/>
              <a:gd name="connsiteX9" fmla="*/ 3 w 1122012"/>
              <a:gd name="connsiteY9" fmla="*/ 315740 h 473610"/>
              <a:gd name="connsiteX10" fmla="*/ 0 w 1122012"/>
              <a:gd name="connsiteY10" fmla="*/ 315740 h 47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22012" h="473610">
                <a:moveTo>
                  <a:pt x="0" y="0"/>
                </a:moveTo>
                <a:lnTo>
                  <a:pt x="4" y="0"/>
                </a:lnTo>
                <a:cubicBezTo>
                  <a:pt x="4" y="87189"/>
                  <a:pt x="70774" y="157870"/>
                  <a:pt x="158074" y="157870"/>
                </a:cubicBezTo>
                <a:lnTo>
                  <a:pt x="518035" y="157870"/>
                </a:lnTo>
                <a:lnTo>
                  <a:pt x="873590" y="157870"/>
                </a:lnTo>
                <a:lnTo>
                  <a:pt x="963942" y="157870"/>
                </a:lnTo>
                <a:cubicBezTo>
                  <a:pt x="1051242" y="157870"/>
                  <a:pt x="1122012" y="228551"/>
                  <a:pt x="1122012" y="315740"/>
                </a:cubicBezTo>
                <a:cubicBezTo>
                  <a:pt x="1122012" y="402929"/>
                  <a:pt x="1051242" y="473610"/>
                  <a:pt x="963942" y="473610"/>
                </a:cubicBezTo>
                <a:lnTo>
                  <a:pt x="3" y="473610"/>
                </a:lnTo>
                <a:lnTo>
                  <a:pt x="3" y="315740"/>
                </a:lnTo>
                <a:lnTo>
                  <a:pt x="0" y="315740"/>
                </a:lnTo>
                <a:close/>
              </a:path>
            </a:pathLst>
          </a:custGeom>
          <a:gradFill flip="none" rotWithShape="1">
            <a:gsLst>
              <a:gs pos="0">
                <a:schemeClr val="bg2">
                  <a:lumMod val="75000"/>
                </a:schemeClr>
              </a:gs>
              <a:gs pos="42000">
                <a:schemeClr val="bg1">
                  <a:lumMod val="8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3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35" name="Freeform: Shape 33">
            <a:extLst>
              <a:ext uri="{FF2B5EF4-FFF2-40B4-BE49-F238E27FC236}">
                <a16:creationId xmlns:a16="http://schemas.microsoft.com/office/drawing/2014/main" id="{46BC8AF9-7D45-F17C-111D-56E64B78C7FA}"/>
              </a:ext>
            </a:extLst>
          </p:cNvPr>
          <p:cNvSpPr/>
          <p:nvPr/>
        </p:nvSpPr>
        <p:spPr>
          <a:xfrm flipH="1">
            <a:off x="1756515" y="4082180"/>
            <a:ext cx="2129318" cy="900000"/>
          </a:xfrm>
          <a:custGeom>
            <a:avLst/>
            <a:gdLst>
              <a:gd name="connsiteX0" fmla="*/ 4 w 2779777"/>
              <a:gd name="connsiteY0" fmla="*/ 541 h 1879095"/>
              <a:gd name="connsiteX1" fmla="*/ 4 w 2779777"/>
              <a:gd name="connsiteY1" fmla="*/ 157870 h 1879095"/>
              <a:gd name="connsiteX2" fmla="*/ 3 w 2779777"/>
              <a:gd name="connsiteY2" fmla="*/ 157870 h 1879095"/>
              <a:gd name="connsiteX3" fmla="*/ 3 w 2779777"/>
              <a:gd name="connsiteY3" fmla="*/ 473610 h 1879095"/>
              <a:gd name="connsiteX4" fmla="*/ 1657768 w 2779777"/>
              <a:gd name="connsiteY4" fmla="*/ 473610 h 1879095"/>
              <a:gd name="connsiteX5" fmla="*/ 1657768 w 2779777"/>
              <a:gd name="connsiteY5" fmla="*/ 473611 h 1879095"/>
              <a:gd name="connsiteX6" fmla="*/ 0 w 2779777"/>
              <a:gd name="connsiteY6" fmla="*/ 473611 h 1879095"/>
              <a:gd name="connsiteX7" fmla="*/ 0 w 2779777"/>
              <a:gd name="connsiteY7" fmla="*/ 1637039 h 1879095"/>
              <a:gd name="connsiteX8" fmla="*/ 242363 w 2779777"/>
              <a:gd name="connsiteY8" fmla="*/ 1879095 h 1879095"/>
              <a:gd name="connsiteX9" fmla="*/ 1657768 w 2779777"/>
              <a:gd name="connsiteY9" fmla="*/ 1879095 h 1879095"/>
              <a:gd name="connsiteX10" fmla="*/ 1657768 w 2779777"/>
              <a:gd name="connsiteY10" fmla="*/ 910453 h 1879095"/>
              <a:gd name="connsiteX11" fmla="*/ 1657768 w 2779777"/>
              <a:gd name="connsiteY11" fmla="*/ 836121 h 1879095"/>
              <a:gd name="connsiteX12" fmla="*/ 1657768 w 2779777"/>
              <a:gd name="connsiteY12" fmla="*/ 789350 h 1879095"/>
              <a:gd name="connsiteX13" fmla="*/ 1657768 w 2779777"/>
              <a:gd name="connsiteY13" fmla="*/ 631480 h 1879095"/>
              <a:gd name="connsiteX14" fmla="*/ 1657769 w 2779777"/>
              <a:gd name="connsiteY14" fmla="*/ 631480 h 1879095"/>
              <a:gd name="connsiteX15" fmla="*/ 1815839 w 2779777"/>
              <a:gd name="connsiteY15" fmla="*/ 473610 h 1879095"/>
              <a:gd name="connsiteX16" fmla="*/ 1906191 w 2779777"/>
              <a:gd name="connsiteY16" fmla="*/ 473610 h 1879095"/>
              <a:gd name="connsiteX17" fmla="*/ 2261746 w 2779777"/>
              <a:gd name="connsiteY17" fmla="*/ 473610 h 1879095"/>
              <a:gd name="connsiteX18" fmla="*/ 2303383 w 2779777"/>
              <a:gd name="connsiteY18" fmla="*/ 473610 h 1879095"/>
              <a:gd name="connsiteX19" fmla="*/ 2621707 w 2779777"/>
              <a:gd name="connsiteY19" fmla="*/ 473610 h 1879095"/>
              <a:gd name="connsiteX20" fmla="*/ 2779777 w 2779777"/>
              <a:gd name="connsiteY20" fmla="*/ 315740 h 1879095"/>
              <a:gd name="connsiteX21" fmla="*/ 2621707 w 2779777"/>
              <a:gd name="connsiteY21" fmla="*/ 157870 h 1879095"/>
              <a:gd name="connsiteX22" fmla="*/ 1906191 w 2779777"/>
              <a:gd name="connsiteY22" fmla="*/ 157870 h 1879095"/>
              <a:gd name="connsiteX23" fmla="*/ 1657769 w 2779777"/>
              <a:gd name="connsiteY23" fmla="*/ 157870 h 1879095"/>
              <a:gd name="connsiteX24" fmla="*/ 1122013 w 2779777"/>
              <a:gd name="connsiteY24" fmla="*/ 157870 h 1879095"/>
              <a:gd name="connsiteX25" fmla="*/ 1122013 w 2779777"/>
              <a:gd name="connsiteY25" fmla="*/ 158411 h 1879095"/>
              <a:gd name="connsiteX26" fmla="*/ 158074 w 2779777"/>
              <a:gd name="connsiteY26" fmla="*/ 158411 h 1879095"/>
              <a:gd name="connsiteX27" fmla="*/ 4 w 2779777"/>
              <a:gd name="connsiteY27" fmla="*/ 541 h 1879095"/>
              <a:gd name="connsiteX28" fmla="*/ 114 w 2779777"/>
              <a:gd name="connsiteY28" fmla="*/ 0 h 1879095"/>
              <a:gd name="connsiteX29" fmla="*/ 4 w 2779777"/>
              <a:gd name="connsiteY29" fmla="*/ 0 h 1879095"/>
              <a:gd name="connsiteX30" fmla="*/ 4 w 2779777"/>
              <a:gd name="connsiteY30" fmla="*/ 541 h 18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779777" h="1879095">
                <a:moveTo>
                  <a:pt x="4" y="541"/>
                </a:moveTo>
                <a:lnTo>
                  <a:pt x="4" y="157870"/>
                </a:lnTo>
                <a:lnTo>
                  <a:pt x="3" y="157870"/>
                </a:lnTo>
                <a:lnTo>
                  <a:pt x="3" y="473610"/>
                </a:lnTo>
                <a:lnTo>
                  <a:pt x="1657768" y="473610"/>
                </a:lnTo>
                <a:lnTo>
                  <a:pt x="1657768" y="473611"/>
                </a:lnTo>
                <a:lnTo>
                  <a:pt x="0" y="473611"/>
                </a:lnTo>
                <a:lnTo>
                  <a:pt x="0" y="1637039"/>
                </a:lnTo>
                <a:cubicBezTo>
                  <a:pt x="0" y="1770723"/>
                  <a:pt x="108510" y="1879095"/>
                  <a:pt x="242363" y="1879095"/>
                </a:cubicBezTo>
                <a:lnTo>
                  <a:pt x="1657768" y="1879095"/>
                </a:lnTo>
                <a:lnTo>
                  <a:pt x="1657768" y="910453"/>
                </a:lnTo>
                <a:lnTo>
                  <a:pt x="1657768" y="836121"/>
                </a:lnTo>
                <a:lnTo>
                  <a:pt x="1657768" y="789350"/>
                </a:lnTo>
                <a:lnTo>
                  <a:pt x="1657768" y="631480"/>
                </a:lnTo>
                <a:lnTo>
                  <a:pt x="1657769" y="631480"/>
                </a:lnTo>
                <a:cubicBezTo>
                  <a:pt x="1657769" y="544291"/>
                  <a:pt x="1728539" y="473610"/>
                  <a:pt x="1815839" y="473610"/>
                </a:cubicBezTo>
                <a:lnTo>
                  <a:pt x="1906191" y="473610"/>
                </a:lnTo>
                <a:lnTo>
                  <a:pt x="2261746" y="473610"/>
                </a:lnTo>
                <a:lnTo>
                  <a:pt x="2303383" y="473610"/>
                </a:lnTo>
                <a:lnTo>
                  <a:pt x="2621707" y="473610"/>
                </a:lnTo>
                <a:cubicBezTo>
                  <a:pt x="2709007" y="473610"/>
                  <a:pt x="2779777" y="402929"/>
                  <a:pt x="2779777" y="315740"/>
                </a:cubicBezTo>
                <a:cubicBezTo>
                  <a:pt x="2779777" y="228551"/>
                  <a:pt x="2709007" y="157870"/>
                  <a:pt x="2621707" y="157870"/>
                </a:cubicBezTo>
                <a:lnTo>
                  <a:pt x="1906191" y="157870"/>
                </a:lnTo>
                <a:lnTo>
                  <a:pt x="1657769" y="157870"/>
                </a:lnTo>
                <a:lnTo>
                  <a:pt x="1122013" y="157870"/>
                </a:lnTo>
                <a:lnTo>
                  <a:pt x="1122013" y="158411"/>
                </a:lnTo>
                <a:lnTo>
                  <a:pt x="158074" y="158411"/>
                </a:lnTo>
                <a:cubicBezTo>
                  <a:pt x="70774" y="158411"/>
                  <a:pt x="4" y="87730"/>
                  <a:pt x="4" y="541"/>
                </a:cubicBezTo>
                <a:close/>
                <a:moveTo>
                  <a:pt x="114" y="0"/>
                </a:moveTo>
                <a:lnTo>
                  <a:pt x="4" y="0"/>
                </a:lnTo>
                <a:lnTo>
                  <a:pt x="4" y="541"/>
                </a:lnTo>
                <a:close/>
              </a:path>
            </a:pathLst>
          </a:custGeom>
          <a:solidFill>
            <a:srgbClr val="920000"/>
          </a:solidFill>
          <a:ln>
            <a:noFill/>
          </a:ln>
          <a:effectLst>
            <a:reflection blurRad="6350" stA="300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3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36" name="Freeform: Shape 34">
            <a:extLst>
              <a:ext uri="{FF2B5EF4-FFF2-40B4-BE49-F238E27FC236}">
                <a16:creationId xmlns:a16="http://schemas.microsoft.com/office/drawing/2014/main" id="{B80BF495-7BA6-87B6-F52D-B42AF2E05303}"/>
              </a:ext>
            </a:extLst>
          </p:cNvPr>
          <p:cNvSpPr/>
          <p:nvPr/>
        </p:nvSpPr>
        <p:spPr>
          <a:xfrm>
            <a:off x="3006254" y="3814573"/>
            <a:ext cx="841509" cy="355208"/>
          </a:xfrm>
          <a:custGeom>
            <a:avLst/>
            <a:gdLst>
              <a:gd name="connsiteX0" fmla="*/ 0 w 1122012"/>
              <a:gd name="connsiteY0" fmla="*/ 0 h 473610"/>
              <a:gd name="connsiteX1" fmla="*/ 518035 w 1122012"/>
              <a:gd name="connsiteY1" fmla="*/ 0 h 473610"/>
              <a:gd name="connsiteX2" fmla="*/ 518035 w 1122012"/>
              <a:gd name="connsiteY2" fmla="*/ 157870 h 473610"/>
              <a:gd name="connsiteX3" fmla="*/ 963942 w 1122012"/>
              <a:gd name="connsiteY3" fmla="*/ 157870 h 473610"/>
              <a:gd name="connsiteX4" fmla="*/ 1122012 w 1122012"/>
              <a:gd name="connsiteY4" fmla="*/ 315740 h 473610"/>
              <a:gd name="connsiteX5" fmla="*/ 963942 w 1122012"/>
              <a:gd name="connsiteY5" fmla="*/ 473610 h 473610"/>
              <a:gd name="connsiteX6" fmla="*/ 3 w 1122012"/>
              <a:gd name="connsiteY6" fmla="*/ 473610 h 473610"/>
              <a:gd name="connsiteX7" fmla="*/ 3 w 1122012"/>
              <a:gd name="connsiteY7" fmla="*/ 315740 h 473610"/>
              <a:gd name="connsiteX8" fmla="*/ 0 w 1122012"/>
              <a:gd name="connsiteY8" fmla="*/ 315740 h 47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2012" h="473610">
                <a:moveTo>
                  <a:pt x="0" y="0"/>
                </a:moveTo>
                <a:lnTo>
                  <a:pt x="518035" y="0"/>
                </a:lnTo>
                <a:lnTo>
                  <a:pt x="518035" y="157870"/>
                </a:lnTo>
                <a:lnTo>
                  <a:pt x="963942" y="157870"/>
                </a:lnTo>
                <a:cubicBezTo>
                  <a:pt x="1051242" y="157870"/>
                  <a:pt x="1122012" y="228551"/>
                  <a:pt x="1122012" y="315740"/>
                </a:cubicBezTo>
                <a:cubicBezTo>
                  <a:pt x="1122012" y="402929"/>
                  <a:pt x="1051242" y="473610"/>
                  <a:pt x="963942" y="473610"/>
                </a:cubicBezTo>
                <a:lnTo>
                  <a:pt x="3" y="473610"/>
                </a:lnTo>
                <a:lnTo>
                  <a:pt x="3" y="315740"/>
                </a:lnTo>
                <a:lnTo>
                  <a:pt x="0" y="315740"/>
                </a:lnTo>
                <a:close/>
              </a:path>
            </a:pathLst>
          </a:custGeom>
          <a:gradFill flip="none" rotWithShape="1">
            <a:gsLst>
              <a:gs pos="0">
                <a:schemeClr val="bg2">
                  <a:lumMod val="75000"/>
                </a:schemeClr>
              </a:gs>
              <a:gs pos="42000">
                <a:schemeClr val="bg1">
                  <a:lumMod val="8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3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37" name="Freeform: Shape 35">
            <a:extLst>
              <a:ext uri="{FF2B5EF4-FFF2-40B4-BE49-F238E27FC236}">
                <a16:creationId xmlns:a16="http://schemas.microsoft.com/office/drawing/2014/main" id="{3212FE09-FED1-55DD-BEAE-2B12097451BF}"/>
              </a:ext>
            </a:extLst>
          </p:cNvPr>
          <p:cNvSpPr/>
          <p:nvPr/>
        </p:nvSpPr>
        <p:spPr>
          <a:xfrm flipH="1">
            <a:off x="2999551" y="3697070"/>
            <a:ext cx="2159897" cy="900000"/>
          </a:xfrm>
          <a:custGeom>
            <a:avLst/>
            <a:gdLst>
              <a:gd name="connsiteX0" fmla="*/ 4 w 2779777"/>
              <a:gd name="connsiteY0" fmla="*/ 541 h 1879095"/>
              <a:gd name="connsiteX1" fmla="*/ 4 w 2779777"/>
              <a:gd name="connsiteY1" fmla="*/ 157870 h 1879095"/>
              <a:gd name="connsiteX2" fmla="*/ 3 w 2779777"/>
              <a:gd name="connsiteY2" fmla="*/ 157870 h 1879095"/>
              <a:gd name="connsiteX3" fmla="*/ 3 w 2779777"/>
              <a:gd name="connsiteY3" fmla="*/ 473610 h 1879095"/>
              <a:gd name="connsiteX4" fmla="*/ 1657768 w 2779777"/>
              <a:gd name="connsiteY4" fmla="*/ 473610 h 1879095"/>
              <a:gd name="connsiteX5" fmla="*/ 1657768 w 2779777"/>
              <a:gd name="connsiteY5" fmla="*/ 473611 h 1879095"/>
              <a:gd name="connsiteX6" fmla="*/ 0 w 2779777"/>
              <a:gd name="connsiteY6" fmla="*/ 473611 h 1879095"/>
              <a:gd name="connsiteX7" fmla="*/ 0 w 2779777"/>
              <a:gd name="connsiteY7" fmla="*/ 1637039 h 1879095"/>
              <a:gd name="connsiteX8" fmla="*/ 242363 w 2779777"/>
              <a:gd name="connsiteY8" fmla="*/ 1879095 h 1879095"/>
              <a:gd name="connsiteX9" fmla="*/ 1657768 w 2779777"/>
              <a:gd name="connsiteY9" fmla="*/ 1879095 h 1879095"/>
              <a:gd name="connsiteX10" fmla="*/ 1657768 w 2779777"/>
              <a:gd name="connsiteY10" fmla="*/ 910453 h 1879095"/>
              <a:gd name="connsiteX11" fmla="*/ 1657768 w 2779777"/>
              <a:gd name="connsiteY11" fmla="*/ 836121 h 1879095"/>
              <a:gd name="connsiteX12" fmla="*/ 1657768 w 2779777"/>
              <a:gd name="connsiteY12" fmla="*/ 789350 h 1879095"/>
              <a:gd name="connsiteX13" fmla="*/ 1657768 w 2779777"/>
              <a:gd name="connsiteY13" fmla="*/ 631480 h 1879095"/>
              <a:gd name="connsiteX14" fmla="*/ 1657769 w 2779777"/>
              <a:gd name="connsiteY14" fmla="*/ 631480 h 1879095"/>
              <a:gd name="connsiteX15" fmla="*/ 1815839 w 2779777"/>
              <a:gd name="connsiteY15" fmla="*/ 473610 h 1879095"/>
              <a:gd name="connsiteX16" fmla="*/ 1906191 w 2779777"/>
              <a:gd name="connsiteY16" fmla="*/ 473610 h 1879095"/>
              <a:gd name="connsiteX17" fmla="*/ 2261746 w 2779777"/>
              <a:gd name="connsiteY17" fmla="*/ 473610 h 1879095"/>
              <a:gd name="connsiteX18" fmla="*/ 2303383 w 2779777"/>
              <a:gd name="connsiteY18" fmla="*/ 473610 h 1879095"/>
              <a:gd name="connsiteX19" fmla="*/ 2621707 w 2779777"/>
              <a:gd name="connsiteY19" fmla="*/ 473610 h 1879095"/>
              <a:gd name="connsiteX20" fmla="*/ 2779777 w 2779777"/>
              <a:gd name="connsiteY20" fmla="*/ 315740 h 1879095"/>
              <a:gd name="connsiteX21" fmla="*/ 2621707 w 2779777"/>
              <a:gd name="connsiteY21" fmla="*/ 157870 h 1879095"/>
              <a:gd name="connsiteX22" fmla="*/ 1906191 w 2779777"/>
              <a:gd name="connsiteY22" fmla="*/ 157870 h 1879095"/>
              <a:gd name="connsiteX23" fmla="*/ 1657769 w 2779777"/>
              <a:gd name="connsiteY23" fmla="*/ 157870 h 1879095"/>
              <a:gd name="connsiteX24" fmla="*/ 1122013 w 2779777"/>
              <a:gd name="connsiteY24" fmla="*/ 157870 h 1879095"/>
              <a:gd name="connsiteX25" fmla="*/ 1122013 w 2779777"/>
              <a:gd name="connsiteY25" fmla="*/ 158411 h 1879095"/>
              <a:gd name="connsiteX26" fmla="*/ 158074 w 2779777"/>
              <a:gd name="connsiteY26" fmla="*/ 158411 h 1879095"/>
              <a:gd name="connsiteX27" fmla="*/ 4 w 2779777"/>
              <a:gd name="connsiteY27" fmla="*/ 541 h 1879095"/>
              <a:gd name="connsiteX28" fmla="*/ 114 w 2779777"/>
              <a:gd name="connsiteY28" fmla="*/ 0 h 1879095"/>
              <a:gd name="connsiteX29" fmla="*/ 4 w 2779777"/>
              <a:gd name="connsiteY29" fmla="*/ 0 h 1879095"/>
              <a:gd name="connsiteX30" fmla="*/ 4 w 2779777"/>
              <a:gd name="connsiteY30" fmla="*/ 541 h 18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779777" h="1879095">
                <a:moveTo>
                  <a:pt x="4" y="541"/>
                </a:moveTo>
                <a:lnTo>
                  <a:pt x="4" y="157870"/>
                </a:lnTo>
                <a:lnTo>
                  <a:pt x="3" y="157870"/>
                </a:lnTo>
                <a:lnTo>
                  <a:pt x="3" y="473610"/>
                </a:lnTo>
                <a:lnTo>
                  <a:pt x="1657768" y="473610"/>
                </a:lnTo>
                <a:lnTo>
                  <a:pt x="1657768" y="473611"/>
                </a:lnTo>
                <a:lnTo>
                  <a:pt x="0" y="473611"/>
                </a:lnTo>
                <a:lnTo>
                  <a:pt x="0" y="1637039"/>
                </a:lnTo>
                <a:cubicBezTo>
                  <a:pt x="0" y="1770723"/>
                  <a:pt x="108510" y="1879095"/>
                  <a:pt x="242363" y="1879095"/>
                </a:cubicBezTo>
                <a:lnTo>
                  <a:pt x="1657768" y="1879095"/>
                </a:lnTo>
                <a:lnTo>
                  <a:pt x="1657768" y="910453"/>
                </a:lnTo>
                <a:lnTo>
                  <a:pt x="1657768" y="836121"/>
                </a:lnTo>
                <a:lnTo>
                  <a:pt x="1657768" y="789350"/>
                </a:lnTo>
                <a:lnTo>
                  <a:pt x="1657768" y="631480"/>
                </a:lnTo>
                <a:lnTo>
                  <a:pt x="1657769" y="631480"/>
                </a:lnTo>
                <a:cubicBezTo>
                  <a:pt x="1657769" y="544291"/>
                  <a:pt x="1728539" y="473610"/>
                  <a:pt x="1815839" y="473610"/>
                </a:cubicBezTo>
                <a:lnTo>
                  <a:pt x="1906191" y="473610"/>
                </a:lnTo>
                <a:lnTo>
                  <a:pt x="2261746" y="473610"/>
                </a:lnTo>
                <a:lnTo>
                  <a:pt x="2303383" y="473610"/>
                </a:lnTo>
                <a:lnTo>
                  <a:pt x="2621707" y="473610"/>
                </a:lnTo>
                <a:cubicBezTo>
                  <a:pt x="2709007" y="473610"/>
                  <a:pt x="2779777" y="402929"/>
                  <a:pt x="2779777" y="315740"/>
                </a:cubicBezTo>
                <a:cubicBezTo>
                  <a:pt x="2779777" y="228551"/>
                  <a:pt x="2709007" y="157870"/>
                  <a:pt x="2621707" y="157870"/>
                </a:cubicBezTo>
                <a:lnTo>
                  <a:pt x="1906191" y="157870"/>
                </a:lnTo>
                <a:lnTo>
                  <a:pt x="1657769" y="157870"/>
                </a:lnTo>
                <a:lnTo>
                  <a:pt x="1122013" y="157870"/>
                </a:lnTo>
                <a:lnTo>
                  <a:pt x="1122013" y="158411"/>
                </a:lnTo>
                <a:lnTo>
                  <a:pt x="158074" y="158411"/>
                </a:lnTo>
                <a:cubicBezTo>
                  <a:pt x="70774" y="158411"/>
                  <a:pt x="4" y="87730"/>
                  <a:pt x="4" y="541"/>
                </a:cubicBezTo>
                <a:close/>
                <a:moveTo>
                  <a:pt x="114" y="0"/>
                </a:moveTo>
                <a:lnTo>
                  <a:pt x="4" y="0"/>
                </a:lnTo>
                <a:lnTo>
                  <a:pt x="4" y="541"/>
                </a:lnTo>
                <a:close/>
              </a:path>
            </a:pathLst>
          </a:custGeom>
          <a:solidFill>
            <a:srgbClr val="AA1B1F"/>
          </a:solidFill>
          <a:ln>
            <a:noFill/>
          </a:ln>
          <a:effectLst>
            <a:reflection blurRad="6350" stA="300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3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38" name="Freeform: Shape 36">
            <a:extLst>
              <a:ext uri="{FF2B5EF4-FFF2-40B4-BE49-F238E27FC236}">
                <a16:creationId xmlns:a16="http://schemas.microsoft.com/office/drawing/2014/main" id="{05DEA7C0-1AED-0114-68A5-A5CC50971186}"/>
              </a:ext>
            </a:extLst>
          </p:cNvPr>
          <p:cNvSpPr/>
          <p:nvPr/>
        </p:nvSpPr>
        <p:spPr>
          <a:xfrm>
            <a:off x="4253044" y="3418986"/>
            <a:ext cx="889203" cy="355208"/>
          </a:xfrm>
          <a:custGeom>
            <a:avLst/>
            <a:gdLst>
              <a:gd name="connsiteX0" fmla="*/ 0 w 1122012"/>
              <a:gd name="connsiteY0" fmla="*/ 0 h 473610"/>
              <a:gd name="connsiteX1" fmla="*/ 518035 w 1122012"/>
              <a:gd name="connsiteY1" fmla="*/ 0 h 473610"/>
              <a:gd name="connsiteX2" fmla="*/ 518035 w 1122012"/>
              <a:gd name="connsiteY2" fmla="*/ 157870 h 473610"/>
              <a:gd name="connsiteX3" fmla="*/ 963942 w 1122012"/>
              <a:gd name="connsiteY3" fmla="*/ 157870 h 473610"/>
              <a:gd name="connsiteX4" fmla="*/ 1122012 w 1122012"/>
              <a:gd name="connsiteY4" fmla="*/ 315740 h 473610"/>
              <a:gd name="connsiteX5" fmla="*/ 963942 w 1122012"/>
              <a:gd name="connsiteY5" fmla="*/ 473610 h 473610"/>
              <a:gd name="connsiteX6" fmla="*/ 3 w 1122012"/>
              <a:gd name="connsiteY6" fmla="*/ 473610 h 473610"/>
              <a:gd name="connsiteX7" fmla="*/ 3 w 1122012"/>
              <a:gd name="connsiteY7" fmla="*/ 315740 h 473610"/>
              <a:gd name="connsiteX8" fmla="*/ 0 w 1122012"/>
              <a:gd name="connsiteY8" fmla="*/ 315740 h 47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2012" h="473610">
                <a:moveTo>
                  <a:pt x="0" y="0"/>
                </a:moveTo>
                <a:lnTo>
                  <a:pt x="518035" y="0"/>
                </a:lnTo>
                <a:lnTo>
                  <a:pt x="518035" y="157870"/>
                </a:lnTo>
                <a:lnTo>
                  <a:pt x="963942" y="157870"/>
                </a:lnTo>
                <a:cubicBezTo>
                  <a:pt x="1051242" y="157870"/>
                  <a:pt x="1122012" y="228551"/>
                  <a:pt x="1122012" y="315740"/>
                </a:cubicBezTo>
                <a:cubicBezTo>
                  <a:pt x="1122012" y="402929"/>
                  <a:pt x="1051242" y="473610"/>
                  <a:pt x="963942" y="473610"/>
                </a:cubicBezTo>
                <a:lnTo>
                  <a:pt x="3" y="473610"/>
                </a:lnTo>
                <a:lnTo>
                  <a:pt x="3" y="315740"/>
                </a:lnTo>
                <a:lnTo>
                  <a:pt x="0" y="315740"/>
                </a:lnTo>
                <a:close/>
              </a:path>
            </a:pathLst>
          </a:custGeom>
          <a:gradFill flip="none" rotWithShape="1">
            <a:gsLst>
              <a:gs pos="0">
                <a:schemeClr val="bg2">
                  <a:lumMod val="75000"/>
                </a:schemeClr>
              </a:gs>
              <a:gs pos="42000">
                <a:schemeClr val="bg1">
                  <a:lumMod val="8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3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39" name="Freeform: Shape 37">
            <a:extLst>
              <a:ext uri="{FF2B5EF4-FFF2-40B4-BE49-F238E27FC236}">
                <a16:creationId xmlns:a16="http://schemas.microsoft.com/office/drawing/2014/main" id="{2EFB60A4-07E4-63FB-865A-9FDE007E2976}"/>
              </a:ext>
            </a:extLst>
          </p:cNvPr>
          <p:cNvSpPr/>
          <p:nvPr/>
        </p:nvSpPr>
        <p:spPr>
          <a:xfrm flipH="1">
            <a:off x="4236787" y="3299251"/>
            <a:ext cx="2238920" cy="900000"/>
          </a:xfrm>
          <a:custGeom>
            <a:avLst/>
            <a:gdLst>
              <a:gd name="connsiteX0" fmla="*/ 4 w 2779777"/>
              <a:gd name="connsiteY0" fmla="*/ 541 h 1879095"/>
              <a:gd name="connsiteX1" fmla="*/ 4 w 2779777"/>
              <a:gd name="connsiteY1" fmla="*/ 157870 h 1879095"/>
              <a:gd name="connsiteX2" fmla="*/ 3 w 2779777"/>
              <a:gd name="connsiteY2" fmla="*/ 157870 h 1879095"/>
              <a:gd name="connsiteX3" fmla="*/ 3 w 2779777"/>
              <a:gd name="connsiteY3" fmla="*/ 473610 h 1879095"/>
              <a:gd name="connsiteX4" fmla="*/ 1657768 w 2779777"/>
              <a:gd name="connsiteY4" fmla="*/ 473610 h 1879095"/>
              <a:gd name="connsiteX5" fmla="*/ 1657768 w 2779777"/>
              <a:gd name="connsiteY5" fmla="*/ 473611 h 1879095"/>
              <a:gd name="connsiteX6" fmla="*/ 0 w 2779777"/>
              <a:gd name="connsiteY6" fmla="*/ 473611 h 1879095"/>
              <a:gd name="connsiteX7" fmla="*/ 0 w 2779777"/>
              <a:gd name="connsiteY7" fmla="*/ 1637039 h 1879095"/>
              <a:gd name="connsiteX8" fmla="*/ 242363 w 2779777"/>
              <a:gd name="connsiteY8" fmla="*/ 1879095 h 1879095"/>
              <a:gd name="connsiteX9" fmla="*/ 1657768 w 2779777"/>
              <a:gd name="connsiteY9" fmla="*/ 1879095 h 1879095"/>
              <a:gd name="connsiteX10" fmla="*/ 1657768 w 2779777"/>
              <a:gd name="connsiteY10" fmla="*/ 910453 h 1879095"/>
              <a:gd name="connsiteX11" fmla="*/ 1657768 w 2779777"/>
              <a:gd name="connsiteY11" fmla="*/ 836121 h 1879095"/>
              <a:gd name="connsiteX12" fmla="*/ 1657768 w 2779777"/>
              <a:gd name="connsiteY12" fmla="*/ 789350 h 1879095"/>
              <a:gd name="connsiteX13" fmla="*/ 1657768 w 2779777"/>
              <a:gd name="connsiteY13" fmla="*/ 631480 h 1879095"/>
              <a:gd name="connsiteX14" fmla="*/ 1657769 w 2779777"/>
              <a:gd name="connsiteY14" fmla="*/ 631480 h 1879095"/>
              <a:gd name="connsiteX15" fmla="*/ 1815839 w 2779777"/>
              <a:gd name="connsiteY15" fmla="*/ 473610 h 1879095"/>
              <a:gd name="connsiteX16" fmla="*/ 1906191 w 2779777"/>
              <a:gd name="connsiteY16" fmla="*/ 473610 h 1879095"/>
              <a:gd name="connsiteX17" fmla="*/ 2261746 w 2779777"/>
              <a:gd name="connsiteY17" fmla="*/ 473610 h 1879095"/>
              <a:gd name="connsiteX18" fmla="*/ 2303383 w 2779777"/>
              <a:gd name="connsiteY18" fmla="*/ 473610 h 1879095"/>
              <a:gd name="connsiteX19" fmla="*/ 2621707 w 2779777"/>
              <a:gd name="connsiteY19" fmla="*/ 473610 h 1879095"/>
              <a:gd name="connsiteX20" fmla="*/ 2779777 w 2779777"/>
              <a:gd name="connsiteY20" fmla="*/ 315740 h 1879095"/>
              <a:gd name="connsiteX21" fmla="*/ 2621707 w 2779777"/>
              <a:gd name="connsiteY21" fmla="*/ 157870 h 1879095"/>
              <a:gd name="connsiteX22" fmla="*/ 1906191 w 2779777"/>
              <a:gd name="connsiteY22" fmla="*/ 157870 h 1879095"/>
              <a:gd name="connsiteX23" fmla="*/ 1657769 w 2779777"/>
              <a:gd name="connsiteY23" fmla="*/ 157870 h 1879095"/>
              <a:gd name="connsiteX24" fmla="*/ 1122013 w 2779777"/>
              <a:gd name="connsiteY24" fmla="*/ 157870 h 1879095"/>
              <a:gd name="connsiteX25" fmla="*/ 1122013 w 2779777"/>
              <a:gd name="connsiteY25" fmla="*/ 158411 h 1879095"/>
              <a:gd name="connsiteX26" fmla="*/ 158074 w 2779777"/>
              <a:gd name="connsiteY26" fmla="*/ 158411 h 1879095"/>
              <a:gd name="connsiteX27" fmla="*/ 4 w 2779777"/>
              <a:gd name="connsiteY27" fmla="*/ 541 h 1879095"/>
              <a:gd name="connsiteX28" fmla="*/ 114 w 2779777"/>
              <a:gd name="connsiteY28" fmla="*/ 0 h 1879095"/>
              <a:gd name="connsiteX29" fmla="*/ 4 w 2779777"/>
              <a:gd name="connsiteY29" fmla="*/ 0 h 1879095"/>
              <a:gd name="connsiteX30" fmla="*/ 4 w 2779777"/>
              <a:gd name="connsiteY30" fmla="*/ 541 h 18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779777" h="1879095">
                <a:moveTo>
                  <a:pt x="4" y="541"/>
                </a:moveTo>
                <a:lnTo>
                  <a:pt x="4" y="157870"/>
                </a:lnTo>
                <a:lnTo>
                  <a:pt x="3" y="157870"/>
                </a:lnTo>
                <a:lnTo>
                  <a:pt x="3" y="473610"/>
                </a:lnTo>
                <a:lnTo>
                  <a:pt x="1657768" y="473610"/>
                </a:lnTo>
                <a:lnTo>
                  <a:pt x="1657768" y="473611"/>
                </a:lnTo>
                <a:lnTo>
                  <a:pt x="0" y="473611"/>
                </a:lnTo>
                <a:lnTo>
                  <a:pt x="0" y="1637039"/>
                </a:lnTo>
                <a:cubicBezTo>
                  <a:pt x="0" y="1770723"/>
                  <a:pt x="108510" y="1879095"/>
                  <a:pt x="242363" y="1879095"/>
                </a:cubicBezTo>
                <a:lnTo>
                  <a:pt x="1657768" y="1879095"/>
                </a:lnTo>
                <a:lnTo>
                  <a:pt x="1657768" y="910453"/>
                </a:lnTo>
                <a:lnTo>
                  <a:pt x="1657768" y="836121"/>
                </a:lnTo>
                <a:lnTo>
                  <a:pt x="1657768" y="789350"/>
                </a:lnTo>
                <a:lnTo>
                  <a:pt x="1657768" y="631480"/>
                </a:lnTo>
                <a:lnTo>
                  <a:pt x="1657769" y="631480"/>
                </a:lnTo>
                <a:cubicBezTo>
                  <a:pt x="1657769" y="544291"/>
                  <a:pt x="1728539" y="473610"/>
                  <a:pt x="1815839" y="473610"/>
                </a:cubicBezTo>
                <a:lnTo>
                  <a:pt x="1906191" y="473610"/>
                </a:lnTo>
                <a:lnTo>
                  <a:pt x="2261746" y="473610"/>
                </a:lnTo>
                <a:lnTo>
                  <a:pt x="2303383" y="473610"/>
                </a:lnTo>
                <a:lnTo>
                  <a:pt x="2621707" y="473610"/>
                </a:lnTo>
                <a:cubicBezTo>
                  <a:pt x="2709007" y="473610"/>
                  <a:pt x="2779777" y="402929"/>
                  <a:pt x="2779777" y="315740"/>
                </a:cubicBezTo>
                <a:cubicBezTo>
                  <a:pt x="2779777" y="228551"/>
                  <a:pt x="2709007" y="157870"/>
                  <a:pt x="2621707" y="157870"/>
                </a:cubicBezTo>
                <a:lnTo>
                  <a:pt x="1906191" y="157870"/>
                </a:lnTo>
                <a:lnTo>
                  <a:pt x="1657769" y="157870"/>
                </a:lnTo>
                <a:lnTo>
                  <a:pt x="1122013" y="157870"/>
                </a:lnTo>
                <a:lnTo>
                  <a:pt x="1122013" y="158411"/>
                </a:lnTo>
                <a:lnTo>
                  <a:pt x="158074" y="158411"/>
                </a:lnTo>
                <a:cubicBezTo>
                  <a:pt x="70774" y="158411"/>
                  <a:pt x="4" y="87730"/>
                  <a:pt x="4" y="541"/>
                </a:cubicBezTo>
                <a:close/>
                <a:moveTo>
                  <a:pt x="114" y="0"/>
                </a:moveTo>
                <a:lnTo>
                  <a:pt x="4" y="0"/>
                </a:lnTo>
                <a:lnTo>
                  <a:pt x="4" y="541"/>
                </a:lnTo>
                <a:close/>
              </a:path>
            </a:pathLst>
          </a:custGeom>
          <a:solidFill>
            <a:srgbClr val="CE1010"/>
          </a:solidFill>
          <a:ln>
            <a:noFill/>
          </a:ln>
          <a:effectLst>
            <a:reflection blurRad="6350" stA="300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3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0" name="Freeform: Shape 38">
            <a:extLst>
              <a:ext uri="{FF2B5EF4-FFF2-40B4-BE49-F238E27FC236}">
                <a16:creationId xmlns:a16="http://schemas.microsoft.com/office/drawing/2014/main" id="{93B64F15-A889-5C4F-5996-8EB0B60DA28A}"/>
              </a:ext>
            </a:extLst>
          </p:cNvPr>
          <p:cNvSpPr/>
          <p:nvPr/>
        </p:nvSpPr>
        <p:spPr>
          <a:xfrm>
            <a:off x="5479824" y="3015601"/>
            <a:ext cx="984192" cy="355208"/>
          </a:xfrm>
          <a:custGeom>
            <a:avLst/>
            <a:gdLst>
              <a:gd name="connsiteX0" fmla="*/ 0 w 1122012"/>
              <a:gd name="connsiteY0" fmla="*/ 0 h 473610"/>
              <a:gd name="connsiteX1" fmla="*/ 518035 w 1122012"/>
              <a:gd name="connsiteY1" fmla="*/ 0 h 473610"/>
              <a:gd name="connsiteX2" fmla="*/ 518035 w 1122012"/>
              <a:gd name="connsiteY2" fmla="*/ 157870 h 473610"/>
              <a:gd name="connsiteX3" fmla="*/ 963942 w 1122012"/>
              <a:gd name="connsiteY3" fmla="*/ 157870 h 473610"/>
              <a:gd name="connsiteX4" fmla="*/ 1122012 w 1122012"/>
              <a:gd name="connsiteY4" fmla="*/ 315740 h 473610"/>
              <a:gd name="connsiteX5" fmla="*/ 963942 w 1122012"/>
              <a:gd name="connsiteY5" fmla="*/ 473610 h 473610"/>
              <a:gd name="connsiteX6" fmla="*/ 3 w 1122012"/>
              <a:gd name="connsiteY6" fmla="*/ 473610 h 473610"/>
              <a:gd name="connsiteX7" fmla="*/ 3 w 1122012"/>
              <a:gd name="connsiteY7" fmla="*/ 315740 h 473610"/>
              <a:gd name="connsiteX8" fmla="*/ 0 w 1122012"/>
              <a:gd name="connsiteY8" fmla="*/ 315740 h 47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2012" h="473610">
                <a:moveTo>
                  <a:pt x="0" y="0"/>
                </a:moveTo>
                <a:lnTo>
                  <a:pt x="518035" y="0"/>
                </a:lnTo>
                <a:lnTo>
                  <a:pt x="518035" y="157870"/>
                </a:lnTo>
                <a:lnTo>
                  <a:pt x="963942" y="157870"/>
                </a:lnTo>
                <a:cubicBezTo>
                  <a:pt x="1051242" y="157870"/>
                  <a:pt x="1122012" y="228551"/>
                  <a:pt x="1122012" y="315740"/>
                </a:cubicBezTo>
                <a:cubicBezTo>
                  <a:pt x="1122012" y="402929"/>
                  <a:pt x="1051242" y="473610"/>
                  <a:pt x="963942" y="473610"/>
                </a:cubicBezTo>
                <a:lnTo>
                  <a:pt x="3" y="473610"/>
                </a:lnTo>
                <a:lnTo>
                  <a:pt x="3" y="315740"/>
                </a:lnTo>
                <a:lnTo>
                  <a:pt x="0" y="315740"/>
                </a:lnTo>
                <a:close/>
              </a:path>
            </a:pathLst>
          </a:custGeom>
          <a:gradFill flip="none" rotWithShape="1">
            <a:gsLst>
              <a:gs pos="0">
                <a:schemeClr val="bg2">
                  <a:lumMod val="75000"/>
                </a:schemeClr>
              </a:gs>
              <a:gs pos="42000">
                <a:schemeClr val="bg1">
                  <a:lumMod val="85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3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1" name="Freeform: Shape 72">
            <a:extLst>
              <a:ext uri="{FF2B5EF4-FFF2-40B4-BE49-F238E27FC236}">
                <a16:creationId xmlns:a16="http://schemas.microsoft.com/office/drawing/2014/main" id="{7DD56EF5-4B66-293F-BA0B-22464637C844}"/>
              </a:ext>
            </a:extLst>
          </p:cNvPr>
          <p:cNvSpPr/>
          <p:nvPr/>
        </p:nvSpPr>
        <p:spPr>
          <a:xfrm flipH="1">
            <a:off x="5479824" y="2761164"/>
            <a:ext cx="3533516" cy="1440000"/>
          </a:xfrm>
          <a:custGeom>
            <a:avLst/>
            <a:gdLst>
              <a:gd name="connsiteX0" fmla="*/ 2875963 w 3997972"/>
              <a:gd name="connsiteY0" fmla="*/ 567609 h 2224961"/>
              <a:gd name="connsiteX1" fmla="*/ 2875963 w 3997972"/>
              <a:gd name="connsiteY1" fmla="*/ 567610 h 2224961"/>
              <a:gd name="connsiteX2" fmla="*/ 1364887 w 3997972"/>
              <a:gd name="connsiteY2" fmla="*/ 567610 h 2224961"/>
              <a:gd name="connsiteX3" fmla="*/ 1364887 w 3997972"/>
              <a:gd name="connsiteY3" fmla="*/ 567609 h 2224961"/>
              <a:gd name="connsiteX4" fmla="*/ 1155513 w 3997972"/>
              <a:gd name="connsiteY4" fmla="*/ 0 h 2224961"/>
              <a:gd name="connsiteX5" fmla="*/ 1074015 w 3997972"/>
              <a:gd name="connsiteY5" fmla="*/ 16454 h 2224961"/>
              <a:gd name="connsiteX6" fmla="*/ 1015465 w 3997972"/>
              <a:gd name="connsiteY6" fmla="*/ 55928 h 2224961"/>
              <a:gd name="connsiteX7" fmla="*/ 1003232 w 3997972"/>
              <a:gd name="connsiteY7" fmla="*/ 67599 h 2224961"/>
              <a:gd name="connsiteX8" fmla="*/ 67496 w 3997972"/>
              <a:gd name="connsiteY8" fmla="*/ 960266 h 2224961"/>
              <a:gd name="connsiteX9" fmla="*/ 67493 w 3997972"/>
              <a:gd name="connsiteY9" fmla="*/ 960268 h 2224961"/>
              <a:gd name="connsiteX10" fmla="*/ 58063 w 3997972"/>
              <a:gd name="connsiteY10" fmla="*/ 969263 h 2224961"/>
              <a:gd name="connsiteX11" fmla="*/ 16454 w 3997972"/>
              <a:gd name="connsiteY11" fmla="*/ 1030980 h 2224961"/>
              <a:gd name="connsiteX12" fmla="*/ 0 w 3997972"/>
              <a:gd name="connsiteY12" fmla="*/ 1112478 h 2224961"/>
              <a:gd name="connsiteX13" fmla="*/ 16454 w 3997972"/>
              <a:gd name="connsiteY13" fmla="*/ 1193976 h 2224961"/>
              <a:gd name="connsiteX14" fmla="*/ 58063 w 3997972"/>
              <a:gd name="connsiteY14" fmla="*/ 1255692 h 2224961"/>
              <a:gd name="connsiteX15" fmla="*/ 67493 w 3997972"/>
              <a:gd name="connsiteY15" fmla="*/ 1264688 h 2224961"/>
              <a:gd name="connsiteX16" fmla="*/ 67496 w 3997972"/>
              <a:gd name="connsiteY16" fmla="*/ 1264690 h 2224961"/>
              <a:gd name="connsiteX17" fmla="*/ 1003215 w 3997972"/>
              <a:gd name="connsiteY17" fmla="*/ 2157340 h 2224961"/>
              <a:gd name="connsiteX18" fmla="*/ 1003217 w 3997972"/>
              <a:gd name="connsiteY18" fmla="*/ 2157343 h 2224961"/>
              <a:gd name="connsiteX19" fmla="*/ 1015487 w 3997972"/>
              <a:gd name="connsiteY19" fmla="*/ 2169049 h 2224961"/>
              <a:gd name="connsiteX20" fmla="*/ 1074013 w 3997972"/>
              <a:gd name="connsiteY20" fmla="*/ 2208507 h 2224961"/>
              <a:gd name="connsiteX21" fmla="*/ 1155511 w 3997972"/>
              <a:gd name="connsiteY21" fmla="*/ 2224961 h 2224961"/>
              <a:gd name="connsiteX22" fmla="*/ 1364886 w 3997972"/>
              <a:gd name="connsiteY22" fmla="*/ 2015586 h 2224961"/>
              <a:gd name="connsiteX23" fmla="*/ 1357249 w 3997972"/>
              <a:gd name="connsiteY23" fmla="*/ 1965065 h 2224961"/>
              <a:gd name="connsiteX24" fmla="*/ 1357249 w 3997972"/>
              <a:gd name="connsiteY24" fmla="*/ 1965065 h 2224961"/>
              <a:gd name="connsiteX25" fmla="*/ 1364887 w 3997972"/>
              <a:gd name="connsiteY25" fmla="*/ 2015586 h 2224961"/>
              <a:gd name="connsiteX26" fmla="*/ 1364887 w 3997972"/>
              <a:gd name="connsiteY26" fmla="*/ 1965065 h 2224961"/>
              <a:gd name="connsiteX27" fmla="*/ 1401677 w 3997972"/>
              <a:gd name="connsiteY27" fmla="*/ 1965065 h 2224961"/>
              <a:gd name="connsiteX28" fmla="*/ 1411713 w 3997972"/>
              <a:gd name="connsiteY28" fmla="*/ 1968176 h 2224961"/>
              <a:gd name="connsiteX29" fmla="*/ 1460558 w 3997972"/>
              <a:gd name="connsiteY29" fmla="*/ 1973094 h 2224961"/>
              <a:gd name="connsiteX30" fmla="*/ 2875963 w 3997972"/>
              <a:gd name="connsiteY30" fmla="*/ 1973094 h 2224961"/>
              <a:gd name="connsiteX31" fmla="*/ 2875963 w 3997972"/>
              <a:gd name="connsiteY31" fmla="*/ 1004452 h 2224961"/>
              <a:gd name="connsiteX32" fmla="*/ 2875963 w 3997972"/>
              <a:gd name="connsiteY32" fmla="*/ 930120 h 2224961"/>
              <a:gd name="connsiteX33" fmla="*/ 2875963 w 3997972"/>
              <a:gd name="connsiteY33" fmla="*/ 883349 h 2224961"/>
              <a:gd name="connsiteX34" fmla="*/ 2875963 w 3997972"/>
              <a:gd name="connsiteY34" fmla="*/ 725479 h 2224961"/>
              <a:gd name="connsiteX35" fmla="*/ 2875964 w 3997972"/>
              <a:gd name="connsiteY35" fmla="*/ 725479 h 2224961"/>
              <a:gd name="connsiteX36" fmla="*/ 3034034 w 3997972"/>
              <a:gd name="connsiteY36" fmla="*/ 567609 h 2224961"/>
              <a:gd name="connsiteX37" fmla="*/ 3124386 w 3997972"/>
              <a:gd name="connsiteY37" fmla="*/ 567609 h 2224961"/>
              <a:gd name="connsiteX38" fmla="*/ 3479941 w 3997972"/>
              <a:gd name="connsiteY38" fmla="*/ 567609 h 2224961"/>
              <a:gd name="connsiteX39" fmla="*/ 3521578 w 3997972"/>
              <a:gd name="connsiteY39" fmla="*/ 567609 h 2224961"/>
              <a:gd name="connsiteX40" fmla="*/ 3839902 w 3997972"/>
              <a:gd name="connsiteY40" fmla="*/ 567609 h 2224961"/>
              <a:gd name="connsiteX41" fmla="*/ 3997972 w 3997972"/>
              <a:gd name="connsiteY41" fmla="*/ 409739 h 2224961"/>
              <a:gd name="connsiteX42" fmla="*/ 3839902 w 3997972"/>
              <a:gd name="connsiteY42" fmla="*/ 251869 h 2224961"/>
              <a:gd name="connsiteX43" fmla="*/ 3124386 w 3997972"/>
              <a:gd name="connsiteY43" fmla="*/ 251869 h 2224961"/>
              <a:gd name="connsiteX44" fmla="*/ 2875964 w 3997972"/>
              <a:gd name="connsiteY44" fmla="*/ 251869 h 2224961"/>
              <a:gd name="connsiteX45" fmla="*/ 2340208 w 3997972"/>
              <a:gd name="connsiteY45" fmla="*/ 251869 h 2224961"/>
              <a:gd name="connsiteX46" fmla="*/ 2340208 w 3997972"/>
              <a:gd name="connsiteY46" fmla="*/ 252410 h 2224961"/>
              <a:gd name="connsiteX47" fmla="*/ 1376269 w 3997972"/>
              <a:gd name="connsiteY47" fmla="*/ 252410 h 2224961"/>
              <a:gd name="connsiteX48" fmla="*/ 1364887 w 3997972"/>
              <a:gd name="connsiteY48" fmla="*/ 252371 h 2224961"/>
              <a:gd name="connsiteX49" fmla="*/ 1364887 w 3997972"/>
              <a:gd name="connsiteY49" fmla="*/ 209385 h 2224961"/>
              <a:gd name="connsiteX50" fmla="*/ 1364887 w 3997972"/>
              <a:gd name="connsiteY50" fmla="*/ 209365 h 2224961"/>
              <a:gd name="connsiteX51" fmla="*/ 1360634 w 3997972"/>
              <a:gd name="connsiteY51" fmla="*/ 167179 h 2224961"/>
              <a:gd name="connsiteX52" fmla="*/ 1155513 w 3997972"/>
              <a:gd name="connsiteY52" fmla="*/ 0 h 2224961"/>
              <a:gd name="connsiteX0" fmla="*/ 2875963 w 3997972"/>
              <a:gd name="connsiteY0" fmla="*/ 567609 h 2224961"/>
              <a:gd name="connsiteX1" fmla="*/ 2875963 w 3997972"/>
              <a:gd name="connsiteY1" fmla="*/ 567610 h 2224961"/>
              <a:gd name="connsiteX2" fmla="*/ 1364887 w 3997972"/>
              <a:gd name="connsiteY2" fmla="*/ 567610 h 2224961"/>
              <a:gd name="connsiteX3" fmla="*/ 1364887 w 3997972"/>
              <a:gd name="connsiteY3" fmla="*/ 567609 h 2224961"/>
              <a:gd name="connsiteX4" fmla="*/ 2875963 w 3997972"/>
              <a:gd name="connsiteY4" fmla="*/ 567609 h 2224961"/>
              <a:gd name="connsiteX5" fmla="*/ 1155513 w 3997972"/>
              <a:gd name="connsiteY5" fmla="*/ 0 h 2224961"/>
              <a:gd name="connsiteX6" fmla="*/ 1074015 w 3997972"/>
              <a:gd name="connsiteY6" fmla="*/ 16454 h 2224961"/>
              <a:gd name="connsiteX7" fmla="*/ 1015465 w 3997972"/>
              <a:gd name="connsiteY7" fmla="*/ 55928 h 2224961"/>
              <a:gd name="connsiteX8" fmla="*/ 1003232 w 3997972"/>
              <a:gd name="connsiteY8" fmla="*/ 67599 h 2224961"/>
              <a:gd name="connsiteX9" fmla="*/ 67496 w 3997972"/>
              <a:gd name="connsiteY9" fmla="*/ 960266 h 2224961"/>
              <a:gd name="connsiteX10" fmla="*/ 67493 w 3997972"/>
              <a:gd name="connsiteY10" fmla="*/ 960268 h 2224961"/>
              <a:gd name="connsiteX11" fmla="*/ 58063 w 3997972"/>
              <a:gd name="connsiteY11" fmla="*/ 969263 h 2224961"/>
              <a:gd name="connsiteX12" fmla="*/ 16454 w 3997972"/>
              <a:gd name="connsiteY12" fmla="*/ 1030980 h 2224961"/>
              <a:gd name="connsiteX13" fmla="*/ 0 w 3997972"/>
              <a:gd name="connsiteY13" fmla="*/ 1112478 h 2224961"/>
              <a:gd name="connsiteX14" fmla="*/ 16454 w 3997972"/>
              <a:gd name="connsiteY14" fmla="*/ 1193976 h 2224961"/>
              <a:gd name="connsiteX15" fmla="*/ 58063 w 3997972"/>
              <a:gd name="connsiteY15" fmla="*/ 1255692 h 2224961"/>
              <a:gd name="connsiteX16" fmla="*/ 67493 w 3997972"/>
              <a:gd name="connsiteY16" fmla="*/ 1264688 h 2224961"/>
              <a:gd name="connsiteX17" fmla="*/ 67496 w 3997972"/>
              <a:gd name="connsiteY17" fmla="*/ 1264690 h 2224961"/>
              <a:gd name="connsiteX18" fmla="*/ 1003215 w 3997972"/>
              <a:gd name="connsiteY18" fmla="*/ 2157340 h 2224961"/>
              <a:gd name="connsiteX19" fmla="*/ 1003217 w 3997972"/>
              <a:gd name="connsiteY19" fmla="*/ 2157343 h 2224961"/>
              <a:gd name="connsiteX20" fmla="*/ 1015487 w 3997972"/>
              <a:gd name="connsiteY20" fmla="*/ 2169049 h 2224961"/>
              <a:gd name="connsiteX21" fmla="*/ 1074013 w 3997972"/>
              <a:gd name="connsiteY21" fmla="*/ 2208507 h 2224961"/>
              <a:gd name="connsiteX22" fmla="*/ 1155511 w 3997972"/>
              <a:gd name="connsiteY22" fmla="*/ 2224961 h 2224961"/>
              <a:gd name="connsiteX23" fmla="*/ 1364886 w 3997972"/>
              <a:gd name="connsiteY23" fmla="*/ 2015586 h 2224961"/>
              <a:gd name="connsiteX24" fmla="*/ 1357249 w 3997972"/>
              <a:gd name="connsiteY24" fmla="*/ 1965065 h 2224961"/>
              <a:gd name="connsiteX25" fmla="*/ 1357249 w 3997972"/>
              <a:gd name="connsiteY25" fmla="*/ 1965065 h 2224961"/>
              <a:gd name="connsiteX26" fmla="*/ 1364887 w 3997972"/>
              <a:gd name="connsiteY26" fmla="*/ 2015586 h 2224961"/>
              <a:gd name="connsiteX27" fmla="*/ 1364887 w 3997972"/>
              <a:gd name="connsiteY27" fmla="*/ 1965065 h 2224961"/>
              <a:gd name="connsiteX28" fmla="*/ 1401677 w 3997972"/>
              <a:gd name="connsiteY28" fmla="*/ 1965065 h 2224961"/>
              <a:gd name="connsiteX29" fmla="*/ 1460558 w 3997972"/>
              <a:gd name="connsiteY29" fmla="*/ 1973094 h 2224961"/>
              <a:gd name="connsiteX30" fmla="*/ 2875963 w 3997972"/>
              <a:gd name="connsiteY30" fmla="*/ 1973094 h 2224961"/>
              <a:gd name="connsiteX31" fmla="*/ 2875963 w 3997972"/>
              <a:gd name="connsiteY31" fmla="*/ 1004452 h 2224961"/>
              <a:gd name="connsiteX32" fmla="*/ 2875963 w 3997972"/>
              <a:gd name="connsiteY32" fmla="*/ 930120 h 2224961"/>
              <a:gd name="connsiteX33" fmla="*/ 2875963 w 3997972"/>
              <a:gd name="connsiteY33" fmla="*/ 883349 h 2224961"/>
              <a:gd name="connsiteX34" fmla="*/ 2875963 w 3997972"/>
              <a:gd name="connsiteY34" fmla="*/ 725479 h 2224961"/>
              <a:gd name="connsiteX35" fmla="*/ 2875964 w 3997972"/>
              <a:gd name="connsiteY35" fmla="*/ 725479 h 2224961"/>
              <a:gd name="connsiteX36" fmla="*/ 3034034 w 3997972"/>
              <a:gd name="connsiteY36" fmla="*/ 567609 h 2224961"/>
              <a:gd name="connsiteX37" fmla="*/ 3124386 w 3997972"/>
              <a:gd name="connsiteY37" fmla="*/ 567609 h 2224961"/>
              <a:gd name="connsiteX38" fmla="*/ 3479941 w 3997972"/>
              <a:gd name="connsiteY38" fmla="*/ 567609 h 2224961"/>
              <a:gd name="connsiteX39" fmla="*/ 3521578 w 3997972"/>
              <a:gd name="connsiteY39" fmla="*/ 567609 h 2224961"/>
              <a:gd name="connsiteX40" fmla="*/ 3839902 w 3997972"/>
              <a:gd name="connsiteY40" fmla="*/ 567609 h 2224961"/>
              <a:gd name="connsiteX41" fmla="*/ 3997972 w 3997972"/>
              <a:gd name="connsiteY41" fmla="*/ 409739 h 2224961"/>
              <a:gd name="connsiteX42" fmla="*/ 3839902 w 3997972"/>
              <a:gd name="connsiteY42" fmla="*/ 251869 h 2224961"/>
              <a:gd name="connsiteX43" fmla="*/ 3124386 w 3997972"/>
              <a:gd name="connsiteY43" fmla="*/ 251869 h 2224961"/>
              <a:gd name="connsiteX44" fmla="*/ 2875964 w 3997972"/>
              <a:gd name="connsiteY44" fmla="*/ 251869 h 2224961"/>
              <a:gd name="connsiteX45" fmla="*/ 2340208 w 3997972"/>
              <a:gd name="connsiteY45" fmla="*/ 251869 h 2224961"/>
              <a:gd name="connsiteX46" fmla="*/ 2340208 w 3997972"/>
              <a:gd name="connsiteY46" fmla="*/ 252410 h 2224961"/>
              <a:gd name="connsiteX47" fmla="*/ 1376269 w 3997972"/>
              <a:gd name="connsiteY47" fmla="*/ 252410 h 2224961"/>
              <a:gd name="connsiteX48" fmla="*/ 1364887 w 3997972"/>
              <a:gd name="connsiteY48" fmla="*/ 252371 h 2224961"/>
              <a:gd name="connsiteX49" fmla="*/ 1364887 w 3997972"/>
              <a:gd name="connsiteY49" fmla="*/ 209385 h 2224961"/>
              <a:gd name="connsiteX50" fmla="*/ 1364887 w 3997972"/>
              <a:gd name="connsiteY50" fmla="*/ 209365 h 2224961"/>
              <a:gd name="connsiteX51" fmla="*/ 1360634 w 3997972"/>
              <a:gd name="connsiteY51" fmla="*/ 167179 h 2224961"/>
              <a:gd name="connsiteX52" fmla="*/ 1155513 w 3997972"/>
              <a:gd name="connsiteY52" fmla="*/ 0 h 2224961"/>
              <a:gd name="connsiteX0" fmla="*/ 2875963 w 3997972"/>
              <a:gd name="connsiteY0" fmla="*/ 567609 h 2224961"/>
              <a:gd name="connsiteX1" fmla="*/ 2875963 w 3997972"/>
              <a:gd name="connsiteY1" fmla="*/ 567610 h 2224961"/>
              <a:gd name="connsiteX2" fmla="*/ 1364887 w 3997972"/>
              <a:gd name="connsiteY2" fmla="*/ 567610 h 2224961"/>
              <a:gd name="connsiteX3" fmla="*/ 1364887 w 3997972"/>
              <a:gd name="connsiteY3" fmla="*/ 567609 h 2224961"/>
              <a:gd name="connsiteX4" fmla="*/ 2875963 w 3997972"/>
              <a:gd name="connsiteY4" fmla="*/ 567609 h 2224961"/>
              <a:gd name="connsiteX5" fmla="*/ 1155513 w 3997972"/>
              <a:gd name="connsiteY5" fmla="*/ 0 h 2224961"/>
              <a:gd name="connsiteX6" fmla="*/ 1074015 w 3997972"/>
              <a:gd name="connsiteY6" fmla="*/ 16454 h 2224961"/>
              <a:gd name="connsiteX7" fmla="*/ 1015465 w 3997972"/>
              <a:gd name="connsiteY7" fmla="*/ 55928 h 2224961"/>
              <a:gd name="connsiteX8" fmla="*/ 1003232 w 3997972"/>
              <a:gd name="connsiteY8" fmla="*/ 67599 h 2224961"/>
              <a:gd name="connsiteX9" fmla="*/ 67496 w 3997972"/>
              <a:gd name="connsiteY9" fmla="*/ 960266 h 2224961"/>
              <a:gd name="connsiteX10" fmla="*/ 67493 w 3997972"/>
              <a:gd name="connsiteY10" fmla="*/ 960268 h 2224961"/>
              <a:gd name="connsiteX11" fmla="*/ 58063 w 3997972"/>
              <a:gd name="connsiteY11" fmla="*/ 969263 h 2224961"/>
              <a:gd name="connsiteX12" fmla="*/ 16454 w 3997972"/>
              <a:gd name="connsiteY12" fmla="*/ 1030980 h 2224961"/>
              <a:gd name="connsiteX13" fmla="*/ 0 w 3997972"/>
              <a:gd name="connsiteY13" fmla="*/ 1112478 h 2224961"/>
              <a:gd name="connsiteX14" fmla="*/ 16454 w 3997972"/>
              <a:gd name="connsiteY14" fmla="*/ 1193976 h 2224961"/>
              <a:gd name="connsiteX15" fmla="*/ 58063 w 3997972"/>
              <a:gd name="connsiteY15" fmla="*/ 1255692 h 2224961"/>
              <a:gd name="connsiteX16" fmla="*/ 67493 w 3997972"/>
              <a:gd name="connsiteY16" fmla="*/ 1264688 h 2224961"/>
              <a:gd name="connsiteX17" fmla="*/ 67496 w 3997972"/>
              <a:gd name="connsiteY17" fmla="*/ 1264690 h 2224961"/>
              <a:gd name="connsiteX18" fmla="*/ 1003215 w 3997972"/>
              <a:gd name="connsiteY18" fmla="*/ 2157340 h 2224961"/>
              <a:gd name="connsiteX19" fmla="*/ 1003217 w 3997972"/>
              <a:gd name="connsiteY19" fmla="*/ 2157343 h 2224961"/>
              <a:gd name="connsiteX20" fmla="*/ 1015487 w 3997972"/>
              <a:gd name="connsiteY20" fmla="*/ 2169049 h 2224961"/>
              <a:gd name="connsiteX21" fmla="*/ 1074013 w 3997972"/>
              <a:gd name="connsiteY21" fmla="*/ 2208507 h 2224961"/>
              <a:gd name="connsiteX22" fmla="*/ 1155511 w 3997972"/>
              <a:gd name="connsiteY22" fmla="*/ 2224961 h 2224961"/>
              <a:gd name="connsiteX23" fmla="*/ 1364886 w 3997972"/>
              <a:gd name="connsiteY23" fmla="*/ 2015586 h 2224961"/>
              <a:gd name="connsiteX24" fmla="*/ 1357249 w 3997972"/>
              <a:gd name="connsiteY24" fmla="*/ 1965065 h 2224961"/>
              <a:gd name="connsiteX25" fmla="*/ 1357249 w 3997972"/>
              <a:gd name="connsiteY25" fmla="*/ 1965065 h 2224961"/>
              <a:gd name="connsiteX26" fmla="*/ 1364887 w 3997972"/>
              <a:gd name="connsiteY26" fmla="*/ 2015586 h 2224961"/>
              <a:gd name="connsiteX27" fmla="*/ 1364887 w 3997972"/>
              <a:gd name="connsiteY27" fmla="*/ 1965065 h 2224961"/>
              <a:gd name="connsiteX28" fmla="*/ 1460558 w 3997972"/>
              <a:gd name="connsiteY28" fmla="*/ 1973094 h 2224961"/>
              <a:gd name="connsiteX29" fmla="*/ 2875963 w 3997972"/>
              <a:gd name="connsiteY29" fmla="*/ 1973094 h 2224961"/>
              <a:gd name="connsiteX30" fmla="*/ 2875963 w 3997972"/>
              <a:gd name="connsiteY30" fmla="*/ 1004452 h 2224961"/>
              <a:gd name="connsiteX31" fmla="*/ 2875963 w 3997972"/>
              <a:gd name="connsiteY31" fmla="*/ 930120 h 2224961"/>
              <a:gd name="connsiteX32" fmla="*/ 2875963 w 3997972"/>
              <a:gd name="connsiteY32" fmla="*/ 883349 h 2224961"/>
              <a:gd name="connsiteX33" fmla="*/ 2875963 w 3997972"/>
              <a:gd name="connsiteY33" fmla="*/ 725479 h 2224961"/>
              <a:gd name="connsiteX34" fmla="*/ 2875964 w 3997972"/>
              <a:gd name="connsiteY34" fmla="*/ 725479 h 2224961"/>
              <a:gd name="connsiteX35" fmla="*/ 3034034 w 3997972"/>
              <a:gd name="connsiteY35" fmla="*/ 567609 h 2224961"/>
              <a:gd name="connsiteX36" fmla="*/ 3124386 w 3997972"/>
              <a:gd name="connsiteY36" fmla="*/ 567609 h 2224961"/>
              <a:gd name="connsiteX37" fmla="*/ 3479941 w 3997972"/>
              <a:gd name="connsiteY37" fmla="*/ 567609 h 2224961"/>
              <a:gd name="connsiteX38" fmla="*/ 3521578 w 3997972"/>
              <a:gd name="connsiteY38" fmla="*/ 567609 h 2224961"/>
              <a:gd name="connsiteX39" fmla="*/ 3839902 w 3997972"/>
              <a:gd name="connsiteY39" fmla="*/ 567609 h 2224961"/>
              <a:gd name="connsiteX40" fmla="*/ 3997972 w 3997972"/>
              <a:gd name="connsiteY40" fmla="*/ 409739 h 2224961"/>
              <a:gd name="connsiteX41" fmla="*/ 3839902 w 3997972"/>
              <a:gd name="connsiteY41" fmla="*/ 251869 h 2224961"/>
              <a:gd name="connsiteX42" fmla="*/ 3124386 w 3997972"/>
              <a:gd name="connsiteY42" fmla="*/ 251869 h 2224961"/>
              <a:gd name="connsiteX43" fmla="*/ 2875964 w 3997972"/>
              <a:gd name="connsiteY43" fmla="*/ 251869 h 2224961"/>
              <a:gd name="connsiteX44" fmla="*/ 2340208 w 3997972"/>
              <a:gd name="connsiteY44" fmla="*/ 251869 h 2224961"/>
              <a:gd name="connsiteX45" fmla="*/ 2340208 w 3997972"/>
              <a:gd name="connsiteY45" fmla="*/ 252410 h 2224961"/>
              <a:gd name="connsiteX46" fmla="*/ 1376269 w 3997972"/>
              <a:gd name="connsiteY46" fmla="*/ 252410 h 2224961"/>
              <a:gd name="connsiteX47" fmla="*/ 1364887 w 3997972"/>
              <a:gd name="connsiteY47" fmla="*/ 252371 h 2224961"/>
              <a:gd name="connsiteX48" fmla="*/ 1364887 w 3997972"/>
              <a:gd name="connsiteY48" fmla="*/ 209385 h 2224961"/>
              <a:gd name="connsiteX49" fmla="*/ 1364887 w 3997972"/>
              <a:gd name="connsiteY49" fmla="*/ 209365 h 2224961"/>
              <a:gd name="connsiteX50" fmla="*/ 1360634 w 3997972"/>
              <a:gd name="connsiteY50" fmla="*/ 167179 h 2224961"/>
              <a:gd name="connsiteX51" fmla="*/ 1155513 w 3997972"/>
              <a:gd name="connsiteY51" fmla="*/ 0 h 2224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3997972" h="2224961">
                <a:moveTo>
                  <a:pt x="2875963" y="567609"/>
                </a:moveTo>
                <a:lnTo>
                  <a:pt x="2875963" y="567610"/>
                </a:lnTo>
                <a:lnTo>
                  <a:pt x="1364887" y="567610"/>
                </a:lnTo>
                <a:lnTo>
                  <a:pt x="1364887" y="567609"/>
                </a:lnTo>
                <a:lnTo>
                  <a:pt x="2875963" y="567609"/>
                </a:lnTo>
                <a:close/>
                <a:moveTo>
                  <a:pt x="1155513" y="0"/>
                </a:moveTo>
                <a:cubicBezTo>
                  <a:pt x="1126604" y="0"/>
                  <a:pt x="1099064" y="5859"/>
                  <a:pt x="1074015" y="16454"/>
                </a:cubicBezTo>
                <a:lnTo>
                  <a:pt x="1015465" y="55928"/>
                </a:lnTo>
                <a:lnTo>
                  <a:pt x="1003232" y="67599"/>
                </a:lnTo>
                <a:lnTo>
                  <a:pt x="67496" y="960266"/>
                </a:lnTo>
                <a:cubicBezTo>
                  <a:pt x="67495" y="960267"/>
                  <a:pt x="67494" y="960267"/>
                  <a:pt x="67493" y="960268"/>
                </a:cubicBezTo>
                <a:lnTo>
                  <a:pt x="58063" y="969263"/>
                </a:lnTo>
                <a:lnTo>
                  <a:pt x="16454" y="1030980"/>
                </a:lnTo>
                <a:cubicBezTo>
                  <a:pt x="5859" y="1056029"/>
                  <a:pt x="0" y="1083569"/>
                  <a:pt x="0" y="1112478"/>
                </a:cubicBezTo>
                <a:cubicBezTo>
                  <a:pt x="0" y="1141387"/>
                  <a:pt x="5859" y="1168927"/>
                  <a:pt x="16454" y="1193976"/>
                </a:cubicBezTo>
                <a:lnTo>
                  <a:pt x="58063" y="1255692"/>
                </a:lnTo>
                <a:lnTo>
                  <a:pt x="67493" y="1264688"/>
                </a:lnTo>
                <a:cubicBezTo>
                  <a:pt x="67494" y="1264689"/>
                  <a:pt x="67495" y="1264689"/>
                  <a:pt x="67496" y="1264690"/>
                </a:cubicBezTo>
                <a:lnTo>
                  <a:pt x="1003215" y="2157340"/>
                </a:lnTo>
                <a:cubicBezTo>
                  <a:pt x="1003216" y="2157341"/>
                  <a:pt x="1003216" y="2157342"/>
                  <a:pt x="1003217" y="2157343"/>
                </a:cubicBezTo>
                <a:lnTo>
                  <a:pt x="1015487" y="2169049"/>
                </a:lnTo>
                <a:lnTo>
                  <a:pt x="1074013" y="2208507"/>
                </a:lnTo>
                <a:cubicBezTo>
                  <a:pt x="1099062" y="2219102"/>
                  <a:pt x="1126602" y="2224961"/>
                  <a:pt x="1155511" y="2224961"/>
                </a:cubicBezTo>
                <a:cubicBezTo>
                  <a:pt x="1271146" y="2224961"/>
                  <a:pt x="1364886" y="2131221"/>
                  <a:pt x="1364886" y="2015586"/>
                </a:cubicBezTo>
                <a:lnTo>
                  <a:pt x="1357249" y="1965065"/>
                </a:lnTo>
                <a:lnTo>
                  <a:pt x="1357249" y="1965065"/>
                </a:lnTo>
                <a:lnTo>
                  <a:pt x="1364887" y="2015586"/>
                </a:lnTo>
                <a:lnTo>
                  <a:pt x="1364887" y="1965065"/>
                </a:lnTo>
                <a:lnTo>
                  <a:pt x="1460558" y="1973094"/>
                </a:lnTo>
                <a:lnTo>
                  <a:pt x="2875963" y="1973094"/>
                </a:lnTo>
                <a:lnTo>
                  <a:pt x="2875963" y="1004452"/>
                </a:lnTo>
                <a:lnTo>
                  <a:pt x="2875963" y="930120"/>
                </a:lnTo>
                <a:lnTo>
                  <a:pt x="2875963" y="883349"/>
                </a:lnTo>
                <a:lnTo>
                  <a:pt x="2875963" y="725479"/>
                </a:lnTo>
                <a:lnTo>
                  <a:pt x="2875964" y="725479"/>
                </a:lnTo>
                <a:cubicBezTo>
                  <a:pt x="2875964" y="638290"/>
                  <a:pt x="2946734" y="567609"/>
                  <a:pt x="3034034" y="567609"/>
                </a:cubicBezTo>
                <a:lnTo>
                  <a:pt x="3124386" y="567609"/>
                </a:lnTo>
                <a:lnTo>
                  <a:pt x="3479941" y="567609"/>
                </a:lnTo>
                <a:lnTo>
                  <a:pt x="3521578" y="567609"/>
                </a:lnTo>
                <a:lnTo>
                  <a:pt x="3839902" y="567609"/>
                </a:lnTo>
                <a:cubicBezTo>
                  <a:pt x="3927202" y="567609"/>
                  <a:pt x="3997972" y="496928"/>
                  <a:pt x="3997972" y="409739"/>
                </a:cubicBezTo>
                <a:cubicBezTo>
                  <a:pt x="3997972" y="322550"/>
                  <a:pt x="3927202" y="251869"/>
                  <a:pt x="3839902" y="251869"/>
                </a:cubicBezTo>
                <a:lnTo>
                  <a:pt x="3124386" y="251869"/>
                </a:lnTo>
                <a:lnTo>
                  <a:pt x="2875964" y="251869"/>
                </a:lnTo>
                <a:lnTo>
                  <a:pt x="2340208" y="251869"/>
                </a:lnTo>
                <a:lnTo>
                  <a:pt x="2340208" y="252410"/>
                </a:lnTo>
                <a:lnTo>
                  <a:pt x="1376269" y="252410"/>
                </a:lnTo>
                <a:lnTo>
                  <a:pt x="1364887" y="252371"/>
                </a:lnTo>
                <a:lnTo>
                  <a:pt x="1364887" y="209385"/>
                </a:lnTo>
                <a:lnTo>
                  <a:pt x="1364887" y="209365"/>
                </a:lnTo>
                <a:lnTo>
                  <a:pt x="1360634" y="167179"/>
                </a:lnTo>
                <a:cubicBezTo>
                  <a:pt x="1341111" y="71770"/>
                  <a:pt x="1256694" y="0"/>
                  <a:pt x="1155513" y="0"/>
                </a:cubicBezTo>
                <a:close/>
              </a:path>
            </a:pathLst>
          </a:custGeom>
          <a:solidFill>
            <a:srgbClr val="C4AB88"/>
          </a:solidFill>
          <a:ln>
            <a:noFill/>
          </a:ln>
          <a:effectLst>
            <a:reflection blurRad="6350" stA="300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3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42" name="Freeform: Shape 40">
            <a:extLst>
              <a:ext uri="{FF2B5EF4-FFF2-40B4-BE49-F238E27FC236}">
                <a16:creationId xmlns:a16="http://schemas.microsoft.com/office/drawing/2014/main" id="{09EF97A0-A166-2415-7822-FBE7252EE4A6}"/>
              </a:ext>
            </a:extLst>
          </p:cNvPr>
          <p:cNvSpPr/>
          <p:nvPr/>
        </p:nvSpPr>
        <p:spPr>
          <a:xfrm>
            <a:off x="514910" y="4408988"/>
            <a:ext cx="2094817" cy="900000"/>
          </a:xfrm>
          <a:custGeom>
            <a:avLst/>
            <a:gdLst>
              <a:gd name="connsiteX0" fmla="*/ 2776257 w 2776258"/>
              <a:gd name="connsiteY0" fmla="*/ 0 h 1879094"/>
              <a:gd name="connsiteX1" fmla="*/ 2776258 w 2776258"/>
              <a:gd name="connsiteY1" fmla="*/ 0 h 1879094"/>
              <a:gd name="connsiteX2" fmla="*/ 2776258 w 2776258"/>
              <a:gd name="connsiteY2" fmla="*/ 157870 h 1879094"/>
              <a:gd name="connsiteX3" fmla="*/ 2776258 w 2776258"/>
              <a:gd name="connsiteY3" fmla="*/ 204641 h 1879094"/>
              <a:gd name="connsiteX4" fmla="*/ 2776258 w 2776258"/>
              <a:gd name="connsiteY4" fmla="*/ 278973 h 1879094"/>
              <a:gd name="connsiteX5" fmla="*/ 2776258 w 2776258"/>
              <a:gd name="connsiteY5" fmla="*/ 315740 h 1879094"/>
              <a:gd name="connsiteX6" fmla="*/ 2776258 w 2776258"/>
              <a:gd name="connsiteY6" fmla="*/ 473610 h 1879094"/>
              <a:gd name="connsiteX7" fmla="*/ 2776258 w 2776258"/>
              <a:gd name="connsiteY7" fmla="*/ 520381 h 1879094"/>
              <a:gd name="connsiteX8" fmla="*/ 2776258 w 2776258"/>
              <a:gd name="connsiteY8" fmla="*/ 594713 h 1879094"/>
              <a:gd name="connsiteX9" fmla="*/ 2776258 w 2776258"/>
              <a:gd name="connsiteY9" fmla="*/ 1321298 h 1879094"/>
              <a:gd name="connsiteX10" fmla="*/ 2776258 w 2776258"/>
              <a:gd name="connsiteY10" fmla="*/ 1637038 h 1879094"/>
              <a:gd name="connsiteX11" fmla="*/ 2534202 w 2776258"/>
              <a:gd name="connsiteY11" fmla="*/ 1879094 h 1879094"/>
              <a:gd name="connsiteX12" fmla="*/ 242056 w 2776258"/>
              <a:gd name="connsiteY12" fmla="*/ 1879094 h 1879094"/>
              <a:gd name="connsiteX13" fmla="*/ 0 w 2776258"/>
              <a:gd name="connsiteY13" fmla="*/ 1637038 h 1879094"/>
              <a:gd name="connsiteX14" fmla="*/ 0 w 2776258"/>
              <a:gd name="connsiteY14" fmla="*/ 1321298 h 1879094"/>
              <a:gd name="connsiteX15" fmla="*/ 0 w 2776258"/>
              <a:gd name="connsiteY15" fmla="*/ 631480 h 1879094"/>
              <a:gd name="connsiteX16" fmla="*/ 0 w 2776258"/>
              <a:gd name="connsiteY16" fmla="*/ 315740 h 1879094"/>
              <a:gd name="connsiteX17" fmla="*/ 157870 w 2776258"/>
              <a:gd name="connsiteY17" fmla="*/ 157870 h 1879094"/>
              <a:gd name="connsiteX18" fmla="*/ 1654248 w 2776258"/>
              <a:gd name="connsiteY18" fmla="*/ 157870 h 1879094"/>
              <a:gd name="connsiteX19" fmla="*/ 1655670 w 2776258"/>
              <a:gd name="connsiteY19" fmla="*/ 157870 h 1879094"/>
              <a:gd name="connsiteX20" fmla="*/ 2618187 w 2776258"/>
              <a:gd name="connsiteY20" fmla="*/ 157870 h 1879094"/>
              <a:gd name="connsiteX21" fmla="*/ 2776257 w 2776258"/>
              <a:gd name="connsiteY21" fmla="*/ 0 h 187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776258" h="1879094">
                <a:moveTo>
                  <a:pt x="2776257" y="0"/>
                </a:moveTo>
                <a:lnTo>
                  <a:pt x="2776258" y="0"/>
                </a:lnTo>
                <a:lnTo>
                  <a:pt x="2776258" y="157870"/>
                </a:lnTo>
                <a:lnTo>
                  <a:pt x="2776258" y="204641"/>
                </a:lnTo>
                <a:lnTo>
                  <a:pt x="2776258" y="278973"/>
                </a:lnTo>
                <a:lnTo>
                  <a:pt x="2776258" y="315740"/>
                </a:lnTo>
                <a:lnTo>
                  <a:pt x="2776258" y="473610"/>
                </a:lnTo>
                <a:lnTo>
                  <a:pt x="2776258" y="520381"/>
                </a:lnTo>
                <a:lnTo>
                  <a:pt x="2776258" y="594713"/>
                </a:lnTo>
                <a:lnTo>
                  <a:pt x="2776258" y="1321298"/>
                </a:lnTo>
                <a:lnTo>
                  <a:pt x="2776258" y="1637038"/>
                </a:lnTo>
                <a:cubicBezTo>
                  <a:pt x="2776258" y="1770722"/>
                  <a:pt x="2667886" y="1879094"/>
                  <a:pt x="2534202" y="1879094"/>
                </a:cubicBezTo>
                <a:lnTo>
                  <a:pt x="242056" y="1879094"/>
                </a:lnTo>
                <a:cubicBezTo>
                  <a:pt x="108372" y="1879094"/>
                  <a:pt x="0" y="1770722"/>
                  <a:pt x="0" y="1637038"/>
                </a:cubicBezTo>
                <a:lnTo>
                  <a:pt x="0" y="1321298"/>
                </a:lnTo>
                <a:lnTo>
                  <a:pt x="0" y="631480"/>
                </a:lnTo>
                <a:lnTo>
                  <a:pt x="0" y="315740"/>
                </a:lnTo>
                <a:cubicBezTo>
                  <a:pt x="0" y="228551"/>
                  <a:pt x="70681" y="157870"/>
                  <a:pt x="157870" y="157870"/>
                </a:cubicBezTo>
                <a:lnTo>
                  <a:pt x="1654248" y="157870"/>
                </a:lnTo>
                <a:lnTo>
                  <a:pt x="1655670" y="157870"/>
                </a:lnTo>
                <a:lnTo>
                  <a:pt x="2618187" y="157870"/>
                </a:lnTo>
                <a:cubicBezTo>
                  <a:pt x="2705487" y="157870"/>
                  <a:pt x="2776257" y="87189"/>
                  <a:pt x="2776257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  <a:effectLst>
            <a:reflection blurRad="6350" stA="300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3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pic>
        <p:nvPicPr>
          <p:cNvPr id="53" name="Graphic 8" descr="Upward trend">
            <a:extLst>
              <a:ext uri="{FF2B5EF4-FFF2-40B4-BE49-F238E27FC236}">
                <a16:creationId xmlns:a16="http://schemas.microsoft.com/office/drawing/2014/main" id="{E3A593D8-4ACF-F38D-C8DB-040EC0CAA1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891977" y="3030316"/>
            <a:ext cx="854013" cy="854013"/>
          </a:xfrm>
          <a:prstGeom prst="rect">
            <a:avLst/>
          </a:prstGeom>
        </p:spPr>
      </p:pic>
      <p:sp>
        <p:nvSpPr>
          <p:cNvPr id="90" name="Text Box 15">
            <a:extLst>
              <a:ext uri="{FF2B5EF4-FFF2-40B4-BE49-F238E27FC236}">
                <a16:creationId xmlns:a16="http://schemas.microsoft.com/office/drawing/2014/main" id="{C597DAF2-A448-FDEA-6896-B6FAA20F8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95511" y="3231041"/>
            <a:ext cx="1354138" cy="384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新漢電腦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工業電腦品牌</a:t>
            </a:r>
          </a:p>
        </p:txBody>
      </p:sp>
      <p:sp>
        <p:nvSpPr>
          <p:cNvPr id="91" name="Text Box 21">
            <a:extLst>
              <a:ext uri="{FF2B5EF4-FFF2-40B4-BE49-F238E27FC236}">
                <a16:creationId xmlns:a16="http://schemas.microsoft.com/office/drawing/2014/main" id="{351CE18C-DC2A-0CA4-6F72-39BC5EF2E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933" y="4118481"/>
            <a:ext cx="6397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2007</a:t>
            </a:r>
          </a:p>
        </p:txBody>
      </p:sp>
      <p:sp>
        <p:nvSpPr>
          <p:cNvPr id="92" name="Text Box 15">
            <a:extLst>
              <a:ext uri="{FF2B5EF4-FFF2-40B4-BE49-F238E27FC236}">
                <a16:creationId xmlns:a16="http://schemas.microsoft.com/office/drawing/2014/main" id="{F188982D-54ED-5AFF-28EE-A13F3C17F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189" y="3705933"/>
            <a:ext cx="810793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新麥企業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烘培機品牌</a:t>
            </a:r>
          </a:p>
        </p:txBody>
      </p:sp>
      <p:sp>
        <p:nvSpPr>
          <p:cNvPr id="96" name="Text Box 15">
            <a:extLst>
              <a:ext uri="{FF2B5EF4-FFF2-40B4-BE49-F238E27FC236}">
                <a16:creationId xmlns:a16="http://schemas.microsoft.com/office/drawing/2014/main" id="{83E1306F-2B82-BB1A-71AE-38634C719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43312" y="5646351"/>
            <a:ext cx="1368425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泓格科技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工業電腦品牌</a:t>
            </a:r>
          </a:p>
        </p:txBody>
      </p:sp>
      <p:sp>
        <p:nvSpPr>
          <p:cNvPr id="97" name="Text Box 21">
            <a:extLst>
              <a:ext uri="{FF2B5EF4-FFF2-40B4-BE49-F238E27FC236}">
                <a16:creationId xmlns:a16="http://schemas.microsoft.com/office/drawing/2014/main" id="{CCED1A25-3513-641B-2D9B-7F38244D4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351" y="5359944"/>
            <a:ext cx="6397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2009</a:t>
            </a:r>
            <a:endParaRPr kumimoji="1" lang="zh-TW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A40000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</p:txBody>
      </p:sp>
      <p:sp>
        <p:nvSpPr>
          <p:cNvPr id="98" name="Text Box 15">
            <a:extLst>
              <a:ext uri="{FF2B5EF4-FFF2-40B4-BE49-F238E27FC236}">
                <a16:creationId xmlns:a16="http://schemas.microsoft.com/office/drawing/2014/main" id="{9989D18A-7424-6161-4B61-677569939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051" y="6008513"/>
            <a:ext cx="955061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精聯電子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工業電腦品牌</a:t>
            </a:r>
          </a:p>
        </p:txBody>
      </p:sp>
      <p:sp>
        <p:nvSpPr>
          <p:cNvPr id="99" name="Text Box 21">
            <a:extLst>
              <a:ext uri="{FF2B5EF4-FFF2-40B4-BE49-F238E27FC236}">
                <a16:creationId xmlns:a16="http://schemas.microsoft.com/office/drawing/2014/main" id="{7C2A8EAC-E0B2-F88A-9D16-2BDD5DBCB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4270" y="4114312"/>
            <a:ext cx="6286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2011</a:t>
            </a:r>
          </a:p>
        </p:txBody>
      </p:sp>
      <p:sp>
        <p:nvSpPr>
          <p:cNvPr id="100" name="Text Box 15">
            <a:extLst>
              <a:ext uri="{FF2B5EF4-FFF2-40B4-BE49-F238E27FC236}">
                <a16:creationId xmlns:a16="http://schemas.microsoft.com/office/drawing/2014/main" id="{64F4390B-F7E9-2387-E44D-78C13ED76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926" y="3246429"/>
            <a:ext cx="805950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研勤科技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導航軟體品牌</a:t>
            </a:r>
          </a:p>
        </p:txBody>
      </p:sp>
      <p:sp>
        <p:nvSpPr>
          <p:cNvPr id="101" name="Text Box 15">
            <a:extLst>
              <a:ext uri="{FF2B5EF4-FFF2-40B4-BE49-F238E27FC236}">
                <a16:creationId xmlns:a16="http://schemas.microsoft.com/office/drawing/2014/main" id="{227FB3E5-8955-F419-99A7-9AE92089E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719" y="3696264"/>
            <a:ext cx="887296" cy="378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歐買尬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遊戲軟體品牌</a:t>
            </a:r>
          </a:p>
        </p:txBody>
      </p:sp>
      <p:sp>
        <p:nvSpPr>
          <p:cNvPr id="102" name="Text Box 15">
            <a:extLst>
              <a:ext uri="{FF2B5EF4-FFF2-40B4-BE49-F238E27FC236}">
                <a16:creationId xmlns:a16="http://schemas.microsoft.com/office/drawing/2014/main" id="{B314D0B5-7640-68FD-BD45-1F328CF85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09" y="2355229"/>
            <a:ext cx="1368425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傳奇網路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遊戲軟體品牌</a:t>
            </a:r>
          </a:p>
        </p:txBody>
      </p:sp>
      <p:sp>
        <p:nvSpPr>
          <p:cNvPr id="103" name="Text Box 15">
            <a:extLst>
              <a:ext uri="{FF2B5EF4-FFF2-40B4-BE49-F238E27FC236}">
                <a16:creationId xmlns:a16="http://schemas.microsoft.com/office/drawing/2014/main" id="{3856E768-3261-60D5-DDB6-02E5C1A39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719" y="2801930"/>
            <a:ext cx="878516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彬台科技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食品整廠設備</a:t>
            </a:r>
          </a:p>
        </p:txBody>
      </p:sp>
      <p:sp>
        <p:nvSpPr>
          <p:cNvPr id="104" name="Text Box 21">
            <a:extLst>
              <a:ext uri="{FF2B5EF4-FFF2-40B4-BE49-F238E27FC236}">
                <a16:creationId xmlns:a16="http://schemas.microsoft.com/office/drawing/2014/main" id="{B07BD7C3-3FA4-0357-B515-6E90C8CCB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0696" y="5351650"/>
            <a:ext cx="6397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2012</a:t>
            </a:r>
            <a:endParaRPr kumimoji="1" lang="zh-TW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A40000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</p:txBody>
      </p:sp>
      <p:sp>
        <p:nvSpPr>
          <p:cNvPr id="105" name="Text Box 15">
            <a:extLst>
              <a:ext uri="{FF2B5EF4-FFF2-40B4-BE49-F238E27FC236}">
                <a16:creationId xmlns:a16="http://schemas.microsoft.com/office/drawing/2014/main" id="{C1A9CC6F-C8FF-12FE-5345-2CBD1CB3F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475" y="5658896"/>
            <a:ext cx="1042983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廣穎電通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記憶體自有品牌</a:t>
            </a:r>
          </a:p>
        </p:txBody>
      </p:sp>
      <p:sp>
        <p:nvSpPr>
          <p:cNvPr id="106" name="Text Box 15">
            <a:extLst>
              <a:ext uri="{FF2B5EF4-FFF2-40B4-BE49-F238E27FC236}">
                <a16:creationId xmlns:a16="http://schemas.microsoft.com/office/drawing/2014/main" id="{C4803FD7-00BC-6571-164B-2EC129066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311" y="6000219"/>
            <a:ext cx="946147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三商美邦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壽險品牌</a:t>
            </a:r>
          </a:p>
        </p:txBody>
      </p:sp>
      <p:sp>
        <p:nvSpPr>
          <p:cNvPr id="107" name="Text Box 21">
            <a:extLst>
              <a:ext uri="{FF2B5EF4-FFF2-40B4-BE49-F238E27FC236}">
                <a16:creationId xmlns:a16="http://schemas.microsoft.com/office/drawing/2014/main" id="{3ED506CC-59F1-8F35-4F6C-833ED3648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0219" y="3759771"/>
            <a:ext cx="6397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2013</a:t>
            </a:r>
          </a:p>
        </p:txBody>
      </p:sp>
      <p:sp>
        <p:nvSpPr>
          <p:cNvPr id="108" name="Text Box 15">
            <a:extLst>
              <a:ext uri="{FF2B5EF4-FFF2-40B4-BE49-F238E27FC236}">
                <a16:creationId xmlns:a16="http://schemas.microsoft.com/office/drawing/2014/main" id="{6F8F9C52-6400-5F4A-E43F-3A6D9EBA1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338" y="3417949"/>
            <a:ext cx="920499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艾美特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家電自有品牌</a:t>
            </a:r>
          </a:p>
        </p:txBody>
      </p:sp>
      <p:sp>
        <p:nvSpPr>
          <p:cNvPr id="109" name="Text Box 21">
            <a:extLst>
              <a:ext uri="{FF2B5EF4-FFF2-40B4-BE49-F238E27FC236}">
                <a16:creationId xmlns:a16="http://schemas.microsoft.com/office/drawing/2014/main" id="{AC8A1F86-712D-1641-3C6C-FFF0F5BDAC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4410" y="5355134"/>
            <a:ext cx="6397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2015</a:t>
            </a:r>
          </a:p>
        </p:txBody>
      </p:sp>
      <p:sp>
        <p:nvSpPr>
          <p:cNvPr id="110" name="Text Box 15">
            <a:extLst>
              <a:ext uri="{FF2B5EF4-FFF2-40B4-BE49-F238E27FC236}">
                <a16:creationId xmlns:a16="http://schemas.microsoft.com/office/drawing/2014/main" id="{96FAC970-65BF-C58B-C8BD-100D30E5D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3674" y="5693611"/>
            <a:ext cx="920499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大樹藥局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連鎖藥局品牌</a:t>
            </a:r>
          </a:p>
        </p:txBody>
      </p:sp>
      <p:sp>
        <p:nvSpPr>
          <p:cNvPr id="123" name="Text Box 21">
            <a:extLst>
              <a:ext uri="{FF2B5EF4-FFF2-40B4-BE49-F238E27FC236}">
                <a16:creationId xmlns:a16="http://schemas.microsoft.com/office/drawing/2014/main" id="{FE72C574-83CE-AA77-55D7-59FAE9C77F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3990" y="3335702"/>
            <a:ext cx="63976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2016</a:t>
            </a:r>
          </a:p>
        </p:txBody>
      </p:sp>
      <p:sp>
        <p:nvSpPr>
          <p:cNvPr id="124" name="Text Box 15">
            <a:extLst>
              <a:ext uri="{FF2B5EF4-FFF2-40B4-BE49-F238E27FC236}">
                <a16:creationId xmlns:a16="http://schemas.microsoft.com/office/drawing/2014/main" id="{3C1F9F96-5552-FBE3-619E-EB1AF501F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8780" y="2551489"/>
            <a:ext cx="1238714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醫揚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醫療用工業電腦品牌</a:t>
            </a:r>
          </a:p>
        </p:txBody>
      </p:sp>
      <p:sp>
        <p:nvSpPr>
          <p:cNvPr id="125" name="Text Box 15">
            <a:extLst>
              <a:ext uri="{FF2B5EF4-FFF2-40B4-BE49-F238E27FC236}">
                <a16:creationId xmlns:a16="http://schemas.microsoft.com/office/drawing/2014/main" id="{4042DFEB-1EBC-6DC4-0587-A001C71BA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6955" y="2993880"/>
            <a:ext cx="939371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虹堡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TW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POS</a:t>
            </a: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終端機品牌</a:t>
            </a:r>
          </a:p>
        </p:txBody>
      </p:sp>
      <p:sp>
        <p:nvSpPr>
          <p:cNvPr id="126" name="Text Box 21">
            <a:extLst>
              <a:ext uri="{FF2B5EF4-FFF2-40B4-BE49-F238E27FC236}">
                <a16:creationId xmlns:a16="http://schemas.microsoft.com/office/drawing/2014/main" id="{304E41EE-4E6A-25F2-B917-FF8E9B6DD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3752" y="5022364"/>
            <a:ext cx="6397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2018</a:t>
            </a:r>
          </a:p>
        </p:txBody>
      </p:sp>
      <p:sp>
        <p:nvSpPr>
          <p:cNvPr id="127" name="Text Box 15">
            <a:extLst>
              <a:ext uri="{FF2B5EF4-FFF2-40B4-BE49-F238E27FC236}">
                <a16:creationId xmlns:a16="http://schemas.microsoft.com/office/drawing/2014/main" id="{6E021DA9-167B-0BC9-E129-E5B6EE430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9028" y="5360841"/>
            <a:ext cx="815840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五福旅遊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旅行社品牌</a:t>
            </a:r>
          </a:p>
        </p:txBody>
      </p:sp>
      <p:sp>
        <p:nvSpPr>
          <p:cNvPr id="128" name="Text Box 15">
            <a:extLst>
              <a:ext uri="{FF2B5EF4-FFF2-40B4-BE49-F238E27FC236}">
                <a16:creationId xmlns:a16="http://schemas.microsoft.com/office/drawing/2014/main" id="{3A975F39-409F-F34F-E8B3-22160993F9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368" y="5751721"/>
            <a:ext cx="920499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必應創造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娛樂文創品牌</a:t>
            </a:r>
          </a:p>
        </p:txBody>
      </p:sp>
      <p:sp>
        <p:nvSpPr>
          <p:cNvPr id="130" name="Text Box 21">
            <a:extLst>
              <a:ext uri="{FF2B5EF4-FFF2-40B4-BE49-F238E27FC236}">
                <a16:creationId xmlns:a16="http://schemas.microsoft.com/office/drawing/2014/main" id="{C6761387-E2E1-39CD-EB18-B853798B4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6071" y="3335702"/>
            <a:ext cx="6397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2019</a:t>
            </a:r>
          </a:p>
        </p:txBody>
      </p:sp>
      <p:sp>
        <p:nvSpPr>
          <p:cNvPr id="131" name="Text Box 15">
            <a:extLst>
              <a:ext uri="{FF2B5EF4-FFF2-40B4-BE49-F238E27FC236}">
                <a16:creationId xmlns:a16="http://schemas.microsoft.com/office/drawing/2014/main" id="{486618F8-4100-FA3B-8BF1-1111CC0DE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6297" y="2993880"/>
            <a:ext cx="932113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和潤企業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汽車金融龍頭</a:t>
            </a:r>
          </a:p>
        </p:txBody>
      </p:sp>
      <p:sp>
        <p:nvSpPr>
          <p:cNvPr id="132" name="Text Box 15">
            <a:extLst>
              <a:ext uri="{FF2B5EF4-FFF2-40B4-BE49-F238E27FC236}">
                <a16:creationId xmlns:a16="http://schemas.microsoft.com/office/drawing/2014/main" id="{4A5E6622-3B3E-BAB2-D855-54925BE52E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690" y="2551489"/>
            <a:ext cx="971636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安碁資訊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企業資安品牌</a:t>
            </a:r>
          </a:p>
        </p:txBody>
      </p:sp>
      <p:sp>
        <p:nvSpPr>
          <p:cNvPr id="133" name="Text Box 21">
            <a:extLst>
              <a:ext uri="{FF2B5EF4-FFF2-40B4-BE49-F238E27FC236}">
                <a16:creationId xmlns:a16="http://schemas.microsoft.com/office/drawing/2014/main" id="{0BB84810-4F4E-5BCE-61F7-D98505E2B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7257" y="4982180"/>
            <a:ext cx="63976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2020</a:t>
            </a:r>
          </a:p>
        </p:txBody>
      </p:sp>
      <p:sp>
        <p:nvSpPr>
          <p:cNvPr id="134" name="Text Box 15">
            <a:extLst>
              <a:ext uri="{FF2B5EF4-FFF2-40B4-BE49-F238E27FC236}">
                <a16:creationId xmlns:a16="http://schemas.microsoft.com/office/drawing/2014/main" id="{A1D61BE0-883B-534C-D3EB-817055AFE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770" y="5318908"/>
            <a:ext cx="1008062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麥味登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早餐店品牌</a:t>
            </a:r>
          </a:p>
        </p:txBody>
      </p:sp>
      <p:sp>
        <p:nvSpPr>
          <p:cNvPr id="135" name="Text Box 15">
            <a:extLst>
              <a:ext uri="{FF2B5EF4-FFF2-40B4-BE49-F238E27FC236}">
                <a16:creationId xmlns:a16="http://schemas.microsoft.com/office/drawing/2014/main" id="{9C55C8C7-A22F-52DE-0A17-77E2D3699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4079" y="5698058"/>
            <a:ext cx="1019753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上洋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商用洗烘衣機品牌</a:t>
            </a:r>
            <a:endParaRPr kumimoji="0" lang="en-US" altLang="zh-TW" sz="8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</p:txBody>
      </p:sp>
      <p:sp>
        <p:nvSpPr>
          <p:cNvPr id="136" name="Text Box 21">
            <a:extLst>
              <a:ext uri="{FF2B5EF4-FFF2-40B4-BE49-F238E27FC236}">
                <a16:creationId xmlns:a16="http://schemas.microsoft.com/office/drawing/2014/main" id="{1234616A-84F9-1AAC-6A9B-CB2B719AA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2162" y="3006816"/>
            <a:ext cx="6397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2021</a:t>
            </a:r>
          </a:p>
        </p:txBody>
      </p:sp>
      <p:sp>
        <p:nvSpPr>
          <p:cNvPr id="137" name="Text Box 15">
            <a:extLst>
              <a:ext uri="{FF2B5EF4-FFF2-40B4-BE49-F238E27FC236}">
                <a16:creationId xmlns:a16="http://schemas.microsoft.com/office/drawing/2014/main" id="{7BD81383-7C13-C79C-51BB-9C6F90C73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5394" y="2662279"/>
            <a:ext cx="1003324" cy="368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全訊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國防電子零件品牌</a:t>
            </a:r>
          </a:p>
        </p:txBody>
      </p:sp>
      <p:sp>
        <p:nvSpPr>
          <p:cNvPr id="138" name="Text Box 21">
            <a:extLst>
              <a:ext uri="{FF2B5EF4-FFF2-40B4-BE49-F238E27FC236}">
                <a16:creationId xmlns:a16="http://schemas.microsoft.com/office/drawing/2014/main" id="{F8A1BB83-016D-BA72-4AF2-67E6DA897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8880" y="4533716"/>
            <a:ext cx="6397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2022</a:t>
            </a:r>
          </a:p>
        </p:txBody>
      </p:sp>
      <p:sp>
        <p:nvSpPr>
          <p:cNvPr id="139" name="Text Box 15">
            <a:extLst>
              <a:ext uri="{FF2B5EF4-FFF2-40B4-BE49-F238E27FC236}">
                <a16:creationId xmlns:a16="http://schemas.microsoft.com/office/drawing/2014/main" id="{8E18F3CE-F110-BAC2-7072-69ACC6DFE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1976" y="4837174"/>
            <a:ext cx="1317625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宏碁資訊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雲端數位轉型品牌</a:t>
            </a:r>
          </a:p>
        </p:txBody>
      </p:sp>
      <p:sp>
        <p:nvSpPr>
          <p:cNvPr id="140" name="Text Box 15">
            <a:extLst>
              <a:ext uri="{FF2B5EF4-FFF2-40B4-BE49-F238E27FC236}">
                <a16:creationId xmlns:a16="http://schemas.microsoft.com/office/drawing/2014/main" id="{0C13DE9D-BB3F-2276-2603-CE3579957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1976" y="5203487"/>
            <a:ext cx="1317625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汎銓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半導體分析品牌</a:t>
            </a:r>
          </a:p>
        </p:txBody>
      </p:sp>
      <p:sp>
        <p:nvSpPr>
          <p:cNvPr id="141" name="Text Box 15">
            <a:extLst>
              <a:ext uri="{FF2B5EF4-FFF2-40B4-BE49-F238E27FC236}">
                <a16:creationId xmlns:a16="http://schemas.microsoft.com/office/drawing/2014/main" id="{8261B6C1-E14C-5BF3-B9B4-5B866030A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9102" y="5582637"/>
            <a:ext cx="920499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天二科技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晶片電阻品牌</a:t>
            </a:r>
          </a:p>
        </p:txBody>
      </p:sp>
      <p:sp>
        <p:nvSpPr>
          <p:cNvPr id="142" name="Text Box 15">
            <a:extLst>
              <a:ext uri="{FF2B5EF4-FFF2-40B4-BE49-F238E27FC236}">
                <a16:creationId xmlns:a16="http://schemas.microsoft.com/office/drawing/2014/main" id="{8610DDE0-C1A9-5133-0798-A280CA368A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5459" y="4837174"/>
            <a:ext cx="1058945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伊雲谷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AWS</a:t>
            </a: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雲服務品牌</a:t>
            </a:r>
          </a:p>
        </p:txBody>
      </p:sp>
      <p:sp>
        <p:nvSpPr>
          <p:cNvPr id="143" name="Text Box 15">
            <a:extLst>
              <a:ext uri="{FF2B5EF4-FFF2-40B4-BE49-F238E27FC236}">
                <a16:creationId xmlns:a16="http://schemas.microsoft.com/office/drawing/2014/main" id="{21DAA6FC-442B-ABCC-F277-6A5F43C3E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5459" y="5203487"/>
            <a:ext cx="1058945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數泓科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數位手工具品牌</a:t>
            </a:r>
          </a:p>
        </p:txBody>
      </p:sp>
      <p:sp>
        <p:nvSpPr>
          <p:cNvPr id="144" name="Text Box 15">
            <a:extLst>
              <a:ext uri="{FF2B5EF4-FFF2-40B4-BE49-F238E27FC236}">
                <a16:creationId xmlns:a16="http://schemas.microsoft.com/office/drawing/2014/main" id="{F0A3C570-B9B6-DD73-2FFA-306B61894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6779" y="5582637"/>
            <a:ext cx="1317625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圓裕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軍工規軟板廠</a:t>
            </a:r>
          </a:p>
        </p:txBody>
      </p:sp>
      <p:sp>
        <p:nvSpPr>
          <p:cNvPr id="145" name="Text Box 21">
            <a:extLst>
              <a:ext uri="{FF2B5EF4-FFF2-40B4-BE49-F238E27FC236}">
                <a16:creationId xmlns:a16="http://schemas.microsoft.com/office/drawing/2014/main" id="{5DB33507-E2BE-8DD3-DA1D-BDC7E52CD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4310" y="2581863"/>
            <a:ext cx="639874" cy="33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2023</a:t>
            </a:r>
          </a:p>
        </p:txBody>
      </p:sp>
      <p:sp>
        <p:nvSpPr>
          <p:cNvPr id="146" name="Text Box 15">
            <a:extLst>
              <a:ext uri="{FF2B5EF4-FFF2-40B4-BE49-F238E27FC236}">
                <a16:creationId xmlns:a16="http://schemas.microsoft.com/office/drawing/2014/main" id="{1D621DFF-0967-DF6A-5A9A-251EF2029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8085" y="2137208"/>
            <a:ext cx="947183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倚天酷碁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智慧微移動品牌</a:t>
            </a:r>
          </a:p>
        </p:txBody>
      </p:sp>
      <p:sp>
        <p:nvSpPr>
          <p:cNvPr id="147" name="Text Box 15">
            <a:extLst>
              <a:ext uri="{FF2B5EF4-FFF2-40B4-BE49-F238E27FC236}">
                <a16:creationId xmlns:a16="http://schemas.microsoft.com/office/drawing/2014/main" id="{3926ABFC-F957-54A8-1C28-D0A5D08FB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9104" y="5803775"/>
            <a:ext cx="1238714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台灣虎航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台灣首家低成本航空</a:t>
            </a:r>
          </a:p>
        </p:txBody>
      </p:sp>
      <p:sp>
        <p:nvSpPr>
          <p:cNvPr id="148" name="平行四邊形 147">
            <a:extLst>
              <a:ext uri="{FF2B5EF4-FFF2-40B4-BE49-F238E27FC236}">
                <a16:creationId xmlns:a16="http://schemas.microsoft.com/office/drawing/2014/main" id="{997BD722-2A5E-34B0-FFF0-3E5B0661ADAD}"/>
              </a:ext>
            </a:extLst>
          </p:cNvPr>
          <p:cNvSpPr/>
          <p:nvPr/>
        </p:nvSpPr>
        <p:spPr bwMode="auto">
          <a:xfrm>
            <a:off x="453555" y="1098667"/>
            <a:ext cx="8123237" cy="211612"/>
          </a:xfrm>
          <a:prstGeom prst="parallelogram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rgbClr val="E7E7E7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台新致力於與客戶一起成長，客戶的好，也是我們的好</a:t>
            </a:r>
          </a:p>
        </p:txBody>
      </p:sp>
      <p:pic>
        <p:nvPicPr>
          <p:cNvPr id="4" name="圖形 3" descr="鼓掌 外框">
            <a:extLst>
              <a:ext uri="{FF2B5EF4-FFF2-40B4-BE49-F238E27FC236}">
                <a16:creationId xmlns:a16="http://schemas.microsoft.com/office/drawing/2014/main" id="{5BFA9095-B392-C6EC-4BBC-283ADEAE6DA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033377" y="3710110"/>
            <a:ext cx="914400" cy="914400"/>
          </a:xfrm>
          <a:prstGeom prst="rect">
            <a:avLst/>
          </a:prstGeom>
        </p:spPr>
      </p:pic>
      <p:pic>
        <p:nvPicPr>
          <p:cNvPr id="10" name="圖形 9" descr="證書卷 外框">
            <a:extLst>
              <a:ext uri="{FF2B5EF4-FFF2-40B4-BE49-F238E27FC236}">
                <a16:creationId xmlns:a16="http://schemas.microsoft.com/office/drawing/2014/main" id="{0D0631DF-8E18-E23E-0DBD-9F6C5E394BD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1100656" y="4490983"/>
            <a:ext cx="914400" cy="914400"/>
          </a:xfrm>
          <a:prstGeom prst="rect">
            <a:avLst/>
          </a:prstGeom>
        </p:spPr>
      </p:pic>
      <p:pic>
        <p:nvPicPr>
          <p:cNvPr id="14" name="圖形 13" descr="講臺 外框">
            <a:extLst>
              <a:ext uri="{FF2B5EF4-FFF2-40B4-BE49-F238E27FC236}">
                <a16:creationId xmlns:a16="http://schemas.microsoft.com/office/drawing/2014/main" id="{0715888A-908D-0E9C-ABCE-649C57FA594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5515902" y="3465325"/>
            <a:ext cx="653156" cy="653156"/>
          </a:xfrm>
          <a:prstGeom prst="rect">
            <a:avLst/>
          </a:prstGeom>
        </p:spPr>
      </p:pic>
      <p:pic>
        <p:nvPicPr>
          <p:cNvPr id="18" name="圖形 17" descr="開燈 以實心填滿">
            <a:extLst>
              <a:ext uri="{FF2B5EF4-FFF2-40B4-BE49-F238E27FC236}">
                <a16:creationId xmlns:a16="http://schemas.microsoft.com/office/drawing/2014/main" id="{81EB4650-6147-BB5C-2077-A3DBBB08867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2688160" y="4157781"/>
            <a:ext cx="828351" cy="828351"/>
          </a:xfrm>
          <a:prstGeom prst="rect">
            <a:avLst/>
          </a:prstGeom>
        </p:spPr>
      </p:pic>
      <p:sp>
        <p:nvSpPr>
          <p:cNvPr id="3" name="Text Box 15">
            <a:extLst>
              <a:ext uri="{FF2B5EF4-FFF2-40B4-BE49-F238E27FC236}">
                <a16:creationId xmlns:a16="http://schemas.microsoft.com/office/drawing/2014/main" id="{D5A0C2D1-AAAB-0FA8-02B1-BAEDCEF5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8362" y="1765313"/>
            <a:ext cx="1460048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鑫傳國際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有線電視多系統整合商</a:t>
            </a:r>
          </a:p>
        </p:txBody>
      </p:sp>
      <p:sp>
        <p:nvSpPr>
          <p:cNvPr id="69" name="Text Box 15">
            <a:extLst>
              <a:ext uri="{FF2B5EF4-FFF2-40B4-BE49-F238E27FC236}">
                <a16:creationId xmlns:a16="http://schemas.microsoft.com/office/drawing/2014/main" id="{D5A0C2D1-AAAB-0FA8-02B1-BAEDCEF5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1880" y="1357047"/>
            <a:ext cx="1546530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富世達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轉動中的隱形冠軍</a:t>
            </a:r>
          </a:p>
        </p:txBody>
      </p:sp>
      <p:sp>
        <p:nvSpPr>
          <p:cNvPr id="70" name="Text Box 15">
            <a:extLst>
              <a:ext uri="{FF2B5EF4-FFF2-40B4-BE49-F238E27FC236}">
                <a16:creationId xmlns:a16="http://schemas.microsoft.com/office/drawing/2014/main" id="{D5A0C2D1-AAAB-0FA8-02B1-BAEDCEF5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9992" y="1351023"/>
            <a:ext cx="1546530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竣邦</a:t>
            </a: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-KY</a:t>
            </a:r>
            <a:endParaRPr kumimoji="1" lang="zh-TW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高機能布料供應商</a:t>
            </a:r>
          </a:p>
        </p:txBody>
      </p:sp>
      <p:sp>
        <p:nvSpPr>
          <p:cNvPr id="71" name="Text Box 15">
            <a:extLst>
              <a:ext uri="{FF2B5EF4-FFF2-40B4-BE49-F238E27FC236}">
                <a16:creationId xmlns:a16="http://schemas.microsoft.com/office/drawing/2014/main" id="{D5A0C2D1-AAAB-0FA8-02B1-BAEDCEF5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9992" y="2142094"/>
            <a:ext cx="1546530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欣新網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首家電商代營運商</a:t>
            </a:r>
          </a:p>
        </p:txBody>
      </p:sp>
      <p:sp>
        <p:nvSpPr>
          <p:cNvPr id="122" name="Text Box 15">
            <a:extLst>
              <a:ext uri="{FF2B5EF4-FFF2-40B4-BE49-F238E27FC236}">
                <a16:creationId xmlns:a16="http://schemas.microsoft.com/office/drawing/2014/main" id="{D5A0C2D1-AAAB-0FA8-02B1-BAEDCEF5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9819" y="5032420"/>
            <a:ext cx="1546530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佑全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台灣連鎖藥妝通路商</a:t>
            </a:r>
          </a:p>
        </p:txBody>
      </p:sp>
      <p:sp>
        <p:nvSpPr>
          <p:cNvPr id="129" name="Text Box 21">
            <a:extLst>
              <a:ext uri="{FF2B5EF4-FFF2-40B4-BE49-F238E27FC236}">
                <a16:creationId xmlns:a16="http://schemas.microsoft.com/office/drawing/2014/main" id="{F8A1BB83-016D-BA72-4AF2-67E6DA897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6475" y="4359257"/>
            <a:ext cx="639874" cy="33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2024</a:t>
            </a:r>
          </a:p>
        </p:txBody>
      </p:sp>
      <p:sp>
        <p:nvSpPr>
          <p:cNvPr id="149" name="Text Box 15">
            <a:extLst>
              <a:ext uri="{FF2B5EF4-FFF2-40B4-BE49-F238E27FC236}">
                <a16:creationId xmlns:a16="http://schemas.microsoft.com/office/drawing/2014/main" id="{D5A0C2D1-AAAB-0FA8-02B1-BAEDCEF5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9819" y="5386045"/>
            <a:ext cx="1546530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諾貝兒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連鎖藥局品牌</a:t>
            </a:r>
          </a:p>
        </p:txBody>
      </p:sp>
      <p:sp>
        <p:nvSpPr>
          <p:cNvPr id="77" name="Text Box 15">
            <a:extLst>
              <a:ext uri="{FF2B5EF4-FFF2-40B4-BE49-F238E27FC236}">
                <a16:creationId xmlns:a16="http://schemas.microsoft.com/office/drawing/2014/main" id="{D5A0C2D1-AAAB-0FA8-02B1-BAEDCEF5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9819" y="5739670"/>
            <a:ext cx="1546530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大武山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台灣首家雞蛋概念股</a:t>
            </a:r>
          </a:p>
        </p:txBody>
      </p:sp>
      <p:sp>
        <p:nvSpPr>
          <p:cNvPr id="78" name="Text Box 15">
            <a:extLst>
              <a:ext uri="{FF2B5EF4-FFF2-40B4-BE49-F238E27FC236}">
                <a16:creationId xmlns:a16="http://schemas.microsoft.com/office/drawing/2014/main" id="{D5A0C2D1-AAAB-0FA8-02B1-BAEDCEF5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9819" y="6093296"/>
            <a:ext cx="1546530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共信</a:t>
            </a: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-KY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靶向化學消融藥的先驅</a:t>
            </a:r>
          </a:p>
        </p:txBody>
      </p:sp>
      <p:sp>
        <p:nvSpPr>
          <p:cNvPr id="79" name="Text Box 15">
            <a:extLst>
              <a:ext uri="{FF2B5EF4-FFF2-40B4-BE49-F238E27FC236}">
                <a16:creationId xmlns:a16="http://schemas.microsoft.com/office/drawing/2014/main" id="{D5A0C2D1-AAAB-0FA8-02B1-BAEDCEF5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9819" y="4678795"/>
            <a:ext cx="1546530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現觀科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台灣通訊大數據龍頭</a:t>
            </a:r>
          </a:p>
        </p:txBody>
      </p:sp>
      <p:sp>
        <p:nvSpPr>
          <p:cNvPr id="80" name="Text Box 15">
            <a:extLst>
              <a:ext uri="{FF2B5EF4-FFF2-40B4-BE49-F238E27FC236}">
                <a16:creationId xmlns:a16="http://schemas.microsoft.com/office/drawing/2014/main" id="{D5A0C2D1-AAAB-0FA8-02B1-BAEDCEF5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1288" y="5424625"/>
            <a:ext cx="1546530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日盛台駿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台灣租賃業領先品牌</a:t>
            </a:r>
          </a:p>
        </p:txBody>
      </p:sp>
      <p:sp>
        <p:nvSpPr>
          <p:cNvPr id="93" name="Text Box 15">
            <a:extLst>
              <a:ext uri="{FF2B5EF4-FFF2-40B4-BE49-F238E27FC236}">
                <a16:creationId xmlns:a16="http://schemas.microsoft.com/office/drawing/2014/main" id="{3926ABFC-F957-54A8-1C28-D0A5D08FB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9288" y="1771090"/>
            <a:ext cx="1238714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台灣虎航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台灣首家低成本航空</a:t>
            </a:r>
          </a:p>
        </p:txBody>
      </p:sp>
      <p:sp>
        <p:nvSpPr>
          <p:cNvPr id="81" name="Text Box 21">
            <a:extLst>
              <a:ext uri="{FF2B5EF4-FFF2-40B4-BE49-F238E27FC236}">
                <a16:creationId xmlns:a16="http://schemas.microsoft.com/office/drawing/2014/main" id="{F8A1BB83-016D-BA72-4AF2-67E6DA897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2440" y="1832769"/>
            <a:ext cx="720080" cy="33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40000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2025</a:t>
            </a:r>
          </a:p>
        </p:txBody>
      </p:sp>
      <p:sp>
        <p:nvSpPr>
          <p:cNvPr id="94" name="Text Box 15">
            <a:extLst>
              <a:ext uri="{FF2B5EF4-FFF2-40B4-BE49-F238E27FC236}">
                <a16:creationId xmlns:a16="http://schemas.microsoft.com/office/drawing/2014/main" id="{D5A0C2D1-AAAB-0FA8-02B1-BAEDCEF5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8242" y="2274160"/>
            <a:ext cx="1083347" cy="49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印能科技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TW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AI</a:t>
            </a: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晶片及半導體除泡解決方案供應商</a:t>
            </a:r>
          </a:p>
        </p:txBody>
      </p:sp>
      <p:sp>
        <p:nvSpPr>
          <p:cNvPr id="111" name="Text Box 15">
            <a:extLst>
              <a:ext uri="{FF2B5EF4-FFF2-40B4-BE49-F238E27FC236}">
                <a16:creationId xmlns:a16="http://schemas.microsoft.com/office/drawing/2014/main" id="{D5A0C2D1-AAAB-0FA8-02B1-BAEDCEF5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7918" y="1342980"/>
            <a:ext cx="1546530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威力德生醫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醫療檢測供應商</a:t>
            </a:r>
          </a:p>
        </p:txBody>
      </p:sp>
      <p:sp>
        <p:nvSpPr>
          <p:cNvPr id="112" name="Text Box 15">
            <a:extLst>
              <a:ext uri="{FF2B5EF4-FFF2-40B4-BE49-F238E27FC236}">
                <a16:creationId xmlns:a16="http://schemas.microsoft.com/office/drawing/2014/main" id="{D5A0C2D1-AAAB-0FA8-02B1-BAEDCEF5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264" y="1340768"/>
            <a:ext cx="1546530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榮田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工具機大廠</a:t>
            </a:r>
          </a:p>
        </p:txBody>
      </p:sp>
      <p:sp>
        <p:nvSpPr>
          <p:cNvPr id="82" name="Text Box 15">
            <a:extLst>
              <a:ext uri="{FF2B5EF4-FFF2-40B4-BE49-F238E27FC236}">
                <a16:creationId xmlns:a16="http://schemas.microsoft.com/office/drawing/2014/main" id="{D5A0C2D1-AAAB-0FA8-02B1-BAEDCEF5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465" y="1651441"/>
            <a:ext cx="1823983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光焱科技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光電子晶片檢測大廠</a:t>
            </a:r>
          </a:p>
        </p:txBody>
      </p:sp>
      <p:sp>
        <p:nvSpPr>
          <p:cNvPr id="84" name="Text Box 15">
            <a:extLst>
              <a:ext uri="{FF2B5EF4-FFF2-40B4-BE49-F238E27FC236}">
                <a16:creationId xmlns:a16="http://schemas.microsoft.com/office/drawing/2014/main" id="{567EA266-116E-4F71-A7A3-910461106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9731" y="1959902"/>
            <a:ext cx="1644717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寶綠特</a:t>
            </a: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-KY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塑膠再生產業</a:t>
            </a:r>
          </a:p>
        </p:txBody>
      </p:sp>
      <p:sp>
        <p:nvSpPr>
          <p:cNvPr id="83" name="Text Box 15">
            <a:extLst>
              <a:ext uri="{FF2B5EF4-FFF2-40B4-BE49-F238E27FC236}">
                <a16:creationId xmlns:a16="http://schemas.microsoft.com/office/drawing/2014/main" id="{D5A0C2D1-AAAB-0FA8-02B1-BAEDCEF53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1814" y="1649229"/>
            <a:ext cx="1546530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生合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益生菌粉領導廠</a:t>
            </a:r>
          </a:p>
        </p:txBody>
      </p:sp>
      <p:sp>
        <p:nvSpPr>
          <p:cNvPr id="85" name="Text Box 15">
            <a:extLst>
              <a:ext uri="{FF2B5EF4-FFF2-40B4-BE49-F238E27FC236}">
                <a16:creationId xmlns:a16="http://schemas.microsoft.com/office/drawing/2014/main" id="{C1F2A102-0AE1-47A4-9526-CC9F1D07C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095" y="1962847"/>
            <a:ext cx="1644717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竑騰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半導體先進封裝</a:t>
            </a:r>
          </a:p>
        </p:txBody>
      </p:sp>
      <p:sp>
        <p:nvSpPr>
          <p:cNvPr id="95" name="Text Box 15">
            <a:extLst>
              <a:ext uri="{FF2B5EF4-FFF2-40B4-BE49-F238E27FC236}">
                <a16:creationId xmlns:a16="http://schemas.microsoft.com/office/drawing/2014/main" id="{93CE25F3-A39C-4811-B4D3-F69E1F8A0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0236" y="2274160"/>
            <a:ext cx="1644717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新代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一站式智慧控制平台</a:t>
            </a:r>
          </a:p>
        </p:txBody>
      </p:sp>
      <p:sp>
        <p:nvSpPr>
          <p:cNvPr id="86" name="Text Box 15">
            <a:extLst>
              <a:ext uri="{FF2B5EF4-FFF2-40B4-BE49-F238E27FC236}">
                <a16:creationId xmlns:a16="http://schemas.microsoft.com/office/drawing/2014/main" id="{27143FE3-0CB4-49BF-BA0E-371A2B810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0236" y="2572352"/>
            <a:ext cx="1644717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資拓宏宇</a:t>
            </a: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資通訊國家隊</a:t>
            </a:r>
          </a:p>
        </p:txBody>
      </p:sp>
      <p:sp>
        <p:nvSpPr>
          <p:cNvPr id="113" name="Text Box 15">
            <a:extLst>
              <a:ext uri="{FF2B5EF4-FFF2-40B4-BE49-F238E27FC236}">
                <a16:creationId xmlns:a16="http://schemas.microsoft.com/office/drawing/2014/main" id="{C3A8AC76-87DE-46BC-8EDC-67A64DA54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4514" y="1340768"/>
            <a:ext cx="973750" cy="49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華豫寧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TW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MCU</a:t>
            </a: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代理及智慧電子鎖製造商</a:t>
            </a:r>
          </a:p>
        </p:txBody>
      </p:sp>
      <p:sp>
        <p:nvSpPr>
          <p:cNvPr id="114" name="Text Box 21">
            <a:extLst>
              <a:ext uri="{FF2B5EF4-FFF2-40B4-BE49-F238E27FC236}">
                <a16:creationId xmlns:a16="http://schemas.microsoft.com/office/drawing/2014/main" id="{E14C2469-DFD4-4003-BB58-B6815F6BE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6622" y="3645024"/>
            <a:ext cx="639874" cy="33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2026</a:t>
            </a:r>
          </a:p>
        </p:txBody>
      </p:sp>
      <p:sp>
        <p:nvSpPr>
          <p:cNvPr id="115" name="Text Box 15">
            <a:extLst>
              <a:ext uri="{FF2B5EF4-FFF2-40B4-BE49-F238E27FC236}">
                <a16:creationId xmlns:a16="http://schemas.microsoft.com/office/drawing/2014/main" id="{8394031B-26D8-4563-A16B-CDA7130E2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9698" y="3923786"/>
            <a:ext cx="1029456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公勝保經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AA1B1F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多保代理領導品牌</a:t>
            </a:r>
          </a:p>
        </p:txBody>
      </p:sp>
      <p:sp>
        <p:nvSpPr>
          <p:cNvPr id="87" name="Text Box 15">
            <a:extLst>
              <a:ext uri="{FF2B5EF4-FFF2-40B4-BE49-F238E27FC236}">
                <a16:creationId xmlns:a16="http://schemas.microsoft.com/office/drawing/2014/main" id="{2A4B6FCC-A7C9-4541-B2B3-7BCDA3A70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9698" y="4244578"/>
            <a:ext cx="1029456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宏碁智新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AA1B1F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智慧家電品牌</a:t>
            </a:r>
          </a:p>
        </p:txBody>
      </p:sp>
      <p:sp>
        <p:nvSpPr>
          <p:cNvPr id="88" name="Text Box 15">
            <a:extLst>
              <a:ext uri="{FF2B5EF4-FFF2-40B4-BE49-F238E27FC236}">
                <a16:creationId xmlns:a16="http://schemas.microsoft.com/office/drawing/2014/main" id="{9566EFB0-BDD9-40A7-A9B6-CB776B96D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9698" y="4565370"/>
            <a:ext cx="1029456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享溫馨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AA1B1F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TW" sz="8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KTV</a:t>
            </a: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南霸天</a:t>
            </a:r>
          </a:p>
        </p:txBody>
      </p:sp>
      <p:sp>
        <p:nvSpPr>
          <p:cNvPr id="116" name="Text Box 15">
            <a:extLst>
              <a:ext uri="{FF2B5EF4-FFF2-40B4-BE49-F238E27FC236}">
                <a16:creationId xmlns:a16="http://schemas.microsoft.com/office/drawing/2014/main" id="{360CCF6E-DF91-41B0-8696-9D8B5BBEA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9698" y="4886162"/>
            <a:ext cx="1029456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永笙</a:t>
            </a: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-KY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細胞新藥公司</a:t>
            </a:r>
          </a:p>
        </p:txBody>
      </p:sp>
      <p:sp>
        <p:nvSpPr>
          <p:cNvPr id="89" name="Text Box 15">
            <a:extLst>
              <a:ext uri="{FF2B5EF4-FFF2-40B4-BE49-F238E27FC236}">
                <a16:creationId xmlns:a16="http://schemas.microsoft.com/office/drawing/2014/main" id="{06768CB4-F677-401F-8D20-8303C9E7F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6376" y="5206954"/>
            <a:ext cx="1112778" cy="49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TW" altLang="en-US" sz="1000" dirty="0">
                <a:solidFill>
                  <a:srgbClr val="AA1B1F"/>
                </a:solidFill>
                <a:sym typeface="Arial Bold" panose="020B0704020202020204" pitchFamily="34" charset="0"/>
              </a:rPr>
              <a:t>耀穎光電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AA1B1F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dirty="0">
                <a:solidFill>
                  <a:srgbClr val="AA1B1F"/>
                </a:solidFill>
                <a:sym typeface="Arial Bold" panose="020B0704020202020204" pitchFamily="34" charset="0"/>
              </a:rPr>
              <a:t>光學鍍膜及</a:t>
            </a:r>
            <a:endParaRPr kumimoji="0" lang="en-US" altLang="zh-TW" sz="800" dirty="0">
              <a:solidFill>
                <a:srgbClr val="AA1B1F"/>
              </a:solidFill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黃光蝕刻整合商</a:t>
            </a:r>
          </a:p>
        </p:txBody>
      </p:sp>
      <p:sp>
        <p:nvSpPr>
          <p:cNvPr id="117" name="Text Box 15">
            <a:extLst>
              <a:ext uri="{FF2B5EF4-FFF2-40B4-BE49-F238E27FC236}">
                <a16:creationId xmlns:a16="http://schemas.microsoft.com/office/drawing/2014/main" id="{CB8EFF5B-C0AA-46AC-9235-394695A19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6376" y="5650854"/>
            <a:ext cx="1112778" cy="49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立弘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AA1B1F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dirty="0">
                <a:solidFill>
                  <a:srgbClr val="AA1B1F"/>
                </a:solidFill>
                <a:sym typeface="Arial Bold" panose="020B0704020202020204" pitchFamily="34" charset="0"/>
              </a:rPr>
              <a:t>全球類葫蘿蔔素</a:t>
            </a:r>
            <a:endParaRPr kumimoji="0" lang="en-US" altLang="zh-TW" sz="800" dirty="0">
              <a:solidFill>
                <a:srgbClr val="AA1B1F"/>
              </a:solidFill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dirty="0">
                <a:solidFill>
                  <a:srgbClr val="AA1B1F"/>
                </a:solidFill>
                <a:sym typeface="Arial Bold" panose="020B0704020202020204" pitchFamily="34" charset="0"/>
              </a:rPr>
              <a:t>三大供應商之一</a:t>
            </a:r>
            <a:endParaRPr kumimoji="0" lang="zh-TW" altLang="en-US" sz="800" b="1" i="0" u="none" strike="noStrike" kern="1200" cap="none" spc="0" normalizeH="0" baseline="0" noProof="0" dirty="0">
              <a:ln>
                <a:noFill/>
              </a:ln>
              <a:solidFill>
                <a:srgbClr val="AA1B1F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</p:txBody>
      </p:sp>
      <p:sp>
        <p:nvSpPr>
          <p:cNvPr id="118" name="Text Box 15">
            <a:extLst>
              <a:ext uri="{FF2B5EF4-FFF2-40B4-BE49-F238E27FC236}">
                <a16:creationId xmlns:a16="http://schemas.microsoft.com/office/drawing/2014/main" id="{3F990400-5668-49E7-B0A0-8909BEC20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280" y="4331444"/>
            <a:ext cx="1112778" cy="36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和迅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dirty="0">
                <a:solidFill>
                  <a:srgbClr val="AA1B1F"/>
                </a:solidFill>
                <a:sym typeface="Arial Bold" panose="020B0704020202020204" pitchFamily="34" charset="0"/>
              </a:rPr>
              <a:t>幹細胞新藥開發</a:t>
            </a:r>
            <a:endParaRPr kumimoji="0" lang="zh-TW" altLang="en-US" sz="800" b="1" i="0" u="none" strike="noStrike" kern="1200" cap="none" spc="0" normalizeH="0" baseline="0" noProof="0" dirty="0">
              <a:ln>
                <a:noFill/>
              </a:ln>
              <a:solidFill>
                <a:srgbClr val="AA1B1F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</p:txBody>
      </p:sp>
      <p:sp>
        <p:nvSpPr>
          <p:cNvPr id="119" name="Text Box 15">
            <a:extLst>
              <a:ext uri="{FF2B5EF4-FFF2-40B4-BE49-F238E27FC236}">
                <a16:creationId xmlns:a16="http://schemas.microsoft.com/office/drawing/2014/main" id="{D2BD60AB-C5A4-44CA-A72D-A1D4A06FD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5602" y="4676930"/>
            <a:ext cx="1029456" cy="49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永悅健康</a:t>
            </a:r>
            <a:r>
              <a:rPr kumimoji="1" lang="en-US" altLang="zh-TW" sz="10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-</a:t>
            </a:r>
            <a:r>
              <a:rPr kumimoji="1" lang="zh-TW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創</a:t>
            </a:r>
            <a:endParaRPr kumimoji="1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srgbClr val="AA1B1F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台灣最大</a:t>
            </a:r>
            <a:endParaRPr kumimoji="0" lang="en-US" altLang="zh-TW" sz="800" b="1" i="0" u="none" strike="noStrike" kern="1200" cap="none" spc="0" normalizeH="0" baseline="0" noProof="0" dirty="0">
              <a:ln>
                <a:noFill/>
              </a:ln>
              <a:solidFill>
                <a:srgbClr val="AA1B1F"/>
              </a:solidFill>
              <a:effectLst/>
              <a:uLnTx/>
              <a:uFillTx/>
              <a:latin typeface="Arial" panose="020B0604020202020204" pitchFamily="34" charset="0"/>
              <a:ea typeface="微軟正黑體" panose="020B0604030504040204" pitchFamily="34" charset="-120"/>
              <a:cs typeface="+mn-cs"/>
              <a:sym typeface="Arial Bold" panose="020B07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TW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AA1B1F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+mn-cs"/>
                <a:sym typeface="Arial Bold" panose="020B0704020202020204" pitchFamily="34" charset="0"/>
              </a:rPr>
              <a:t>數位健康科技平台</a:t>
            </a:r>
          </a:p>
        </p:txBody>
      </p:sp>
    </p:spTree>
    <p:extLst>
      <p:ext uri="{BB962C8B-B14F-4D97-AF65-F5344CB8AC3E}">
        <p14:creationId xmlns:p14="http://schemas.microsoft.com/office/powerpoint/2010/main" val="1765060956"/>
      </p:ext>
    </p:extLst>
  </p:cSld>
  <p:clrMapOvr>
    <a:masterClrMapping/>
  </p:clrMapOvr>
  <p:transition>
    <p:spli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2951956" y="1556792"/>
            <a:ext cx="3240087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6600" dirty="0">
                <a:solidFill>
                  <a:srgbClr val="656565"/>
                </a:solidFill>
              </a:rPr>
              <a:t>Q &amp; A</a:t>
            </a:r>
          </a:p>
        </p:txBody>
      </p:sp>
      <p:pic>
        <p:nvPicPr>
          <p:cNvPr id="4" name="Picture 4" descr="ç¸éåç">
            <a:extLst>
              <a:ext uri="{FF2B5EF4-FFF2-40B4-BE49-F238E27FC236}">
                <a16:creationId xmlns:a16="http://schemas.microsoft.com/office/drawing/2014/main" id="{1944D6C9-5A6B-4F3E-818C-60CCA038D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3501008"/>
            <a:ext cx="922312" cy="85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spli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邊形 11">
            <a:extLst>
              <a:ext uri="{FF2B5EF4-FFF2-40B4-BE49-F238E27FC236}">
                <a16:creationId xmlns:a16="http://schemas.microsoft.com/office/drawing/2014/main" id="{7B1869D2-CF1B-489F-BD53-C8039EE1CB54}"/>
              </a:ext>
            </a:extLst>
          </p:cNvPr>
          <p:cNvSpPr/>
          <p:nvPr/>
        </p:nvSpPr>
        <p:spPr>
          <a:xfrm flipV="1">
            <a:off x="5856906" y="3412867"/>
            <a:ext cx="5616624" cy="1152150"/>
          </a:xfrm>
          <a:prstGeom prst="parallelogram">
            <a:avLst>
              <a:gd name="adj" fmla="val 95639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FF"/>
              </a:solidFill>
            </a:endParaRPr>
          </a:p>
        </p:txBody>
      </p:sp>
      <p:sp>
        <p:nvSpPr>
          <p:cNvPr id="11" name="平行四邊形 10">
            <a:extLst>
              <a:ext uri="{FF2B5EF4-FFF2-40B4-BE49-F238E27FC236}">
                <a16:creationId xmlns:a16="http://schemas.microsoft.com/office/drawing/2014/main" id="{A9AFE730-5BD5-43D6-8F82-210A6602FDBD}"/>
              </a:ext>
            </a:extLst>
          </p:cNvPr>
          <p:cNvSpPr/>
          <p:nvPr/>
        </p:nvSpPr>
        <p:spPr>
          <a:xfrm flipV="1">
            <a:off x="-2016697" y="2152676"/>
            <a:ext cx="8424936" cy="936104"/>
          </a:xfrm>
          <a:prstGeom prst="parallelogram">
            <a:avLst>
              <a:gd name="adj" fmla="val 93097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FF"/>
              </a:solidFill>
            </a:endParaRPr>
          </a:p>
        </p:txBody>
      </p:sp>
      <p:pic>
        <p:nvPicPr>
          <p:cNvPr id="19" name="圖片 18" descr="未命名">
            <a:extLst>
              <a:ext uri="{FF2B5EF4-FFF2-40B4-BE49-F238E27FC236}">
                <a16:creationId xmlns:a16="http://schemas.microsoft.com/office/drawing/2014/main" id="{51148074-7EF7-401A-8BB2-CF4751324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7" t="4184" r="2568" b="47176"/>
          <a:stretch>
            <a:fillRect/>
          </a:stretch>
        </p:blipFill>
        <p:spPr bwMode="auto">
          <a:xfrm rot="21340448">
            <a:off x="5183877" y="1420627"/>
            <a:ext cx="2457708" cy="2711632"/>
          </a:xfrm>
          <a:custGeom>
            <a:avLst/>
            <a:gdLst>
              <a:gd name="connsiteX0" fmla="*/ 765344 w 2142807"/>
              <a:gd name="connsiteY0" fmla="*/ 2072 h 2364196"/>
              <a:gd name="connsiteX1" fmla="*/ 985062 w 2142807"/>
              <a:gd name="connsiteY1" fmla="*/ 123477 h 2364196"/>
              <a:gd name="connsiteX2" fmla="*/ 2071219 w 2142807"/>
              <a:gd name="connsiteY2" fmla="*/ 1485201 h 2364196"/>
              <a:gd name="connsiteX3" fmla="*/ 2019331 w 2142807"/>
              <a:gd name="connsiteY3" fmla="*/ 1946129 h 2364196"/>
              <a:gd name="connsiteX4" fmla="*/ 1495197 w 2142807"/>
              <a:gd name="connsiteY4" fmla="*/ 2364196 h 2364196"/>
              <a:gd name="connsiteX5" fmla="*/ 0 w 2142807"/>
              <a:gd name="connsiteY5" fmla="*/ 489656 h 2364196"/>
              <a:gd name="connsiteX6" fmla="*/ 524134 w 2142807"/>
              <a:gd name="connsiteY6" fmla="*/ 71589 h 2364196"/>
              <a:gd name="connsiteX7" fmla="*/ 765344 w 2142807"/>
              <a:gd name="connsiteY7" fmla="*/ 2072 h 2364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2807" h="2364196">
                <a:moveTo>
                  <a:pt x="765344" y="2072"/>
                </a:moveTo>
                <a:cubicBezTo>
                  <a:pt x="848755" y="11461"/>
                  <a:pt x="928585" y="52672"/>
                  <a:pt x="985062" y="123477"/>
                </a:cubicBezTo>
                <a:lnTo>
                  <a:pt x="2071219" y="1485201"/>
                </a:lnTo>
                <a:cubicBezTo>
                  <a:pt x="2184173" y="1626812"/>
                  <a:pt x="2160942" y="1833176"/>
                  <a:pt x="2019331" y="1946129"/>
                </a:cubicBezTo>
                <a:lnTo>
                  <a:pt x="1495197" y="2364196"/>
                </a:lnTo>
                <a:lnTo>
                  <a:pt x="0" y="489656"/>
                </a:lnTo>
                <a:lnTo>
                  <a:pt x="524134" y="71589"/>
                </a:lnTo>
                <a:cubicBezTo>
                  <a:pt x="594939" y="15112"/>
                  <a:pt x="681933" y="-7318"/>
                  <a:pt x="765344" y="2072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圖片 19" descr="未命名">
            <a:extLst>
              <a:ext uri="{FF2B5EF4-FFF2-40B4-BE49-F238E27FC236}">
                <a16:creationId xmlns:a16="http://schemas.microsoft.com/office/drawing/2014/main" id="{C1247112-0447-41EE-A21A-7720B5C21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6" t="27738" r="10122" b="23819"/>
          <a:stretch>
            <a:fillRect/>
          </a:stretch>
        </p:blipFill>
        <p:spPr bwMode="auto">
          <a:xfrm rot="21425389">
            <a:off x="4665445" y="2346587"/>
            <a:ext cx="2382923" cy="2600675"/>
          </a:xfrm>
          <a:custGeom>
            <a:avLst/>
            <a:gdLst>
              <a:gd name="connsiteX0" fmla="*/ 639277 w 2157449"/>
              <a:gd name="connsiteY0" fmla="*/ 0 h 2354597"/>
              <a:gd name="connsiteX1" fmla="*/ 2157449 w 2157449"/>
              <a:gd name="connsiteY1" fmla="*/ 1855983 h 2354597"/>
              <a:gd name="connsiteX2" fmla="*/ 1638504 w 2157449"/>
              <a:gd name="connsiteY2" fmla="*/ 2280473 h 2354597"/>
              <a:gd name="connsiteX3" fmla="*/ 1176972 w 2157449"/>
              <a:gd name="connsiteY3" fmla="*/ 2234266 h 2354597"/>
              <a:gd name="connsiteX4" fmla="*/ 74125 w 2157449"/>
              <a:gd name="connsiteY4" fmla="*/ 886023 h 2354597"/>
              <a:gd name="connsiteX5" fmla="*/ 120332 w 2157449"/>
              <a:gd name="connsiteY5" fmla="*/ 424490 h 2354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7449" h="2354597">
                <a:moveTo>
                  <a:pt x="639277" y="0"/>
                </a:moveTo>
                <a:lnTo>
                  <a:pt x="2157449" y="1855983"/>
                </a:lnTo>
                <a:lnTo>
                  <a:pt x="1638504" y="2280473"/>
                </a:lnTo>
                <a:cubicBezTo>
                  <a:pt x="1498295" y="2395162"/>
                  <a:pt x="1291661" y="2374475"/>
                  <a:pt x="1176972" y="2234266"/>
                </a:cubicBezTo>
                <a:lnTo>
                  <a:pt x="74125" y="886023"/>
                </a:lnTo>
                <a:cubicBezTo>
                  <a:pt x="-40564" y="745814"/>
                  <a:pt x="-19877" y="539179"/>
                  <a:pt x="120332" y="424490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C1D909FD-321A-4D00-96B4-7145CFE79D51}"/>
              </a:ext>
            </a:extLst>
          </p:cNvPr>
          <p:cNvSpPr txBox="1"/>
          <p:nvPr/>
        </p:nvSpPr>
        <p:spPr>
          <a:xfrm>
            <a:off x="542430" y="2359118"/>
            <a:ext cx="4605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rgbClr val="FFFFFF">
                    <a:lumMod val="50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附件一、多元掛牌市場</a:t>
            </a:r>
          </a:p>
        </p:txBody>
      </p:sp>
    </p:spTree>
    <p:extLst>
      <p:ext uri="{BB962C8B-B14F-4D97-AF65-F5344CB8AC3E}">
        <p14:creationId xmlns:p14="http://schemas.microsoft.com/office/powerpoint/2010/main" val="1533899710"/>
      </p:ext>
    </p:extLst>
  </p:cSld>
  <p:clrMapOvr>
    <a:masterClrMapping/>
  </p:clrMapOvr>
  <p:transition>
    <p:spli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邊形 11">
            <a:extLst>
              <a:ext uri="{FF2B5EF4-FFF2-40B4-BE49-F238E27FC236}">
                <a16:creationId xmlns:a16="http://schemas.microsoft.com/office/drawing/2014/main" id="{7B1869D2-CF1B-489F-BD53-C8039EE1CB54}"/>
              </a:ext>
            </a:extLst>
          </p:cNvPr>
          <p:cNvSpPr/>
          <p:nvPr/>
        </p:nvSpPr>
        <p:spPr>
          <a:xfrm flipV="1">
            <a:off x="5856906" y="3412867"/>
            <a:ext cx="5616624" cy="1152150"/>
          </a:xfrm>
          <a:prstGeom prst="parallelogram">
            <a:avLst>
              <a:gd name="adj" fmla="val 95639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FF"/>
              </a:solidFill>
            </a:endParaRPr>
          </a:p>
        </p:txBody>
      </p:sp>
      <p:sp>
        <p:nvSpPr>
          <p:cNvPr id="11" name="平行四邊形 10">
            <a:extLst>
              <a:ext uri="{FF2B5EF4-FFF2-40B4-BE49-F238E27FC236}">
                <a16:creationId xmlns:a16="http://schemas.microsoft.com/office/drawing/2014/main" id="{A9AFE730-5BD5-43D6-8F82-210A6602FDBD}"/>
              </a:ext>
            </a:extLst>
          </p:cNvPr>
          <p:cNvSpPr/>
          <p:nvPr/>
        </p:nvSpPr>
        <p:spPr>
          <a:xfrm flipV="1">
            <a:off x="-2016697" y="2152676"/>
            <a:ext cx="8424936" cy="936104"/>
          </a:xfrm>
          <a:prstGeom prst="parallelogram">
            <a:avLst>
              <a:gd name="adj" fmla="val 93097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FFFF"/>
              </a:solidFill>
            </a:endParaRPr>
          </a:p>
        </p:txBody>
      </p:sp>
      <p:pic>
        <p:nvPicPr>
          <p:cNvPr id="19" name="圖片 18" descr="未命名">
            <a:extLst>
              <a:ext uri="{FF2B5EF4-FFF2-40B4-BE49-F238E27FC236}">
                <a16:creationId xmlns:a16="http://schemas.microsoft.com/office/drawing/2014/main" id="{51148074-7EF7-401A-8BB2-CF4751324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7" t="4184" r="2568" b="47176"/>
          <a:stretch>
            <a:fillRect/>
          </a:stretch>
        </p:blipFill>
        <p:spPr bwMode="auto">
          <a:xfrm rot="21340448">
            <a:off x="5183877" y="1420627"/>
            <a:ext cx="2457708" cy="2711632"/>
          </a:xfrm>
          <a:custGeom>
            <a:avLst/>
            <a:gdLst>
              <a:gd name="connsiteX0" fmla="*/ 765344 w 2142807"/>
              <a:gd name="connsiteY0" fmla="*/ 2072 h 2364196"/>
              <a:gd name="connsiteX1" fmla="*/ 985062 w 2142807"/>
              <a:gd name="connsiteY1" fmla="*/ 123477 h 2364196"/>
              <a:gd name="connsiteX2" fmla="*/ 2071219 w 2142807"/>
              <a:gd name="connsiteY2" fmla="*/ 1485201 h 2364196"/>
              <a:gd name="connsiteX3" fmla="*/ 2019331 w 2142807"/>
              <a:gd name="connsiteY3" fmla="*/ 1946129 h 2364196"/>
              <a:gd name="connsiteX4" fmla="*/ 1495197 w 2142807"/>
              <a:gd name="connsiteY4" fmla="*/ 2364196 h 2364196"/>
              <a:gd name="connsiteX5" fmla="*/ 0 w 2142807"/>
              <a:gd name="connsiteY5" fmla="*/ 489656 h 2364196"/>
              <a:gd name="connsiteX6" fmla="*/ 524134 w 2142807"/>
              <a:gd name="connsiteY6" fmla="*/ 71589 h 2364196"/>
              <a:gd name="connsiteX7" fmla="*/ 765344 w 2142807"/>
              <a:gd name="connsiteY7" fmla="*/ 2072 h 2364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2807" h="2364196">
                <a:moveTo>
                  <a:pt x="765344" y="2072"/>
                </a:moveTo>
                <a:cubicBezTo>
                  <a:pt x="848755" y="11461"/>
                  <a:pt x="928585" y="52672"/>
                  <a:pt x="985062" y="123477"/>
                </a:cubicBezTo>
                <a:lnTo>
                  <a:pt x="2071219" y="1485201"/>
                </a:lnTo>
                <a:cubicBezTo>
                  <a:pt x="2184173" y="1626812"/>
                  <a:pt x="2160942" y="1833176"/>
                  <a:pt x="2019331" y="1946129"/>
                </a:cubicBezTo>
                <a:lnTo>
                  <a:pt x="1495197" y="2364196"/>
                </a:lnTo>
                <a:lnTo>
                  <a:pt x="0" y="489656"/>
                </a:lnTo>
                <a:lnTo>
                  <a:pt x="524134" y="71589"/>
                </a:lnTo>
                <a:cubicBezTo>
                  <a:pt x="594939" y="15112"/>
                  <a:pt x="681933" y="-7318"/>
                  <a:pt x="765344" y="2072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圖片 19" descr="未命名">
            <a:extLst>
              <a:ext uri="{FF2B5EF4-FFF2-40B4-BE49-F238E27FC236}">
                <a16:creationId xmlns:a16="http://schemas.microsoft.com/office/drawing/2014/main" id="{C1247112-0447-41EE-A21A-7720B5C21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6" t="27738" r="10122" b="23819"/>
          <a:stretch>
            <a:fillRect/>
          </a:stretch>
        </p:blipFill>
        <p:spPr bwMode="auto">
          <a:xfrm rot="21425389">
            <a:off x="4665445" y="2346587"/>
            <a:ext cx="2382923" cy="2600675"/>
          </a:xfrm>
          <a:custGeom>
            <a:avLst/>
            <a:gdLst>
              <a:gd name="connsiteX0" fmla="*/ 639277 w 2157449"/>
              <a:gd name="connsiteY0" fmla="*/ 0 h 2354597"/>
              <a:gd name="connsiteX1" fmla="*/ 2157449 w 2157449"/>
              <a:gd name="connsiteY1" fmla="*/ 1855983 h 2354597"/>
              <a:gd name="connsiteX2" fmla="*/ 1638504 w 2157449"/>
              <a:gd name="connsiteY2" fmla="*/ 2280473 h 2354597"/>
              <a:gd name="connsiteX3" fmla="*/ 1176972 w 2157449"/>
              <a:gd name="connsiteY3" fmla="*/ 2234266 h 2354597"/>
              <a:gd name="connsiteX4" fmla="*/ 74125 w 2157449"/>
              <a:gd name="connsiteY4" fmla="*/ 886023 h 2354597"/>
              <a:gd name="connsiteX5" fmla="*/ 120332 w 2157449"/>
              <a:gd name="connsiteY5" fmla="*/ 424490 h 2354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7449" h="2354597">
                <a:moveTo>
                  <a:pt x="639277" y="0"/>
                </a:moveTo>
                <a:lnTo>
                  <a:pt x="2157449" y="1855983"/>
                </a:lnTo>
                <a:lnTo>
                  <a:pt x="1638504" y="2280473"/>
                </a:lnTo>
                <a:cubicBezTo>
                  <a:pt x="1498295" y="2395162"/>
                  <a:pt x="1291661" y="2374475"/>
                  <a:pt x="1176972" y="2234266"/>
                </a:cubicBezTo>
                <a:lnTo>
                  <a:pt x="74125" y="886023"/>
                </a:lnTo>
                <a:cubicBezTo>
                  <a:pt x="-40564" y="745814"/>
                  <a:pt x="-19877" y="539179"/>
                  <a:pt x="120332" y="424490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C1D909FD-321A-4D00-96B4-7145CFE79D51}"/>
              </a:ext>
            </a:extLst>
          </p:cNvPr>
          <p:cNvSpPr txBox="1"/>
          <p:nvPr/>
        </p:nvSpPr>
        <p:spPr>
          <a:xfrm>
            <a:off x="542430" y="2359118"/>
            <a:ext cx="4605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rgbClr val="FFFFFF">
                    <a:lumMod val="50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附件二、台新承作優質企業</a:t>
            </a:r>
          </a:p>
        </p:txBody>
      </p:sp>
    </p:spTree>
    <p:extLst>
      <p:ext uri="{BB962C8B-B14F-4D97-AF65-F5344CB8AC3E}">
        <p14:creationId xmlns:p14="http://schemas.microsoft.com/office/powerpoint/2010/main" val="538800652"/>
      </p:ext>
    </p:extLst>
  </p:cSld>
  <p:clrMapOvr>
    <a:masterClrMapping/>
  </p:clrMapOvr>
  <p:transition>
    <p:spli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邊形 11">
            <a:extLst>
              <a:ext uri="{FF2B5EF4-FFF2-40B4-BE49-F238E27FC236}">
                <a16:creationId xmlns:a16="http://schemas.microsoft.com/office/drawing/2014/main" id="{7B1869D2-CF1B-489F-BD53-C8039EE1CB54}"/>
              </a:ext>
            </a:extLst>
          </p:cNvPr>
          <p:cNvSpPr/>
          <p:nvPr/>
        </p:nvSpPr>
        <p:spPr>
          <a:xfrm flipV="1">
            <a:off x="5856906" y="3412867"/>
            <a:ext cx="5616624" cy="1152150"/>
          </a:xfrm>
          <a:prstGeom prst="parallelogram">
            <a:avLst>
              <a:gd name="adj" fmla="val 95639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平行四邊形 10">
            <a:extLst>
              <a:ext uri="{FF2B5EF4-FFF2-40B4-BE49-F238E27FC236}">
                <a16:creationId xmlns:a16="http://schemas.microsoft.com/office/drawing/2014/main" id="{A9AFE730-5BD5-43D6-8F82-210A6602FDBD}"/>
              </a:ext>
            </a:extLst>
          </p:cNvPr>
          <p:cNvSpPr/>
          <p:nvPr/>
        </p:nvSpPr>
        <p:spPr>
          <a:xfrm flipV="1">
            <a:off x="-2016697" y="2152676"/>
            <a:ext cx="8424936" cy="936104"/>
          </a:xfrm>
          <a:prstGeom prst="parallelogram">
            <a:avLst>
              <a:gd name="adj" fmla="val 93097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9" name="圖片 18" descr="未命名">
            <a:extLst>
              <a:ext uri="{FF2B5EF4-FFF2-40B4-BE49-F238E27FC236}">
                <a16:creationId xmlns:a16="http://schemas.microsoft.com/office/drawing/2014/main" id="{51148074-7EF7-401A-8BB2-CF4751324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7" t="4184" r="2568" b="47176"/>
          <a:stretch>
            <a:fillRect/>
          </a:stretch>
        </p:blipFill>
        <p:spPr bwMode="auto">
          <a:xfrm rot="21340448">
            <a:off x="5183877" y="1420627"/>
            <a:ext cx="2457708" cy="2711632"/>
          </a:xfrm>
          <a:custGeom>
            <a:avLst/>
            <a:gdLst>
              <a:gd name="connsiteX0" fmla="*/ 765344 w 2142807"/>
              <a:gd name="connsiteY0" fmla="*/ 2072 h 2364196"/>
              <a:gd name="connsiteX1" fmla="*/ 985062 w 2142807"/>
              <a:gd name="connsiteY1" fmla="*/ 123477 h 2364196"/>
              <a:gd name="connsiteX2" fmla="*/ 2071219 w 2142807"/>
              <a:gd name="connsiteY2" fmla="*/ 1485201 h 2364196"/>
              <a:gd name="connsiteX3" fmla="*/ 2019331 w 2142807"/>
              <a:gd name="connsiteY3" fmla="*/ 1946129 h 2364196"/>
              <a:gd name="connsiteX4" fmla="*/ 1495197 w 2142807"/>
              <a:gd name="connsiteY4" fmla="*/ 2364196 h 2364196"/>
              <a:gd name="connsiteX5" fmla="*/ 0 w 2142807"/>
              <a:gd name="connsiteY5" fmla="*/ 489656 h 2364196"/>
              <a:gd name="connsiteX6" fmla="*/ 524134 w 2142807"/>
              <a:gd name="connsiteY6" fmla="*/ 71589 h 2364196"/>
              <a:gd name="connsiteX7" fmla="*/ 765344 w 2142807"/>
              <a:gd name="connsiteY7" fmla="*/ 2072 h 2364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2807" h="2364196">
                <a:moveTo>
                  <a:pt x="765344" y="2072"/>
                </a:moveTo>
                <a:cubicBezTo>
                  <a:pt x="848755" y="11461"/>
                  <a:pt x="928585" y="52672"/>
                  <a:pt x="985062" y="123477"/>
                </a:cubicBezTo>
                <a:lnTo>
                  <a:pt x="2071219" y="1485201"/>
                </a:lnTo>
                <a:cubicBezTo>
                  <a:pt x="2184173" y="1626812"/>
                  <a:pt x="2160942" y="1833176"/>
                  <a:pt x="2019331" y="1946129"/>
                </a:cubicBezTo>
                <a:lnTo>
                  <a:pt x="1495197" y="2364196"/>
                </a:lnTo>
                <a:lnTo>
                  <a:pt x="0" y="489656"/>
                </a:lnTo>
                <a:lnTo>
                  <a:pt x="524134" y="71589"/>
                </a:lnTo>
                <a:cubicBezTo>
                  <a:pt x="594939" y="15112"/>
                  <a:pt x="681933" y="-7318"/>
                  <a:pt x="765344" y="2072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圖片 19" descr="未命名">
            <a:extLst>
              <a:ext uri="{FF2B5EF4-FFF2-40B4-BE49-F238E27FC236}">
                <a16:creationId xmlns:a16="http://schemas.microsoft.com/office/drawing/2014/main" id="{C1247112-0447-41EE-A21A-7720B5C21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6" t="27738" r="10122" b="23819"/>
          <a:stretch>
            <a:fillRect/>
          </a:stretch>
        </p:blipFill>
        <p:spPr bwMode="auto">
          <a:xfrm rot="21425389">
            <a:off x="4665445" y="2346587"/>
            <a:ext cx="2382923" cy="2600675"/>
          </a:xfrm>
          <a:custGeom>
            <a:avLst/>
            <a:gdLst>
              <a:gd name="connsiteX0" fmla="*/ 639277 w 2157449"/>
              <a:gd name="connsiteY0" fmla="*/ 0 h 2354597"/>
              <a:gd name="connsiteX1" fmla="*/ 2157449 w 2157449"/>
              <a:gd name="connsiteY1" fmla="*/ 1855983 h 2354597"/>
              <a:gd name="connsiteX2" fmla="*/ 1638504 w 2157449"/>
              <a:gd name="connsiteY2" fmla="*/ 2280473 h 2354597"/>
              <a:gd name="connsiteX3" fmla="*/ 1176972 w 2157449"/>
              <a:gd name="connsiteY3" fmla="*/ 2234266 h 2354597"/>
              <a:gd name="connsiteX4" fmla="*/ 74125 w 2157449"/>
              <a:gd name="connsiteY4" fmla="*/ 886023 h 2354597"/>
              <a:gd name="connsiteX5" fmla="*/ 120332 w 2157449"/>
              <a:gd name="connsiteY5" fmla="*/ 424490 h 2354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7449" h="2354597">
                <a:moveTo>
                  <a:pt x="639277" y="0"/>
                </a:moveTo>
                <a:lnTo>
                  <a:pt x="2157449" y="1855983"/>
                </a:lnTo>
                <a:lnTo>
                  <a:pt x="1638504" y="2280473"/>
                </a:lnTo>
                <a:cubicBezTo>
                  <a:pt x="1498295" y="2395162"/>
                  <a:pt x="1291661" y="2374475"/>
                  <a:pt x="1176972" y="2234266"/>
                </a:cubicBezTo>
                <a:lnTo>
                  <a:pt x="74125" y="886023"/>
                </a:lnTo>
                <a:cubicBezTo>
                  <a:pt x="-40564" y="745814"/>
                  <a:pt x="-19877" y="539179"/>
                  <a:pt x="120332" y="424490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C1D909FD-321A-4D00-96B4-7145CFE79D51}"/>
              </a:ext>
            </a:extLst>
          </p:cNvPr>
          <p:cNvSpPr txBox="1"/>
          <p:nvPr/>
        </p:nvSpPr>
        <p:spPr>
          <a:xfrm>
            <a:off x="542430" y="2359118"/>
            <a:ext cx="4605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附件三、近年財顧案件彙總</a:t>
            </a:r>
          </a:p>
        </p:txBody>
      </p:sp>
    </p:spTree>
    <p:extLst>
      <p:ext uri="{BB962C8B-B14F-4D97-AF65-F5344CB8AC3E}">
        <p14:creationId xmlns:p14="http://schemas.microsoft.com/office/powerpoint/2010/main" val="2808327734"/>
      </p:ext>
    </p:extLst>
  </p:cSld>
  <p:clrMapOvr>
    <a:masterClrMapping/>
  </p:clrMapOvr>
  <p:transition>
    <p:split/>
  </p:transition>
</p:sld>
</file>

<file path=ppt/theme/theme1.xml><?xml version="1.0" encoding="utf-8"?>
<a:theme xmlns:a="http://schemas.openxmlformats.org/drawingml/2006/main" name="6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lnDef>
  </a:objectDefaults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7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2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8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lnDef>
  </a:objectDefaults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3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古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lnDef>
  </a:objectDefaults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9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0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1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lnDef>
  </a:objectDefaults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14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lnDef>
  </a:objectDefaults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5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lnDef>
  </a:objectDefaults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6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alpha val="48000"/>
          </a:schemeClr>
        </a:solidFill>
        <a:ln w="38100">
          <a:solidFill>
            <a:schemeClr val="bg1">
              <a:lumMod val="95000"/>
            </a:schemeClr>
          </a:solidFill>
        </a:ln>
      </a:spPr>
      <a:bodyPr rtlCol="0" anchor="ctr"/>
      <a:lstStyle>
        <a:defPPr algn="ctr" fontAlgn="base">
          <a:spcBef>
            <a:spcPct val="0"/>
          </a:spcBef>
          <a:spcAft>
            <a:spcPct val="0"/>
          </a:spcAft>
          <a:defRPr kumimoji="1" b="1" dirty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lnDef>
  </a:objectDefaults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7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6_自訂設計">
      <a:majorFont>
        <a:latin typeface="標楷體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40_自訂設計">
  <a:themeElements>
    <a:clrScheme name="6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古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lnDef>
  </a:objectDefaults>
  <a:extraClrSchemeLst>
    <a:extraClrScheme>
      <a:clrScheme name="6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77370</TotalTime>
  <Words>6351</Words>
  <Application>Microsoft Office PowerPoint</Application>
  <PresentationFormat>如螢幕大小 (4:3)</PresentationFormat>
  <Paragraphs>1313</Paragraphs>
  <Slides>40</Slides>
  <Notes>22</Notes>
  <HiddenSlides>0</HiddenSlides>
  <MMClips>0</MMClips>
  <ScaleCrop>false</ScaleCrop>
  <HeadingPairs>
    <vt:vector size="8" baseType="variant">
      <vt:variant>
        <vt:lpstr>使用字型</vt:lpstr>
      </vt:variant>
      <vt:variant>
        <vt:i4>17</vt:i4>
      </vt:variant>
      <vt:variant>
        <vt:lpstr>佈景主題</vt:lpstr>
      </vt:variant>
      <vt:variant>
        <vt:i4>13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40</vt:i4>
      </vt:variant>
    </vt:vector>
  </HeadingPairs>
  <TitlesOfParts>
    <vt:vector size="71" baseType="lpstr">
      <vt:lpstr>굴림</vt:lpstr>
      <vt:lpstr>Microsoft JhengHei Light</vt:lpstr>
      <vt:lpstr>文鼎新細黑</vt:lpstr>
      <vt:lpstr>華康圓體 Std W3</vt:lpstr>
      <vt:lpstr>華康圓體 Std W5</vt:lpstr>
      <vt:lpstr>微軟正黑體</vt:lpstr>
      <vt:lpstr>微軟正黑體</vt:lpstr>
      <vt:lpstr>新細明體</vt:lpstr>
      <vt:lpstr>DFKai-SB</vt:lpstr>
      <vt:lpstr>DFKai-SB</vt:lpstr>
      <vt:lpstr>Arial</vt:lpstr>
      <vt:lpstr>Arial Bold</vt:lpstr>
      <vt:lpstr>Calibri</vt:lpstr>
      <vt:lpstr>Helvetica</vt:lpstr>
      <vt:lpstr>Times New Roman</vt:lpstr>
      <vt:lpstr>Wingdings</vt:lpstr>
      <vt:lpstr>Wingdings 2</vt:lpstr>
      <vt:lpstr>6_自訂設計</vt:lpstr>
      <vt:lpstr>7_自訂設計</vt:lpstr>
      <vt:lpstr>32_自訂設計</vt:lpstr>
      <vt:lpstr>8_自訂設計</vt:lpstr>
      <vt:lpstr>33_自訂設計</vt:lpstr>
      <vt:lpstr>9_自訂設計</vt:lpstr>
      <vt:lpstr>10_自訂設計</vt:lpstr>
      <vt:lpstr>11_自訂設計</vt:lpstr>
      <vt:lpstr>14_自訂設計</vt:lpstr>
      <vt:lpstr>15_自訂設計</vt:lpstr>
      <vt:lpstr>16_自訂設計</vt:lpstr>
      <vt:lpstr>17_自訂設計</vt:lpstr>
      <vt:lpstr>40_自訂設計</vt:lpstr>
      <vt:lpstr>Image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近3年台灣IPO件數評析</vt:lpstr>
      <vt:lpstr>PowerPoint 簡報</vt:lpstr>
      <vt:lpstr>PowerPoint 簡報</vt:lpstr>
      <vt:lpstr>中介機構職責分工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推動品牌企業邁向資本市場掛牌</vt:lpstr>
      <vt:lpstr>PowerPoint 簡報</vt:lpstr>
      <vt:lpstr>PowerPoint 簡報</vt:lpstr>
      <vt:lpstr>PowerPoint 簡報</vt:lpstr>
      <vt:lpstr>PowerPoint 簡報</vt:lpstr>
    </vt:vector>
  </TitlesOfParts>
  <Company>tsb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J1040069@tssco.com.tw;ks454@hotmail.com</dc:creator>
  <cp:lastModifiedBy>user</cp:lastModifiedBy>
  <cp:revision>2951</cp:revision>
  <cp:lastPrinted>2024-01-04T07:09:44Z</cp:lastPrinted>
  <dcterms:created xsi:type="dcterms:W3CDTF">2004-04-09T03:27:04Z</dcterms:created>
  <dcterms:modified xsi:type="dcterms:W3CDTF">2026-09-07T12:23:45Z</dcterms:modified>
</cp:coreProperties>
</file>